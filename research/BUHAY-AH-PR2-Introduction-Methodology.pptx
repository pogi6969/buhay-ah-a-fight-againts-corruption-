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e75417c5-08f0-8eaa-bae6-c2bdd0230a31}">
          <p14:sldIdLst>
            <p14:sldId id="256"/>
          </p14:sldIdLst>
        </p14:section>
        <p14:section name="Overview" id="{d30cdb57-13fd-9799-d55d-a87c10182211}">
          <p14:sldIdLst>
            <p14:sldId id="257"/>
          </p14:sldIdLst>
        </p14:section>
        <p14:section name="Introduction" id="{c866cc96-dcb3-fd5c-accc-17ae333c10bd}">
          <p14:sldIdLst>
            <p14:sldId id="258"/>
            <p14:sldId id="259"/>
            <p14:sldId id="260"/>
            <p14:sldId id="261"/>
            <p14:sldId id="262"/>
            <p14:sldId id="263"/>
            <p14:sldId id="264"/>
            <p14:sldId id="265"/>
            <p14:sldId id="266"/>
            <p14:sldId id="267"/>
          </p14:sldIdLst>
        </p14:section>
        <p14:section name="Framework" id="{02571f4b-0859-b34e-7408-2d2d17107259}">
          <p14:sldIdLst>
            <p14:sldId id="268"/>
            <p14:sldId id="269"/>
            <p14:sldId id="270"/>
            <p14:sldId id="271"/>
          </p14:sldIdLst>
        </p14:section>
        <p14:section name="Methodology" id="{c659b19c-13e5-eb8d-074a-421a2660dadc}">
          <p14:sldIdLst>
            <p14:sldId id="272"/>
            <p14:sldId id="273"/>
            <p14:sldId id="274"/>
            <p14:sldId id="275"/>
            <p14:sldId id="276"/>
            <p14:sldId id="277"/>
            <p14:sldId id="278"/>
            <p14:sldId id="279"/>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I am Enrique Miguel C. Buban, and this is BUHAY-AH. Buhay means life, because public infrastructure carries lives. This study builds a system that designs public buildings and bridges from a budget, prices them from engineering standards, and flags contracts that are over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follows the IMRaD structure of Practical Research 2. This deck covers the Introduction and the Methodology.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why this study was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Construction is one of the sectors most exposed to corruption. CoST estimates 10 to 30 percent of investment in public infrastructure is lost to corruption, mismanagement and inefficiency. The Philippines scored 32 of 100 in the 2025 Corruption Perceptions Index, ranking 120th of 182. About 20 percent of 545.64 billion pesos in flood-control projects went to 15 contractors. COA found the Cebu City Medical Center building overstated by about 62.64 million pesos, partly because VAT was computed at 12 percent instead of 5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Buildings and bridges carry a particular weight. School buildings, health stations and evacuation centers are the facilities communities rely on during typhoons; bridges are the links that keep them reachable. Each is priced through a Program of Works and Detailed Unit Price Analysis leading to the ABC. Machine learning can screen many contracts, but it learns from past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gaps motivate this study. Scope: screening has focused on roads. Reference: data-driven models learn what similar projects have cost, not what they should cost. Validation: detectors are tested where nobody knows the true overpriced cases. Design: communities know only their need and budget. Access: models stay in notebooks.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study aimed to develop BUHAY-AH, a budget-to-blueprint design generator, standards-based quantity take-off and hybrid machine-learning system that produces start quotations and detects over-budgeted public buildings and bridges in Bicol Region V. Specifically, it sought to answer six research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four to six cover the models, detection and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BUHAY-AH gives anyone with a need, a budget or a plan an itemized, standards-based design and price, and a fast way to see whether a contract amount is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SDG 16.5, 16.6 and 16.10: reduce corruption, build accountable institutions and widen public access to information. SDG 9.1 and 11.5: fair pricing protects the quality of resilient infrastructure. SDG 12.7: sustainable public procurement under RA 12009. SDG 4.a: lean quotations stretch school-building funds to more classrooms.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study covers public buildings and bridges in the six provinces of Bicol Region V, priced from 2022 to 2026. Roads and flood-control structures are excluded. Unit costs are indicative 2025 Albay prices. Generated designs are schematic. The benchmark is simulated because itemized bills of quantities are not publicly available in machine-readable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terms are defined conceptually and operationally to ensure a common understanding of the key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the literature and the frameworks that guided the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has long been used for early cost estimates. Tree ensembles and parametric models are now the standard tools. Isolation Forest detects anomalies without labels. CORA combined MLR, XGBoost and Isolation Forest on Bicol road contracts. None of these says what a project should cost, and none was validated where overpricing is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Agency Theory explains why padding happens: information asymmetry between the public and implementers. Should-Cost Theory says a fair price can be built bottom-up. Optimization Theory chooses the best design under a budget. Statistical Learning Theory guides the models. Cooperative Game Theory gives the Shapley value behind SHAP.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Inputs are a requirement, a budget, or a plan, plus the standards, the price book and past projects. The process generates designs, performs the take-off, prices the quotation tiers, trains the models and scores the risk. Outputs are designs, quotations, flags and the app. Feedback updates the price book and thresholds.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methodology, which is where Mathematical and Computational Sciences does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quantitative developmental research design with a simulation-based computational experiment, following the approach of the Mathematical and Computational Sciences. Four kinds of mathematics work together: deterministic modeling, combinatorial optimization, statistical and machine learning, and Monte Carlo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locale is Bicol Region V: six provinces with location factors. The data sources are engineering standards, DPWH pay items and unit costs for 2025, reference plans and the simulated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instruments are the BUHAY-AH plan reader, cost engine and models. Nine variables describe a building and eleven a bridge. A DXF outline is read with the shoelace formula for area and perimeter; walls drawn on WALL or PARTITION layers are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there is no plan, BUHAY-AH builds one from 55 space modules sized to DepEd, DOH, National Building Code and DSWD norms. Modules are laid out in rows along corridors and across floors. For a budget, the best design maximizes capacity subject to the ABC fitting the budget, the length fitting the lot and the storeys within the limit. Because cost is not monotonic in capacity, the solver enumerates every combination and keeps the Pareto-efficient designs.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lays out the column grid, sizes footings from the service load and allowable soil bearing, computes concrete, reinforcement, formwork, masonry, roofing, finishes and MEPF, multiplies each quantity by its DPWH unit cost, and applies OCM, profit and 5% VAT by bracket. It runs three times: lean, standard and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measure recall, the truly overpriced contracts must be known. SBD-300 has 160 buildings and 140 bridges, each priced by the engine plus hidden variation the plan does not show, then bid competition, and in 36 projects deliberate overpricing of 20 to 110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 Linear Regression is the interpretable baseline, with VIF used to remove multicollinear predictors above 10. XGBoost is trained on the logarithm of cost with randomized hyperparameter search. Isolation Forest scores how unusual a contract is from its plan features, log cost and residual. SHAP explains every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signals are combined: the over-budget ratio weighted 0.5 because it does not depend on past prices, the XGBoost residual weighted 0.3, and the Isolation Forest score weighted 0.2. A BRI of 30 or more is a flag; 20 to 30 is for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were validated by leave-one-out cross-validation: each project is predicted by a model trained without it. Cost prediction is measured by RMSE, R² and MAPE. Detection is measured against the injected labels with precision, recall, F1-score and ROC AUC. Generated designs are checked against space standards; search time is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JavaScript cost engine is shared by the app, the website and the research pipeline. The trained XGBoost trees and Isolation Forest are exported to JSON and evaluated in the browser with exact TreeSHAP; parity with Python is within 1e-5 in log cost. The app is a progressive web app, packaged for Android with Capacitor through GitHub Actions, and offered as an offline ZIP and a download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study involves no human participants, animals, hazardous materials or devices. All data are simulated or drawn from public documents. Results are screening signals, not findings of wrongdoing; generated designs are schematic. Personal information is not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BUHAY-AH shows that mathematics can stand between a budget and a padded price. I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UHAY 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822960"/>
            <a:ext cx="6949440" cy="365760"/>
          </a:xfrm>
          <a:prstGeom prst="rect">
            <a:avLst/>
          </a:prstGeom>
          <a:noFill/>
          <a:ln/>
        </p:spPr>
        <p:txBody>
          <a:bodyPr wrap="square" rtlCol="0"/>
          <a:lstStyle>
            <a:lvl1pPr indent="0" marL="0">
              <a:buNone/>
              <a:defRPr lang="en-US" sz="1400" b="1" spc="3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640080" y="1234440"/>
            <a:ext cx="6949440" cy="1188720"/>
          </a:xfrm>
          <a:prstGeom prst="rect">
            <a:avLst/>
          </a:prstGeom>
          <a:noFill/>
          <a:ln/>
        </p:spPr>
        <p:txBody>
          <a:bodyPr wrap="square" rtlCol="0"/>
          <a:lstStyle>
            <a:lvl1pPr algn="l" indent="0" marL="0">
              <a:buNone/>
              <a:defRPr lang="en-US" sz="6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6000" dirty="0"/>
          </a:p>
        </p:txBody>
      </p:sp>
      <p:sp>
        <p:nvSpPr>
          <p:cNvPr id="4" name="Text 0"/>
          <p:cNvSpPr/>
          <p:nvPr>
            <p:ph idx="102" type="body" hasCustomPrompt="1"/>
          </p:nvPr>
        </p:nvSpPr>
        <p:spPr>
          <a:xfrm>
            <a:off x="640080" y="2514600"/>
            <a:ext cx="6766560" cy="1920240"/>
          </a:xfrm>
          <a:prstGeom prst="rect">
            <a:avLst/>
          </a:prstGeom>
          <a:noFill/>
          <a:ln/>
        </p:spPr>
        <p:txBody>
          <a:bodyPr wrap="square" rtlCol="0"/>
          <a:lstStyle>
            <a:lvl1pPr indent="0" marL="0">
              <a:buNone/>
              <a:defRPr lang="en-US" sz="1700" dirty="0">
                <a:solidFill>
                  <a:schemeClr val="bg2"/>
                </a:solidFill>
              </a:defRPr>
            </a:lvl1pPr>
          </a:lstStyle>
          <a:p>
            <a:pPr indent="0" marL="0">
              <a:buNone/>
            </a:pPr>
            <a:endParaRPr lang="en-US" sz="1700" dirty="0"/>
          </a:p>
        </p:txBody>
      </p:sp>
      <p:sp>
        <p:nvSpPr>
          <p:cNvPr id="5" name="Text 0"/>
          <p:cNvSpPr/>
          <p:nvPr>
            <p:ph idx="103" type="body" hasCustomPrompt="1"/>
          </p:nvPr>
        </p:nvSpPr>
        <p:spPr>
          <a:xfrm>
            <a:off x="640080" y="4846320"/>
            <a:ext cx="6766560" cy="1097280"/>
          </a:xfrm>
          <a:prstGeom prst="rect">
            <a:avLst/>
          </a:prstGeom>
          <a:noFill/>
          <a:ln/>
        </p:spPr>
        <p:txBody>
          <a:bodyPr wrap="square" rtlCol="0"/>
          <a:lstStyle>
            <a:lvl1pPr indent="0" marL="0">
              <a:buNone/>
              <a:defRPr lang="en-US" sz="1600" dirty="0">
                <a:solidFill>
                  <a:schemeClr val="bg1"/>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UHAY 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463040"/>
            <a:ext cx="3657600" cy="1188720"/>
          </a:xfrm>
          <a:prstGeom prst="rect">
            <a:avLst/>
          </a:prstGeom>
          <a:noFill/>
          <a:ln/>
        </p:spPr>
        <p:txBody>
          <a:bodyPr wrap="square" rtlCol="0"/>
          <a:lstStyle>
            <a:lvl1pPr indent="0" marL="0">
              <a:buNone/>
              <a:defRPr lang="en-US" sz="8000" b="1" dirty="0">
                <a:solidFill>
                  <a:schemeClr val="accent1"/>
                </a:solidFill>
                <a:latin typeface="Cambria" pitchFamily="34" charset="0"/>
                <a:ea typeface="Cambria" pitchFamily="34" charset="-122"/>
                <a:cs typeface="Cambria" pitchFamily="34" charset="-120"/>
              </a:defRPr>
            </a:lvl1pPr>
          </a:lstStyle>
          <a:p>
            <a:pPr indent="0" marL="0">
              <a:buNone/>
            </a:pPr>
            <a:endParaRPr lang="en-US" sz="8000" dirty="0"/>
          </a:p>
        </p:txBody>
      </p:sp>
      <p:sp>
        <p:nvSpPr>
          <p:cNvPr id="3" name="Text 0"/>
          <p:cNvSpPr/>
          <p:nvPr>
            <p:ph idx="101" type="title" hasCustomPrompt="1"/>
          </p:nvPr>
        </p:nvSpPr>
        <p:spPr>
          <a:xfrm>
            <a:off x="640080" y="2743200"/>
            <a:ext cx="10515600" cy="100584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4" name="Text 0"/>
          <p:cNvSpPr/>
          <p:nvPr>
            <p:ph idx="102" type="body" hasCustomPrompt="1"/>
          </p:nvPr>
        </p:nvSpPr>
        <p:spPr>
          <a:xfrm>
            <a:off x="640080" y="3840480"/>
            <a:ext cx="960120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UHAY 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229600" cy="292608"/>
          </a:xfrm>
          <a:prstGeom prst="rect">
            <a:avLst/>
          </a:prstGeom>
          <a:noFill/>
          <a:ln/>
        </p:spPr>
        <p:txBody>
          <a:bodyPr wrap="square" rtlCol="0"/>
          <a:lstStyle>
            <a:lvl1pPr indent="0" marL="0">
              <a:buNone/>
              <a:defRPr lang="en-US" sz="1200" b="1" spc="200" kern="0" dirty="0">
                <a:solidFill>
                  <a:schemeClr val="accent5"/>
                </a:solidFill>
              </a:defRPr>
            </a:lvl1pPr>
          </a:lstStyle>
          <a:p>
            <a:pPr indent="0" marL="0">
              <a:buNone/>
            </a:pPr>
            <a:endParaRPr lang="en-US" sz="1200" dirty="0"/>
          </a:p>
        </p:txBody>
      </p:sp>
      <p:sp>
        <p:nvSpPr>
          <p:cNvPr id="3" name="Text 0"/>
          <p:cNvSpPr/>
          <p:nvPr>
            <p:ph idx="101" type="title" hasCustomPrompt="1"/>
          </p:nvPr>
        </p:nvSpPr>
        <p:spPr>
          <a:xfrm>
            <a:off x="548640" y="530352"/>
            <a:ext cx="11064240" cy="73152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548640" y="6428232"/>
            <a:ext cx="7315200" cy="274320"/>
          </a:xfrm>
          <a:prstGeom prst="rect">
            <a:avLst/>
          </a:prstGeom>
          <a:noFill/>
          <a:ln/>
        </p:spPr>
        <p:txBody>
          <a:bodyPr wrap="square" lIns="0" tIns="0" rIns="0" bIns="0" rtlCol="0" anchor="ctr"/>
          <a:lstStyle/>
          <a:p>
            <a:pPr indent="0" marL="0">
              <a:buNone/>
            </a:pPr>
            <a:r>
              <a:rPr lang="en-US" sz="1000" dirty="0">
                <a:solidFill>
                  <a:srgbClr val="6B7A8C"/>
                </a:solidFill>
              </a:rPr>
              <a:t>BUHAY-AH  ·  Enrique Miguel C. Buban, Lead Researcher</a:t>
            </a:r>
            <a:endParaRPr lang="en-US" sz="1000" dirty="0"/>
          </a:p>
        </p:txBody>
      </p:sp>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4.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4.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4.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4.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4.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4.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4.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4.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822960"/>
            <a:ext cx="6949440" cy="365760"/>
          </a:xfrm>
          <a:prstGeom prst="rect">
            <a:avLst/>
          </a:prstGeom>
          <a:noFill/>
          <a:ln/>
        </p:spPr>
        <p:txBody>
          <a:bodyPr wrap="square" rtlCol="0"/>
          <a:lstStyle/>
          <a:p>
            <a:pPr indent="0" marL="0">
              <a:buNone/>
            </a:pPr>
            <a:r>
              <a:rPr lang="en-US" sz="1400" b="1" spc="300" kern="0" dirty="0">
                <a:solidFill>
                  <a:schemeClr val="accent1"/>
                </a:solidFill>
              </a:rPr>
              <a:t>PRACTICAL RESEARCH 2 · INTRODUCTION AND METHODOLOGY</a:t>
            </a:r>
            <a:endParaRPr lang="en-US" sz="1400" dirty="0"/>
          </a:p>
        </p:txBody>
      </p:sp>
      <p:sp>
        <p:nvSpPr>
          <p:cNvPr id="3" name="Text 0"/>
          <p:cNvSpPr/>
          <p:nvPr>
            <p:ph idx="101" type="title" hasCustomPrompt="1"/>
          </p:nvPr>
        </p:nvSpPr>
        <p:spPr>
          <a:xfrm>
            <a:off x="640080" y="1234440"/>
            <a:ext cx="6949440" cy="1188720"/>
          </a:xfrm>
          <a:prstGeom prst="rect">
            <a:avLst/>
          </a:prstGeom>
          <a:noFill/>
          <a:ln/>
        </p:spPr>
        <p:txBody>
          <a:bodyPr wrap="square" rtlCol="0"/>
          <a:lstStyle/>
          <a:p>
            <a:pPr algn="l" indent="0" marL="0">
              <a:buNone/>
            </a:pPr>
            <a:r>
              <a:rPr lang="en-US" sz="6000" b="1" dirty="0">
                <a:solidFill>
                  <a:schemeClr val="bg1"/>
                </a:solidFill>
                <a:latin typeface="Cambria" pitchFamily="34" charset="0"/>
                <a:ea typeface="Cambria" pitchFamily="34" charset="-122"/>
                <a:cs typeface="Cambria" pitchFamily="34" charset="-120"/>
              </a:rPr>
              <a:t>BUHAY-AH</a:t>
            </a:r>
            <a:endParaRPr lang="en-US" sz="6000" dirty="0"/>
          </a:p>
        </p:txBody>
      </p:sp>
      <p:sp>
        <p:nvSpPr>
          <p:cNvPr id="4" name="Text 0"/>
          <p:cNvSpPr/>
          <p:nvPr>
            <p:ph idx="102" type="body" hasCustomPrompt="1"/>
          </p:nvPr>
        </p:nvSpPr>
        <p:spPr>
          <a:xfrm>
            <a:off x="640080" y="2514600"/>
            <a:ext cx="6766560" cy="1920240"/>
          </a:xfrm>
          <a:prstGeom prst="rect">
            <a:avLst/>
          </a:prstGeom>
          <a:noFill/>
          <a:ln/>
        </p:spPr>
        <p:txBody>
          <a:bodyPr wrap="square" rtlCol="0" anchor="t"/>
          <a:lstStyle/>
          <a:p>
            <a:pPr indent="0" marL="0">
              <a:buNone/>
            </a:pPr>
            <a:r>
              <a:rPr lang="en-US" sz="1700" dirty="0">
                <a:solidFill>
                  <a:schemeClr val="bg2"/>
                </a:solidFill>
              </a:rPr>
              <a:t>A Budget-to-Blueprint Design Generator, Standards-Based Quantity Take-Off, and Hybrid Machine Learning System for Start Quotations and Over-Budget Detection in Public Buildings and Bridges</a:t>
            </a:r>
            <a:endParaRPr lang="en-US" sz="1700" dirty="0"/>
          </a:p>
        </p:txBody>
      </p:sp>
      <p:sp>
        <p:nvSpPr>
          <p:cNvPr id="5" name="Text 0"/>
          <p:cNvSpPr/>
          <p:nvPr>
            <p:ph idx="103" type="body" hasCustomPrompt="1"/>
          </p:nvPr>
        </p:nvSpPr>
        <p:spPr>
          <a:xfrm>
            <a:off x="640080" y="4846320"/>
            <a:ext cx="6766560" cy="1097280"/>
          </a:xfrm>
          <a:prstGeom prst="rect">
            <a:avLst/>
          </a:prstGeom>
          <a:noFill/>
          <a:ln/>
        </p:spPr>
        <p:txBody>
          <a:bodyPr wrap="square" rtlCol="0" anchor="t"/>
          <a:lstStyle/>
          <a:p>
            <a:pPr indent="0" marL="0">
              <a:buNone/>
            </a:pPr>
            <a:r>
              <a:rPr lang="en-US" sz="1600" b="1" dirty="0">
                <a:solidFill>
                  <a:schemeClr val="bg1"/>
                </a:solidFill>
              </a:rPr>
              <a:t>Enrique Miguel C. Buban</a:t>
            </a:r>
            <a:endParaRPr lang="en-US" sz="1600" dirty="0"/>
          </a:p>
          <a:p>
            <a:pPr indent="0" marL="0">
              <a:buNone/>
            </a:pPr>
            <a:r>
              <a:rPr lang="en-US" sz="1600" dirty="0">
                <a:solidFill>
                  <a:schemeClr val="bg1"/>
                </a:solidFill>
              </a:rPr>
              <a:t>Lead Researcher</a:t>
            </a:r>
            <a:endParaRPr lang="en-US" sz="1600" dirty="0"/>
          </a:p>
          <a:p>
            <a:pPr indent="0" marL="0">
              <a:buNone/>
            </a:pPr>
            <a:r>
              <a:rPr lang="en-US" sz="1600" dirty="0">
                <a:solidFill>
                  <a:schemeClr val="accent1"/>
                </a:solidFill>
              </a:rPr>
              <a:t>Mathematical and Computational Sciences · 2026</a:t>
            </a:r>
            <a:endParaRPr lang="en-US" sz="1600" dirty="0"/>
          </a:p>
        </p:txBody>
      </p:sp>
      <p:sp>
        <p:nvSpPr>
          <p:cNvPr id="6" name="hero frame"/>
          <p:cNvSpPr/>
          <p:nvPr/>
        </p:nvSpPr>
        <p:spPr>
          <a:xfrm>
            <a:off x="8001000" y="822960"/>
            <a:ext cx="3657600" cy="5212080"/>
          </a:xfrm>
          <a:prstGeom prst="roundRect">
            <a:avLst>
              <a:gd name="adj" fmla="val 3000"/>
            </a:avLst>
          </a:prstGeom>
          <a:solidFill>
            <a:schemeClr val="bg1"/>
          </a:solidFill>
          <a:ln/>
        </p:spPr>
      </p:sp>
      <p:pic>
        <p:nvPicPr>
          <p:cNvPr id="7" name="viz_building.png" descr="3D model of a generated 2-storey school building">    </p:cNvPr>
          <p:cNvPicPr>
            <a:picLocks noChangeAspect="1"/>
          </p:cNvPicPr>
          <p:nvPr/>
        </p:nvPicPr>
        <p:blipFill>
          <a:blip r:embed="rId1"/>
          <a:stretch>
            <a:fillRect/>
          </a:stretch>
        </p:blipFill>
        <p:spPr>
          <a:xfrm>
            <a:off x="8276225" y="960120"/>
            <a:ext cx="3107149" cy="2377440"/>
          </a:xfrm>
          <a:prstGeom prst="rect">
            <a:avLst/>
          </a:prstGeom>
        </p:spPr>
      </p:pic>
      <p:pic>
        <p:nvPicPr>
          <p:cNvPr id="8" name="viz_bridge_rcdg.png" descr="3D model of a three-span RCDG bridge">    </p:cNvPr>
          <p:cNvPicPr>
            <a:picLocks noChangeAspect="1"/>
          </p:cNvPicPr>
          <p:nvPr/>
        </p:nvPicPr>
        <p:blipFill>
          <a:blip r:embed="rId2"/>
          <a:stretch>
            <a:fillRect/>
          </a:stretch>
        </p:blipFill>
        <p:spPr>
          <a:xfrm>
            <a:off x="8216472" y="3429000"/>
            <a:ext cx="3226655" cy="24688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229600" cy="292608"/>
          </a:xfrm>
          <a:prstGeom prst="rect">
            <a:avLst/>
          </a:prstGeom>
          <a:noFill/>
          <a:ln/>
        </p:spPr>
        <p:txBody>
          <a:bodyPr wrap="square" lIns="0" tIns="0" rIns="0" bIns="0" rtlCol="0"/>
          <a:lstStyle/>
          <a:p>
            <a:pPr indent="0" marL="0">
              <a:buNone/>
            </a:pPr>
            <a:r>
              <a:rPr lang="en-US" sz="1200" b="1" spc="200" kern="0" dirty="0">
                <a:solidFill>
                  <a:schemeClr val="accent5"/>
                </a:solidFill>
              </a:rPr>
              <a:t>OVERVIEW</a:t>
            </a:r>
            <a:endParaRPr lang="en-US" sz="1200" dirty="0"/>
          </a:p>
        </p:txBody>
      </p:sp>
      <p:sp>
        <p:nvSpPr>
          <p:cNvPr id="3" name="Text 0"/>
          <p:cNvSpPr/>
          <p:nvPr>
            <p:ph idx="101" type="title" hasCustomPrompt="1"/>
          </p:nvPr>
        </p:nvSpPr>
        <p:spPr>
          <a:xfrm>
            <a:off x="548640" y="53035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Presentation Outline</a:t>
            </a:r>
            <a:endParaRPr lang="en-US" sz="3200" dirty="0"/>
          </a:p>
        </p:txBody>
      </p:sp>
      <p:sp>
        <p:nvSpPr>
          <p:cNvPr id="5" name="outline card"/>
          <p:cNvSpPr/>
          <p:nvPr/>
        </p:nvSpPr>
        <p:spPr>
          <a:xfrm>
            <a:off x="548640" y="1600200"/>
            <a:ext cx="3514344" cy="4480560"/>
          </a:xfrm>
          <a:prstGeom prst="roundRect">
            <a:avLst>
              <a:gd name="adj" fmla="val 2082"/>
            </a:avLst>
          </a:prstGeom>
          <a:solidFill>
            <a:schemeClr val="bg2"/>
          </a:solidFill>
          <a:ln/>
        </p:spPr>
      </p:sp>
      <p:sp>
        <p:nvSpPr>
          <p:cNvPr id="6" name="icon circle"/>
          <p:cNvSpPr/>
          <p:nvPr/>
        </p:nvSpPr>
        <p:spPr>
          <a:xfrm>
            <a:off x="868680" y="1920240"/>
            <a:ext cx="777240" cy="777240"/>
          </a:xfrm>
          <a:prstGeom prst="ellipse">
            <a:avLst/>
          </a:prstGeom>
          <a:solidFill>
            <a:schemeClr val="tx2"/>
          </a:solidFill>
          <a:ln/>
        </p:spPr>
      </p:sp>
      <p:pic>
        <p:nvPicPr>
          <p:cNvPr id="7" name="icon FaBookOpen" descr="BookOpen icon">    </p:cNvPr>
          <p:cNvPicPr>
            <a:picLocks noChangeAspect="1"/>
          </p:cNvPicPr>
          <p:nvPr/>
        </p:nvPicPr>
        <p:blipFill>
          <a:blip r:embed="rId1"/>
          <a:stretch>
            <a:fillRect/>
          </a:stretch>
        </p:blipFill>
        <p:spPr>
          <a:xfrm>
            <a:off x="1055218" y="2106778"/>
            <a:ext cx="404165" cy="404165"/>
          </a:xfrm>
          <a:prstGeom prst="rect">
            <a:avLst/>
          </a:prstGeom>
        </p:spPr>
      </p:pic>
      <p:sp>
        <p:nvSpPr>
          <p:cNvPr id="8" name="Text 4"/>
          <p:cNvSpPr txBox="1"/>
          <p:nvPr/>
        </p:nvSpPr>
        <p:spPr>
          <a:xfrm>
            <a:off x="3011424" y="1828800"/>
            <a:ext cx="777240" cy="914400"/>
          </a:xfrm>
          <a:prstGeom prst="rect">
            <a:avLst/>
          </a:prstGeom>
          <a:noFill/>
          <a:ln/>
        </p:spPr>
        <p:txBody>
          <a:bodyPr wrap="square" lIns="0" tIns="0" rIns="0" bIns="0" rtlCol="0" anchor="t"/>
          <a:lstStyle/>
          <a:p>
            <a:pPr algn="r" indent="0" marL="0">
              <a:buNone/>
            </a:pPr>
            <a:r>
              <a:rPr lang="en-US" sz="4400" b="1" dirty="0">
                <a:solidFill>
                  <a:schemeClr val="accent1"/>
                </a:solidFill>
                <a:latin typeface="Cambria" pitchFamily="34" charset="0"/>
                <a:ea typeface="Cambria" pitchFamily="34" charset="-122"/>
                <a:cs typeface="Cambria" pitchFamily="34" charset="-120"/>
              </a:rPr>
              <a:t>I</a:t>
            </a:r>
            <a:endParaRPr lang="en-US" sz="4400" dirty="0"/>
          </a:p>
        </p:txBody>
      </p:sp>
      <p:sp>
        <p:nvSpPr>
          <p:cNvPr id="9" name="Text 5"/>
          <p:cNvSpPr txBox="1"/>
          <p:nvPr/>
        </p:nvSpPr>
        <p:spPr>
          <a:xfrm>
            <a:off x="868680" y="2971800"/>
            <a:ext cx="3057144" cy="8229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Introduction</a:t>
            </a:r>
            <a:endParaRPr lang="en-US" sz="2000" dirty="0"/>
          </a:p>
        </p:txBody>
      </p:sp>
      <p:sp>
        <p:nvSpPr>
          <p:cNvPr id="10" name="Text 6"/>
          <p:cNvSpPr txBox="1"/>
          <p:nvPr/>
        </p:nvSpPr>
        <p:spPr>
          <a:xfrm>
            <a:off x="868680" y="3840480"/>
            <a:ext cx="2965704" cy="2011680"/>
          </a:xfrm>
          <a:prstGeom prst="rect">
            <a:avLst/>
          </a:prstGeom>
          <a:noFill/>
          <a:ln/>
        </p:spPr>
        <p:txBody>
          <a:bodyPr wrap="square" lIns="0" tIns="0" rIns="0" bIns="0" rtlCol="0" anchor="t"/>
          <a:lstStyle/>
          <a:p>
            <a:pPr indent="0" marL="0">
              <a:buNone/>
            </a:pPr>
            <a:r>
              <a:rPr lang="en-US" sz="1500" dirty="0">
                <a:solidFill>
                  <a:schemeClr val="tx1"/>
                </a:solidFill>
              </a:rPr>
              <a:t>Background, research gap and rationale, objectives, significance, scope and delimitation, definition of terms</a:t>
            </a:r>
            <a:endParaRPr lang="en-US" sz="1500" dirty="0"/>
          </a:p>
        </p:txBody>
      </p:sp>
      <p:sp>
        <p:nvSpPr>
          <p:cNvPr id="11" name="outline card"/>
          <p:cNvSpPr/>
          <p:nvPr/>
        </p:nvSpPr>
        <p:spPr>
          <a:xfrm>
            <a:off x="4337304" y="1600200"/>
            <a:ext cx="3514344" cy="4480560"/>
          </a:xfrm>
          <a:prstGeom prst="roundRect">
            <a:avLst>
              <a:gd name="adj" fmla="val 2082"/>
            </a:avLst>
          </a:prstGeom>
          <a:solidFill>
            <a:schemeClr val="bg2"/>
          </a:solidFill>
          <a:ln/>
        </p:spPr>
      </p:sp>
      <p:sp>
        <p:nvSpPr>
          <p:cNvPr id="12" name="icon circle"/>
          <p:cNvSpPr/>
          <p:nvPr/>
        </p:nvSpPr>
        <p:spPr>
          <a:xfrm>
            <a:off x="4657344" y="1920240"/>
            <a:ext cx="777240" cy="777240"/>
          </a:xfrm>
          <a:prstGeom prst="ellipse">
            <a:avLst/>
          </a:prstGeom>
          <a:solidFill>
            <a:schemeClr val="tx2"/>
          </a:solidFill>
          <a:ln/>
        </p:spPr>
      </p:sp>
      <p:pic>
        <p:nvPicPr>
          <p:cNvPr id="13" name="icon FaSitemap" descr="Sitemap icon">    </p:cNvPr>
          <p:cNvPicPr>
            <a:picLocks noChangeAspect="1"/>
          </p:cNvPicPr>
          <p:nvPr/>
        </p:nvPicPr>
        <p:blipFill>
          <a:blip r:embed="rId2"/>
          <a:stretch>
            <a:fillRect/>
          </a:stretch>
        </p:blipFill>
        <p:spPr>
          <a:xfrm>
            <a:off x="4843882" y="2106778"/>
            <a:ext cx="404165" cy="404165"/>
          </a:xfrm>
          <a:prstGeom prst="rect">
            <a:avLst/>
          </a:prstGeom>
        </p:spPr>
      </p:pic>
      <p:sp>
        <p:nvSpPr>
          <p:cNvPr id="14" name="Text 9"/>
          <p:cNvSpPr txBox="1"/>
          <p:nvPr/>
        </p:nvSpPr>
        <p:spPr>
          <a:xfrm>
            <a:off x="6800088" y="1828800"/>
            <a:ext cx="777240" cy="914400"/>
          </a:xfrm>
          <a:prstGeom prst="rect">
            <a:avLst/>
          </a:prstGeom>
          <a:noFill/>
          <a:ln/>
        </p:spPr>
        <p:txBody>
          <a:bodyPr wrap="square" lIns="0" tIns="0" rIns="0" bIns="0" rtlCol="0" anchor="t"/>
          <a:lstStyle/>
          <a:p>
            <a:pPr algn="r" indent="0" marL="0">
              <a:buNone/>
            </a:pPr>
            <a:r>
              <a:rPr lang="en-US" sz="4400" b="1" dirty="0">
                <a:solidFill>
                  <a:schemeClr val="accent1"/>
                </a:solidFill>
                <a:latin typeface="Cambria" pitchFamily="34" charset="0"/>
                <a:ea typeface="Cambria" pitchFamily="34" charset="-122"/>
                <a:cs typeface="Cambria" pitchFamily="34" charset="-120"/>
              </a:rPr>
              <a:t>F</a:t>
            </a:r>
            <a:endParaRPr lang="en-US" sz="4400" dirty="0"/>
          </a:p>
        </p:txBody>
      </p:sp>
      <p:sp>
        <p:nvSpPr>
          <p:cNvPr id="15" name="Text 10"/>
          <p:cNvSpPr txBox="1"/>
          <p:nvPr/>
        </p:nvSpPr>
        <p:spPr>
          <a:xfrm>
            <a:off x="4657344" y="2971800"/>
            <a:ext cx="3057144" cy="8229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Framework</a:t>
            </a:r>
            <a:endParaRPr lang="en-US" sz="2000" dirty="0"/>
          </a:p>
        </p:txBody>
      </p:sp>
      <p:sp>
        <p:nvSpPr>
          <p:cNvPr id="16" name="Text 11"/>
          <p:cNvSpPr txBox="1"/>
          <p:nvPr/>
        </p:nvSpPr>
        <p:spPr>
          <a:xfrm>
            <a:off x="4657344" y="3840480"/>
            <a:ext cx="2965704" cy="2011680"/>
          </a:xfrm>
          <a:prstGeom prst="rect">
            <a:avLst/>
          </a:prstGeom>
          <a:noFill/>
          <a:ln/>
        </p:spPr>
        <p:txBody>
          <a:bodyPr wrap="square" lIns="0" tIns="0" rIns="0" bIns="0" rtlCol="0" anchor="t"/>
          <a:lstStyle/>
          <a:p>
            <a:pPr indent="0" marL="0">
              <a:buNone/>
            </a:pPr>
            <a:r>
              <a:rPr lang="en-US" sz="1500" dirty="0">
                <a:solidFill>
                  <a:schemeClr val="tx1"/>
                </a:solidFill>
              </a:rPr>
              <a:t>Review of related literature, theoretical framework, conceptual framework</a:t>
            </a:r>
            <a:endParaRPr lang="en-US" sz="1500" dirty="0"/>
          </a:p>
        </p:txBody>
      </p:sp>
      <p:sp>
        <p:nvSpPr>
          <p:cNvPr id="17" name="outline card"/>
          <p:cNvSpPr/>
          <p:nvPr/>
        </p:nvSpPr>
        <p:spPr>
          <a:xfrm>
            <a:off x="8125968" y="1600200"/>
            <a:ext cx="3514344" cy="4480560"/>
          </a:xfrm>
          <a:prstGeom prst="roundRect">
            <a:avLst>
              <a:gd name="adj" fmla="val 2082"/>
            </a:avLst>
          </a:prstGeom>
          <a:solidFill>
            <a:schemeClr val="bg2"/>
          </a:solidFill>
          <a:ln/>
        </p:spPr>
      </p:sp>
      <p:sp>
        <p:nvSpPr>
          <p:cNvPr id="18" name="icon circle"/>
          <p:cNvSpPr/>
          <p:nvPr/>
        </p:nvSpPr>
        <p:spPr>
          <a:xfrm>
            <a:off x="8446008" y="1920240"/>
            <a:ext cx="777240" cy="777240"/>
          </a:xfrm>
          <a:prstGeom prst="ellipse">
            <a:avLst/>
          </a:prstGeom>
          <a:solidFill>
            <a:schemeClr val="tx2"/>
          </a:solidFill>
          <a:ln/>
        </p:spPr>
      </p:sp>
      <p:pic>
        <p:nvPicPr>
          <p:cNvPr id="19" name="icon FaGears" descr="Gears icon">    </p:cNvPr>
          <p:cNvPicPr>
            <a:picLocks noChangeAspect="1"/>
          </p:cNvPicPr>
          <p:nvPr/>
        </p:nvPicPr>
        <p:blipFill>
          <a:blip r:embed="rId3"/>
          <a:stretch>
            <a:fillRect/>
          </a:stretch>
        </p:blipFill>
        <p:spPr>
          <a:xfrm>
            <a:off x="8632546" y="2106778"/>
            <a:ext cx="404165" cy="404165"/>
          </a:xfrm>
          <a:prstGeom prst="rect">
            <a:avLst/>
          </a:prstGeom>
        </p:spPr>
      </p:pic>
      <p:sp>
        <p:nvSpPr>
          <p:cNvPr id="20" name="Text 14"/>
          <p:cNvSpPr txBox="1"/>
          <p:nvPr/>
        </p:nvSpPr>
        <p:spPr>
          <a:xfrm>
            <a:off x="10588752" y="1828800"/>
            <a:ext cx="777240" cy="914400"/>
          </a:xfrm>
          <a:prstGeom prst="rect">
            <a:avLst/>
          </a:prstGeom>
          <a:noFill/>
          <a:ln/>
        </p:spPr>
        <p:txBody>
          <a:bodyPr wrap="square" lIns="0" tIns="0" rIns="0" bIns="0" rtlCol="0" anchor="t"/>
          <a:lstStyle/>
          <a:p>
            <a:pPr algn="r" indent="0" marL="0">
              <a:buNone/>
            </a:pPr>
            <a:r>
              <a:rPr lang="en-US" sz="4400" b="1" dirty="0">
                <a:solidFill>
                  <a:schemeClr val="accent1"/>
                </a:solidFill>
                <a:latin typeface="Cambria" pitchFamily="34" charset="0"/>
                <a:ea typeface="Cambria" pitchFamily="34" charset="-122"/>
                <a:cs typeface="Cambria" pitchFamily="34" charset="-120"/>
              </a:rPr>
              <a:t>M</a:t>
            </a:r>
            <a:endParaRPr lang="en-US" sz="4400" dirty="0"/>
          </a:p>
        </p:txBody>
      </p:sp>
      <p:sp>
        <p:nvSpPr>
          <p:cNvPr id="21" name="Text 15"/>
          <p:cNvSpPr txBox="1"/>
          <p:nvPr/>
        </p:nvSpPr>
        <p:spPr>
          <a:xfrm>
            <a:off x="8446008" y="2971800"/>
            <a:ext cx="3057144" cy="8229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Methodology</a:t>
            </a:r>
            <a:endParaRPr lang="en-US" sz="2000" dirty="0"/>
          </a:p>
        </p:txBody>
      </p:sp>
      <p:sp>
        <p:nvSpPr>
          <p:cNvPr id="22" name="Text 16"/>
          <p:cNvSpPr txBox="1"/>
          <p:nvPr/>
        </p:nvSpPr>
        <p:spPr>
          <a:xfrm>
            <a:off x="8446008" y="3840480"/>
            <a:ext cx="2965704" cy="2011680"/>
          </a:xfrm>
          <a:prstGeom prst="rect">
            <a:avLst/>
          </a:prstGeom>
          <a:noFill/>
          <a:ln/>
        </p:spPr>
        <p:txBody>
          <a:bodyPr wrap="square" lIns="0" tIns="0" rIns="0" bIns="0" rtlCol="0" anchor="t"/>
          <a:lstStyle/>
          <a:p>
            <a:pPr indent="0" marL="0">
              <a:buNone/>
            </a:pPr>
            <a:r>
              <a:rPr lang="en-US" sz="1500" dirty="0">
                <a:solidFill>
                  <a:schemeClr val="tx1"/>
                </a:solidFill>
              </a:rPr>
              <a:t>Research design, locale and data, instruments, procedure, models, validation, ethics</a:t>
            </a:r>
            <a:endParaRPr lang="en-US" sz="1500" dirty="0"/>
          </a:p>
        </p:txBody>
      </p:sp>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40080" y="1463040"/>
            <a:ext cx="3657600" cy="1188720"/>
          </a:xfrm>
          <a:prstGeom prst="rect">
            <a:avLst/>
          </a:prstGeom>
          <a:noFill/>
          <a:ln/>
        </p:spPr>
        <p:txBody>
          <a:bodyPr wrap="square" rtlCol="0"/>
          <a:lstStyle/>
          <a:p>
            <a:pPr indent="0" marL="0">
              <a:buNone/>
            </a:pPr>
            <a:r>
              <a:rPr lang="en-US" sz="8000" b="1" dirty="0">
                <a:solidFill>
                  <a:schemeClr val="accent1"/>
                </a:solidFill>
                <a:latin typeface="Cambria" pitchFamily="34" charset="0"/>
                <a:ea typeface="Cambria" pitchFamily="34" charset="-122"/>
                <a:cs typeface="Cambria" pitchFamily="34" charset="-120"/>
              </a:rPr>
              <a:t>01</a:t>
            </a:r>
            <a:endParaRPr lang="en-US" sz="8000" dirty="0"/>
          </a:p>
        </p:txBody>
      </p:sp>
      <p:sp>
        <p:nvSpPr>
          <p:cNvPr id="3" name="Text 0"/>
          <p:cNvSpPr/>
          <p:nvPr>
            <p:ph idx="101" type="title" hasCustomPrompt="1"/>
          </p:nvPr>
        </p:nvSpPr>
        <p:spPr>
          <a:xfrm>
            <a:off x="640080" y="2743200"/>
            <a:ext cx="10515600" cy="1005840"/>
          </a:xfrm>
          <a:prstGeom prst="rect">
            <a:avLst/>
          </a:prstGeom>
          <a:noFill/>
          <a:ln/>
        </p:spPr>
        <p:txBody>
          <a:bodyPr wrap="square" rtlCol="0"/>
          <a:lstStyle/>
          <a:p>
            <a:pPr algn="l" indent="0" marL="0">
              <a:buNone/>
            </a:pPr>
            <a:r>
              <a:rPr lang="en-US" sz="4400" b="1" dirty="0">
                <a:solidFill>
                  <a:schemeClr val="bg1"/>
                </a:solidFill>
                <a:latin typeface="Cambria" pitchFamily="34" charset="0"/>
                <a:ea typeface="Cambria" pitchFamily="34" charset="-122"/>
                <a:cs typeface="Cambria" pitchFamily="34" charset="-120"/>
              </a:rPr>
              <a:t>Introduction</a:t>
            </a:r>
            <a:endParaRPr lang="en-US" sz="4400" dirty="0"/>
          </a:p>
        </p:txBody>
      </p:sp>
      <p:sp>
        <p:nvSpPr>
          <p:cNvPr id="4" name="Text 0"/>
          <p:cNvSpPr/>
          <p:nvPr>
            <p:ph idx="102" type="body" hasCustomPrompt="1"/>
          </p:nvPr>
        </p:nvSpPr>
        <p:spPr>
          <a:xfrm>
            <a:off x="640080" y="3840480"/>
            <a:ext cx="9601200" cy="1097280"/>
          </a:xfrm>
          <a:prstGeom prst="rect">
            <a:avLst/>
          </a:prstGeom>
          <a:noFill/>
          <a:ln/>
        </p:spPr>
        <p:txBody>
          <a:bodyPr wrap="square" rtlCol="0" anchor="t"/>
          <a:lstStyle/>
          <a:p>
            <a:pPr indent="0" marL="0">
              <a:buNone/>
            </a:pPr>
            <a:r>
              <a:rPr lang="en-US" sz="1800" dirty="0">
                <a:solidFill>
                  <a:schemeClr val="bg2"/>
                </a:solidFill>
              </a:rPr>
              <a:t>Background of the study, research gap and rationale, objective, significance, scope and delimitation, definition of terms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229600" cy="292608"/>
          </a:xfrm>
          <a:prstGeom prst="rect">
            <a:avLst/>
          </a:prstGeom>
          <a:noFill/>
          <a:ln/>
        </p:spPr>
        <p:txBody>
          <a:bodyPr wrap="square" lIns="0" tIns="0" rIns="0" bIns="0" rtlCol="0"/>
          <a:lstStyle/>
          <a:p>
            <a:pPr indent="0" marL="0">
              <a:buNone/>
            </a:pPr>
            <a:r>
              <a:rPr lang="en-US" sz="1200" b="1" spc="200" kern="0" dirty="0">
                <a:solidFill>
                  <a:schemeClr val="accent5"/>
                </a:solidFill>
              </a:rPr>
              <a:t>BACKGROUND OF THE STUDY</a:t>
            </a:r>
            <a:endParaRPr lang="en-US" sz="1200" dirty="0"/>
          </a:p>
        </p:txBody>
      </p:sp>
      <p:sp>
        <p:nvSpPr>
          <p:cNvPr id="3" name="Text 0"/>
          <p:cNvSpPr/>
          <p:nvPr>
            <p:ph idx="101" type="title" hasCustomPrompt="1"/>
          </p:nvPr>
        </p:nvSpPr>
        <p:spPr>
          <a:xfrm>
            <a:off x="548640" y="53035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Corruption Hides in the Price</a:t>
            </a:r>
            <a:endParaRPr lang="en-US" sz="3200" dirty="0"/>
          </a:p>
        </p:txBody>
      </p:sp>
      <p:sp>
        <p:nvSpPr>
          <p:cNvPr id="5" name="card"/>
          <p:cNvSpPr/>
          <p:nvPr/>
        </p:nvSpPr>
        <p:spPr>
          <a:xfrm>
            <a:off x="548640" y="1600200"/>
            <a:ext cx="2606040" cy="3291840"/>
          </a:xfrm>
          <a:prstGeom prst="roundRect">
            <a:avLst>
              <a:gd name="adj" fmla="val 2807"/>
            </a:avLst>
          </a:prstGeom>
          <a:solidFill>
            <a:schemeClr val="bg2"/>
          </a:solidFill>
          <a:ln/>
        </p:spPr>
      </p:sp>
      <p:sp>
        <p:nvSpPr>
          <p:cNvPr id="6" name="Text 3"/>
          <p:cNvSpPr txBox="1"/>
          <p:nvPr/>
        </p:nvSpPr>
        <p:spPr>
          <a:xfrm>
            <a:off x="777240" y="1828800"/>
            <a:ext cx="2194560" cy="82296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10–30%</a:t>
            </a:r>
            <a:endParaRPr lang="en-US" sz="3600" dirty="0"/>
          </a:p>
        </p:txBody>
      </p:sp>
      <p:sp>
        <p:nvSpPr>
          <p:cNvPr id="7" name="Text 4"/>
          <p:cNvSpPr txBox="1"/>
          <p:nvPr/>
        </p:nvSpPr>
        <p:spPr>
          <a:xfrm>
            <a:off x="777240" y="2697480"/>
            <a:ext cx="2194560" cy="1645920"/>
          </a:xfrm>
          <a:prstGeom prst="rect">
            <a:avLst/>
          </a:prstGeom>
          <a:noFill/>
          <a:ln/>
        </p:spPr>
        <p:txBody>
          <a:bodyPr wrap="square" lIns="0" tIns="0" rIns="0" bIns="0" rtlCol="0" anchor="t"/>
          <a:lstStyle/>
          <a:p>
            <a:pPr indent="0" marL="0">
              <a:buNone/>
            </a:pPr>
            <a:r>
              <a:rPr lang="en-US" sz="1400" dirty="0">
                <a:solidFill>
                  <a:schemeClr val="tx1"/>
                </a:solidFill>
              </a:rPr>
              <a:t>of public infrastructure investment lost to corruption, mismanagement and inefficiency</a:t>
            </a:r>
            <a:endParaRPr lang="en-US" sz="1400" dirty="0"/>
          </a:p>
        </p:txBody>
      </p:sp>
      <p:sp>
        <p:nvSpPr>
          <p:cNvPr id="8" name="Text 5"/>
          <p:cNvSpPr txBox="1"/>
          <p:nvPr/>
        </p:nvSpPr>
        <p:spPr>
          <a:xfrm>
            <a:off x="777240" y="4389120"/>
            <a:ext cx="2194560" cy="365760"/>
          </a:xfrm>
          <a:prstGeom prst="rect">
            <a:avLst/>
          </a:prstGeom>
          <a:noFill/>
          <a:ln/>
        </p:spPr>
        <p:txBody>
          <a:bodyPr wrap="square" lIns="0" tIns="0" rIns="0" bIns="0" rtlCol="0" anchor="t"/>
          <a:lstStyle/>
          <a:p>
            <a:pPr indent="0" marL="0">
              <a:buNone/>
            </a:pPr>
            <a:r>
              <a:rPr lang="en-US" sz="1100" i="1" dirty="0">
                <a:solidFill>
                  <a:srgbClr val="6B7A8C"/>
                </a:solidFill>
              </a:rPr>
              <a:t>CoST, n.d.</a:t>
            </a:r>
            <a:endParaRPr lang="en-US" sz="1100" dirty="0"/>
          </a:p>
        </p:txBody>
      </p:sp>
      <p:sp>
        <p:nvSpPr>
          <p:cNvPr id="9" name="card"/>
          <p:cNvSpPr/>
          <p:nvPr/>
        </p:nvSpPr>
        <p:spPr>
          <a:xfrm>
            <a:off x="3383280" y="1600200"/>
            <a:ext cx="2606040" cy="3291840"/>
          </a:xfrm>
          <a:prstGeom prst="roundRect">
            <a:avLst>
              <a:gd name="adj" fmla="val 2807"/>
            </a:avLst>
          </a:prstGeom>
          <a:solidFill>
            <a:schemeClr val="bg2"/>
          </a:solidFill>
          <a:ln/>
        </p:spPr>
      </p:sp>
      <p:sp>
        <p:nvSpPr>
          <p:cNvPr id="10" name="Text 7"/>
          <p:cNvSpPr txBox="1"/>
          <p:nvPr/>
        </p:nvSpPr>
        <p:spPr>
          <a:xfrm>
            <a:off x="3611880" y="1828800"/>
            <a:ext cx="2194560" cy="82296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32 / 100</a:t>
            </a:r>
            <a:endParaRPr lang="en-US" sz="3600" dirty="0"/>
          </a:p>
        </p:txBody>
      </p:sp>
      <p:sp>
        <p:nvSpPr>
          <p:cNvPr id="11" name="Text 8"/>
          <p:cNvSpPr txBox="1"/>
          <p:nvPr/>
        </p:nvSpPr>
        <p:spPr>
          <a:xfrm>
            <a:off x="3611880" y="2697480"/>
            <a:ext cx="2194560" cy="1645920"/>
          </a:xfrm>
          <a:prstGeom prst="rect">
            <a:avLst/>
          </a:prstGeom>
          <a:noFill/>
          <a:ln/>
        </p:spPr>
        <p:txBody>
          <a:bodyPr wrap="square" lIns="0" tIns="0" rIns="0" bIns="0" rtlCol="0" anchor="t"/>
          <a:lstStyle/>
          <a:p>
            <a:pPr indent="0" marL="0">
              <a:buNone/>
            </a:pPr>
            <a:r>
              <a:rPr lang="en-US" sz="1400" dirty="0">
                <a:solidFill>
                  <a:schemeClr val="tx1"/>
                </a:solidFill>
              </a:rPr>
              <a:t>Philippine score in the 2025 Corruption Perceptions Index; 120th of 182</a:t>
            </a:r>
            <a:endParaRPr lang="en-US" sz="1400" dirty="0"/>
          </a:p>
        </p:txBody>
      </p:sp>
      <p:sp>
        <p:nvSpPr>
          <p:cNvPr id="12" name="Text 9"/>
          <p:cNvSpPr txBox="1"/>
          <p:nvPr/>
        </p:nvSpPr>
        <p:spPr>
          <a:xfrm>
            <a:off x="3611880" y="4389120"/>
            <a:ext cx="2194560" cy="365760"/>
          </a:xfrm>
          <a:prstGeom prst="rect">
            <a:avLst/>
          </a:prstGeom>
          <a:noFill/>
          <a:ln/>
        </p:spPr>
        <p:txBody>
          <a:bodyPr wrap="square" lIns="0" tIns="0" rIns="0" bIns="0" rtlCol="0" anchor="t"/>
          <a:lstStyle/>
          <a:p>
            <a:pPr indent="0" marL="0">
              <a:buNone/>
            </a:pPr>
            <a:r>
              <a:rPr lang="en-US" sz="1100" i="1" dirty="0">
                <a:solidFill>
                  <a:srgbClr val="6B7A8C"/>
                </a:solidFill>
              </a:rPr>
              <a:t>Transparency International, 2026</a:t>
            </a:r>
            <a:endParaRPr lang="en-US" sz="1100" dirty="0"/>
          </a:p>
        </p:txBody>
      </p:sp>
      <p:sp>
        <p:nvSpPr>
          <p:cNvPr id="13" name="card"/>
          <p:cNvSpPr/>
          <p:nvPr/>
        </p:nvSpPr>
        <p:spPr>
          <a:xfrm>
            <a:off x="6217920" y="1600200"/>
            <a:ext cx="2606040" cy="3291840"/>
          </a:xfrm>
          <a:prstGeom prst="roundRect">
            <a:avLst>
              <a:gd name="adj" fmla="val 2807"/>
            </a:avLst>
          </a:prstGeom>
          <a:solidFill>
            <a:schemeClr val="bg2"/>
          </a:solidFill>
          <a:ln/>
        </p:spPr>
      </p:sp>
      <p:sp>
        <p:nvSpPr>
          <p:cNvPr id="14" name="Text 11"/>
          <p:cNvSpPr txBox="1"/>
          <p:nvPr/>
        </p:nvSpPr>
        <p:spPr>
          <a:xfrm>
            <a:off x="6446520" y="1828800"/>
            <a:ext cx="2194560" cy="82296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₱545.64B</a:t>
            </a:r>
            <a:endParaRPr lang="en-US" sz="3600" dirty="0"/>
          </a:p>
        </p:txBody>
      </p:sp>
      <p:sp>
        <p:nvSpPr>
          <p:cNvPr id="15" name="Text 12"/>
          <p:cNvSpPr txBox="1"/>
          <p:nvPr/>
        </p:nvSpPr>
        <p:spPr>
          <a:xfrm>
            <a:off x="6446520" y="2697480"/>
            <a:ext cx="2194560" cy="1645920"/>
          </a:xfrm>
          <a:prstGeom prst="rect">
            <a:avLst/>
          </a:prstGeom>
          <a:noFill/>
          <a:ln/>
        </p:spPr>
        <p:txBody>
          <a:bodyPr wrap="square" lIns="0" tIns="0" rIns="0" bIns="0" rtlCol="0" anchor="t"/>
          <a:lstStyle/>
          <a:p>
            <a:pPr indent="0" marL="0">
              <a:buNone/>
            </a:pPr>
            <a:r>
              <a:rPr lang="en-US" sz="1400" dirty="0">
                <a:solidFill>
                  <a:schemeClr val="tx1"/>
                </a:solidFill>
              </a:rPr>
              <a:t>flood-control projects, July 2022 – May 2025; about 20% went to 15 contractors</a:t>
            </a:r>
            <a:endParaRPr lang="en-US" sz="1400" dirty="0"/>
          </a:p>
        </p:txBody>
      </p:sp>
      <p:sp>
        <p:nvSpPr>
          <p:cNvPr id="16" name="Text 13"/>
          <p:cNvSpPr txBox="1"/>
          <p:nvPr/>
        </p:nvSpPr>
        <p:spPr>
          <a:xfrm>
            <a:off x="6446520" y="4389120"/>
            <a:ext cx="2194560" cy="365760"/>
          </a:xfrm>
          <a:prstGeom prst="rect">
            <a:avLst/>
          </a:prstGeom>
          <a:noFill/>
          <a:ln/>
        </p:spPr>
        <p:txBody>
          <a:bodyPr wrap="square" lIns="0" tIns="0" rIns="0" bIns="0" rtlCol="0" anchor="t"/>
          <a:lstStyle/>
          <a:p>
            <a:pPr indent="0" marL="0">
              <a:buNone/>
            </a:pPr>
            <a:r>
              <a:rPr lang="en-US" sz="1100" i="1" dirty="0">
                <a:solidFill>
                  <a:srgbClr val="6B7A8C"/>
                </a:solidFill>
              </a:rPr>
              <a:t>DZRH News, 2025; PCIJ, 2025</a:t>
            </a:r>
            <a:endParaRPr lang="en-US" sz="1100" dirty="0"/>
          </a:p>
        </p:txBody>
      </p:sp>
      <p:sp>
        <p:nvSpPr>
          <p:cNvPr id="17" name="card"/>
          <p:cNvSpPr/>
          <p:nvPr/>
        </p:nvSpPr>
        <p:spPr>
          <a:xfrm>
            <a:off x="9052560" y="1600200"/>
            <a:ext cx="2606040" cy="3291840"/>
          </a:xfrm>
          <a:prstGeom prst="roundRect">
            <a:avLst>
              <a:gd name="adj" fmla="val 2807"/>
            </a:avLst>
          </a:prstGeom>
          <a:solidFill>
            <a:schemeClr val="bg2"/>
          </a:solidFill>
          <a:ln/>
        </p:spPr>
      </p:sp>
      <p:sp>
        <p:nvSpPr>
          <p:cNvPr id="18" name="Text 15"/>
          <p:cNvSpPr txBox="1"/>
          <p:nvPr/>
        </p:nvSpPr>
        <p:spPr>
          <a:xfrm>
            <a:off x="9281160" y="1828800"/>
            <a:ext cx="2194560" cy="82296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₱62.64M</a:t>
            </a:r>
            <a:endParaRPr lang="en-US" sz="3600" dirty="0"/>
          </a:p>
        </p:txBody>
      </p:sp>
      <p:sp>
        <p:nvSpPr>
          <p:cNvPr id="19" name="Text 16"/>
          <p:cNvSpPr txBox="1"/>
          <p:nvPr/>
        </p:nvSpPr>
        <p:spPr>
          <a:xfrm>
            <a:off x="9281160" y="2697480"/>
            <a:ext cx="2194560" cy="1645920"/>
          </a:xfrm>
          <a:prstGeom prst="rect">
            <a:avLst/>
          </a:prstGeom>
          <a:noFill/>
          <a:ln/>
        </p:spPr>
        <p:txBody>
          <a:bodyPr wrap="square" lIns="0" tIns="0" rIns="0" bIns="0" rtlCol="0" anchor="t"/>
          <a:lstStyle/>
          <a:p>
            <a:pPr indent="0" marL="0">
              <a:buNone/>
            </a:pPr>
            <a:r>
              <a:rPr lang="en-US" sz="1400" dirty="0">
                <a:solidFill>
                  <a:schemeClr val="tx1"/>
                </a:solidFill>
              </a:rPr>
              <a:t>overstatement found by COA in the Cebu City Medical Center building</a:t>
            </a:r>
            <a:endParaRPr lang="en-US" sz="1400" dirty="0"/>
          </a:p>
        </p:txBody>
      </p:sp>
      <p:sp>
        <p:nvSpPr>
          <p:cNvPr id="20" name="Text 17"/>
          <p:cNvSpPr txBox="1"/>
          <p:nvPr/>
        </p:nvSpPr>
        <p:spPr>
          <a:xfrm>
            <a:off x="9281160" y="4389120"/>
            <a:ext cx="2194560" cy="365760"/>
          </a:xfrm>
          <a:prstGeom prst="rect">
            <a:avLst/>
          </a:prstGeom>
          <a:noFill/>
          <a:ln/>
        </p:spPr>
        <p:txBody>
          <a:bodyPr wrap="square" lIns="0" tIns="0" rIns="0" bIns="0" rtlCol="0" anchor="t"/>
          <a:lstStyle/>
          <a:p>
            <a:pPr indent="0" marL="0">
              <a:buNone/>
            </a:pPr>
            <a:r>
              <a:rPr lang="en-US" sz="1100" i="1" dirty="0">
                <a:solidFill>
                  <a:srgbClr val="6B7A8C"/>
                </a:solidFill>
              </a:rPr>
              <a:t>Cebu Daily News, 2023</a:t>
            </a:r>
            <a:endParaRPr lang="en-US" sz="1100" dirty="0"/>
          </a:p>
        </p:txBody>
      </p:sp>
      <p:sp>
        <p:nvSpPr>
          <p:cNvPr id="21" name="icon circle"/>
          <p:cNvSpPr/>
          <p:nvPr/>
        </p:nvSpPr>
        <p:spPr>
          <a:xfrm>
            <a:off x="548640" y="5212080"/>
            <a:ext cx="685800" cy="685800"/>
          </a:xfrm>
          <a:prstGeom prst="ellipse">
            <a:avLst/>
          </a:prstGeom>
          <a:solidFill>
            <a:schemeClr val="accent1"/>
          </a:solidFill>
          <a:ln/>
        </p:spPr>
      </p:sp>
      <p:pic>
        <p:nvPicPr>
          <p:cNvPr id="22" name="icon FaTriangleExclamation" descr="TriangleExclamation icon">    </p:cNvPr>
          <p:cNvPicPr>
            <a:picLocks noChangeAspect="1"/>
          </p:cNvPicPr>
          <p:nvPr/>
        </p:nvPicPr>
        <p:blipFill>
          <a:blip r:embed="rId1"/>
          <a:stretch>
            <a:fillRect/>
          </a:stretch>
        </p:blipFill>
        <p:spPr>
          <a:xfrm>
            <a:off x="713232" y="5376672"/>
            <a:ext cx="356616" cy="356616"/>
          </a:xfrm>
          <a:prstGeom prst="rect">
            <a:avLst/>
          </a:prstGeom>
        </p:spPr>
      </p:pic>
      <p:sp>
        <p:nvSpPr>
          <p:cNvPr id="23" name="Text 19"/>
          <p:cNvSpPr txBox="1"/>
          <p:nvPr/>
        </p:nvSpPr>
        <p:spPr>
          <a:xfrm>
            <a:off x="1417320" y="5166360"/>
            <a:ext cx="10149840" cy="868680"/>
          </a:xfrm>
          <a:prstGeom prst="rect">
            <a:avLst/>
          </a:prstGeom>
          <a:noFill/>
          <a:ln/>
        </p:spPr>
        <p:txBody>
          <a:bodyPr wrap="square" lIns="0" tIns="0" rIns="0" bIns="0" rtlCol="0" anchor="ctr"/>
          <a:lstStyle/>
          <a:p>
            <a:pPr indent="0" marL="0">
              <a:buNone/>
            </a:pPr>
            <a:r>
              <a:rPr lang="en-US" sz="1500" b="1" dirty="0">
                <a:solidFill>
                  <a:schemeClr val="tx1"/>
                </a:solidFill>
              </a:rPr>
              <a:t>In 2025 a newly opened ₱1.2-billion bridge in Isabela collapsed </a:t>
            </a:r>
            <a:pPr indent="0" marL="0">
              <a:buNone/>
            </a:pPr>
            <a:r>
              <a:rPr lang="en-US" sz="1500" dirty="0">
                <a:solidFill>
                  <a:schemeClr val="tx1"/>
                </a:solidFill>
              </a:rPr>
              <a:t>less than a month after completion (Philstar, 2025). In Bicol, COA findings on DPWH projects worth ₱13 billion showed that cost checks against an independent estimate happen late, if at all.</a:t>
            </a:r>
            <a:endParaRPr lang="en-US" sz="1500" dirty="0"/>
          </a:p>
        </p:txBody>
      </p:sp>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229600" cy="292608"/>
          </a:xfrm>
          <a:prstGeom prst="rect">
            <a:avLst/>
          </a:prstGeom>
          <a:noFill/>
          <a:ln/>
        </p:spPr>
        <p:txBody>
          <a:bodyPr wrap="square" lIns="0" tIns="0" rIns="0" bIns="0" rtlCol="0"/>
          <a:lstStyle/>
          <a:p>
            <a:pPr indent="0" marL="0">
              <a:buNone/>
            </a:pPr>
            <a:r>
              <a:rPr lang="en-US" sz="1200" b="1" spc="200" kern="0" dirty="0">
                <a:solidFill>
                  <a:schemeClr val="accent5"/>
                </a:solidFill>
              </a:rPr>
              <a:t>BACKGROUND OF THE STUDY</a:t>
            </a:r>
            <a:endParaRPr lang="en-US" sz="1200" dirty="0"/>
          </a:p>
        </p:txBody>
      </p:sp>
      <p:sp>
        <p:nvSpPr>
          <p:cNvPr id="3" name="Text 0"/>
          <p:cNvSpPr/>
          <p:nvPr>
            <p:ph idx="101" type="title" hasCustomPrompt="1"/>
          </p:nvPr>
        </p:nvSpPr>
        <p:spPr>
          <a:xfrm>
            <a:off x="548640" y="53035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Why Buildings and Bridges</a:t>
            </a:r>
            <a:endParaRPr lang="en-US" sz="3200" dirty="0"/>
          </a:p>
        </p:txBody>
      </p:sp>
      <p:pic>
        <p:nvPicPr>
          <p:cNvPr id="5" name="viz_building.png" descr="3D school building">    </p:cNvPr>
          <p:cNvPicPr>
            <a:picLocks noChangeAspect="1"/>
          </p:cNvPicPr>
          <p:nvPr/>
        </p:nvPicPr>
        <p:blipFill>
          <a:blip r:embed="rId1"/>
          <a:stretch>
            <a:fillRect/>
          </a:stretch>
        </p:blipFill>
        <p:spPr>
          <a:xfrm>
            <a:off x="808022" y="1508760"/>
            <a:ext cx="3047396" cy="2331720"/>
          </a:xfrm>
          <a:prstGeom prst="rect">
            <a:avLst/>
          </a:prstGeom>
        </p:spPr>
      </p:pic>
      <p:pic>
        <p:nvPicPr>
          <p:cNvPr id="6" name="viz_bridge_truss.png" descr="3D steel truss bridge">    </p:cNvPr>
          <p:cNvPicPr>
            <a:picLocks noChangeAspect="1"/>
          </p:cNvPicPr>
          <p:nvPr/>
        </p:nvPicPr>
        <p:blipFill>
          <a:blip r:embed="rId2"/>
          <a:stretch>
            <a:fillRect/>
          </a:stretch>
        </p:blipFill>
        <p:spPr>
          <a:xfrm>
            <a:off x="808022" y="3886200"/>
            <a:ext cx="3047396" cy="2331720"/>
          </a:xfrm>
          <a:prstGeom prst="rect">
            <a:avLst/>
          </a:prstGeom>
        </p:spPr>
      </p:pic>
      <p:sp>
        <p:nvSpPr>
          <p:cNvPr id="7" name="icon circle"/>
          <p:cNvSpPr/>
          <p:nvPr/>
        </p:nvSpPr>
        <p:spPr>
          <a:xfrm>
            <a:off x="4480560" y="1600200"/>
            <a:ext cx="685800" cy="685800"/>
          </a:xfrm>
          <a:prstGeom prst="ellipse">
            <a:avLst/>
          </a:prstGeom>
          <a:solidFill>
            <a:schemeClr val="tx2"/>
          </a:solidFill>
          <a:ln/>
        </p:spPr>
      </p:sp>
      <p:pic>
        <p:nvPicPr>
          <p:cNvPr id="8" name="icon FaSchool" descr="School icon">    </p:cNvPr>
          <p:cNvPicPr>
            <a:picLocks noChangeAspect="1"/>
          </p:cNvPicPr>
          <p:nvPr/>
        </p:nvPicPr>
        <p:blipFill>
          <a:blip r:embed="rId3"/>
          <a:stretch>
            <a:fillRect/>
          </a:stretch>
        </p:blipFill>
        <p:spPr>
          <a:xfrm>
            <a:off x="4645152" y="1764792"/>
            <a:ext cx="356616" cy="356616"/>
          </a:xfrm>
          <a:prstGeom prst="rect">
            <a:avLst/>
          </a:prstGeom>
        </p:spPr>
      </p:pic>
      <p:sp>
        <p:nvSpPr>
          <p:cNvPr id="9" name="Text 3"/>
          <p:cNvSpPr txBox="1"/>
          <p:nvPr/>
        </p:nvSpPr>
        <p:spPr>
          <a:xfrm>
            <a:off x="5394960" y="1554480"/>
            <a:ext cx="6217920" cy="365760"/>
          </a:xfrm>
          <a:prstGeom prst="rect">
            <a:avLst/>
          </a:prstGeom>
          <a:noFill/>
          <a:ln/>
        </p:spPr>
        <p:txBody>
          <a:bodyPr wrap="square" lIns="0" tIns="0" rIns="0" bIns="0" rtlCol="0" anchor="t"/>
          <a:lstStyle/>
          <a:p>
            <a:pPr indent="0" marL="0">
              <a:buNone/>
            </a:pPr>
            <a:r>
              <a:rPr lang="en-US" sz="1800" b="1" dirty="0">
                <a:solidFill>
                  <a:schemeClr val="tx2"/>
                </a:solidFill>
              </a:rPr>
              <a:t>Every padded peso is a missing classroom</a:t>
            </a:r>
            <a:endParaRPr lang="en-US" sz="1800" dirty="0"/>
          </a:p>
        </p:txBody>
      </p:sp>
      <p:sp>
        <p:nvSpPr>
          <p:cNvPr id="10" name="Text 4"/>
          <p:cNvSpPr txBox="1"/>
          <p:nvPr/>
        </p:nvSpPr>
        <p:spPr>
          <a:xfrm>
            <a:off x="5394960" y="1938528"/>
            <a:ext cx="6217920" cy="685800"/>
          </a:xfrm>
          <a:prstGeom prst="rect">
            <a:avLst/>
          </a:prstGeom>
          <a:noFill/>
          <a:ln/>
        </p:spPr>
        <p:txBody>
          <a:bodyPr wrap="square" lIns="0" tIns="0" rIns="0" bIns="0" rtlCol="0" anchor="t"/>
          <a:lstStyle/>
          <a:p>
            <a:pPr indent="0" marL="0">
              <a:buNone/>
            </a:pPr>
            <a:r>
              <a:rPr lang="en-US" sz="1500" dirty="0">
                <a:solidFill>
                  <a:schemeClr val="tx1"/>
                </a:solidFill>
              </a:rPr>
              <a:t>School buildings, health stations and evacuation centers are what communities rely on during typhoons.</a:t>
            </a:r>
            <a:endParaRPr lang="en-US" sz="1500" dirty="0"/>
          </a:p>
        </p:txBody>
      </p:sp>
      <p:sp>
        <p:nvSpPr>
          <p:cNvPr id="11" name="icon circle"/>
          <p:cNvSpPr/>
          <p:nvPr/>
        </p:nvSpPr>
        <p:spPr>
          <a:xfrm>
            <a:off x="4480560" y="2770632"/>
            <a:ext cx="685800" cy="685800"/>
          </a:xfrm>
          <a:prstGeom prst="ellipse">
            <a:avLst/>
          </a:prstGeom>
          <a:solidFill>
            <a:schemeClr val="tx2"/>
          </a:solidFill>
          <a:ln/>
        </p:spPr>
      </p:sp>
      <p:pic>
        <p:nvPicPr>
          <p:cNvPr id="12" name="icon FaBridge" descr="Bridge icon">    </p:cNvPr>
          <p:cNvPicPr>
            <a:picLocks noChangeAspect="1"/>
          </p:cNvPicPr>
          <p:nvPr/>
        </p:nvPicPr>
        <p:blipFill>
          <a:blip r:embed="rId4"/>
          <a:stretch>
            <a:fillRect/>
          </a:stretch>
        </p:blipFill>
        <p:spPr>
          <a:xfrm>
            <a:off x="4645152" y="2935224"/>
            <a:ext cx="356616" cy="356616"/>
          </a:xfrm>
          <a:prstGeom prst="rect">
            <a:avLst/>
          </a:prstGeom>
        </p:spPr>
      </p:pic>
      <p:sp>
        <p:nvSpPr>
          <p:cNvPr id="13" name="Text 6"/>
          <p:cNvSpPr txBox="1"/>
          <p:nvPr/>
        </p:nvSpPr>
        <p:spPr>
          <a:xfrm>
            <a:off x="5394960" y="2724912"/>
            <a:ext cx="6217920" cy="365760"/>
          </a:xfrm>
          <a:prstGeom prst="rect">
            <a:avLst/>
          </a:prstGeom>
          <a:noFill/>
          <a:ln/>
        </p:spPr>
        <p:txBody>
          <a:bodyPr wrap="square" lIns="0" tIns="0" rIns="0" bIns="0" rtlCol="0" anchor="t"/>
          <a:lstStyle/>
          <a:p>
            <a:pPr indent="0" marL="0">
              <a:buNone/>
            </a:pPr>
            <a:r>
              <a:rPr lang="en-US" sz="1800" b="1" dirty="0">
                <a:solidFill>
                  <a:schemeClr val="tx2"/>
                </a:solidFill>
              </a:rPr>
              <a:t>Bridges keep communities reachable</a:t>
            </a:r>
            <a:endParaRPr lang="en-US" sz="1800" dirty="0"/>
          </a:p>
        </p:txBody>
      </p:sp>
      <p:sp>
        <p:nvSpPr>
          <p:cNvPr id="14" name="Text 7"/>
          <p:cNvSpPr txBox="1"/>
          <p:nvPr/>
        </p:nvSpPr>
        <p:spPr>
          <a:xfrm>
            <a:off x="5394960" y="3108960"/>
            <a:ext cx="6217920" cy="685800"/>
          </a:xfrm>
          <a:prstGeom prst="rect">
            <a:avLst/>
          </a:prstGeom>
          <a:noFill/>
          <a:ln/>
        </p:spPr>
        <p:txBody>
          <a:bodyPr wrap="square" lIns="0" tIns="0" rIns="0" bIns="0" rtlCol="0" anchor="t"/>
          <a:lstStyle/>
          <a:p>
            <a:pPr indent="0" marL="0">
              <a:buNone/>
            </a:pPr>
            <a:r>
              <a:rPr lang="en-US" sz="1500" dirty="0">
                <a:solidFill>
                  <a:schemeClr val="tx1"/>
                </a:solidFill>
              </a:rPr>
              <a:t>Bicol is in NSCP Seismic Zone 4 and in the path of frequent typhoons; thin bridges fail first.</a:t>
            </a:r>
            <a:endParaRPr lang="en-US" sz="1500" dirty="0"/>
          </a:p>
        </p:txBody>
      </p:sp>
      <p:sp>
        <p:nvSpPr>
          <p:cNvPr id="15" name="icon circle"/>
          <p:cNvSpPr/>
          <p:nvPr/>
        </p:nvSpPr>
        <p:spPr>
          <a:xfrm>
            <a:off x="4480560" y="3941064"/>
            <a:ext cx="685800" cy="685800"/>
          </a:xfrm>
          <a:prstGeom prst="ellipse">
            <a:avLst/>
          </a:prstGeom>
          <a:solidFill>
            <a:schemeClr val="tx2"/>
          </a:solidFill>
          <a:ln/>
        </p:spPr>
      </p:sp>
      <p:pic>
        <p:nvPicPr>
          <p:cNvPr id="16" name="icon FaFileInvoiceDollar" descr="FileInvoiceDollar icon">    </p:cNvPr>
          <p:cNvPicPr>
            <a:picLocks noChangeAspect="1"/>
          </p:cNvPicPr>
          <p:nvPr/>
        </p:nvPicPr>
        <p:blipFill>
          <a:blip r:embed="rId5"/>
          <a:stretch>
            <a:fillRect/>
          </a:stretch>
        </p:blipFill>
        <p:spPr>
          <a:xfrm>
            <a:off x="4645152" y="4105656"/>
            <a:ext cx="356616" cy="356616"/>
          </a:xfrm>
          <a:prstGeom prst="rect">
            <a:avLst/>
          </a:prstGeom>
        </p:spPr>
      </p:pic>
      <p:sp>
        <p:nvSpPr>
          <p:cNvPr id="17" name="Text 9"/>
          <p:cNvSpPr txBox="1"/>
          <p:nvPr/>
        </p:nvSpPr>
        <p:spPr>
          <a:xfrm>
            <a:off x="5394960" y="3895344"/>
            <a:ext cx="6217920" cy="365760"/>
          </a:xfrm>
          <a:prstGeom prst="rect">
            <a:avLst/>
          </a:prstGeom>
          <a:noFill/>
          <a:ln/>
        </p:spPr>
        <p:txBody>
          <a:bodyPr wrap="square" lIns="0" tIns="0" rIns="0" bIns="0" rtlCol="0" anchor="t"/>
          <a:lstStyle/>
          <a:p>
            <a:pPr indent="0" marL="0">
              <a:buNone/>
            </a:pPr>
            <a:r>
              <a:rPr lang="en-US" sz="1800" b="1" dirty="0">
                <a:solidFill>
                  <a:schemeClr val="tx2"/>
                </a:solidFill>
              </a:rPr>
              <a:t>The ABC is set by the same office</a:t>
            </a:r>
            <a:endParaRPr lang="en-US" sz="1800" dirty="0"/>
          </a:p>
        </p:txBody>
      </p:sp>
      <p:sp>
        <p:nvSpPr>
          <p:cNvPr id="18" name="Text 10"/>
          <p:cNvSpPr txBox="1"/>
          <p:nvPr/>
        </p:nvSpPr>
        <p:spPr>
          <a:xfrm>
            <a:off x="5394960" y="4279392"/>
            <a:ext cx="6217920" cy="685800"/>
          </a:xfrm>
          <a:prstGeom prst="rect">
            <a:avLst/>
          </a:prstGeom>
          <a:noFill/>
          <a:ln/>
        </p:spPr>
        <p:txBody>
          <a:bodyPr wrap="square" lIns="0" tIns="0" rIns="0" bIns="0" rtlCol="0" anchor="t"/>
          <a:lstStyle/>
          <a:p>
            <a:pPr indent="0" marL="0">
              <a:buNone/>
            </a:pPr>
            <a:r>
              <a:rPr lang="en-US" sz="1500" dirty="0">
                <a:solidFill>
                  <a:schemeClr val="tx1"/>
                </a:solidFill>
              </a:rPr>
              <a:t>Each project gets a Program of Works and an ABC; outsiders have no independent estimate to compare.</a:t>
            </a:r>
            <a:endParaRPr lang="en-US" sz="1500" dirty="0"/>
          </a:p>
        </p:txBody>
      </p:sp>
      <p:sp>
        <p:nvSpPr>
          <p:cNvPr id="19" name="icon circle"/>
          <p:cNvSpPr/>
          <p:nvPr/>
        </p:nvSpPr>
        <p:spPr>
          <a:xfrm>
            <a:off x="4480560" y="5111496"/>
            <a:ext cx="685800" cy="685800"/>
          </a:xfrm>
          <a:prstGeom prst="ellipse">
            <a:avLst/>
          </a:prstGeom>
          <a:solidFill>
            <a:schemeClr val="tx2"/>
          </a:solidFill>
          <a:ln/>
        </p:spPr>
      </p:sp>
      <p:pic>
        <p:nvPicPr>
          <p:cNvPr id="20" name="icon FaRobot" descr="Robot icon">    </p:cNvPr>
          <p:cNvPicPr>
            <a:picLocks noChangeAspect="1"/>
          </p:cNvPicPr>
          <p:nvPr/>
        </p:nvPicPr>
        <p:blipFill>
          <a:blip r:embed="rId6"/>
          <a:stretch>
            <a:fillRect/>
          </a:stretch>
        </p:blipFill>
        <p:spPr>
          <a:xfrm>
            <a:off x="4645152" y="5276088"/>
            <a:ext cx="356616" cy="356616"/>
          </a:xfrm>
          <a:prstGeom prst="rect">
            <a:avLst/>
          </a:prstGeom>
        </p:spPr>
      </p:pic>
      <p:sp>
        <p:nvSpPr>
          <p:cNvPr id="21" name="Text 12"/>
          <p:cNvSpPr txBox="1"/>
          <p:nvPr/>
        </p:nvSpPr>
        <p:spPr>
          <a:xfrm>
            <a:off x="5394960" y="5065776"/>
            <a:ext cx="6217920" cy="365760"/>
          </a:xfrm>
          <a:prstGeom prst="rect">
            <a:avLst/>
          </a:prstGeom>
          <a:noFill/>
          <a:ln/>
        </p:spPr>
        <p:txBody>
          <a:bodyPr wrap="square" lIns="0" tIns="0" rIns="0" bIns="0" rtlCol="0" anchor="t"/>
          <a:lstStyle/>
          <a:p>
            <a:pPr indent="0" marL="0">
              <a:buNone/>
            </a:pPr>
            <a:r>
              <a:rPr lang="en-US" sz="1800" b="1" dirty="0">
                <a:solidFill>
                  <a:schemeClr val="tx2"/>
                </a:solidFill>
              </a:rPr>
              <a:t>Machine learning screens many contracts</a:t>
            </a:r>
            <a:endParaRPr lang="en-US" sz="1800" dirty="0"/>
          </a:p>
        </p:txBody>
      </p:sp>
      <p:sp>
        <p:nvSpPr>
          <p:cNvPr id="22" name="Text 13"/>
          <p:cNvSpPr txBox="1"/>
          <p:nvPr/>
        </p:nvSpPr>
        <p:spPr>
          <a:xfrm>
            <a:off x="5394960" y="5449824"/>
            <a:ext cx="6217920" cy="685800"/>
          </a:xfrm>
          <a:prstGeom prst="rect">
            <a:avLst/>
          </a:prstGeom>
          <a:noFill/>
          <a:ln/>
        </p:spPr>
        <p:txBody>
          <a:bodyPr wrap="square" lIns="0" tIns="0" rIns="0" bIns="0" rtlCol="0" anchor="t"/>
          <a:lstStyle/>
          <a:p>
            <a:pPr indent="0" marL="0">
              <a:buNone/>
            </a:pPr>
            <a:r>
              <a:rPr lang="en-US" sz="1500" dirty="0">
                <a:solidFill>
                  <a:schemeClr val="tx1"/>
                </a:solidFill>
              </a:rPr>
              <a:t>Regression and XGBoost predict cost; CORA screened 11,646 Bicol road contracts (Buban, 2026).</a:t>
            </a:r>
            <a:endParaRPr lang="en-US" sz="1500" dirty="0"/>
          </a:p>
        </p:txBody>
      </p:sp>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229600" cy="292608"/>
          </a:xfrm>
          <a:prstGeom prst="rect">
            <a:avLst/>
          </a:prstGeom>
          <a:noFill/>
          <a:ln/>
        </p:spPr>
        <p:txBody>
          <a:bodyPr wrap="square" lIns="0" tIns="0" rIns="0" bIns="0" rtlCol="0"/>
          <a:lstStyle/>
          <a:p>
            <a:pPr indent="0" marL="0">
              <a:buNone/>
            </a:pPr>
            <a:r>
              <a:rPr lang="en-US" sz="1200" b="1" spc="200" kern="0" dirty="0">
                <a:solidFill>
                  <a:schemeClr val="accent5"/>
                </a:solidFill>
              </a:rPr>
              <a:t>RESEARCH GAP AND RATIONALE</a:t>
            </a:r>
            <a:endParaRPr lang="en-US" sz="1200" dirty="0"/>
          </a:p>
        </p:txBody>
      </p:sp>
      <p:sp>
        <p:nvSpPr>
          <p:cNvPr id="3" name="Text 0"/>
          <p:cNvSpPr/>
          <p:nvPr>
            <p:ph idx="101" type="title" hasCustomPrompt="1"/>
          </p:nvPr>
        </p:nvSpPr>
        <p:spPr>
          <a:xfrm>
            <a:off x="548640" y="53035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Five Gaps This Study Closes</a:t>
            </a:r>
            <a:endParaRPr lang="en-US" sz="3200" dirty="0"/>
          </a:p>
        </p:txBody>
      </p:sp>
      <p:sp>
        <p:nvSpPr>
          <p:cNvPr id="5" name="card"/>
          <p:cNvSpPr/>
          <p:nvPr/>
        </p:nvSpPr>
        <p:spPr>
          <a:xfrm>
            <a:off x="548640" y="1600200"/>
            <a:ext cx="2057400" cy="3566160"/>
          </a:xfrm>
          <a:prstGeom prst="roundRect">
            <a:avLst>
              <a:gd name="adj" fmla="val 3556"/>
            </a:avLst>
          </a:prstGeom>
          <a:solidFill>
            <a:schemeClr val="bg2"/>
          </a:solidFill>
          <a:ln/>
        </p:spPr>
      </p:sp>
      <p:sp>
        <p:nvSpPr>
          <p:cNvPr id="6" name="icon circle"/>
          <p:cNvSpPr/>
          <p:nvPr/>
        </p:nvSpPr>
        <p:spPr>
          <a:xfrm>
            <a:off x="777240" y="1828800"/>
            <a:ext cx="685800" cy="685800"/>
          </a:xfrm>
          <a:prstGeom prst="ellipse">
            <a:avLst/>
          </a:prstGeom>
          <a:solidFill>
            <a:schemeClr val="tx2"/>
          </a:solidFill>
          <a:ln/>
        </p:spPr>
      </p:sp>
      <p:pic>
        <p:nvPicPr>
          <p:cNvPr id="7" name="icon FaRoad" descr="Road icon">    </p:cNvPr>
          <p:cNvPicPr>
            <a:picLocks noChangeAspect="1"/>
          </p:cNvPicPr>
          <p:nvPr/>
        </p:nvPicPr>
        <p:blipFill>
          <a:blip r:embed="rId1"/>
          <a:stretch>
            <a:fillRect/>
          </a:stretch>
        </p:blipFill>
        <p:spPr>
          <a:xfrm>
            <a:off x="941832" y="1993392"/>
            <a:ext cx="356616" cy="356616"/>
          </a:xfrm>
          <a:prstGeom prst="rect">
            <a:avLst/>
          </a:prstGeom>
        </p:spPr>
      </p:pic>
      <p:sp>
        <p:nvSpPr>
          <p:cNvPr id="8" name="Text 4"/>
          <p:cNvSpPr txBox="1"/>
          <p:nvPr/>
        </p:nvSpPr>
        <p:spPr>
          <a:xfrm>
            <a:off x="777240" y="2651760"/>
            <a:ext cx="1645920" cy="411480"/>
          </a:xfrm>
          <a:prstGeom prst="rect">
            <a:avLst/>
          </a:prstGeom>
          <a:noFill/>
          <a:ln/>
        </p:spPr>
        <p:txBody>
          <a:bodyPr wrap="square" lIns="0" tIns="0" rIns="0" bIns="0" rtlCol="0" anchor="t"/>
          <a:lstStyle/>
          <a:p>
            <a:pPr indent="0" marL="0">
              <a:buNone/>
            </a:pPr>
            <a:r>
              <a:rPr lang="en-US" sz="1800" b="1" dirty="0">
                <a:solidFill>
                  <a:schemeClr val="tx2"/>
                </a:solidFill>
              </a:rPr>
              <a:t>Scope gap</a:t>
            </a:r>
            <a:endParaRPr lang="en-US" sz="1800" dirty="0"/>
          </a:p>
        </p:txBody>
      </p:sp>
      <p:sp>
        <p:nvSpPr>
          <p:cNvPr id="9" name="Text 5"/>
          <p:cNvSpPr txBox="1"/>
          <p:nvPr/>
        </p:nvSpPr>
        <p:spPr>
          <a:xfrm>
            <a:off x="777240" y="3108960"/>
            <a:ext cx="1645920" cy="1965960"/>
          </a:xfrm>
          <a:prstGeom prst="rect">
            <a:avLst/>
          </a:prstGeom>
          <a:noFill/>
          <a:ln/>
        </p:spPr>
        <p:txBody>
          <a:bodyPr wrap="square" lIns="0" tIns="0" rIns="0" bIns="0" rtlCol="0" anchor="t"/>
          <a:lstStyle/>
          <a:p>
            <a:pPr indent="0" marL="0">
              <a:buNone/>
            </a:pPr>
            <a:r>
              <a:rPr lang="en-US" sz="1400" dirty="0">
                <a:solidFill>
                  <a:schemeClr val="tx1"/>
                </a:solidFill>
              </a:rPr>
              <a:t>Cost screening research has focused on roads; buildings and bridges have frames, footings, girders and piles.</a:t>
            </a:r>
            <a:endParaRPr lang="en-US" sz="1400" dirty="0"/>
          </a:p>
        </p:txBody>
      </p:sp>
      <p:sp>
        <p:nvSpPr>
          <p:cNvPr id="10" name="card"/>
          <p:cNvSpPr/>
          <p:nvPr/>
        </p:nvSpPr>
        <p:spPr>
          <a:xfrm>
            <a:off x="2807208" y="1600200"/>
            <a:ext cx="2057400" cy="3566160"/>
          </a:xfrm>
          <a:prstGeom prst="roundRect">
            <a:avLst>
              <a:gd name="adj" fmla="val 3556"/>
            </a:avLst>
          </a:prstGeom>
          <a:solidFill>
            <a:schemeClr val="bg2"/>
          </a:solidFill>
          <a:ln/>
        </p:spPr>
      </p:sp>
      <p:sp>
        <p:nvSpPr>
          <p:cNvPr id="11" name="icon circle"/>
          <p:cNvSpPr/>
          <p:nvPr/>
        </p:nvSpPr>
        <p:spPr>
          <a:xfrm>
            <a:off x="3035808" y="1828800"/>
            <a:ext cx="685800" cy="685800"/>
          </a:xfrm>
          <a:prstGeom prst="ellipse">
            <a:avLst/>
          </a:prstGeom>
          <a:solidFill>
            <a:schemeClr val="tx2"/>
          </a:solidFill>
          <a:ln/>
        </p:spPr>
      </p:sp>
      <p:pic>
        <p:nvPicPr>
          <p:cNvPr id="12" name="icon FaScaleUnbalanced" descr="ScaleUnbalanced icon">    </p:cNvPr>
          <p:cNvPicPr>
            <a:picLocks noChangeAspect="1"/>
          </p:cNvPicPr>
          <p:nvPr/>
        </p:nvPicPr>
        <p:blipFill>
          <a:blip r:embed="rId2"/>
          <a:stretch>
            <a:fillRect/>
          </a:stretch>
        </p:blipFill>
        <p:spPr>
          <a:xfrm>
            <a:off x="3200400" y="1993392"/>
            <a:ext cx="356616" cy="356616"/>
          </a:xfrm>
          <a:prstGeom prst="rect">
            <a:avLst/>
          </a:prstGeom>
        </p:spPr>
      </p:pic>
      <p:sp>
        <p:nvSpPr>
          <p:cNvPr id="13" name="Text 8"/>
          <p:cNvSpPr txBox="1"/>
          <p:nvPr/>
        </p:nvSpPr>
        <p:spPr>
          <a:xfrm>
            <a:off x="3035808" y="2651760"/>
            <a:ext cx="1645920" cy="411480"/>
          </a:xfrm>
          <a:prstGeom prst="rect">
            <a:avLst/>
          </a:prstGeom>
          <a:noFill/>
          <a:ln/>
        </p:spPr>
        <p:txBody>
          <a:bodyPr wrap="square" lIns="0" tIns="0" rIns="0" bIns="0" rtlCol="0" anchor="t"/>
          <a:lstStyle/>
          <a:p>
            <a:pPr indent="0" marL="0">
              <a:buNone/>
            </a:pPr>
            <a:r>
              <a:rPr lang="en-US" sz="1800" b="1" dirty="0">
                <a:solidFill>
                  <a:schemeClr val="tx2"/>
                </a:solidFill>
              </a:rPr>
              <a:t>Reference gap</a:t>
            </a:r>
            <a:endParaRPr lang="en-US" sz="1800" dirty="0"/>
          </a:p>
        </p:txBody>
      </p:sp>
      <p:sp>
        <p:nvSpPr>
          <p:cNvPr id="14" name="Text 9"/>
          <p:cNvSpPr txBox="1"/>
          <p:nvPr/>
        </p:nvSpPr>
        <p:spPr>
          <a:xfrm>
            <a:off x="3035808" y="3108960"/>
            <a:ext cx="1645920" cy="1965960"/>
          </a:xfrm>
          <a:prstGeom prst="rect">
            <a:avLst/>
          </a:prstGeom>
          <a:noFill/>
          <a:ln/>
        </p:spPr>
        <p:txBody>
          <a:bodyPr wrap="square" lIns="0" tIns="0" rIns="0" bIns="0" rtlCol="0" anchor="t"/>
          <a:lstStyle/>
          <a:p>
            <a:pPr indent="0" marL="0">
              <a:buNone/>
            </a:pPr>
            <a:r>
              <a:rPr lang="en-US" sz="1400" dirty="0">
                <a:solidFill>
                  <a:schemeClr val="tx1"/>
                </a:solidFill>
              </a:rPr>
              <a:t>Data-driven models learn what projects have cost; if past prices were padded, so is the model.</a:t>
            </a:r>
            <a:endParaRPr lang="en-US" sz="1400" dirty="0"/>
          </a:p>
        </p:txBody>
      </p:sp>
      <p:sp>
        <p:nvSpPr>
          <p:cNvPr id="15" name="card"/>
          <p:cNvSpPr/>
          <p:nvPr/>
        </p:nvSpPr>
        <p:spPr>
          <a:xfrm>
            <a:off x="5065776" y="1600200"/>
            <a:ext cx="2057400" cy="3566160"/>
          </a:xfrm>
          <a:prstGeom prst="roundRect">
            <a:avLst>
              <a:gd name="adj" fmla="val 3556"/>
            </a:avLst>
          </a:prstGeom>
          <a:solidFill>
            <a:schemeClr val="bg2"/>
          </a:solidFill>
          <a:ln/>
        </p:spPr>
      </p:sp>
      <p:sp>
        <p:nvSpPr>
          <p:cNvPr id="16" name="icon circle"/>
          <p:cNvSpPr/>
          <p:nvPr/>
        </p:nvSpPr>
        <p:spPr>
          <a:xfrm>
            <a:off x="5294376" y="1828800"/>
            <a:ext cx="685800" cy="685800"/>
          </a:xfrm>
          <a:prstGeom prst="ellipse">
            <a:avLst/>
          </a:prstGeom>
          <a:solidFill>
            <a:schemeClr val="tx2"/>
          </a:solidFill>
          <a:ln/>
        </p:spPr>
      </p:sp>
      <p:pic>
        <p:nvPicPr>
          <p:cNvPr id="17" name="icon FaVialCircleCheck" descr="VialCircleCheck icon">    </p:cNvPr>
          <p:cNvPicPr>
            <a:picLocks noChangeAspect="1"/>
          </p:cNvPicPr>
          <p:nvPr/>
        </p:nvPicPr>
        <p:blipFill>
          <a:blip r:embed="rId3"/>
          <a:stretch>
            <a:fillRect/>
          </a:stretch>
        </p:blipFill>
        <p:spPr>
          <a:xfrm>
            <a:off x="5458968" y="1993392"/>
            <a:ext cx="356616" cy="356616"/>
          </a:xfrm>
          <a:prstGeom prst="rect">
            <a:avLst/>
          </a:prstGeom>
        </p:spPr>
      </p:pic>
      <p:sp>
        <p:nvSpPr>
          <p:cNvPr id="18" name="Text 12"/>
          <p:cNvSpPr txBox="1"/>
          <p:nvPr/>
        </p:nvSpPr>
        <p:spPr>
          <a:xfrm>
            <a:off x="5294376" y="2651760"/>
            <a:ext cx="1645920" cy="411480"/>
          </a:xfrm>
          <a:prstGeom prst="rect">
            <a:avLst/>
          </a:prstGeom>
          <a:noFill/>
          <a:ln/>
        </p:spPr>
        <p:txBody>
          <a:bodyPr wrap="square" lIns="0" tIns="0" rIns="0" bIns="0" rtlCol="0" anchor="t"/>
          <a:lstStyle/>
          <a:p>
            <a:pPr indent="0" marL="0">
              <a:buNone/>
            </a:pPr>
            <a:r>
              <a:rPr lang="en-US" sz="1800" b="1" dirty="0">
                <a:solidFill>
                  <a:schemeClr val="tx2"/>
                </a:solidFill>
              </a:rPr>
              <a:t>Validation gap</a:t>
            </a:r>
            <a:endParaRPr lang="en-US" sz="1800" dirty="0"/>
          </a:p>
        </p:txBody>
      </p:sp>
      <p:sp>
        <p:nvSpPr>
          <p:cNvPr id="19" name="Text 13"/>
          <p:cNvSpPr txBox="1"/>
          <p:nvPr/>
        </p:nvSpPr>
        <p:spPr>
          <a:xfrm>
            <a:off x="5294376" y="3108960"/>
            <a:ext cx="1645920" cy="1965960"/>
          </a:xfrm>
          <a:prstGeom prst="rect">
            <a:avLst/>
          </a:prstGeom>
          <a:noFill/>
          <a:ln/>
        </p:spPr>
        <p:txBody>
          <a:bodyPr wrap="square" lIns="0" tIns="0" rIns="0" bIns="0" rtlCol="0" anchor="t"/>
          <a:lstStyle/>
          <a:p>
            <a:pPr indent="0" marL="0">
              <a:buNone/>
            </a:pPr>
            <a:r>
              <a:rPr lang="en-US" sz="1400" dirty="0">
                <a:solidFill>
                  <a:schemeClr val="tx1"/>
                </a:solidFill>
              </a:rPr>
              <a:t>Anomaly detectors are tested where true overpricing is unknown, so recall cannot be measured.</a:t>
            </a:r>
            <a:endParaRPr lang="en-US" sz="1400" dirty="0"/>
          </a:p>
        </p:txBody>
      </p:sp>
      <p:sp>
        <p:nvSpPr>
          <p:cNvPr id="20" name="card"/>
          <p:cNvSpPr/>
          <p:nvPr/>
        </p:nvSpPr>
        <p:spPr>
          <a:xfrm>
            <a:off x="7324344" y="1600200"/>
            <a:ext cx="2057400" cy="3566160"/>
          </a:xfrm>
          <a:prstGeom prst="roundRect">
            <a:avLst>
              <a:gd name="adj" fmla="val 3556"/>
            </a:avLst>
          </a:prstGeom>
          <a:solidFill>
            <a:schemeClr val="bg2"/>
          </a:solidFill>
          <a:ln/>
        </p:spPr>
      </p:sp>
      <p:sp>
        <p:nvSpPr>
          <p:cNvPr id="21" name="icon circle"/>
          <p:cNvSpPr/>
          <p:nvPr/>
        </p:nvSpPr>
        <p:spPr>
          <a:xfrm>
            <a:off x="7552944" y="1828800"/>
            <a:ext cx="685800" cy="685800"/>
          </a:xfrm>
          <a:prstGeom prst="ellipse">
            <a:avLst/>
          </a:prstGeom>
          <a:solidFill>
            <a:schemeClr val="tx2"/>
          </a:solidFill>
          <a:ln/>
        </p:spPr>
      </p:sp>
      <p:pic>
        <p:nvPicPr>
          <p:cNvPr id="22" name="icon FaCompassDrafting" descr="CompassDrafting icon">    </p:cNvPr>
          <p:cNvPicPr>
            <a:picLocks noChangeAspect="1"/>
          </p:cNvPicPr>
          <p:nvPr/>
        </p:nvPicPr>
        <p:blipFill>
          <a:blip r:embed="rId4"/>
          <a:stretch>
            <a:fillRect/>
          </a:stretch>
        </p:blipFill>
        <p:spPr>
          <a:xfrm>
            <a:off x="7717536" y="1993392"/>
            <a:ext cx="356616" cy="356616"/>
          </a:xfrm>
          <a:prstGeom prst="rect">
            <a:avLst/>
          </a:prstGeom>
        </p:spPr>
      </p:pic>
      <p:sp>
        <p:nvSpPr>
          <p:cNvPr id="23" name="Text 16"/>
          <p:cNvSpPr txBox="1"/>
          <p:nvPr/>
        </p:nvSpPr>
        <p:spPr>
          <a:xfrm>
            <a:off x="7552944" y="2651760"/>
            <a:ext cx="1645920" cy="411480"/>
          </a:xfrm>
          <a:prstGeom prst="rect">
            <a:avLst/>
          </a:prstGeom>
          <a:noFill/>
          <a:ln/>
        </p:spPr>
        <p:txBody>
          <a:bodyPr wrap="square" lIns="0" tIns="0" rIns="0" bIns="0" rtlCol="0" anchor="t"/>
          <a:lstStyle/>
          <a:p>
            <a:pPr indent="0" marL="0">
              <a:buNone/>
            </a:pPr>
            <a:r>
              <a:rPr lang="en-US" sz="1800" b="1" dirty="0">
                <a:solidFill>
                  <a:schemeClr val="tx2"/>
                </a:solidFill>
              </a:rPr>
              <a:t>Design gap</a:t>
            </a:r>
            <a:endParaRPr lang="en-US" sz="1800" dirty="0"/>
          </a:p>
        </p:txBody>
      </p:sp>
      <p:sp>
        <p:nvSpPr>
          <p:cNvPr id="24" name="Text 17"/>
          <p:cNvSpPr txBox="1"/>
          <p:nvPr/>
        </p:nvSpPr>
        <p:spPr>
          <a:xfrm>
            <a:off x="7552944" y="3108960"/>
            <a:ext cx="1645920" cy="1965960"/>
          </a:xfrm>
          <a:prstGeom prst="rect">
            <a:avLst/>
          </a:prstGeom>
          <a:noFill/>
          <a:ln/>
        </p:spPr>
        <p:txBody>
          <a:bodyPr wrap="square" lIns="0" tIns="0" rIns="0" bIns="0" rtlCol="0" anchor="t"/>
          <a:lstStyle/>
          <a:p>
            <a:pPr indent="0" marL="0">
              <a:buNone/>
            </a:pPr>
            <a:r>
              <a:rPr lang="en-US" sz="1400" dirty="0">
                <a:solidFill>
                  <a:schemeClr val="tx1"/>
                </a:solidFill>
              </a:rPr>
              <a:t>Many communities have a need and a budget but no plan, and so no independent price at all.</a:t>
            </a:r>
            <a:endParaRPr lang="en-US" sz="1400" dirty="0"/>
          </a:p>
        </p:txBody>
      </p:sp>
      <p:sp>
        <p:nvSpPr>
          <p:cNvPr id="25" name="card"/>
          <p:cNvSpPr/>
          <p:nvPr/>
        </p:nvSpPr>
        <p:spPr>
          <a:xfrm>
            <a:off x="9582912" y="1600200"/>
            <a:ext cx="2057400" cy="3566160"/>
          </a:xfrm>
          <a:prstGeom prst="roundRect">
            <a:avLst>
              <a:gd name="adj" fmla="val 3556"/>
            </a:avLst>
          </a:prstGeom>
          <a:solidFill>
            <a:schemeClr val="bg2"/>
          </a:solidFill>
          <a:ln/>
        </p:spPr>
      </p:sp>
      <p:sp>
        <p:nvSpPr>
          <p:cNvPr id="26" name="icon circle"/>
          <p:cNvSpPr/>
          <p:nvPr/>
        </p:nvSpPr>
        <p:spPr>
          <a:xfrm>
            <a:off x="9811512" y="1828800"/>
            <a:ext cx="685800" cy="685800"/>
          </a:xfrm>
          <a:prstGeom prst="ellipse">
            <a:avLst/>
          </a:prstGeom>
          <a:solidFill>
            <a:schemeClr val="tx2"/>
          </a:solidFill>
          <a:ln/>
        </p:spPr>
      </p:sp>
      <p:pic>
        <p:nvPicPr>
          <p:cNvPr id="27" name="icon FaMobileScreen" descr="MobileScreen icon">    </p:cNvPr>
          <p:cNvPicPr>
            <a:picLocks noChangeAspect="1"/>
          </p:cNvPicPr>
          <p:nvPr/>
        </p:nvPicPr>
        <p:blipFill>
          <a:blip r:embed="rId5"/>
          <a:stretch>
            <a:fillRect/>
          </a:stretch>
        </p:blipFill>
        <p:spPr>
          <a:xfrm>
            <a:off x="9976104" y="1993392"/>
            <a:ext cx="356616" cy="356616"/>
          </a:xfrm>
          <a:prstGeom prst="rect">
            <a:avLst/>
          </a:prstGeom>
        </p:spPr>
      </p:pic>
      <p:sp>
        <p:nvSpPr>
          <p:cNvPr id="28" name="Text 20"/>
          <p:cNvSpPr txBox="1"/>
          <p:nvPr/>
        </p:nvSpPr>
        <p:spPr>
          <a:xfrm>
            <a:off x="9811512" y="2651760"/>
            <a:ext cx="1645920" cy="411480"/>
          </a:xfrm>
          <a:prstGeom prst="rect">
            <a:avLst/>
          </a:prstGeom>
          <a:noFill/>
          <a:ln/>
        </p:spPr>
        <p:txBody>
          <a:bodyPr wrap="square" lIns="0" tIns="0" rIns="0" bIns="0" rtlCol="0" anchor="t"/>
          <a:lstStyle/>
          <a:p>
            <a:pPr indent="0" marL="0">
              <a:buNone/>
            </a:pPr>
            <a:r>
              <a:rPr lang="en-US" sz="1800" b="1" dirty="0">
                <a:solidFill>
                  <a:schemeClr val="tx2"/>
                </a:solidFill>
              </a:rPr>
              <a:t>Access gap</a:t>
            </a:r>
            <a:endParaRPr lang="en-US" sz="1800" dirty="0"/>
          </a:p>
        </p:txBody>
      </p:sp>
      <p:sp>
        <p:nvSpPr>
          <p:cNvPr id="29" name="Text 21"/>
          <p:cNvSpPr txBox="1"/>
          <p:nvPr/>
        </p:nvSpPr>
        <p:spPr>
          <a:xfrm>
            <a:off x="9811512" y="3108960"/>
            <a:ext cx="1645920" cy="1965960"/>
          </a:xfrm>
          <a:prstGeom prst="rect">
            <a:avLst/>
          </a:prstGeom>
          <a:noFill/>
          <a:ln/>
        </p:spPr>
        <p:txBody>
          <a:bodyPr wrap="square" lIns="0" tIns="0" rIns="0" bIns="0" rtlCol="0" anchor="t"/>
          <a:lstStyle/>
          <a:p>
            <a:pPr indent="0" marL="0">
              <a:buNone/>
            </a:pPr>
            <a:r>
              <a:rPr lang="en-US" sz="1400" dirty="0">
                <a:solidFill>
                  <a:schemeClr val="tx1"/>
                </a:solidFill>
              </a:rPr>
              <a:t>Models stay in notebooks; barangays, school heads, auditors and reporters need a tool on their phones.</a:t>
            </a:r>
            <a:endParaRPr lang="en-US" sz="1400" dirty="0"/>
          </a:p>
        </p:txBody>
      </p:sp>
      <p:sp>
        <p:nvSpPr>
          <p:cNvPr id="30" name="card"/>
          <p:cNvSpPr/>
          <p:nvPr/>
        </p:nvSpPr>
        <p:spPr>
          <a:xfrm>
            <a:off x="548640" y="5394960"/>
            <a:ext cx="11091672" cy="777240"/>
          </a:xfrm>
          <a:prstGeom prst="roundRect">
            <a:avLst>
              <a:gd name="adj" fmla="val 9412"/>
            </a:avLst>
          </a:prstGeom>
          <a:solidFill>
            <a:schemeClr val="tx2"/>
          </a:solidFill>
          <a:ln/>
        </p:spPr>
      </p:sp>
      <p:sp>
        <p:nvSpPr>
          <p:cNvPr id="31" name="Text 23"/>
          <p:cNvSpPr txBox="1"/>
          <p:nvPr/>
        </p:nvSpPr>
        <p:spPr>
          <a:xfrm>
            <a:off x="822960" y="5394960"/>
            <a:ext cx="10607040" cy="777240"/>
          </a:xfrm>
          <a:prstGeom prst="rect">
            <a:avLst/>
          </a:prstGeom>
          <a:noFill/>
          <a:ln/>
        </p:spPr>
        <p:txBody>
          <a:bodyPr wrap="square" lIns="0" tIns="0" rIns="0" bIns="0" rtlCol="0" anchor="ctr"/>
          <a:lstStyle/>
          <a:p>
            <a:pPr indent="0" marL="0">
              <a:buNone/>
            </a:pPr>
            <a:r>
              <a:rPr lang="en-US" sz="1700" b="1" dirty="0">
                <a:solidFill>
                  <a:schemeClr val="accent1"/>
                </a:solidFill>
              </a:rPr>
              <a:t>Rationale: </a:t>
            </a:r>
            <a:pPr indent="0" marL="0">
              <a:buNone/>
            </a:pPr>
            <a:r>
              <a:rPr lang="en-US" sz="1700" dirty="0">
                <a:solidFill>
                  <a:schemeClr val="bg1"/>
                </a:solidFill>
              </a:rPr>
              <a:t>a fair price can be computed from the plan and the standards, then compared with the contract.</a:t>
            </a:r>
            <a:endParaRPr lang="en-US" sz="1700" dirty="0"/>
          </a:p>
        </p:txBody>
      </p:sp>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229600" cy="292608"/>
          </a:xfrm>
          <a:prstGeom prst="rect">
            <a:avLst/>
          </a:prstGeom>
          <a:noFill/>
          <a:ln/>
        </p:spPr>
        <p:txBody>
          <a:bodyPr wrap="square" lIns="0" tIns="0" rIns="0" bIns="0" rtlCol="0"/>
          <a:lstStyle/>
          <a:p>
            <a:pPr indent="0" marL="0">
              <a:buNone/>
            </a:pPr>
            <a:r>
              <a:rPr lang="en-US" sz="1200" b="1" spc="200" kern="0" dirty="0">
                <a:solidFill>
                  <a:schemeClr val="accent5"/>
                </a:solidFill>
              </a:rPr>
              <a:t>OBJECTIVE OF THE STUDY</a:t>
            </a:r>
            <a:endParaRPr lang="en-US" sz="1200" dirty="0"/>
          </a:p>
        </p:txBody>
      </p:sp>
      <p:sp>
        <p:nvSpPr>
          <p:cNvPr id="3" name="Text 0"/>
          <p:cNvSpPr/>
          <p:nvPr>
            <p:ph idx="101" type="title" hasCustomPrompt="1"/>
          </p:nvPr>
        </p:nvSpPr>
        <p:spPr>
          <a:xfrm>
            <a:off x="548640" y="53035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Research Questions</a:t>
            </a:r>
            <a:endParaRPr lang="en-US" sz="3200" dirty="0"/>
          </a:p>
        </p:txBody>
      </p:sp>
      <p:sp>
        <p:nvSpPr>
          <p:cNvPr id="5" name="Text 2"/>
          <p:cNvSpPr txBox="1"/>
          <p:nvPr/>
        </p:nvSpPr>
        <p:spPr>
          <a:xfrm>
            <a:off x="548640" y="1417320"/>
            <a:ext cx="11064240" cy="822960"/>
          </a:xfrm>
          <a:prstGeom prst="rect">
            <a:avLst/>
          </a:prstGeom>
          <a:noFill/>
          <a:ln/>
        </p:spPr>
        <p:txBody>
          <a:bodyPr wrap="square" lIns="0" tIns="0" rIns="0" bIns="0" rtlCol="0" anchor="t"/>
          <a:lstStyle/>
          <a:p>
            <a:pPr indent="0" marL="0">
              <a:buNone/>
            </a:pPr>
            <a:r>
              <a:rPr lang="en-US" sz="1600" dirty="0">
                <a:solidFill>
                  <a:schemeClr val="tx1"/>
                </a:solidFill>
              </a:rPr>
              <a:t>This study aimed to develop BUHAY-AH, a budget-to-blueprint design generator, standards-based quantity take-off and hybrid machine-learning system that produces start quotations and detects over-budgeted public buildings and bridges in Bicol Region V. </a:t>
            </a:r>
            <a:pPr indent="0" marL="0">
              <a:buNone/>
            </a:pPr>
            <a:r>
              <a:rPr lang="en-US" sz="1600" b="1" dirty="0">
                <a:solidFill>
                  <a:schemeClr val="tx1"/>
                </a:solidFill>
              </a:rPr>
              <a:t>Specifically, it sought to answer the following research questions:</a:t>
            </a:r>
            <a:endParaRPr lang="en-US" sz="1600" dirty="0"/>
          </a:p>
        </p:txBody>
      </p:sp>
      <p:sp>
        <p:nvSpPr>
          <p:cNvPr id="6" name="card"/>
          <p:cNvSpPr/>
          <p:nvPr/>
        </p:nvSpPr>
        <p:spPr>
          <a:xfrm>
            <a:off x="548640" y="2331720"/>
            <a:ext cx="11091672" cy="1188720"/>
          </a:xfrm>
          <a:prstGeom prst="roundRect">
            <a:avLst>
              <a:gd name="adj" fmla="val 6154"/>
            </a:avLst>
          </a:prstGeom>
          <a:solidFill>
            <a:schemeClr val="bg2"/>
          </a:solidFill>
          <a:ln/>
        </p:spPr>
      </p:sp>
      <p:sp>
        <p:nvSpPr>
          <p:cNvPr id="7" name="Text 4"/>
          <p:cNvSpPr txBox="1"/>
          <p:nvPr/>
        </p:nvSpPr>
        <p:spPr>
          <a:xfrm>
            <a:off x="777240" y="2468880"/>
            <a:ext cx="1097280" cy="91440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RQ1</a:t>
            </a:r>
            <a:endParaRPr lang="en-US" sz="2800" dirty="0"/>
          </a:p>
        </p:txBody>
      </p:sp>
      <p:sp>
        <p:nvSpPr>
          <p:cNvPr id="8" name="Text 5"/>
          <p:cNvSpPr txBox="1"/>
          <p:nvPr/>
        </p:nvSpPr>
        <p:spPr>
          <a:xfrm>
            <a:off x="1965960" y="2423160"/>
            <a:ext cx="9509760" cy="1005840"/>
          </a:xfrm>
          <a:prstGeom prst="rect">
            <a:avLst/>
          </a:prstGeom>
          <a:noFill/>
          <a:ln/>
        </p:spPr>
        <p:txBody>
          <a:bodyPr wrap="square" lIns="0" tIns="0" rIns="0" bIns="0" rtlCol="0" anchor="ctr"/>
          <a:lstStyle/>
          <a:p>
            <a:pPr indent="0" marL="0">
              <a:buNone/>
            </a:pPr>
            <a:r>
              <a:rPr lang="en-US" sz="1500" dirty="0">
                <a:solidFill>
                  <a:schemeClr val="tx1"/>
                </a:solidFill>
              </a:rPr>
              <a:t>What plan variables and derived indicators can be extracted from building and bridge plans and engineering standards to estimate construction cost, in terms of physical properties; structural system and foundation; and location and price year?</a:t>
            </a:r>
            <a:endParaRPr lang="en-US" sz="1500" dirty="0"/>
          </a:p>
        </p:txBody>
      </p:sp>
      <p:sp>
        <p:nvSpPr>
          <p:cNvPr id="9" name="card"/>
          <p:cNvSpPr/>
          <p:nvPr/>
        </p:nvSpPr>
        <p:spPr>
          <a:xfrm>
            <a:off x="548640" y="3657600"/>
            <a:ext cx="11091672" cy="1188720"/>
          </a:xfrm>
          <a:prstGeom prst="roundRect">
            <a:avLst>
              <a:gd name="adj" fmla="val 6154"/>
            </a:avLst>
          </a:prstGeom>
          <a:solidFill>
            <a:schemeClr val="bg2"/>
          </a:solidFill>
          <a:ln/>
        </p:spPr>
      </p:sp>
      <p:sp>
        <p:nvSpPr>
          <p:cNvPr id="10" name="Text 7"/>
          <p:cNvSpPr txBox="1"/>
          <p:nvPr/>
        </p:nvSpPr>
        <p:spPr>
          <a:xfrm>
            <a:off x="777240" y="3794760"/>
            <a:ext cx="1097280" cy="91440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RQ2</a:t>
            </a:r>
            <a:endParaRPr lang="en-US" sz="2800" dirty="0"/>
          </a:p>
        </p:txBody>
      </p:sp>
      <p:sp>
        <p:nvSpPr>
          <p:cNvPr id="11" name="Text 8"/>
          <p:cNvSpPr txBox="1"/>
          <p:nvPr/>
        </p:nvSpPr>
        <p:spPr>
          <a:xfrm>
            <a:off x="1965960" y="3749040"/>
            <a:ext cx="9509760" cy="1005840"/>
          </a:xfrm>
          <a:prstGeom prst="rect">
            <a:avLst/>
          </a:prstGeom>
          <a:noFill/>
          <a:ln/>
        </p:spPr>
        <p:txBody>
          <a:bodyPr wrap="square" lIns="0" tIns="0" rIns="0" bIns="0" rtlCol="0" anchor="ctr"/>
          <a:lstStyle/>
          <a:p>
            <a:pPr indent="0" marL="0">
              <a:buNone/>
            </a:pPr>
            <a:r>
              <a:rPr lang="en-US" sz="1500" dirty="0">
                <a:solidFill>
                  <a:schemeClr val="tx1"/>
                </a:solidFill>
              </a:rPr>
              <a:t>How can schematic designs be generated from a requirement or a budget, in terms of a modular design library; budget-to-design optimization; and compliance with design and space standards?</a:t>
            </a:r>
            <a:endParaRPr lang="en-US" sz="1500" dirty="0"/>
          </a:p>
        </p:txBody>
      </p:sp>
      <p:sp>
        <p:nvSpPr>
          <p:cNvPr id="12" name="card"/>
          <p:cNvSpPr/>
          <p:nvPr/>
        </p:nvSpPr>
        <p:spPr>
          <a:xfrm>
            <a:off x="548640" y="4983480"/>
            <a:ext cx="11091672" cy="1188720"/>
          </a:xfrm>
          <a:prstGeom prst="roundRect">
            <a:avLst>
              <a:gd name="adj" fmla="val 6154"/>
            </a:avLst>
          </a:prstGeom>
          <a:solidFill>
            <a:schemeClr val="bg2"/>
          </a:solidFill>
          <a:ln/>
        </p:spPr>
      </p:sp>
      <p:sp>
        <p:nvSpPr>
          <p:cNvPr id="13" name="Text 10"/>
          <p:cNvSpPr txBox="1"/>
          <p:nvPr/>
        </p:nvSpPr>
        <p:spPr>
          <a:xfrm>
            <a:off x="777240" y="5120640"/>
            <a:ext cx="1097280" cy="91440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RQ3</a:t>
            </a:r>
            <a:endParaRPr lang="en-US" sz="2800" dirty="0"/>
          </a:p>
        </p:txBody>
      </p:sp>
      <p:sp>
        <p:nvSpPr>
          <p:cNvPr id="14" name="Text 11"/>
          <p:cNvSpPr txBox="1"/>
          <p:nvPr/>
        </p:nvSpPr>
        <p:spPr>
          <a:xfrm>
            <a:off x="1965960" y="5074920"/>
            <a:ext cx="9509760" cy="1005840"/>
          </a:xfrm>
          <a:prstGeom prst="rect">
            <a:avLst/>
          </a:prstGeom>
          <a:noFill/>
          <a:ln/>
        </p:spPr>
        <p:txBody>
          <a:bodyPr wrap="square" lIns="0" tIns="0" rIns="0" bIns="0" rtlCol="0" anchor="ctr"/>
          <a:lstStyle/>
          <a:p>
            <a:pPr indent="0" marL="0">
              <a:buNone/>
            </a:pPr>
            <a:r>
              <a:rPr lang="en-US" sz="1500" dirty="0">
                <a:solidFill>
                  <a:schemeClr val="tx1"/>
                </a:solidFill>
              </a:rPr>
              <a:t>How accurately does the standards-based quantity take-off engine estimate construction cost, in terms of the lean start quotation, standard fair estimate and ceiling; and MAPE against fair awarded costs?</a:t>
            </a:r>
            <a:endParaRPr lang="en-US" sz="1500" dirty="0"/>
          </a:p>
        </p:txBody>
      </p:sp>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229600" cy="292608"/>
          </a:xfrm>
          <a:prstGeom prst="rect">
            <a:avLst/>
          </a:prstGeom>
          <a:noFill/>
          <a:ln/>
        </p:spPr>
        <p:txBody>
          <a:bodyPr wrap="square" lIns="0" tIns="0" rIns="0" bIns="0" rtlCol="0"/>
          <a:lstStyle/>
          <a:p>
            <a:pPr indent="0" marL="0">
              <a:buNone/>
            </a:pPr>
            <a:r>
              <a:rPr lang="en-US" sz="1200" b="1" spc="200" kern="0" dirty="0">
                <a:solidFill>
                  <a:schemeClr val="accent5"/>
                </a:solidFill>
              </a:rPr>
              <a:t>OBJECTIVE OF THE STUDY</a:t>
            </a:r>
            <a:endParaRPr lang="en-US" sz="1200" dirty="0"/>
          </a:p>
        </p:txBody>
      </p:sp>
      <p:sp>
        <p:nvSpPr>
          <p:cNvPr id="3" name="Text 0"/>
          <p:cNvSpPr/>
          <p:nvPr>
            <p:ph idx="101" type="title" hasCustomPrompt="1"/>
          </p:nvPr>
        </p:nvSpPr>
        <p:spPr>
          <a:xfrm>
            <a:off x="548640" y="53035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Research Questions (continued)</a:t>
            </a:r>
            <a:endParaRPr lang="en-US" sz="3200" dirty="0"/>
          </a:p>
        </p:txBody>
      </p:sp>
      <p:sp>
        <p:nvSpPr>
          <p:cNvPr id="5" name="card"/>
          <p:cNvSpPr/>
          <p:nvPr/>
        </p:nvSpPr>
        <p:spPr>
          <a:xfrm>
            <a:off x="548640" y="1508760"/>
            <a:ext cx="11091672" cy="1188720"/>
          </a:xfrm>
          <a:prstGeom prst="roundRect">
            <a:avLst>
              <a:gd name="adj" fmla="val 6154"/>
            </a:avLst>
          </a:prstGeom>
          <a:solidFill>
            <a:schemeClr val="bg2"/>
          </a:solidFill>
          <a:ln/>
        </p:spPr>
      </p:sp>
      <p:sp>
        <p:nvSpPr>
          <p:cNvPr id="6" name="Text 3"/>
          <p:cNvSpPr txBox="1"/>
          <p:nvPr/>
        </p:nvSpPr>
        <p:spPr>
          <a:xfrm>
            <a:off x="777240" y="1645920"/>
            <a:ext cx="1097280" cy="91440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RQ4</a:t>
            </a:r>
            <a:endParaRPr lang="en-US" sz="2800" dirty="0"/>
          </a:p>
        </p:txBody>
      </p:sp>
      <p:sp>
        <p:nvSpPr>
          <p:cNvPr id="7" name="Text 4"/>
          <p:cNvSpPr txBox="1"/>
          <p:nvPr/>
        </p:nvSpPr>
        <p:spPr>
          <a:xfrm>
            <a:off x="1965960" y="1600200"/>
            <a:ext cx="9509760" cy="1005840"/>
          </a:xfrm>
          <a:prstGeom prst="rect">
            <a:avLst/>
          </a:prstGeom>
          <a:noFill/>
          <a:ln/>
        </p:spPr>
        <p:txBody>
          <a:bodyPr wrap="square" lIns="0" tIns="0" rIns="0" bIns="0" rtlCol="0" anchor="ctr"/>
          <a:lstStyle/>
          <a:p>
            <a:pPr indent="0" marL="0">
              <a:buNone/>
            </a:pPr>
            <a:r>
              <a:rPr lang="en-US" sz="1500" dirty="0">
                <a:solidFill>
                  <a:schemeClr val="tx1"/>
                </a:solidFill>
              </a:rPr>
              <a:t>How do Multiple Linear Regression and Extreme Gradient Boosting (XGBoost) perform in predicting construction cost, in terms of R², RMSE and MAPE under leave-one-out cross-validation?</a:t>
            </a:r>
            <a:endParaRPr lang="en-US" sz="1500" dirty="0"/>
          </a:p>
        </p:txBody>
      </p:sp>
      <p:sp>
        <p:nvSpPr>
          <p:cNvPr id="8" name="card"/>
          <p:cNvSpPr/>
          <p:nvPr/>
        </p:nvSpPr>
        <p:spPr>
          <a:xfrm>
            <a:off x="548640" y="2971800"/>
            <a:ext cx="11091672" cy="1188720"/>
          </a:xfrm>
          <a:prstGeom prst="roundRect">
            <a:avLst>
              <a:gd name="adj" fmla="val 6154"/>
            </a:avLst>
          </a:prstGeom>
          <a:solidFill>
            <a:schemeClr val="bg2"/>
          </a:solidFill>
          <a:ln/>
        </p:spPr>
      </p:sp>
      <p:sp>
        <p:nvSpPr>
          <p:cNvPr id="9" name="Text 6"/>
          <p:cNvSpPr txBox="1"/>
          <p:nvPr/>
        </p:nvSpPr>
        <p:spPr>
          <a:xfrm>
            <a:off x="777240" y="3108960"/>
            <a:ext cx="1097280" cy="91440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RQ5</a:t>
            </a:r>
            <a:endParaRPr lang="en-US" sz="2800" dirty="0"/>
          </a:p>
        </p:txBody>
      </p:sp>
      <p:sp>
        <p:nvSpPr>
          <p:cNvPr id="10" name="Text 7"/>
          <p:cNvSpPr txBox="1"/>
          <p:nvPr/>
        </p:nvSpPr>
        <p:spPr>
          <a:xfrm>
            <a:off x="1965960" y="3063240"/>
            <a:ext cx="9509760" cy="1005840"/>
          </a:xfrm>
          <a:prstGeom prst="rect">
            <a:avLst/>
          </a:prstGeom>
          <a:noFill/>
          <a:ln/>
        </p:spPr>
        <p:txBody>
          <a:bodyPr wrap="square" lIns="0" tIns="0" rIns="0" bIns="0" rtlCol="0" anchor="ctr"/>
          <a:lstStyle/>
          <a:p>
            <a:pPr indent="0" marL="0">
              <a:buNone/>
            </a:pPr>
            <a:r>
              <a:rPr lang="en-US" sz="1500" dirty="0">
                <a:solidFill>
                  <a:schemeClr val="tx1"/>
                </a:solidFill>
              </a:rPr>
              <a:t>How effectively do the over-budget ratio, the XGBoost residual, the Isolation Forest and the hybrid BUHAY-AH Risk Index detect over-budgeted contracts, in terms of precision, recall, F1-score and ROC AUC?</a:t>
            </a:r>
            <a:endParaRPr lang="en-US" sz="1500" dirty="0"/>
          </a:p>
        </p:txBody>
      </p:sp>
      <p:sp>
        <p:nvSpPr>
          <p:cNvPr id="11" name="card"/>
          <p:cNvSpPr/>
          <p:nvPr/>
        </p:nvSpPr>
        <p:spPr>
          <a:xfrm>
            <a:off x="548640" y="4434840"/>
            <a:ext cx="11091672" cy="1188720"/>
          </a:xfrm>
          <a:prstGeom prst="roundRect">
            <a:avLst>
              <a:gd name="adj" fmla="val 6154"/>
            </a:avLst>
          </a:prstGeom>
          <a:solidFill>
            <a:schemeClr val="bg2"/>
          </a:solidFill>
          <a:ln/>
        </p:spPr>
      </p:sp>
      <p:sp>
        <p:nvSpPr>
          <p:cNvPr id="12" name="Text 9"/>
          <p:cNvSpPr txBox="1"/>
          <p:nvPr/>
        </p:nvSpPr>
        <p:spPr>
          <a:xfrm>
            <a:off x="777240" y="4572000"/>
            <a:ext cx="1097280" cy="91440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RQ6</a:t>
            </a:r>
            <a:endParaRPr lang="en-US" sz="2800" dirty="0"/>
          </a:p>
        </p:txBody>
      </p:sp>
      <p:sp>
        <p:nvSpPr>
          <p:cNvPr id="13" name="Text 10"/>
          <p:cNvSpPr txBox="1"/>
          <p:nvPr/>
        </p:nvSpPr>
        <p:spPr>
          <a:xfrm>
            <a:off x="1965960" y="4526280"/>
            <a:ext cx="9509760" cy="1005840"/>
          </a:xfrm>
          <a:prstGeom prst="rect">
            <a:avLst/>
          </a:prstGeom>
          <a:noFill/>
          <a:ln/>
        </p:spPr>
        <p:txBody>
          <a:bodyPr wrap="square" lIns="0" tIns="0" rIns="0" bIns="0" rtlCol="0" anchor="ctr"/>
          <a:lstStyle/>
          <a:p>
            <a:pPr indent="0" marL="0">
              <a:buNone/>
            </a:pPr>
            <a:r>
              <a:rPr lang="en-US" sz="1500" dirty="0">
                <a:solidFill>
                  <a:schemeClr val="tx1"/>
                </a:solidFill>
              </a:rPr>
              <a:t>How can the system be deployed as a mobile application with a design studio, a download website, and an explainable interface with floor plans, 3D models and SHAP explanations?</a:t>
            </a:r>
            <a:endParaRPr lang="en-US" sz="1500" dirty="0"/>
          </a:p>
        </p:txBody>
      </p:sp>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229600" cy="292608"/>
          </a:xfrm>
          <a:prstGeom prst="rect">
            <a:avLst/>
          </a:prstGeom>
          <a:noFill/>
          <a:ln/>
        </p:spPr>
        <p:txBody>
          <a:bodyPr wrap="square" lIns="0" tIns="0" rIns="0" bIns="0" rtlCol="0"/>
          <a:lstStyle/>
          <a:p>
            <a:pPr indent="0" marL="0">
              <a:buNone/>
            </a:pPr>
            <a:r>
              <a:rPr lang="en-US" sz="1200" b="1" spc="200" kern="0" dirty="0">
                <a:solidFill>
                  <a:schemeClr val="accent5"/>
                </a:solidFill>
              </a:rPr>
              <a:t>SIGNIFICANCE OF THE STUDY</a:t>
            </a:r>
            <a:endParaRPr lang="en-US" sz="1200" dirty="0"/>
          </a:p>
        </p:txBody>
      </p:sp>
      <p:sp>
        <p:nvSpPr>
          <p:cNvPr id="3" name="Text 0"/>
          <p:cNvSpPr/>
          <p:nvPr>
            <p:ph idx="101" type="title" hasCustomPrompt="1"/>
          </p:nvPr>
        </p:nvSpPr>
        <p:spPr>
          <a:xfrm>
            <a:off x="548640" y="53035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Who Benefits</a:t>
            </a:r>
            <a:endParaRPr lang="en-US" sz="3200" dirty="0"/>
          </a:p>
        </p:txBody>
      </p:sp>
      <p:sp>
        <p:nvSpPr>
          <p:cNvPr id="5" name="card"/>
          <p:cNvSpPr/>
          <p:nvPr/>
        </p:nvSpPr>
        <p:spPr>
          <a:xfrm>
            <a:off x="548640" y="1600200"/>
            <a:ext cx="3520440" cy="2057400"/>
          </a:xfrm>
          <a:prstGeom prst="roundRect">
            <a:avLst>
              <a:gd name="adj" fmla="val 3556"/>
            </a:avLst>
          </a:prstGeom>
          <a:solidFill>
            <a:schemeClr val="bg2"/>
          </a:solidFill>
          <a:ln/>
        </p:spPr>
      </p:sp>
      <p:sp>
        <p:nvSpPr>
          <p:cNvPr id="6" name="icon circle"/>
          <p:cNvSpPr/>
          <p:nvPr/>
        </p:nvSpPr>
        <p:spPr>
          <a:xfrm>
            <a:off x="777240" y="1828800"/>
            <a:ext cx="640080" cy="640080"/>
          </a:xfrm>
          <a:prstGeom prst="ellipse">
            <a:avLst/>
          </a:prstGeom>
          <a:solidFill>
            <a:schemeClr val="tx2"/>
          </a:solidFill>
          <a:ln/>
        </p:spPr>
      </p:sp>
      <p:pic>
        <p:nvPicPr>
          <p:cNvPr id="7" name="icon FaHelmetSafety" descr="HelmetSafety icon">    </p:cNvPr>
          <p:cNvPicPr>
            <a:picLocks noChangeAspect="1"/>
          </p:cNvPicPr>
          <p:nvPr/>
        </p:nvPicPr>
        <p:blipFill>
          <a:blip r:embed="rId1"/>
          <a:stretch>
            <a:fillRect/>
          </a:stretch>
        </p:blipFill>
        <p:spPr>
          <a:xfrm>
            <a:off x="930859" y="1982419"/>
            <a:ext cx="332842" cy="332842"/>
          </a:xfrm>
          <a:prstGeom prst="rect">
            <a:avLst/>
          </a:prstGeom>
        </p:spPr>
      </p:pic>
      <p:sp>
        <p:nvSpPr>
          <p:cNvPr id="8" name="Text 4"/>
          <p:cNvSpPr txBox="1"/>
          <p:nvPr/>
        </p:nvSpPr>
        <p:spPr>
          <a:xfrm>
            <a:off x="1554480" y="1828800"/>
            <a:ext cx="2377440" cy="685800"/>
          </a:xfrm>
          <a:prstGeom prst="rect">
            <a:avLst/>
          </a:prstGeom>
          <a:noFill/>
          <a:ln/>
        </p:spPr>
        <p:txBody>
          <a:bodyPr wrap="square" lIns="0" tIns="0" rIns="0" bIns="0" rtlCol="0" anchor="ctr"/>
          <a:lstStyle/>
          <a:p>
            <a:pPr indent="0" marL="0">
              <a:buNone/>
            </a:pPr>
            <a:r>
              <a:rPr lang="en-US" sz="1600" b="1" dirty="0">
                <a:solidFill>
                  <a:schemeClr val="tx2"/>
                </a:solidFill>
              </a:rPr>
              <a:t>DPWH and Implementing Offices</a:t>
            </a:r>
            <a:endParaRPr lang="en-US" sz="1600" dirty="0"/>
          </a:p>
        </p:txBody>
      </p:sp>
      <p:sp>
        <p:nvSpPr>
          <p:cNvPr id="9" name="Text 5"/>
          <p:cNvSpPr txBox="1"/>
          <p:nvPr/>
        </p:nvSpPr>
        <p:spPr>
          <a:xfrm>
            <a:off x="777240" y="2606040"/>
            <a:ext cx="3108960" cy="960120"/>
          </a:xfrm>
          <a:prstGeom prst="rect">
            <a:avLst/>
          </a:prstGeom>
          <a:noFill/>
          <a:ln/>
        </p:spPr>
        <p:txBody>
          <a:bodyPr wrap="square" lIns="0" tIns="0" rIns="0" bIns="0" rtlCol="0" anchor="t"/>
          <a:lstStyle/>
          <a:p>
            <a:pPr indent="0" marL="0">
              <a:buNone/>
            </a:pPr>
            <a:r>
              <a:rPr lang="en-US" sz="1400" dirty="0">
                <a:solidFill>
                  <a:schemeClr val="tx1"/>
                </a:solidFill>
              </a:rPr>
              <a:t>Cross-check programs of works and ABCs with an independent take-off before bidding; catch errors such as wrong VAT rates.</a:t>
            </a:r>
            <a:endParaRPr lang="en-US" sz="1400" dirty="0"/>
          </a:p>
        </p:txBody>
      </p:sp>
      <p:sp>
        <p:nvSpPr>
          <p:cNvPr id="10" name="card"/>
          <p:cNvSpPr/>
          <p:nvPr/>
        </p:nvSpPr>
        <p:spPr>
          <a:xfrm>
            <a:off x="4297680" y="1600200"/>
            <a:ext cx="3520440" cy="2057400"/>
          </a:xfrm>
          <a:prstGeom prst="roundRect">
            <a:avLst>
              <a:gd name="adj" fmla="val 3556"/>
            </a:avLst>
          </a:prstGeom>
          <a:solidFill>
            <a:schemeClr val="bg2"/>
          </a:solidFill>
          <a:ln/>
        </p:spPr>
      </p:sp>
      <p:sp>
        <p:nvSpPr>
          <p:cNvPr id="11" name="icon circle"/>
          <p:cNvSpPr/>
          <p:nvPr/>
        </p:nvSpPr>
        <p:spPr>
          <a:xfrm>
            <a:off x="4526280" y="1828800"/>
            <a:ext cx="640080" cy="640080"/>
          </a:xfrm>
          <a:prstGeom prst="ellipse">
            <a:avLst/>
          </a:prstGeom>
          <a:solidFill>
            <a:schemeClr val="tx2"/>
          </a:solidFill>
          <a:ln/>
        </p:spPr>
      </p:sp>
      <p:pic>
        <p:nvPicPr>
          <p:cNvPr id="12" name="icon FaGavel" descr="Gavel icon">    </p:cNvPr>
          <p:cNvPicPr>
            <a:picLocks noChangeAspect="1"/>
          </p:cNvPicPr>
          <p:nvPr/>
        </p:nvPicPr>
        <p:blipFill>
          <a:blip r:embed="rId2"/>
          <a:stretch>
            <a:fillRect/>
          </a:stretch>
        </p:blipFill>
        <p:spPr>
          <a:xfrm>
            <a:off x="4679899" y="1982419"/>
            <a:ext cx="332842" cy="332842"/>
          </a:xfrm>
          <a:prstGeom prst="rect">
            <a:avLst/>
          </a:prstGeom>
        </p:spPr>
      </p:pic>
      <p:sp>
        <p:nvSpPr>
          <p:cNvPr id="13" name="Text 8"/>
          <p:cNvSpPr txBox="1"/>
          <p:nvPr/>
        </p:nvSpPr>
        <p:spPr>
          <a:xfrm>
            <a:off x="5303520" y="1828800"/>
            <a:ext cx="2377440" cy="685800"/>
          </a:xfrm>
          <a:prstGeom prst="rect">
            <a:avLst/>
          </a:prstGeom>
          <a:noFill/>
          <a:ln/>
        </p:spPr>
        <p:txBody>
          <a:bodyPr wrap="square" lIns="0" tIns="0" rIns="0" bIns="0" rtlCol="0" anchor="ctr"/>
          <a:lstStyle/>
          <a:p>
            <a:pPr indent="0" marL="0">
              <a:buNone/>
            </a:pPr>
            <a:r>
              <a:rPr lang="en-US" sz="1600" b="1" dirty="0">
                <a:solidFill>
                  <a:schemeClr val="tx2"/>
                </a:solidFill>
              </a:rPr>
              <a:t>COA, Ombudsman and ICI</a:t>
            </a:r>
            <a:endParaRPr lang="en-US" sz="1600" dirty="0"/>
          </a:p>
        </p:txBody>
      </p:sp>
      <p:sp>
        <p:nvSpPr>
          <p:cNvPr id="14" name="Text 9"/>
          <p:cNvSpPr txBox="1"/>
          <p:nvPr/>
        </p:nvSpPr>
        <p:spPr>
          <a:xfrm>
            <a:off x="4526280" y="2606040"/>
            <a:ext cx="3108960" cy="960120"/>
          </a:xfrm>
          <a:prstGeom prst="rect">
            <a:avLst/>
          </a:prstGeom>
          <a:noFill/>
          <a:ln/>
        </p:spPr>
        <p:txBody>
          <a:bodyPr wrap="square" lIns="0" tIns="0" rIns="0" bIns="0" rtlCol="0" anchor="t"/>
          <a:lstStyle/>
          <a:p>
            <a:pPr indent="0" marL="0">
              <a:buNone/>
            </a:pPr>
            <a:r>
              <a:rPr lang="en-US" sz="1400" dirty="0">
                <a:solidFill>
                  <a:schemeClr val="tx1"/>
                </a:solidFill>
              </a:rPr>
              <a:t>Rank contracts by risk and focus field inspections on projects that need them most.</a:t>
            </a:r>
            <a:endParaRPr lang="en-US" sz="1400" dirty="0"/>
          </a:p>
        </p:txBody>
      </p:sp>
      <p:sp>
        <p:nvSpPr>
          <p:cNvPr id="15" name="card"/>
          <p:cNvSpPr/>
          <p:nvPr/>
        </p:nvSpPr>
        <p:spPr>
          <a:xfrm>
            <a:off x="8046720" y="1600200"/>
            <a:ext cx="3520440" cy="2057400"/>
          </a:xfrm>
          <a:prstGeom prst="roundRect">
            <a:avLst>
              <a:gd name="adj" fmla="val 3556"/>
            </a:avLst>
          </a:prstGeom>
          <a:solidFill>
            <a:schemeClr val="bg2"/>
          </a:solidFill>
          <a:ln/>
        </p:spPr>
      </p:sp>
      <p:sp>
        <p:nvSpPr>
          <p:cNvPr id="16" name="icon circle"/>
          <p:cNvSpPr/>
          <p:nvPr/>
        </p:nvSpPr>
        <p:spPr>
          <a:xfrm>
            <a:off x="8275320" y="1828800"/>
            <a:ext cx="640080" cy="640080"/>
          </a:xfrm>
          <a:prstGeom prst="ellipse">
            <a:avLst/>
          </a:prstGeom>
          <a:solidFill>
            <a:schemeClr val="tx2"/>
          </a:solidFill>
          <a:ln/>
        </p:spPr>
      </p:sp>
      <p:pic>
        <p:nvPicPr>
          <p:cNvPr id="17" name="icon FaSchool" descr="School icon">    </p:cNvPr>
          <p:cNvPicPr>
            <a:picLocks noChangeAspect="1"/>
          </p:cNvPicPr>
          <p:nvPr/>
        </p:nvPicPr>
        <p:blipFill>
          <a:blip r:embed="rId3"/>
          <a:stretch>
            <a:fillRect/>
          </a:stretch>
        </p:blipFill>
        <p:spPr>
          <a:xfrm>
            <a:off x="8428939" y="1982419"/>
            <a:ext cx="332842" cy="332842"/>
          </a:xfrm>
          <a:prstGeom prst="rect">
            <a:avLst/>
          </a:prstGeom>
        </p:spPr>
      </p:pic>
      <p:sp>
        <p:nvSpPr>
          <p:cNvPr id="18" name="Text 12"/>
          <p:cNvSpPr txBox="1"/>
          <p:nvPr/>
        </p:nvSpPr>
        <p:spPr>
          <a:xfrm>
            <a:off x="9052560" y="1828800"/>
            <a:ext cx="2377440" cy="685800"/>
          </a:xfrm>
          <a:prstGeom prst="rect">
            <a:avLst/>
          </a:prstGeom>
          <a:noFill/>
          <a:ln/>
        </p:spPr>
        <p:txBody>
          <a:bodyPr wrap="square" lIns="0" tIns="0" rIns="0" bIns="0" rtlCol="0" anchor="ctr"/>
          <a:lstStyle/>
          <a:p>
            <a:pPr indent="0" marL="0">
              <a:buNone/>
            </a:pPr>
            <a:r>
              <a:rPr lang="en-US" sz="1600" b="1" dirty="0">
                <a:solidFill>
                  <a:schemeClr val="tx2"/>
                </a:solidFill>
              </a:rPr>
              <a:t>LGUs, DepEd and DOH Offices</a:t>
            </a:r>
            <a:endParaRPr lang="en-US" sz="1600" dirty="0"/>
          </a:p>
        </p:txBody>
      </p:sp>
      <p:sp>
        <p:nvSpPr>
          <p:cNvPr id="19" name="Text 13"/>
          <p:cNvSpPr txBox="1"/>
          <p:nvPr/>
        </p:nvSpPr>
        <p:spPr>
          <a:xfrm>
            <a:off x="8275320" y="2606040"/>
            <a:ext cx="3108960" cy="960120"/>
          </a:xfrm>
          <a:prstGeom prst="rect">
            <a:avLst/>
          </a:prstGeom>
          <a:noFill/>
          <a:ln/>
        </p:spPr>
        <p:txBody>
          <a:bodyPr wrap="square" lIns="0" tIns="0" rIns="0" bIns="0" rtlCol="0" anchor="t"/>
          <a:lstStyle/>
          <a:p>
            <a:pPr indent="0" marL="0">
              <a:buNone/>
            </a:pPr>
            <a:r>
              <a:rPr lang="en-US" sz="1400" dirty="0">
                <a:solidFill>
                  <a:schemeClr val="tx1"/>
                </a:solidFill>
              </a:rPr>
              <a:t>Get a design and a starting quotation from just a requirement or a budget.</a:t>
            </a:r>
            <a:endParaRPr lang="en-US" sz="1400" dirty="0"/>
          </a:p>
        </p:txBody>
      </p:sp>
      <p:sp>
        <p:nvSpPr>
          <p:cNvPr id="20" name="card"/>
          <p:cNvSpPr/>
          <p:nvPr/>
        </p:nvSpPr>
        <p:spPr>
          <a:xfrm>
            <a:off x="548640" y="3886200"/>
            <a:ext cx="3520440" cy="2057400"/>
          </a:xfrm>
          <a:prstGeom prst="roundRect">
            <a:avLst>
              <a:gd name="adj" fmla="val 3556"/>
            </a:avLst>
          </a:prstGeom>
          <a:solidFill>
            <a:schemeClr val="bg2"/>
          </a:solidFill>
          <a:ln/>
        </p:spPr>
      </p:sp>
      <p:sp>
        <p:nvSpPr>
          <p:cNvPr id="21" name="icon circle"/>
          <p:cNvSpPr/>
          <p:nvPr/>
        </p:nvSpPr>
        <p:spPr>
          <a:xfrm>
            <a:off x="777240" y="4114800"/>
            <a:ext cx="640080" cy="640080"/>
          </a:xfrm>
          <a:prstGeom prst="ellipse">
            <a:avLst/>
          </a:prstGeom>
          <a:solidFill>
            <a:schemeClr val="tx2"/>
          </a:solidFill>
          <a:ln/>
        </p:spPr>
      </p:sp>
      <p:pic>
        <p:nvPicPr>
          <p:cNvPr id="22" name="icon FaHandshake" descr="Handshake icon">    </p:cNvPr>
          <p:cNvPicPr>
            <a:picLocks noChangeAspect="1"/>
          </p:cNvPicPr>
          <p:nvPr/>
        </p:nvPicPr>
        <p:blipFill>
          <a:blip r:embed="rId4"/>
          <a:stretch>
            <a:fillRect/>
          </a:stretch>
        </p:blipFill>
        <p:spPr>
          <a:xfrm>
            <a:off x="930859" y="4268419"/>
            <a:ext cx="332842" cy="332842"/>
          </a:xfrm>
          <a:prstGeom prst="rect">
            <a:avLst/>
          </a:prstGeom>
        </p:spPr>
      </p:pic>
      <p:sp>
        <p:nvSpPr>
          <p:cNvPr id="23" name="Text 16"/>
          <p:cNvSpPr txBox="1"/>
          <p:nvPr/>
        </p:nvSpPr>
        <p:spPr>
          <a:xfrm>
            <a:off x="1554480" y="4114800"/>
            <a:ext cx="2377440" cy="685800"/>
          </a:xfrm>
          <a:prstGeom prst="rect">
            <a:avLst/>
          </a:prstGeom>
          <a:noFill/>
          <a:ln/>
        </p:spPr>
        <p:txBody>
          <a:bodyPr wrap="square" lIns="0" tIns="0" rIns="0" bIns="0" rtlCol="0" anchor="ctr"/>
          <a:lstStyle/>
          <a:p>
            <a:pPr indent="0" marL="0">
              <a:buNone/>
            </a:pPr>
            <a:r>
              <a:rPr lang="en-US" sz="1600" b="1" dirty="0">
                <a:solidFill>
                  <a:schemeClr val="tx2"/>
                </a:solidFill>
              </a:rPr>
              <a:t>Contractors</a:t>
            </a:r>
            <a:endParaRPr lang="en-US" sz="1600" dirty="0"/>
          </a:p>
        </p:txBody>
      </p:sp>
      <p:sp>
        <p:nvSpPr>
          <p:cNvPr id="24" name="Text 17"/>
          <p:cNvSpPr txBox="1"/>
          <p:nvPr/>
        </p:nvSpPr>
        <p:spPr>
          <a:xfrm>
            <a:off x="777240" y="4892040"/>
            <a:ext cx="3108960" cy="960120"/>
          </a:xfrm>
          <a:prstGeom prst="rect">
            <a:avLst/>
          </a:prstGeom>
          <a:noFill/>
          <a:ln/>
        </p:spPr>
        <p:txBody>
          <a:bodyPr wrap="square" lIns="0" tIns="0" rIns="0" bIns="0" rtlCol="0" anchor="t"/>
          <a:lstStyle/>
          <a:p>
            <a:pPr indent="0" marL="0">
              <a:buNone/>
            </a:pPr>
            <a:r>
              <a:rPr lang="en-US" sz="1400" dirty="0">
                <a:solidFill>
                  <a:schemeClr val="tx1"/>
                </a:solidFill>
              </a:rPr>
              <a:t>A public reference that rewards fair bids and helps honest bidders defend their price.</a:t>
            </a:r>
            <a:endParaRPr lang="en-US" sz="1400" dirty="0"/>
          </a:p>
        </p:txBody>
      </p:sp>
      <p:sp>
        <p:nvSpPr>
          <p:cNvPr id="25" name="card"/>
          <p:cNvSpPr/>
          <p:nvPr/>
        </p:nvSpPr>
        <p:spPr>
          <a:xfrm>
            <a:off x="4297680" y="3886200"/>
            <a:ext cx="3520440" cy="2057400"/>
          </a:xfrm>
          <a:prstGeom prst="roundRect">
            <a:avLst>
              <a:gd name="adj" fmla="val 3556"/>
            </a:avLst>
          </a:prstGeom>
          <a:solidFill>
            <a:schemeClr val="bg2"/>
          </a:solidFill>
          <a:ln/>
        </p:spPr>
      </p:sp>
      <p:sp>
        <p:nvSpPr>
          <p:cNvPr id="26" name="icon circle"/>
          <p:cNvSpPr/>
          <p:nvPr/>
        </p:nvSpPr>
        <p:spPr>
          <a:xfrm>
            <a:off x="4526280" y="4114800"/>
            <a:ext cx="640080" cy="640080"/>
          </a:xfrm>
          <a:prstGeom prst="ellipse">
            <a:avLst/>
          </a:prstGeom>
          <a:solidFill>
            <a:schemeClr val="tx2"/>
          </a:solidFill>
          <a:ln/>
        </p:spPr>
      </p:sp>
      <p:pic>
        <p:nvPicPr>
          <p:cNvPr id="27" name="icon FaPeopleGroup" descr="PeopleGroup icon">    </p:cNvPr>
          <p:cNvPicPr>
            <a:picLocks noChangeAspect="1"/>
          </p:cNvPicPr>
          <p:nvPr/>
        </p:nvPicPr>
        <p:blipFill>
          <a:blip r:embed="rId5"/>
          <a:stretch>
            <a:fillRect/>
          </a:stretch>
        </p:blipFill>
        <p:spPr>
          <a:xfrm>
            <a:off x="4679899" y="4268419"/>
            <a:ext cx="332842" cy="332842"/>
          </a:xfrm>
          <a:prstGeom prst="rect">
            <a:avLst/>
          </a:prstGeom>
        </p:spPr>
      </p:pic>
      <p:sp>
        <p:nvSpPr>
          <p:cNvPr id="28" name="Text 20"/>
          <p:cNvSpPr txBox="1"/>
          <p:nvPr/>
        </p:nvSpPr>
        <p:spPr>
          <a:xfrm>
            <a:off x="5303520" y="4114800"/>
            <a:ext cx="2377440" cy="685800"/>
          </a:xfrm>
          <a:prstGeom prst="rect">
            <a:avLst/>
          </a:prstGeom>
          <a:noFill/>
          <a:ln/>
        </p:spPr>
        <p:txBody>
          <a:bodyPr wrap="square" lIns="0" tIns="0" rIns="0" bIns="0" rtlCol="0" anchor="ctr"/>
          <a:lstStyle/>
          <a:p>
            <a:pPr indent="0" marL="0">
              <a:buNone/>
            </a:pPr>
            <a:r>
              <a:rPr lang="en-US" sz="1600" b="1" dirty="0">
                <a:solidFill>
                  <a:schemeClr val="tx2"/>
                </a:solidFill>
              </a:rPr>
              <a:t>Taxpayers, Civil Society, Media</a:t>
            </a:r>
            <a:endParaRPr lang="en-US" sz="1600" dirty="0"/>
          </a:p>
        </p:txBody>
      </p:sp>
      <p:sp>
        <p:nvSpPr>
          <p:cNvPr id="29" name="Text 21"/>
          <p:cNvSpPr txBox="1"/>
          <p:nvPr/>
        </p:nvSpPr>
        <p:spPr>
          <a:xfrm>
            <a:off x="4526280" y="4892040"/>
            <a:ext cx="3108960" cy="960120"/>
          </a:xfrm>
          <a:prstGeom prst="rect">
            <a:avLst/>
          </a:prstGeom>
          <a:noFill/>
          <a:ln/>
        </p:spPr>
        <p:txBody>
          <a:bodyPr wrap="square" lIns="0" tIns="0" rIns="0" bIns="0" rtlCol="0" anchor="t"/>
          <a:lstStyle/>
          <a:p>
            <a:pPr indent="0" marL="0">
              <a:buNone/>
            </a:pPr>
            <a:r>
              <a:rPr lang="en-US" sz="1400" dirty="0">
                <a:solidFill>
                  <a:schemeClr val="tx1"/>
                </a:solidFill>
              </a:rPr>
              <a:t>Check a project on a phone and see the bill of quantities behind a price.</a:t>
            </a:r>
            <a:endParaRPr lang="en-US" sz="1400" dirty="0"/>
          </a:p>
        </p:txBody>
      </p:sp>
      <p:sp>
        <p:nvSpPr>
          <p:cNvPr id="30" name="card"/>
          <p:cNvSpPr/>
          <p:nvPr/>
        </p:nvSpPr>
        <p:spPr>
          <a:xfrm>
            <a:off x="8046720" y="3886200"/>
            <a:ext cx="3520440" cy="2057400"/>
          </a:xfrm>
          <a:prstGeom prst="roundRect">
            <a:avLst>
              <a:gd name="adj" fmla="val 3556"/>
            </a:avLst>
          </a:prstGeom>
          <a:solidFill>
            <a:schemeClr val="bg2"/>
          </a:solidFill>
          <a:ln/>
        </p:spPr>
      </p:sp>
      <p:sp>
        <p:nvSpPr>
          <p:cNvPr id="31" name="icon circle"/>
          <p:cNvSpPr/>
          <p:nvPr/>
        </p:nvSpPr>
        <p:spPr>
          <a:xfrm>
            <a:off x="8275320" y="4114800"/>
            <a:ext cx="640080" cy="640080"/>
          </a:xfrm>
          <a:prstGeom prst="ellipse">
            <a:avLst/>
          </a:prstGeom>
          <a:solidFill>
            <a:schemeClr val="tx2"/>
          </a:solidFill>
          <a:ln/>
        </p:spPr>
      </p:sp>
      <p:pic>
        <p:nvPicPr>
          <p:cNvPr id="32" name="icon FaGraduationCap" descr="GraduationCap icon">    </p:cNvPr>
          <p:cNvPicPr>
            <a:picLocks noChangeAspect="1"/>
          </p:cNvPicPr>
          <p:nvPr/>
        </p:nvPicPr>
        <p:blipFill>
          <a:blip r:embed="rId6"/>
          <a:stretch>
            <a:fillRect/>
          </a:stretch>
        </p:blipFill>
        <p:spPr>
          <a:xfrm>
            <a:off x="8428939" y="4268419"/>
            <a:ext cx="332842" cy="332842"/>
          </a:xfrm>
          <a:prstGeom prst="rect">
            <a:avLst/>
          </a:prstGeom>
        </p:spPr>
      </p:pic>
      <p:sp>
        <p:nvSpPr>
          <p:cNvPr id="33" name="Text 24"/>
          <p:cNvSpPr txBox="1"/>
          <p:nvPr/>
        </p:nvSpPr>
        <p:spPr>
          <a:xfrm>
            <a:off x="9052560" y="4114800"/>
            <a:ext cx="2377440" cy="685800"/>
          </a:xfrm>
          <a:prstGeom prst="rect">
            <a:avLst/>
          </a:prstGeom>
          <a:noFill/>
          <a:ln/>
        </p:spPr>
        <p:txBody>
          <a:bodyPr wrap="square" lIns="0" tIns="0" rIns="0" bIns="0" rtlCol="0" anchor="ctr"/>
          <a:lstStyle/>
          <a:p>
            <a:pPr indent="0" marL="0">
              <a:buNone/>
            </a:pPr>
            <a:r>
              <a:rPr lang="en-US" sz="1600" b="1" dirty="0">
                <a:solidFill>
                  <a:schemeClr val="tx2"/>
                </a:solidFill>
              </a:rPr>
              <a:t>Academe and Future Researchers</a:t>
            </a:r>
            <a:endParaRPr lang="en-US" sz="1600" dirty="0"/>
          </a:p>
        </p:txBody>
      </p:sp>
      <p:sp>
        <p:nvSpPr>
          <p:cNvPr id="34" name="Text 25"/>
          <p:cNvSpPr txBox="1"/>
          <p:nvPr/>
        </p:nvSpPr>
        <p:spPr>
          <a:xfrm>
            <a:off x="8275320" y="4892040"/>
            <a:ext cx="3108960" cy="960120"/>
          </a:xfrm>
          <a:prstGeom prst="rect">
            <a:avLst/>
          </a:prstGeom>
          <a:noFill/>
          <a:ln/>
        </p:spPr>
        <p:txBody>
          <a:bodyPr wrap="square" lIns="0" tIns="0" rIns="0" bIns="0" rtlCol="0" anchor="t"/>
          <a:lstStyle/>
          <a:p>
            <a:pPr indent="0" marL="0">
              <a:buNone/>
            </a:pPr>
            <a:r>
              <a:rPr lang="en-US" sz="1400" dirty="0">
                <a:solidFill>
                  <a:schemeClr val="tx1"/>
                </a:solidFill>
              </a:rPr>
              <a:t>A reproducible pipeline, a benchmark with known overpricing and an open price book.</a:t>
            </a:r>
            <a:endParaRPr lang="en-US" sz="1400" dirty="0"/>
          </a:p>
        </p:txBody>
      </p:sp>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229600" cy="292608"/>
          </a:xfrm>
          <a:prstGeom prst="rect">
            <a:avLst/>
          </a:prstGeom>
          <a:noFill/>
          <a:ln/>
        </p:spPr>
        <p:txBody>
          <a:bodyPr wrap="square" lIns="0" tIns="0" rIns="0" bIns="0" rtlCol="0"/>
          <a:lstStyle/>
          <a:p>
            <a:pPr indent="0" marL="0">
              <a:buNone/>
            </a:pPr>
            <a:r>
              <a:rPr lang="en-US" sz="1200" b="1" spc="200" kern="0" dirty="0">
                <a:solidFill>
                  <a:schemeClr val="accent5"/>
                </a:solidFill>
              </a:rPr>
              <a:t>SIGNIFICANCE OF THE STUDY</a:t>
            </a:r>
            <a:endParaRPr lang="en-US" sz="1200" dirty="0"/>
          </a:p>
        </p:txBody>
      </p:sp>
      <p:sp>
        <p:nvSpPr>
          <p:cNvPr id="3" name="Text 0"/>
          <p:cNvSpPr/>
          <p:nvPr>
            <p:ph idx="101" type="title" hasCustomPrompt="1"/>
          </p:nvPr>
        </p:nvSpPr>
        <p:spPr>
          <a:xfrm>
            <a:off x="548640" y="53035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Alignment with the SDGs</a:t>
            </a:r>
            <a:endParaRPr lang="en-US" sz="3200" dirty="0"/>
          </a:p>
        </p:txBody>
      </p:sp>
      <p:sp>
        <p:nvSpPr>
          <p:cNvPr id="5" name="SDG 16"/>
          <p:cNvSpPr/>
          <p:nvPr/>
        </p:nvSpPr>
        <p:spPr>
          <a:xfrm>
            <a:off x="548640" y="1600200"/>
            <a:ext cx="2057400" cy="4526280"/>
          </a:xfrm>
          <a:prstGeom prst="roundRect">
            <a:avLst>
              <a:gd name="adj" fmla="val 3556"/>
            </a:avLst>
          </a:prstGeom>
          <a:solidFill>
            <a:srgbClr val="B8322A"/>
          </a:solidFill>
          <a:ln/>
        </p:spPr>
      </p:sp>
      <p:sp>
        <p:nvSpPr>
          <p:cNvPr id="6" name="Text 3"/>
          <p:cNvSpPr txBox="1"/>
          <p:nvPr/>
        </p:nvSpPr>
        <p:spPr>
          <a:xfrm>
            <a:off x="749808" y="1783080"/>
            <a:ext cx="1691640" cy="8229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SDG 16</a:t>
            </a:r>
            <a:endParaRPr lang="en-US" sz="3400" dirty="0"/>
          </a:p>
        </p:txBody>
      </p:sp>
      <p:sp>
        <p:nvSpPr>
          <p:cNvPr id="7" name="Text 4"/>
          <p:cNvSpPr txBox="1"/>
          <p:nvPr/>
        </p:nvSpPr>
        <p:spPr>
          <a:xfrm>
            <a:off x="749808" y="2651760"/>
            <a:ext cx="1691640" cy="1097280"/>
          </a:xfrm>
          <a:prstGeom prst="rect">
            <a:avLst/>
          </a:prstGeom>
          <a:noFill/>
          <a:ln/>
        </p:spPr>
        <p:txBody>
          <a:bodyPr wrap="square" lIns="0" tIns="0" rIns="0" bIns="0" rtlCol="0" anchor="t"/>
          <a:lstStyle/>
          <a:p>
            <a:pPr indent="0" marL="0">
              <a:buNone/>
            </a:pPr>
            <a:r>
              <a:rPr lang="en-US" sz="1600" b="1" dirty="0">
                <a:solidFill>
                  <a:srgbClr val="FFFFFF"/>
                </a:solidFill>
              </a:rPr>
              <a:t>Peace, Justice and Strong Institutions</a:t>
            </a:r>
            <a:endParaRPr lang="en-US" sz="1600" dirty="0"/>
          </a:p>
        </p:txBody>
      </p:sp>
      <p:sp>
        <p:nvSpPr>
          <p:cNvPr id="8" name="Text 5"/>
          <p:cNvSpPr txBox="1"/>
          <p:nvPr/>
        </p:nvSpPr>
        <p:spPr>
          <a:xfrm>
            <a:off x="749808" y="3840480"/>
            <a:ext cx="1691640" cy="2103120"/>
          </a:xfrm>
          <a:prstGeom prst="rect">
            <a:avLst/>
          </a:prstGeom>
          <a:noFill/>
          <a:ln/>
        </p:spPr>
        <p:txBody>
          <a:bodyPr wrap="square" lIns="0" tIns="0" rIns="0" bIns="0" rtlCol="0" anchor="t"/>
          <a:lstStyle/>
          <a:p>
            <a:pPr indent="0" marL="0">
              <a:buNone/>
            </a:pPr>
            <a:r>
              <a:rPr lang="en-US" sz="1400" dirty="0">
                <a:solidFill>
                  <a:srgbClr val="FFFFFF"/>
                </a:solidFill>
              </a:rPr>
              <a:t>16.5 reduce corruption and bribery; 16.6 accountable institutions; 16.10 public access to information</a:t>
            </a:r>
            <a:endParaRPr lang="en-US" sz="1400" dirty="0"/>
          </a:p>
        </p:txBody>
      </p:sp>
      <p:sp>
        <p:nvSpPr>
          <p:cNvPr id="9" name="SDG 9"/>
          <p:cNvSpPr/>
          <p:nvPr/>
        </p:nvSpPr>
        <p:spPr>
          <a:xfrm>
            <a:off x="2807208" y="1600200"/>
            <a:ext cx="2057400" cy="4526280"/>
          </a:xfrm>
          <a:prstGeom prst="roundRect">
            <a:avLst>
              <a:gd name="adj" fmla="val 3556"/>
            </a:avLst>
          </a:prstGeom>
          <a:solidFill>
            <a:srgbClr val="E3A51A"/>
          </a:solidFill>
          <a:ln/>
        </p:spPr>
      </p:sp>
      <p:sp>
        <p:nvSpPr>
          <p:cNvPr id="10" name="Text 7"/>
          <p:cNvSpPr txBox="1"/>
          <p:nvPr/>
        </p:nvSpPr>
        <p:spPr>
          <a:xfrm>
            <a:off x="3008376" y="1783080"/>
            <a:ext cx="1691640" cy="8229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SDG 9</a:t>
            </a:r>
            <a:endParaRPr lang="en-US" sz="3400" dirty="0"/>
          </a:p>
        </p:txBody>
      </p:sp>
      <p:sp>
        <p:nvSpPr>
          <p:cNvPr id="11" name="Text 8"/>
          <p:cNvSpPr txBox="1"/>
          <p:nvPr/>
        </p:nvSpPr>
        <p:spPr>
          <a:xfrm>
            <a:off x="3008376" y="2651760"/>
            <a:ext cx="1691640" cy="1097280"/>
          </a:xfrm>
          <a:prstGeom prst="rect">
            <a:avLst/>
          </a:prstGeom>
          <a:noFill/>
          <a:ln/>
        </p:spPr>
        <p:txBody>
          <a:bodyPr wrap="square" lIns="0" tIns="0" rIns="0" bIns="0" rtlCol="0" anchor="t"/>
          <a:lstStyle/>
          <a:p>
            <a:pPr indent="0" marL="0">
              <a:buNone/>
            </a:pPr>
            <a:r>
              <a:rPr lang="en-US" sz="1600" b="1" dirty="0">
                <a:solidFill>
                  <a:srgbClr val="FFFFFF"/>
                </a:solidFill>
              </a:rPr>
              <a:t>Industry, Innovation and Infrastructure</a:t>
            </a:r>
            <a:endParaRPr lang="en-US" sz="1600" dirty="0"/>
          </a:p>
        </p:txBody>
      </p:sp>
      <p:sp>
        <p:nvSpPr>
          <p:cNvPr id="12" name="Text 9"/>
          <p:cNvSpPr txBox="1"/>
          <p:nvPr/>
        </p:nvSpPr>
        <p:spPr>
          <a:xfrm>
            <a:off x="3008376" y="3840480"/>
            <a:ext cx="1691640" cy="2103120"/>
          </a:xfrm>
          <a:prstGeom prst="rect">
            <a:avLst/>
          </a:prstGeom>
          <a:noFill/>
          <a:ln/>
        </p:spPr>
        <p:txBody>
          <a:bodyPr wrap="square" lIns="0" tIns="0" rIns="0" bIns="0" rtlCol="0" anchor="t"/>
          <a:lstStyle/>
          <a:p>
            <a:pPr indent="0" marL="0">
              <a:buNone/>
            </a:pPr>
            <a:r>
              <a:rPr lang="en-US" sz="1400" dirty="0">
                <a:solidFill>
                  <a:srgbClr val="FFFFFF"/>
                </a:solidFill>
              </a:rPr>
              <a:t>9.1 quality, reliable and resilient infrastructure</a:t>
            </a:r>
            <a:endParaRPr lang="en-US" sz="1400" dirty="0"/>
          </a:p>
        </p:txBody>
      </p:sp>
      <p:sp>
        <p:nvSpPr>
          <p:cNvPr id="13" name="SDG 11"/>
          <p:cNvSpPr/>
          <p:nvPr/>
        </p:nvSpPr>
        <p:spPr>
          <a:xfrm>
            <a:off x="5065776" y="1600200"/>
            <a:ext cx="2057400" cy="4526280"/>
          </a:xfrm>
          <a:prstGeom prst="roundRect">
            <a:avLst>
              <a:gd name="adj" fmla="val 3556"/>
            </a:avLst>
          </a:prstGeom>
          <a:solidFill>
            <a:srgbClr val="8A5A00"/>
          </a:solidFill>
          <a:ln/>
        </p:spPr>
      </p:sp>
      <p:sp>
        <p:nvSpPr>
          <p:cNvPr id="14" name="Text 11"/>
          <p:cNvSpPr txBox="1"/>
          <p:nvPr/>
        </p:nvSpPr>
        <p:spPr>
          <a:xfrm>
            <a:off x="5266944" y="1783080"/>
            <a:ext cx="1691640" cy="8229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SDG 11</a:t>
            </a:r>
            <a:endParaRPr lang="en-US" sz="3400" dirty="0"/>
          </a:p>
        </p:txBody>
      </p:sp>
      <p:sp>
        <p:nvSpPr>
          <p:cNvPr id="15" name="Text 12"/>
          <p:cNvSpPr txBox="1"/>
          <p:nvPr/>
        </p:nvSpPr>
        <p:spPr>
          <a:xfrm>
            <a:off x="5266944" y="2651760"/>
            <a:ext cx="1691640" cy="1097280"/>
          </a:xfrm>
          <a:prstGeom prst="rect">
            <a:avLst/>
          </a:prstGeom>
          <a:noFill/>
          <a:ln/>
        </p:spPr>
        <p:txBody>
          <a:bodyPr wrap="square" lIns="0" tIns="0" rIns="0" bIns="0" rtlCol="0" anchor="t"/>
          <a:lstStyle/>
          <a:p>
            <a:pPr indent="0" marL="0">
              <a:buNone/>
            </a:pPr>
            <a:r>
              <a:rPr lang="en-US" sz="1600" b="1" dirty="0">
                <a:solidFill>
                  <a:srgbClr val="FFFFFF"/>
                </a:solidFill>
              </a:rPr>
              <a:t>Sustainable Cities and Communities</a:t>
            </a:r>
            <a:endParaRPr lang="en-US" sz="1600" dirty="0"/>
          </a:p>
        </p:txBody>
      </p:sp>
      <p:sp>
        <p:nvSpPr>
          <p:cNvPr id="16" name="Text 13"/>
          <p:cNvSpPr txBox="1"/>
          <p:nvPr/>
        </p:nvSpPr>
        <p:spPr>
          <a:xfrm>
            <a:off x="5266944" y="3840480"/>
            <a:ext cx="1691640" cy="2103120"/>
          </a:xfrm>
          <a:prstGeom prst="rect">
            <a:avLst/>
          </a:prstGeom>
          <a:noFill/>
          <a:ln/>
        </p:spPr>
        <p:txBody>
          <a:bodyPr wrap="square" lIns="0" tIns="0" rIns="0" bIns="0" rtlCol="0" anchor="t"/>
          <a:lstStyle/>
          <a:p>
            <a:pPr indent="0" marL="0">
              <a:buNone/>
            </a:pPr>
            <a:r>
              <a:rPr lang="en-US" sz="1400" dirty="0">
                <a:solidFill>
                  <a:srgbClr val="FFFFFF"/>
                </a:solidFill>
              </a:rPr>
              <a:t>11.5 reduce losses from disasters</a:t>
            </a:r>
            <a:endParaRPr lang="en-US" sz="1400" dirty="0"/>
          </a:p>
        </p:txBody>
      </p:sp>
      <p:sp>
        <p:nvSpPr>
          <p:cNvPr id="17" name="SDG 12"/>
          <p:cNvSpPr/>
          <p:nvPr/>
        </p:nvSpPr>
        <p:spPr>
          <a:xfrm>
            <a:off x="7324344" y="1600200"/>
            <a:ext cx="2057400" cy="4526280"/>
          </a:xfrm>
          <a:prstGeom prst="roundRect">
            <a:avLst>
              <a:gd name="adj" fmla="val 3556"/>
            </a:avLst>
          </a:prstGeom>
          <a:solidFill>
            <a:srgbClr val="1F7A5A"/>
          </a:solidFill>
          <a:ln/>
        </p:spPr>
      </p:sp>
      <p:sp>
        <p:nvSpPr>
          <p:cNvPr id="18" name="Text 15"/>
          <p:cNvSpPr txBox="1"/>
          <p:nvPr/>
        </p:nvSpPr>
        <p:spPr>
          <a:xfrm>
            <a:off x="7525512" y="1783080"/>
            <a:ext cx="1691640" cy="8229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SDG 12</a:t>
            </a:r>
            <a:endParaRPr lang="en-US" sz="3400" dirty="0"/>
          </a:p>
        </p:txBody>
      </p:sp>
      <p:sp>
        <p:nvSpPr>
          <p:cNvPr id="19" name="Text 16"/>
          <p:cNvSpPr txBox="1"/>
          <p:nvPr/>
        </p:nvSpPr>
        <p:spPr>
          <a:xfrm>
            <a:off x="7525512" y="2651760"/>
            <a:ext cx="1691640" cy="1097280"/>
          </a:xfrm>
          <a:prstGeom prst="rect">
            <a:avLst/>
          </a:prstGeom>
          <a:noFill/>
          <a:ln/>
        </p:spPr>
        <p:txBody>
          <a:bodyPr wrap="square" lIns="0" tIns="0" rIns="0" bIns="0" rtlCol="0" anchor="t"/>
          <a:lstStyle/>
          <a:p>
            <a:pPr indent="0" marL="0">
              <a:buNone/>
            </a:pPr>
            <a:r>
              <a:rPr lang="en-US" sz="1600" b="1" dirty="0">
                <a:solidFill>
                  <a:srgbClr val="FFFFFF"/>
                </a:solidFill>
              </a:rPr>
              <a:t>Responsible Consumption and Production</a:t>
            </a:r>
            <a:endParaRPr lang="en-US" sz="1600" dirty="0"/>
          </a:p>
        </p:txBody>
      </p:sp>
      <p:sp>
        <p:nvSpPr>
          <p:cNvPr id="20" name="Text 17"/>
          <p:cNvSpPr txBox="1"/>
          <p:nvPr/>
        </p:nvSpPr>
        <p:spPr>
          <a:xfrm>
            <a:off x="7525512" y="3840480"/>
            <a:ext cx="1691640" cy="2103120"/>
          </a:xfrm>
          <a:prstGeom prst="rect">
            <a:avLst/>
          </a:prstGeom>
          <a:noFill/>
          <a:ln/>
        </p:spPr>
        <p:txBody>
          <a:bodyPr wrap="square" lIns="0" tIns="0" rIns="0" bIns="0" rtlCol="0" anchor="t"/>
          <a:lstStyle/>
          <a:p>
            <a:pPr indent="0" marL="0">
              <a:buNone/>
            </a:pPr>
            <a:r>
              <a:rPr lang="en-US" sz="1400" dirty="0">
                <a:solidFill>
                  <a:srgbClr val="FFFFFF"/>
                </a:solidFill>
              </a:rPr>
              <a:t>12.7 sustainable public procurement (RA 12009)</a:t>
            </a:r>
            <a:endParaRPr lang="en-US" sz="1400" dirty="0"/>
          </a:p>
        </p:txBody>
      </p:sp>
      <p:sp>
        <p:nvSpPr>
          <p:cNvPr id="21" name="SDG 4"/>
          <p:cNvSpPr/>
          <p:nvPr/>
        </p:nvSpPr>
        <p:spPr>
          <a:xfrm>
            <a:off x="9582912" y="1600200"/>
            <a:ext cx="2057400" cy="4526280"/>
          </a:xfrm>
          <a:prstGeom prst="roundRect">
            <a:avLst>
              <a:gd name="adj" fmla="val 3556"/>
            </a:avLst>
          </a:prstGeom>
          <a:solidFill>
            <a:srgbClr val="4F7CAC"/>
          </a:solidFill>
          <a:ln/>
        </p:spPr>
      </p:sp>
      <p:sp>
        <p:nvSpPr>
          <p:cNvPr id="22" name="Text 19"/>
          <p:cNvSpPr txBox="1"/>
          <p:nvPr/>
        </p:nvSpPr>
        <p:spPr>
          <a:xfrm>
            <a:off x="9784080" y="1783080"/>
            <a:ext cx="1691640" cy="8229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SDG 4</a:t>
            </a:r>
            <a:endParaRPr lang="en-US" sz="3400" dirty="0"/>
          </a:p>
        </p:txBody>
      </p:sp>
      <p:sp>
        <p:nvSpPr>
          <p:cNvPr id="23" name="Text 20"/>
          <p:cNvSpPr txBox="1"/>
          <p:nvPr/>
        </p:nvSpPr>
        <p:spPr>
          <a:xfrm>
            <a:off x="9784080" y="2651760"/>
            <a:ext cx="1691640" cy="1097280"/>
          </a:xfrm>
          <a:prstGeom prst="rect">
            <a:avLst/>
          </a:prstGeom>
          <a:noFill/>
          <a:ln/>
        </p:spPr>
        <p:txBody>
          <a:bodyPr wrap="square" lIns="0" tIns="0" rIns="0" bIns="0" rtlCol="0" anchor="t"/>
          <a:lstStyle/>
          <a:p>
            <a:pPr indent="0" marL="0">
              <a:buNone/>
            </a:pPr>
            <a:r>
              <a:rPr lang="en-US" sz="1600" b="1" dirty="0">
                <a:solidFill>
                  <a:srgbClr val="FFFFFF"/>
                </a:solidFill>
              </a:rPr>
              <a:t>Quality Education</a:t>
            </a:r>
            <a:endParaRPr lang="en-US" sz="1600" dirty="0"/>
          </a:p>
        </p:txBody>
      </p:sp>
      <p:sp>
        <p:nvSpPr>
          <p:cNvPr id="24" name="Text 21"/>
          <p:cNvSpPr txBox="1"/>
          <p:nvPr/>
        </p:nvSpPr>
        <p:spPr>
          <a:xfrm>
            <a:off x="9784080" y="3840480"/>
            <a:ext cx="1691640" cy="2103120"/>
          </a:xfrm>
          <a:prstGeom prst="rect">
            <a:avLst/>
          </a:prstGeom>
          <a:noFill/>
          <a:ln/>
        </p:spPr>
        <p:txBody>
          <a:bodyPr wrap="square" lIns="0" tIns="0" rIns="0" bIns="0" rtlCol="0" anchor="t"/>
          <a:lstStyle/>
          <a:p>
            <a:pPr indent="0" marL="0">
              <a:buNone/>
            </a:pPr>
            <a:r>
              <a:rPr lang="en-US" sz="1400" dirty="0">
                <a:solidFill>
                  <a:srgbClr val="FFFFFF"/>
                </a:solidFill>
              </a:rPr>
              <a:t>4.a build and upgrade education facilities</a:t>
            </a:r>
            <a:endParaRPr lang="en-US" sz="1400" dirty="0"/>
          </a:p>
        </p:txBody>
      </p:sp>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229600" cy="292608"/>
          </a:xfrm>
          <a:prstGeom prst="rect">
            <a:avLst/>
          </a:prstGeom>
          <a:noFill/>
          <a:ln/>
        </p:spPr>
        <p:txBody>
          <a:bodyPr wrap="square" lIns="0" tIns="0" rIns="0" bIns="0" rtlCol="0"/>
          <a:lstStyle/>
          <a:p>
            <a:pPr indent="0" marL="0">
              <a:buNone/>
            </a:pPr>
            <a:r>
              <a:rPr lang="en-US" sz="1200" b="1" spc="200" kern="0" dirty="0">
                <a:solidFill>
                  <a:schemeClr val="accent5"/>
                </a:solidFill>
              </a:rPr>
              <a:t>SCOPE AND DELIMITATION</a:t>
            </a:r>
            <a:endParaRPr lang="en-US" sz="1200" dirty="0"/>
          </a:p>
        </p:txBody>
      </p:sp>
      <p:sp>
        <p:nvSpPr>
          <p:cNvPr id="3" name="Text 0"/>
          <p:cNvSpPr/>
          <p:nvPr>
            <p:ph idx="101" type="title" hasCustomPrompt="1"/>
          </p:nvPr>
        </p:nvSpPr>
        <p:spPr>
          <a:xfrm>
            <a:off x="548640" y="53035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the Study Covers</a:t>
            </a:r>
            <a:endParaRPr lang="en-US" sz="3200" dirty="0"/>
          </a:p>
        </p:txBody>
      </p:sp>
      <p:sp>
        <p:nvSpPr>
          <p:cNvPr id="5" name="card"/>
          <p:cNvSpPr/>
          <p:nvPr/>
        </p:nvSpPr>
        <p:spPr>
          <a:xfrm>
            <a:off x="548640" y="1600200"/>
            <a:ext cx="5440680" cy="4526280"/>
          </a:xfrm>
          <a:prstGeom prst="roundRect">
            <a:avLst>
              <a:gd name="adj" fmla="val 1616"/>
            </a:avLst>
          </a:prstGeom>
          <a:solidFill>
            <a:schemeClr val="bg2"/>
          </a:solidFill>
          <a:ln/>
        </p:spPr>
      </p:sp>
      <p:sp>
        <p:nvSpPr>
          <p:cNvPr id="6" name="icon circle"/>
          <p:cNvSpPr/>
          <p:nvPr/>
        </p:nvSpPr>
        <p:spPr>
          <a:xfrm>
            <a:off x="777240" y="1783080"/>
            <a:ext cx="640080" cy="640080"/>
          </a:xfrm>
          <a:prstGeom prst="ellipse">
            <a:avLst/>
          </a:prstGeom>
          <a:solidFill>
            <a:schemeClr val="accent3"/>
          </a:solidFill>
          <a:ln/>
        </p:spPr>
      </p:sp>
      <p:pic>
        <p:nvPicPr>
          <p:cNvPr id="7" name="icon FaCircleCheck" descr="CircleCheck icon">    </p:cNvPr>
          <p:cNvPicPr>
            <a:picLocks noChangeAspect="1"/>
          </p:cNvPicPr>
          <p:nvPr/>
        </p:nvPicPr>
        <p:blipFill>
          <a:blip r:embed="rId1"/>
          <a:stretch>
            <a:fillRect/>
          </a:stretch>
        </p:blipFill>
        <p:spPr>
          <a:xfrm>
            <a:off x="930859" y="1936699"/>
            <a:ext cx="332842" cy="332842"/>
          </a:xfrm>
          <a:prstGeom prst="rect">
            <a:avLst/>
          </a:prstGeom>
        </p:spPr>
      </p:pic>
      <p:sp>
        <p:nvSpPr>
          <p:cNvPr id="8" name="Text 4"/>
          <p:cNvSpPr txBox="1"/>
          <p:nvPr/>
        </p:nvSpPr>
        <p:spPr>
          <a:xfrm>
            <a:off x="1600200" y="1783080"/>
            <a:ext cx="4114800" cy="640080"/>
          </a:xfrm>
          <a:prstGeom prst="rect">
            <a:avLst/>
          </a:prstGeom>
          <a:noFill/>
          <a:ln/>
        </p:spPr>
        <p:txBody>
          <a:bodyPr wrap="square" lIns="0" tIns="0" rIns="0" bIns="0" rtlCol="0" anchor="ctr"/>
          <a:lstStyle/>
          <a:p>
            <a:pPr indent="0" marL="0">
              <a:buNone/>
            </a:pPr>
            <a:r>
              <a:rPr lang="en-US" sz="2200" b="1" dirty="0">
                <a:solidFill>
                  <a:schemeClr val="tx2"/>
                </a:solidFill>
              </a:rPr>
              <a:t>Covers</a:t>
            </a:r>
            <a:endParaRPr lang="en-US" sz="2200" dirty="0"/>
          </a:p>
        </p:txBody>
      </p:sp>
      <p:sp>
        <p:nvSpPr>
          <p:cNvPr id="9" name="Text 5"/>
          <p:cNvSpPr txBox="1"/>
          <p:nvPr/>
        </p:nvSpPr>
        <p:spPr>
          <a:xfrm>
            <a:off x="777240" y="2560320"/>
            <a:ext cx="5029200" cy="3474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Public buildings: schools, government offices, health facilities, multi-purpose halls and evacuation centers, covered courts, dormitories, public markets</a:t>
            </a:r>
            <a:endParaRPr lang="en-US" sz="1400" dirty="0"/>
          </a:p>
          <a:p>
            <a:pPr marL="342900" indent="-342900">
              <a:spcAft>
                <a:spcPts val="600"/>
              </a:spcAft>
              <a:buSzPct val="100000"/>
              <a:buChar char="•"/>
            </a:pPr>
            <a:r>
              <a:rPr lang="en-US" sz="1400" dirty="0">
                <a:solidFill>
                  <a:schemeClr val="tx1"/>
                </a:solidFill>
              </a:rPr>
              <a:t>Bridges: RC box culverts, RC deck girders (RCDG), prestressed concrete girders (PSCG), steel trusses; spread footings, driven piles, bored piles</a:t>
            </a:r>
            <a:endParaRPr lang="en-US" sz="1400" dirty="0"/>
          </a:p>
          <a:p>
            <a:pPr marL="342900" indent="-342900">
              <a:spcAft>
                <a:spcPts val="600"/>
              </a:spcAft>
              <a:buSzPct val="100000"/>
              <a:buChar char="•"/>
            </a:pPr>
            <a:r>
              <a:rPr lang="en-US" sz="1400" dirty="0">
                <a:solidFill>
                  <a:schemeClr val="tx1"/>
                </a:solidFill>
              </a:rPr>
              <a:t>Six Bicol provinces: Albay, Camarines Norte, Camarines Sur, Catanduanes, Masbate, Sorsogon; price years 2022–2026</a:t>
            </a:r>
            <a:endParaRPr lang="en-US" sz="1400" dirty="0"/>
          </a:p>
          <a:p>
            <a:pPr marL="342900" indent="-342900">
              <a:spcAft>
                <a:spcPts val="600"/>
              </a:spcAft>
              <a:buSzPct val="100000"/>
              <a:buChar char="•"/>
            </a:pPr>
            <a:r>
              <a:rPr lang="en-US" sz="1400" dirty="0">
                <a:solidFill>
                  <a:schemeClr val="tx1"/>
                </a:solidFill>
              </a:rPr>
              <a:t>Plan input by dimensions, reference plans, DXF outlines and generated designs</a:t>
            </a:r>
            <a:endParaRPr lang="en-US" sz="1400" dirty="0"/>
          </a:p>
        </p:txBody>
      </p:sp>
      <p:sp>
        <p:nvSpPr>
          <p:cNvPr id="10" name="card"/>
          <p:cNvSpPr/>
          <p:nvPr/>
        </p:nvSpPr>
        <p:spPr>
          <a:xfrm>
            <a:off x="6199632" y="1600200"/>
            <a:ext cx="5440680" cy="4526280"/>
          </a:xfrm>
          <a:prstGeom prst="roundRect">
            <a:avLst>
              <a:gd name="adj" fmla="val 1616"/>
            </a:avLst>
          </a:prstGeom>
          <a:solidFill>
            <a:schemeClr val="bg2"/>
          </a:solidFill>
          <a:ln/>
        </p:spPr>
      </p:sp>
      <p:sp>
        <p:nvSpPr>
          <p:cNvPr id="11" name="icon circle"/>
          <p:cNvSpPr/>
          <p:nvPr/>
        </p:nvSpPr>
        <p:spPr>
          <a:xfrm>
            <a:off x="6428232" y="1783080"/>
            <a:ext cx="640080" cy="640080"/>
          </a:xfrm>
          <a:prstGeom prst="ellipse">
            <a:avLst/>
          </a:prstGeom>
          <a:solidFill>
            <a:schemeClr val="accent2"/>
          </a:solidFill>
          <a:ln/>
        </p:spPr>
      </p:sp>
      <p:pic>
        <p:nvPicPr>
          <p:cNvPr id="12" name="icon FaCircleXmark" descr="CircleXmark icon">    </p:cNvPr>
          <p:cNvPicPr>
            <a:picLocks noChangeAspect="1"/>
          </p:cNvPicPr>
          <p:nvPr/>
        </p:nvPicPr>
        <p:blipFill>
          <a:blip r:embed="rId2"/>
          <a:stretch>
            <a:fillRect/>
          </a:stretch>
        </p:blipFill>
        <p:spPr>
          <a:xfrm>
            <a:off x="6581851" y="1936699"/>
            <a:ext cx="332842" cy="332842"/>
          </a:xfrm>
          <a:prstGeom prst="rect">
            <a:avLst/>
          </a:prstGeom>
        </p:spPr>
      </p:pic>
      <p:sp>
        <p:nvSpPr>
          <p:cNvPr id="13" name="Text 8"/>
          <p:cNvSpPr txBox="1"/>
          <p:nvPr/>
        </p:nvSpPr>
        <p:spPr>
          <a:xfrm>
            <a:off x="7251192" y="1783080"/>
            <a:ext cx="4114800" cy="640080"/>
          </a:xfrm>
          <a:prstGeom prst="rect">
            <a:avLst/>
          </a:prstGeom>
          <a:noFill/>
          <a:ln/>
        </p:spPr>
        <p:txBody>
          <a:bodyPr wrap="square" lIns="0" tIns="0" rIns="0" bIns="0" rtlCol="0" anchor="ctr"/>
          <a:lstStyle/>
          <a:p>
            <a:pPr indent="0" marL="0">
              <a:buNone/>
            </a:pPr>
            <a:r>
              <a:rPr lang="en-US" sz="2200" b="1" dirty="0">
                <a:solidFill>
                  <a:schemeClr val="tx2"/>
                </a:solidFill>
              </a:rPr>
              <a:t>Delimitations</a:t>
            </a:r>
            <a:endParaRPr lang="en-US" sz="2200" dirty="0"/>
          </a:p>
        </p:txBody>
      </p:sp>
      <p:sp>
        <p:nvSpPr>
          <p:cNvPr id="14" name="Text 9"/>
          <p:cNvSpPr txBox="1"/>
          <p:nvPr/>
        </p:nvSpPr>
        <p:spPr>
          <a:xfrm>
            <a:off x="6428232" y="2560320"/>
            <a:ext cx="5029200" cy="3474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Roads, flood control, water supply, ports, land acquisition, right-of-way, design and supervision fees, furniture and equipment are excluded</a:t>
            </a:r>
            <a:endParaRPr lang="en-US" sz="1400" dirty="0"/>
          </a:p>
          <a:p>
            <a:pPr marL="342900" indent="-342900">
              <a:spcAft>
                <a:spcPts val="600"/>
              </a:spcAft>
              <a:buSzPct val="100000"/>
              <a:buChar char="•"/>
            </a:pPr>
            <a:r>
              <a:rPr lang="en-US" sz="1400" dirty="0">
                <a:solidFill>
                  <a:schemeClr val="tx1"/>
                </a:solidFill>
              </a:rPr>
              <a:t>Unit costs are indicative 2025 Albay prices with location factors and a yearly index</a:t>
            </a:r>
            <a:endParaRPr lang="en-US" sz="1400" dirty="0"/>
          </a:p>
          <a:p>
            <a:pPr marL="342900" indent="-342900">
              <a:spcAft>
                <a:spcPts val="600"/>
              </a:spcAft>
              <a:buSzPct val="100000"/>
              <a:buChar char="•"/>
            </a:pPr>
            <a:r>
              <a:rPr lang="en-US" sz="1400" dirty="0">
                <a:solidFill>
                  <a:schemeClr val="tx1"/>
                </a:solidFill>
              </a:rPr>
              <a:t>Generated designs are schematic, for estimating only; licensed architects and engineers must develop them</a:t>
            </a:r>
            <a:endParaRPr lang="en-US" sz="1400" dirty="0"/>
          </a:p>
          <a:p>
            <a:pPr marL="342900" indent="-342900">
              <a:spcAft>
                <a:spcPts val="600"/>
              </a:spcAft>
              <a:buSzPct val="100000"/>
              <a:buChar char="•"/>
            </a:pPr>
            <a:r>
              <a:rPr lang="en-US" sz="1400" dirty="0">
                <a:solidFill>
                  <a:schemeClr val="tx1"/>
                </a:solidFill>
              </a:rPr>
              <a:t>Models are trained and validated on a 300-project simulated benchmark (SBD-300); a flag is not evidence of wrongdoing</a:t>
            </a:r>
            <a:endParaRPr lang="en-US" sz="1400" dirty="0"/>
          </a:p>
        </p:txBody>
      </p:sp>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229600" cy="292608"/>
          </a:xfrm>
          <a:prstGeom prst="rect">
            <a:avLst/>
          </a:prstGeom>
          <a:noFill/>
          <a:ln/>
        </p:spPr>
        <p:txBody>
          <a:bodyPr wrap="square" lIns="0" tIns="0" rIns="0" bIns="0" rtlCol="0"/>
          <a:lstStyle/>
          <a:p>
            <a:pPr indent="0" marL="0">
              <a:buNone/>
            </a:pPr>
            <a:r>
              <a:rPr lang="en-US" sz="1200" b="1" spc="200" kern="0" dirty="0">
                <a:solidFill>
                  <a:schemeClr val="accent5"/>
                </a:solidFill>
              </a:rPr>
              <a:t>DEFINITION OF TERMS</a:t>
            </a:r>
            <a:endParaRPr lang="en-US" sz="1200" dirty="0"/>
          </a:p>
        </p:txBody>
      </p:sp>
      <p:sp>
        <p:nvSpPr>
          <p:cNvPr id="3" name="Text 0"/>
          <p:cNvSpPr/>
          <p:nvPr>
            <p:ph idx="101" type="title" hasCustomPrompt="1"/>
          </p:nvPr>
        </p:nvSpPr>
        <p:spPr>
          <a:xfrm>
            <a:off x="548640" y="53035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Key Terms</a:t>
            </a:r>
            <a:endParaRPr lang="en-US" sz="3200" dirty="0"/>
          </a:p>
        </p:txBody>
      </p:sp>
      <p:graphicFrame>
        <p:nvGraphicFramePr>
          <p:cNvPr id="13" name="terms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3108960"/>
                <a:gridCol w="7982712"/>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2345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Operational definition</a:t>
                      </a:r>
                      <a:endParaRPr lang="en-US" sz="130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2345A"/>
                    </a:solidFill>
                  </a:tcPr>
                </a:tc>
              </a:tr>
              <a:tr h="457200">
                <a:tc>
                  <a:txBody>
                    <a:bodyPr/>
                    <a:lstStyle/>
                    <a:p>
                      <a:pPr indent="0" marL="0">
                        <a:buNone/>
                      </a:pPr>
                      <a:r>
                        <a:rPr lang="en-US" sz="1250" b="1" dirty="0">
                          <a:solidFill>
                            <a:srgbClr val="12345A"/>
                          </a:solidFill>
                          <a:latin typeface="Calibri" pitchFamily="34" charset="0"/>
                          <a:ea typeface="Calibri" pitchFamily="34" charset="-122"/>
                          <a:cs typeface="Calibri" pitchFamily="34" charset="-120"/>
                        </a:rPr>
                        <a:t>Approved Budget for the Contract (ABC)</a:t>
                      </a:r>
                      <a:endParaRPr lang="en-US" sz="125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4202E"/>
                          </a:solidFill>
                          <a:latin typeface="Calibri" pitchFamily="34" charset="0"/>
                          <a:ea typeface="Calibri" pitchFamily="34" charset="-122"/>
                          <a:cs typeface="Calibri" pitchFamily="34" charset="-120"/>
                        </a:rPr>
                        <a:t>The ceiling price a procuring entity sets; computed as EDC plus OCM, profit and 5% VAT under DPWH D.O. 197 s. 2016 and D.O. 30 s. 2025.</a:t>
                      </a:r>
                      <a:endParaRPr lang="en-US" sz="125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2345A"/>
                          </a:solidFill>
                          <a:latin typeface="Calibri" pitchFamily="34" charset="0"/>
                          <a:ea typeface="Calibri" pitchFamily="34" charset="-122"/>
                          <a:cs typeface="Calibri" pitchFamily="34" charset="-120"/>
                        </a:rPr>
                        <a:t>Lean Start Quotation</a:t>
                      </a:r>
                      <a:endParaRPr lang="en-US" sz="125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4202E"/>
                          </a:solidFill>
                          <a:latin typeface="Calibri" pitchFamily="34" charset="0"/>
                          <a:ea typeface="Calibri" pitchFamily="34" charset="-122"/>
                          <a:cs typeface="Calibri" pitchFamily="34" charset="-120"/>
                        </a:rPr>
                        <a:t>The lowest code-compliant price of a plan: minimum NSCP reinforcement and basic finishes; the recommended starting price.</a:t>
                      </a:r>
                      <a:endParaRPr lang="en-US" sz="125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2345A"/>
                          </a:solidFill>
                          <a:latin typeface="Calibri" pitchFamily="34" charset="0"/>
                          <a:ea typeface="Calibri" pitchFamily="34" charset="-122"/>
                          <a:cs typeface="Calibri" pitchFamily="34" charset="-120"/>
                        </a:rPr>
                        <a:t>Standard Fair Estimate</a:t>
                      </a:r>
                      <a:endParaRPr lang="en-US" sz="125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4202E"/>
                          </a:solidFill>
                          <a:latin typeface="Calibri" pitchFamily="34" charset="0"/>
                          <a:ea typeface="Calibri" pitchFamily="34" charset="-122"/>
                          <a:cs typeface="Calibri" pitchFamily="34" charset="-120"/>
                        </a:rPr>
                        <a:t>The ABC at typical DPWH design intensities; the reference for the over-budget ratio.</a:t>
                      </a:r>
                      <a:endParaRPr lang="en-US" sz="125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2345A"/>
                          </a:solidFill>
                          <a:latin typeface="Calibri" pitchFamily="34" charset="0"/>
                          <a:ea typeface="Calibri" pitchFamily="34" charset="-122"/>
                          <a:cs typeface="Calibri" pitchFamily="34" charset="-120"/>
                        </a:rPr>
                        <a:t>Ceiling Estimate</a:t>
                      </a:r>
                      <a:endParaRPr lang="en-US" sz="125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4202E"/>
                          </a:solidFill>
                          <a:latin typeface="Calibri" pitchFamily="34" charset="0"/>
                          <a:ea typeface="Calibri" pitchFamily="34" charset="-122"/>
                          <a:cs typeface="Calibri" pitchFamily="34" charset="-120"/>
                        </a:rPr>
                        <a:t>The highest price that can still be defended for a plan; contracts above it are flagged.</a:t>
                      </a:r>
                      <a:endParaRPr lang="en-US" sz="125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2345A"/>
                          </a:solidFill>
                          <a:latin typeface="Calibri" pitchFamily="34" charset="0"/>
                          <a:ea typeface="Calibri" pitchFamily="34" charset="-122"/>
                          <a:cs typeface="Calibri" pitchFamily="34" charset="-120"/>
                        </a:rPr>
                        <a:t>Over-Budget Ratio (OBR)</a:t>
                      </a:r>
                      <a:endParaRPr lang="en-US" sz="125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4202E"/>
                          </a:solidFill>
                          <a:latin typeface="Calibri" pitchFamily="34" charset="0"/>
                          <a:ea typeface="Calibri" pitchFamily="34" charset="-122"/>
                          <a:cs typeface="Calibri" pitchFamily="34" charset="-120"/>
                        </a:rPr>
                        <a:t>Contract amount divided by the standard fair estimate.</a:t>
                      </a:r>
                      <a:endParaRPr lang="en-US" sz="125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2345A"/>
                          </a:solidFill>
                          <a:latin typeface="Calibri" pitchFamily="34" charset="0"/>
                          <a:ea typeface="Calibri" pitchFamily="34" charset="-122"/>
                          <a:cs typeface="Calibri" pitchFamily="34" charset="-120"/>
                        </a:rPr>
                        <a:t>BUHAY-AH Risk Index (BRI)</a:t>
                      </a:r>
                      <a:endParaRPr lang="en-US" sz="125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4202E"/>
                          </a:solidFill>
                          <a:latin typeface="Calibri" pitchFamily="34" charset="0"/>
                          <a:ea typeface="Calibri" pitchFamily="34" charset="-122"/>
                          <a:cs typeface="Calibri" pitchFamily="34" charset="-120"/>
                        </a:rPr>
                        <a:t>A 0–100 score combining the OBR, XGBoost residual and anomaly score; 30 or more is flagged.</a:t>
                      </a:r>
                      <a:endParaRPr lang="en-US" sz="125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2345A"/>
                          </a:solidFill>
                          <a:latin typeface="Calibri" pitchFamily="34" charset="0"/>
                          <a:ea typeface="Calibri" pitchFamily="34" charset="-122"/>
                          <a:cs typeface="Calibri" pitchFamily="34" charset="-120"/>
                        </a:rPr>
                        <a:t>Budget-to-Design Optimization</a:t>
                      </a:r>
                      <a:endParaRPr lang="en-US" sz="125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4202E"/>
                          </a:solidFill>
                          <a:latin typeface="Calibri" pitchFamily="34" charset="0"/>
                          <a:ea typeface="Calibri" pitchFamily="34" charset="-122"/>
                          <a:cs typeface="Calibri" pitchFamily="34" charset="-120"/>
                        </a:rPr>
                        <a:t>The search for the largest facility whose quotation fits a budget, keeping Pareto-efficient designs.</a:t>
                      </a:r>
                      <a:endParaRPr lang="en-US" sz="125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2345A"/>
                          </a:solidFill>
                          <a:latin typeface="Calibri" pitchFamily="34" charset="0"/>
                          <a:ea typeface="Calibri" pitchFamily="34" charset="-122"/>
                          <a:cs typeface="Calibri" pitchFamily="34" charset="-120"/>
                        </a:rPr>
                        <a:t>Quantity Take-Off (QTO)</a:t>
                      </a:r>
                      <a:endParaRPr lang="en-US" sz="125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4202E"/>
                          </a:solidFill>
                          <a:latin typeface="Calibri" pitchFamily="34" charset="0"/>
                          <a:ea typeface="Calibri" pitchFamily="34" charset="-122"/>
                          <a:cs typeface="Calibri" pitchFamily="34" charset="-120"/>
                        </a:rPr>
                        <a:t>Measuring the work quantities of a plan, such as cubic metres of concrete and kilograms of steel.</a:t>
                      </a:r>
                      <a:endParaRPr lang="en-US" sz="125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2345A"/>
                          </a:solidFill>
                          <a:latin typeface="Calibri" pitchFamily="34" charset="0"/>
                          <a:ea typeface="Calibri" pitchFamily="34" charset="-122"/>
                          <a:cs typeface="Calibri" pitchFamily="34" charset="-120"/>
                        </a:rPr>
                        <a:t>SHAP</a:t>
                      </a:r>
                      <a:endParaRPr lang="en-US" sz="125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50" dirty="0">
                          <a:solidFill>
                            <a:srgbClr val="14202E"/>
                          </a:solidFill>
                          <a:latin typeface="Calibri" pitchFamily="34" charset="0"/>
                          <a:ea typeface="Calibri" pitchFamily="34" charset="-122"/>
                          <a:cs typeface="Calibri" pitchFamily="34" charset="-120"/>
                        </a:rPr>
                        <a:t>Shapley additive explanations; splits a prediction into each feature’s contribution.</a:t>
                      </a:r>
                      <a:endParaRPr lang="en-US" sz="1250" dirty="0">
                        <a:latin typeface="Calibri" charset="0"/>
                        <a:ea typeface="Calibri" charset="0"/>
                        <a:cs typeface="Calibri" charset="0"/>
                      </a:endParaRPr>
                    </a:p>
                  </a:txBody>
                  <a:tcPr marL="91440" marR="91440"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40080" y="1463040"/>
            <a:ext cx="3657600" cy="1188720"/>
          </a:xfrm>
          <a:prstGeom prst="rect">
            <a:avLst/>
          </a:prstGeom>
          <a:noFill/>
          <a:ln/>
        </p:spPr>
        <p:txBody>
          <a:bodyPr wrap="square" rtlCol="0"/>
          <a:lstStyle/>
          <a:p>
            <a:pPr indent="0" marL="0">
              <a:buNone/>
            </a:pPr>
            <a:r>
              <a:rPr lang="en-US" sz="8000" b="1" dirty="0">
                <a:solidFill>
                  <a:schemeClr val="accent1"/>
                </a:solidFill>
                <a:latin typeface="Cambria" pitchFamily="34" charset="0"/>
                <a:ea typeface="Cambria" pitchFamily="34" charset="-122"/>
                <a:cs typeface="Cambria" pitchFamily="34" charset="-120"/>
              </a:rPr>
              <a:t>02</a:t>
            </a:r>
            <a:endParaRPr lang="en-US" sz="8000" dirty="0"/>
          </a:p>
        </p:txBody>
      </p:sp>
      <p:sp>
        <p:nvSpPr>
          <p:cNvPr id="3" name="Text 0"/>
          <p:cNvSpPr/>
          <p:nvPr>
            <p:ph idx="101" type="title" hasCustomPrompt="1"/>
          </p:nvPr>
        </p:nvSpPr>
        <p:spPr>
          <a:xfrm>
            <a:off x="640080" y="2743200"/>
            <a:ext cx="10515600" cy="1005840"/>
          </a:xfrm>
          <a:prstGeom prst="rect">
            <a:avLst/>
          </a:prstGeom>
          <a:noFill/>
          <a:ln/>
        </p:spPr>
        <p:txBody>
          <a:bodyPr wrap="square" rtlCol="0"/>
          <a:lstStyle/>
          <a:p>
            <a:pPr algn="l" indent="0" marL="0">
              <a:buNone/>
            </a:pPr>
            <a:r>
              <a:rPr lang="en-US" sz="4400" b="1" dirty="0">
                <a:solidFill>
                  <a:schemeClr val="bg1"/>
                </a:solidFill>
                <a:latin typeface="Cambria" pitchFamily="34" charset="0"/>
                <a:ea typeface="Cambria" pitchFamily="34" charset="-122"/>
                <a:cs typeface="Cambria" pitchFamily="34" charset="-120"/>
              </a:rPr>
              <a:t>Framework</a:t>
            </a:r>
            <a:endParaRPr lang="en-US" sz="4400" dirty="0"/>
          </a:p>
        </p:txBody>
      </p:sp>
      <p:sp>
        <p:nvSpPr>
          <p:cNvPr id="4" name="Text 0"/>
          <p:cNvSpPr/>
          <p:nvPr>
            <p:ph idx="102" type="body" hasCustomPrompt="1"/>
          </p:nvPr>
        </p:nvSpPr>
        <p:spPr>
          <a:xfrm>
            <a:off x="640080" y="3840480"/>
            <a:ext cx="9601200" cy="1097280"/>
          </a:xfrm>
          <a:prstGeom prst="rect">
            <a:avLst/>
          </a:prstGeom>
          <a:noFill/>
          <a:ln/>
        </p:spPr>
        <p:txBody>
          <a:bodyPr wrap="square" rtlCol="0" anchor="t"/>
          <a:lstStyle/>
          <a:p>
            <a:pPr indent="0" marL="0">
              <a:buNone/>
            </a:pPr>
            <a:r>
              <a:rPr lang="en-US" sz="1800" dirty="0">
                <a:solidFill>
                  <a:schemeClr val="bg2"/>
                </a:solidFill>
              </a:rPr>
              <a:t>Review of related literature, theoretical framework, conceptual framework</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229600" cy="292608"/>
          </a:xfrm>
          <a:prstGeom prst="rect">
            <a:avLst/>
          </a:prstGeom>
          <a:noFill/>
          <a:ln/>
        </p:spPr>
        <p:txBody>
          <a:bodyPr wrap="square" lIns="0" tIns="0" rIns="0" bIns="0" rtlCol="0"/>
          <a:lstStyle/>
          <a:p>
            <a:pPr indent="0" marL="0">
              <a:buNone/>
            </a:pPr>
            <a:r>
              <a:rPr lang="en-US" sz="1200" b="1" spc="200" kern="0" dirty="0">
                <a:solidFill>
                  <a:schemeClr val="accent5"/>
                </a:solidFill>
              </a:rPr>
              <a:t>REVIEW OF RELATED LITERATURE</a:t>
            </a:r>
            <a:endParaRPr lang="en-US" sz="1200" dirty="0"/>
          </a:p>
        </p:txBody>
      </p:sp>
      <p:sp>
        <p:nvSpPr>
          <p:cNvPr id="3" name="Text 0"/>
          <p:cNvSpPr/>
          <p:nvPr>
            <p:ph idx="101" type="title" hasCustomPrompt="1"/>
          </p:nvPr>
        </p:nvSpPr>
        <p:spPr>
          <a:xfrm>
            <a:off x="548640" y="53035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Earlier Studies Found</a:t>
            </a:r>
            <a:endParaRPr lang="en-US" sz="3200" dirty="0"/>
          </a:p>
        </p:txBody>
      </p:sp>
      <p:graphicFrame>
        <p:nvGraphicFramePr>
          <p:cNvPr id="15" name="literature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651760"/>
                <a:gridCol w="2926080"/>
                <a:gridCol w="3108960"/>
                <a:gridCol w="2404872"/>
              </a:tblGrid>
              <a:tr h="5486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Study</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2345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2345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Finding</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2345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Gap for this study</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2345A"/>
                    </a:solidFill>
                  </a:tcPr>
                </a:tc>
              </a:tr>
              <a:tr h="548640">
                <a:tc>
                  <a:txBody>
                    <a:bodyPr/>
                    <a:lstStyle/>
                    <a:p>
                      <a:pPr indent="0" marL="0">
                        <a:buNone/>
                      </a:pPr>
                      <a:r>
                        <a:rPr lang="en-US" sz="1300" b="1" dirty="0">
                          <a:solidFill>
                            <a:srgbClr val="12345A"/>
                          </a:solidFill>
                          <a:latin typeface="Calibri" pitchFamily="34" charset="0"/>
                          <a:ea typeface="Calibri" pitchFamily="34" charset="-122"/>
                          <a:cs typeface="Calibri" pitchFamily="34" charset="-120"/>
                        </a:rPr>
                        <a:t>Mahamid (2011)</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Multiple regression, road projects</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Early cost estimates from a few variables</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B8322A"/>
                          </a:solidFill>
                          <a:latin typeface="Calibri" pitchFamily="34" charset="0"/>
                          <a:ea typeface="Calibri" pitchFamily="34" charset="-122"/>
                          <a:cs typeface="Calibri" pitchFamily="34" charset="-120"/>
                        </a:rPr>
                        <a:t>Roads only</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b="1" dirty="0">
                          <a:solidFill>
                            <a:srgbClr val="12345A"/>
                          </a:solidFill>
                          <a:latin typeface="Calibri" pitchFamily="34" charset="0"/>
                          <a:ea typeface="Calibri" pitchFamily="34" charset="-122"/>
                          <a:cs typeface="Calibri" pitchFamily="34" charset="-120"/>
                        </a:rPr>
                        <a:t>Elmousalami (2020)</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Review of AI and parametric cost models</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Tree ensembles lead in accuracy</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B8322A"/>
                          </a:solidFill>
                          <a:latin typeface="Calibri" pitchFamily="34" charset="0"/>
                          <a:ea typeface="Calibri" pitchFamily="34" charset="-122"/>
                          <a:cs typeface="Calibri" pitchFamily="34" charset="-120"/>
                        </a:rPr>
                        <a:t>Learns from past prices</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b="1" dirty="0">
                          <a:solidFill>
                            <a:srgbClr val="12345A"/>
                          </a:solidFill>
                          <a:latin typeface="Calibri" pitchFamily="34" charset="0"/>
                          <a:ea typeface="Calibri" pitchFamily="34" charset="-122"/>
                          <a:cs typeface="Calibri" pitchFamily="34" charset="-120"/>
                        </a:rPr>
                        <a:t>Coffie &amp; Cudjoe (2024)</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XGBoost + SHAP</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Predicts cost overruns with explanations</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B8322A"/>
                          </a:solidFill>
                          <a:latin typeface="Calibri" pitchFamily="34" charset="0"/>
                          <a:ea typeface="Calibri" pitchFamily="34" charset="-122"/>
                          <a:cs typeface="Calibri" pitchFamily="34" charset="-120"/>
                        </a:rPr>
                        <a:t>No reference price</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b="1" dirty="0">
                          <a:solidFill>
                            <a:srgbClr val="12345A"/>
                          </a:solidFill>
                          <a:latin typeface="Calibri" pitchFamily="34" charset="0"/>
                          <a:ea typeface="Calibri" pitchFamily="34" charset="-122"/>
                          <a:cs typeface="Calibri" pitchFamily="34" charset="-120"/>
                        </a:rPr>
                        <a:t>Larocque et al. (2025)</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Explainable ML, 11,646 road contracts</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Accurate, explainable road cost estimates</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B8322A"/>
                          </a:solidFill>
                          <a:latin typeface="Calibri" pitchFamily="34" charset="0"/>
                          <a:ea typeface="Calibri" pitchFamily="34" charset="-122"/>
                          <a:cs typeface="Calibri" pitchFamily="34" charset="-120"/>
                        </a:rPr>
                        <a:t>Roads only</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b="1" dirty="0">
                          <a:solidFill>
                            <a:srgbClr val="12345A"/>
                          </a:solidFill>
                          <a:latin typeface="Calibri" pitchFamily="34" charset="0"/>
                          <a:ea typeface="Calibri" pitchFamily="34" charset="-122"/>
                          <a:cs typeface="Calibri" pitchFamily="34" charset="-120"/>
                        </a:rPr>
                        <a:t>Liu et al. (2008)</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Isolation Forest</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Unsupervised anomaly detection by short paths</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B8322A"/>
                          </a:solidFill>
                          <a:latin typeface="Calibri" pitchFamily="34" charset="0"/>
                          <a:ea typeface="Calibri" pitchFamily="34" charset="-122"/>
                          <a:cs typeface="Calibri" pitchFamily="34" charset="-120"/>
                        </a:rPr>
                        <a:t>Misses ordinary-looking padding</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b="1" dirty="0">
                          <a:solidFill>
                            <a:srgbClr val="12345A"/>
                          </a:solidFill>
                          <a:latin typeface="Calibri" pitchFamily="34" charset="0"/>
                          <a:ea typeface="Calibri" pitchFamily="34" charset="-122"/>
                          <a:cs typeface="Calibri" pitchFamily="34" charset="-120"/>
                        </a:rPr>
                        <a:t>Buban (2026), CORA</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MLR, XGBoost, Isolation Forest, Bicol roads</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R² 0.8723, MAPE 29.20%; three flags</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B8322A"/>
                          </a:solidFill>
                          <a:latin typeface="Calibri" pitchFamily="34" charset="0"/>
                          <a:ea typeface="Calibri" pitchFamily="34" charset="-122"/>
                          <a:cs typeface="Calibri" pitchFamily="34" charset="-120"/>
                        </a:rPr>
                        <a:t>Recall unknown, roads only</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b="1" dirty="0">
                          <a:solidFill>
                            <a:srgbClr val="12345A"/>
                          </a:solidFill>
                          <a:latin typeface="Calibri" pitchFamily="34" charset="0"/>
                          <a:ea typeface="Calibri" pitchFamily="34" charset="-122"/>
                          <a:cs typeface="Calibri" pitchFamily="34" charset="-120"/>
                        </a:rPr>
                        <a:t>GAO (2020); Flyvbjerg et al. (2002)</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Should-cost estimating; cost underestimation</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Bottom-up estimates expose misrepresentation</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B8322A"/>
                          </a:solidFill>
                          <a:latin typeface="Calibri" pitchFamily="34" charset="0"/>
                          <a:ea typeface="Calibri" pitchFamily="34" charset="-122"/>
                          <a:cs typeface="Calibri" pitchFamily="34" charset="-120"/>
                        </a:rPr>
                        <a:t>No open tool</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229600" cy="292608"/>
          </a:xfrm>
          <a:prstGeom prst="rect">
            <a:avLst/>
          </a:prstGeom>
          <a:noFill/>
          <a:ln/>
        </p:spPr>
        <p:txBody>
          <a:bodyPr wrap="square" lIns="0" tIns="0" rIns="0" bIns="0" rtlCol="0"/>
          <a:lstStyle/>
          <a:p>
            <a:pPr indent="0" marL="0">
              <a:buNone/>
            </a:pPr>
            <a:r>
              <a:rPr lang="en-US" sz="1200" b="1" spc="200" kern="0" dirty="0">
                <a:solidFill>
                  <a:schemeClr val="accent5"/>
                </a:solidFill>
              </a:rPr>
              <a:t>THEORETICAL FRAMEWORK</a:t>
            </a:r>
            <a:endParaRPr lang="en-US" sz="1200" dirty="0"/>
          </a:p>
        </p:txBody>
      </p:sp>
      <p:sp>
        <p:nvSpPr>
          <p:cNvPr id="3" name="Text 0"/>
          <p:cNvSpPr/>
          <p:nvPr>
            <p:ph idx="101" type="title" hasCustomPrompt="1"/>
          </p:nvPr>
        </p:nvSpPr>
        <p:spPr>
          <a:xfrm>
            <a:off x="548640" y="53035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Five Theories Behind BUHAY-AH</a:t>
            </a:r>
            <a:endParaRPr lang="en-US" sz="3200" dirty="0"/>
          </a:p>
        </p:txBody>
      </p:sp>
      <p:pic>
        <p:nvPicPr>
          <p:cNvPr id="5" name="diagram_theoretical.png" descr="Theoretical paradigm: five theories feeding BUHAY-AH">    </p:cNvPr>
          <p:cNvPicPr>
            <a:picLocks noChangeAspect="1"/>
          </p:cNvPicPr>
          <p:nvPr/>
        </p:nvPicPr>
        <p:blipFill>
          <a:blip r:embed="rId1"/>
          <a:stretch>
            <a:fillRect/>
          </a:stretch>
        </p:blipFill>
        <p:spPr>
          <a:xfrm>
            <a:off x="548640" y="1473864"/>
            <a:ext cx="11091672" cy="4093152"/>
          </a:xfrm>
          <a:prstGeom prst="rect">
            <a:avLst/>
          </a:prstGeom>
        </p:spPr>
      </p:pic>
      <p:sp>
        <p:nvSpPr>
          <p:cNvPr id="6" name="Text 2"/>
          <p:cNvSpPr txBox="1"/>
          <p:nvPr/>
        </p:nvSpPr>
        <p:spPr>
          <a:xfrm>
            <a:off x="548640" y="5715000"/>
            <a:ext cx="11091672" cy="502920"/>
          </a:xfrm>
          <a:prstGeom prst="rect">
            <a:avLst/>
          </a:prstGeom>
          <a:noFill/>
          <a:ln/>
        </p:spPr>
        <p:txBody>
          <a:bodyPr wrap="square" lIns="0" tIns="0" rIns="0" bIns="0" rtlCol="0" anchor="ctr"/>
          <a:lstStyle/>
          <a:p>
            <a:pPr algn="ctr" indent="0" marL="0">
              <a:buNone/>
            </a:pPr>
            <a:r>
              <a:rPr lang="en-US" sz="1300" b="1" dirty="0">
                <a:solidFill>
                  <a:srgbClr val="44505E"/>
                </a:solidFill>
              </a:rPr>
              <a:t>Agency (Jensen &amp; Meckling, 1976) · Should-Cost (GAO, 2020) · Optimization (Pareto, 1906; Nemhauser &amp; Wolsey, 1988) · Statistical Learning (Vapnik, 1998) · Cooperative Games (Shapley, 1953)</a:t>
            </a:r>
            <a:endParaRPr lang="en-US" sz="1300" dirty="0"/>
          </a:p>
        </p:txBody>
      </p:sp>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229600" cy="292608"/>
          </a:xfrm>
          <a:prstGeom prst="rect">
            <a:avLst/>
          </a:prstGeom>
          <a:noFill/>
          <a:ln/>
        </p:spPr>
        <p:txBody>
          <a:bodyPr wrap="square" lIns="0" tIns="0" rIns="0" bIns="0" rtlCol="0"/>
          <a:lstStyle/>
          <a:p>
            <a:pPr indent="0" marL="0">
              <a:buNone/>
            </a:pPr>
            <a:r>
              <a:rPr lang="en-US" sz="1200" b="1" spc="200" kern="0" dirty="0">
                <a:solidFill>
                  <a:schemeClr val="accent5"/>
                </a:solidFill>
              </a:rPr>
              <a:t>CONCEPTUAL FRAMEWORK</a:t>
            </a:r>
            <a:endParaRPr lang="en-US" sz="1200" dirty="0"/>
          </a:p>
        </p:txBody>
      </p:sp>
      <p:sp>
        <p:nvSpPr>
          <p:cNvPr id="3" name="Text 0"/>
          <p:cNvSpPr/>
          <p:nvPr>
            <p:ph idx="101" type="title" hasCustomPrompt="1"/>
          </p:nvPr>
        </p:nvSpPr>
        <p:spPr>
          <a:xfrm>
            <a:off x="548640" y="53035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Input–Process–Output–Feedback</a:t>
            </a:r>
            <a:endParaRPr lang="en-US" sz="3200" dirty="0"/>
          </a:p>
        </p:txBody>
      </p:sp>
      <p:pic>
        <p:nvPicPr>
          <p:cNvPr id="5" name="diagram_conceptual.png" descr="Conceptual paradigm: input, process, output, feedback">    </p:cNvPr>
          <p:cNvPicPr>
            <a:picLocks noChangeAspect="1"/>
          </p:cNvPicPr>
          <p:nvPr/>
        </p:nvPicPr>
        <p:blipFill>
          <a:blip r:embed="rId1"/>
          <a:stretch>
            <a:fillRect/>
          </a:stretch>
        </p:blipFill>
        <p:spPr>
          <a:xfrm>
            <a:off x="548640" y="1473355"/>
            <a:ext cx="11091672" cy="4734250"/>
          </a:xfrm>
          <a:prstGeom prst="rect">
            <a:avLst/>
          </a:prstGeom>
        </p:spPr>
      </p:pic>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40080" y="1463040"/>
            <a:ext cx="3657600" cy="1188720"/>
          </a:xfrm>
          <a:prstGeom prst="rect">
            <a:avLst/>
          </a:prstGeom>
          <a:noFill/>
          <a:ln/>
        </p:spPr>
        <p:txBody>
          <a:bodyPr wrap="square" rtlCol="0"/>
          <a:lstStyle/>
          <a:p>
            <a:pPr indent="0" marL="0">
              <a:buNone/>
            </a:pPr>
            <a:r>
              <a:rPr lang="en-US" sz="8000" b="1" dirty="0">
                <a:solidFill>
                  <a:schemeClr val="accent1"/>
                </a:solidFill>
                <a:latin typeface="Cambria" pitchFamily="34" charset="0"/>
                <a:ea typeface="Cambria" pitchFamily="34" charset="-122"/>
                <a:cs typeface="Cambria" pitchFamily="34" charset="-120"/>
              </a:rPr>
              <a:t>03</a:t>
            </a:r>
            <a:endParaRPr lang="en-US" sz="8000" dirty="0"/>
          </a:p>
        </p:txBody>
      </p:sp>
      <p:sp>
        <p:nvSpPr>
          <p:cNvPr id="3" name="Text 0"/>
          <p:cNvSpPr/>
          <p:nvPr>
            <p:ph idx="101" type="title" hasCustomPrompt="1"/>
          </p:nvPr>
        </p:nvSpPr>
        <p:spPr>
          <a:xfrm>
            <a:off x="640080" y="2743200"/>
            <a:ext cx="10515600" cy="1005840"/>
          </a:xfrm>
          <a:prstGeom prst="rect">
            <a:avLst/>
          </a:prstGeom>
          <a:noFill/>
          <a:ln/>
        </p:spPr>
        <p:txBody>
          <a:bodyPr wrap="square" rtlCol="0"/>
          <a:lstStyle/>
          <a:p>
            <a:pPr algn="l" indent="0" marL="0">
              <a:buNone/>
            </a:pPr>
            <a:r>
              <a:rPr lang="en-US" sz="4400" b="1" dirty="0">
                <a:solidFill>
                  <a:schemeClr val="bg1"/>
                </a:solidFill>
                <a:latin typeface="Cambria" pitchFamily="34" charset="0"/>
                <a:ea typeface="Cambria" pitchFamily="34" charset="-122"/>
                <a:cs typeface="Cambria" pitchFamily="34" charset="-120"/>
              </a:rPr>
              <a:t>Methodology</a:t>
            </a:r>
            <a:endParaRPr lang="en-US" sz="4400" dirty="0"/>
          </a:p>
        </p:txBody>
      </p:sp>
      <p:sp>
        <p:nvSpPr>
          <p:cNvPr id="4" name="Text 0"/>
          <p:cNvSpPr/>
          <p:nvPr>
            <p:ph idx="102" type="body" hasCustomPrompt="1"/>
          </p:nvPr>
        </p:nvSpPr>
        <p:spPr>
          <a:xfrm>
            <a:off x="640080" y="3840480"/>
            <a:ext cx="9601200" cy="1097280"/>
          </a:xfrm>
          <a:prstGeom prst="rect">
            <a:avLst/>
          </a:prstGeom>
          <a:noFill/>
          <a:ln/>
        </p:spPr>
        <p:txBody>
          <a:bodyPr wrap="square" rtlCol="0" anchor="t"/>
          <a:lstStyle/>
          <a:p>
            <a:pPr indent="0" marL="0">
              <a:buNone/>
            </a:pPr>
            <a:r>
              <a:rPr lang="en-US" sz="1800" dirty="0">
                <a:solidFill>
                  <a:schemeClr val="bg2"/>
                </a:solidFill>
              </a:rPr>
              <a:t>Research design, locale and data, instruments, procedure, models, validation and ethical considerations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229600" cy="292608"/>
          </a:xfrm>
          <a:prstGeom prst="rect">
            <a:avLst/>
          </a:prstGeom>
          <a:noFill/>
          <a:ln/>
        </p:spPr>
        <p:txBody>
          <a:bodyPr wrap="square" lIns="0" tIns="0" rIns="0" bIns="0" rtlCol="0"/>
          <a:lstStyle/>
          <a:p>
            <a:pPr indent="0" marL="0">
              <a:buNone/>
            </a:pPr>
            <a:r>
              <a:rPr lang="en-US" sz="1200" b="1" spc="200" kern="0" dirty="0">
                <a:solidFill>
                  <a:schemeClr val="accent5"/>
                </a:solidFill>
              </a:rPr>
              <a:t>RESEARCH DESIGN</a:t>
            </a:r>
            <a:endParaRPr lang="en-US" sz="1200" dirty="0"/>
          </a:p>
        </p:txBody>
      </p:sp>
      <p:sp>
        <p:nvSpPr>
          <p:cNvPr id="3" name="Text 0"/>
          <p:cNvSpPr/>
          <p:nvPr>
            <p:ph idx="101" type="title" hasCustomPrompt="1"/>
          </p:nvPr>
        </p:nvSpPr>
        <p:spPr>
          <a:xfrm>
            <a:off x="548640" y="53035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Quantitative Developmental Design</a:t>
            </a:r>
            <a:endParaRPr lang="en-US" sz="3200" dirty="0"/>
          </a:p>
        </p:txBody>
      </p:sp>
      <p:sp>
        <p:nvSpPr>
          <p:cNvPr id="5" name="Text 2"/>
          <p:cNvSpPr txBox="1"/>
          <p:nvPr/>
        </p:nvSpPr>
        <p:spPr>
          <a:xfrm>
            <a:off x="548640" y="1417320"/>
            <a:ext cx="11091672" cy="685800"/>
          </a:xfrm>
          <a:prstGeom prst="rect">
            <a:avLst/>
          </a:prstGeom>
          <a:noFill/>
          <a:ln/>
        </p:spPr>
        <p:txBody>
          <a:bodyPr wrap="square" lIns="0" tIns="0" rIns="0" bIns="0" rtlCol="0" anchor="t"/>
          <a:lstStyle/>
          <a:p>
            <a:pPr indent="0" marL="0">
              <a:buNone/>
            </a:pPr>
            <a:r>
              <a:rPr lang="en-US" sz="1600" dirty="0">
                <a:solidFill>
                  <a:schemeClr val="tx1"/>
                </a:solidFill>
              </a:rPr>
              <a:t>A quantitative developmental design with a simulation-based computational experiment: the problem is expressed as mathematical models, solved as algorithms and validated with statistics.</a:t>
            </a:r>
            <a:endParaRPr lang="en-US" sz="1600" dirty="0"/>
          </a:p>
        </p:txBody>
      </p:sp>
      <p:sp>
        <p:nvSpPr>
          <p:cNvPr id="6" name="card"/>
          <p:cNvSpPr/>
          <p:nvPr/>
        </p:nvSpPr>
        <p:spPr>
          <a:xfrm>
            <a:off x="548640" y="2240280"/>
            <a:ext cx="2606040" cy="1828800"/>
          </a:xfrm>
          <a:prstGeom prst="roundRect">
            <a:avLst>
              <a:gd name="adj" fmla="val 4000"/>
            </a:avLst>
          </a:prstGeom>
          <a:solidFill>
            <a:schemeClr val="bg2"/>
          </a:solidFill>
          <a:ln/>
        </p:spPr>
      </p:sp>
      <p:sp>
        <p:nvSpPr>
          <p:cNvPr id="7" name="icon circle"/>
          <p:cNvSpPr/>
          <p:nvPr/>
        </p:nvSpPr>
        <p:spPr>
          <a:xfrm>
            <a:off x="749808" y="2423160"/>
            <a:ext cx="594360" cy="594360"/>
          </a:xfrm>
          <a:prstGeom prst="ellipse">
            <a:avLst/>
          </a:prstGeom>
          <a:solidFill>
            <a:schemeClr val="tx2"/>
          </a:solidFill>
          <a:ln/>
        </p:spPr>
      </p:sp>
      <p:pic>
        <p:nvPicPr>
          <p:cNvPr id="8" name="icon FaCalculator" descr="Calculator icon">    </p:cNvPr>
          <p:cNvPicPr>
            <a:picLocks noChangeAspect="1"/>
          </p:cNvPicPr>
          <p:nvPr/>
        </p:nvPicPr>
        <p:blipFill>
          <a:blip r:embed="rId1"/>
          <a:stretch>
            <a:fillRect/>
          </a:stretch>
        </p:blipFill>
        <p:spPr>
          <a:xfrm>
            <a:off x="892454" y="2565806"/>
            <a:ext cx="309067" cy="309067"/>
          </a:xfrm>
          <a:prstGeom prst="rect">
            <a:avLst/>
          </a:prstGeom>
        </p:spPr>
      </p:pic>
      <p:sp>
        <p:nvSpPr>
          <p:cNvPr id="9" name="Text 5"/>
          <p:cNvSpPr txBox="1"/>
          <p:nvPr/>
        </p:nvSpPr>
        <p:spPr>
          <a:xfrm>
            <a:off x="1463040" y="2377440"/>
            <a:ext cx="1600200" cy="685800"/>
          </a:xfrm>
          <a:prstGeom prst="rect">
            <a:avLst/>
          </a:prstGeom>
          <a:noFill/>
          <a:ln/>
        </p:spPr>
        <p:txBody>
          <a:bodyPr wrap="square" lIns="0" tIns="0" rIns="0" bIns="0" rtlCol="0" anchor="ctr"/>
          <a:lstStyle/>
          <a:p>
            <a:pPr indent="0" marL="0">
              <a:buNone/>
            </a:pPr>
            <a:r>
              <a:rPr lang="en-US" sz="1500" b="1" dirty="0">
                <a:solidFill>
                  <a:schemeClr val="tx2"/>
                </a:solidFill>
              </a:rPr>
              <a:t>Deterministic modeling</a:t>
            </a:r>
            <a:endParaRPr lang="en-US" sz="1500" dirty="0"/>
          </a:p>
        </p:txBody>
      </p:sp>
      <p:sp>
        <p:nvSpPr>
          <p:cNvPr id="10" name="Text 6"/>
          <p:cNvSpPr txBox="1"/>
          <p:nvPr/>
        </p:nvSpPr>
        <p:spPr>
          <a:xfrm>
            <a:off x="749808" y="3154680"/>
            <a:ext cx="2240280" cy="868680"/>
          </a:xfrm>
          <a:prstGeom prst="rect">
            <a:avLst/>
          </a:prstGeom>
          <a:noFill/>
          <a:ln/>
        </p:spPr>
        <p:txBody>
          <a:bodyPr wrap="square" lIns="0" tIns="0" rIns="0" bIns="0" rtlCol="0" anchor="t"/>
          <a:lstStyle/>
          <a:p>
            <a:pPr indent="0" marL="0">
              <a:buNone/>
            </a:pPr>
            <a:r>
              <a:rPr lang="en-US" sz="1350" dirty="0">
                <a:solidFill>
                  <a:schemeClr val="tx1"/>
                </a:solidFill>
              </a:rPr>
              <a:t>Quantity take-off and ABC from NSCP, DPWH and AASHTO</a:t>
            </a:r>
            <a:endParaRPr lang="en-US" sz="1350" dirty="0"/>
          </a:p>
        </p:txBody>
      </p:sp>
      <p:sp>
        <p:nvSpPr>
          <p:cNvPr id="11" name="card"/>
          <p:cNvSpPr/>
          <p:nvPr/>
        </p:nvSpPr>
        <p:spPr>
          <a:xfrm>
            <a:off x="3383280" y="2240280"/>
            <a:ext cx="2606040" cy="1828800"/>
          </a:xfrm>
          <a:prstGeom prst="roundRect">
            <a:avLst>
              <a:gd name="adj" fmla="val 4000"/>
            </a:avLst>
          </a:prstGeom>
          <a:solidFill>
            <a:schemeClr val="bg2"/>
          </a:solidFill>
          <a:ln/>
        </p:spPr>
      </p:sp>
      <p:sp>
        <p:nvSpPr>
          <p:cNvPr id="12" name="icon circle"/>
          <p:cNvSpPr/>
          <p:nvPr/>
        </p:nvSpPr>
        <p:spPr>
          <a:xfrm>
            <a:off x="3584448" y="2423160"/>
            <a:ext cx="594360" cy="594360"/>
          </a:xfrm>
          <a:prstGeom prst="ellipse">
            <a:avLst/>
          </a:prstGeom>
          <a:solidFill>
            <a:schemeClr val="tx2"/>
          </a:solidFill>
          <a:ln/>
        </p:spPr>
      </p:sp>
      <p:pic>
        <p:nvPicPr>
          <p:cNvPr id="13" name="icon FaPuzzlePiece" descr="PuzzlePiece icon">    </p:cNvPr>
          <p:cNvPicPr>
            <a:picLocks noChangeAspect="1"/>
          </p:cNvPicPr>
          <p:nvPr/>
        </p:nvPicPr>
        <p:blipFill>
          <a:blip r:embed="rId2"/>
          <a:stretch>
            <a:fillRect/>
          </a:stretch>
        </p:blipFill>
        <p:spPr>
          <a:xfrm>
            <a:off x="3727094" y="2565806"/>
            <a:ext cx="309067" cy="309067"/>
          </a:xfrm>
          <a:prstGeom prst="rect">
            <a:avLst/>
          </a:prstGeom>
        </p:spPr>
      </p:pic>
      <p:sp>
        <p:nvSpPr>
          <p:cNvPr id="14" name="Text 9"/>
          <p:cNvSpPr txBox="1"/>
          <p:nvPr/>
        </p:nvSpPr>
        <p:spPr>
          <a:xfrm>
            <a:off x="4297680" y="2377440"/>
            <a:ext cx="1600200" cy="685800"/>
          </a:xfrm>
          <a:prstGeom prst="rect">
            <a:avLst/>
          </a:prstGeom>
          <a:noFill/>
          <a:ln/>
        </p:spPr>
        <p:txBody>
          <a:bodyPr wrap="square" lIns="0" tIns="0" rIns="0" bIns="0" rtlCol="0" anchor="ctr"/>
          <a:lstStyle/>
          <a:p>
            <a:pPr indent="0" marL="0">
              <a:buNone/>
            </a:pPr>
            <a:r>
              <a:rPr lang="en-US" sz="1500" b="1" dirty="0">
                <a:solidFill>
                  <a:schemeClr val="tx2"/>
                </a:solidFill>
              </a:rPr>
              <a:t>Combinatorial optimization</a:t>
            </a:r>
            <a:endParaRPr lang="en-US" sz="1500" dirty="0"/>
          </a:p>
        </p:txBody>
      </p:sp>
      <p:sp>
        <p:nvSpPr>
          <p:cNvPr id="15" name="Text 10"/>
          <p:cNvSpPr txBox="1"/>
          <p:nvPr/>
        </p:nvSpPr>
        <p:spPr>
          <a:xfrm>
            <a:off x="3584448" y="3154680"/>
            <a:ext cx="2240280" cy="868680"/>
          </a:xfrm>
          <a:prstGeom prst="rect">
            <a:avLst/>
          </a:prstGeom>
          <a:noFill/>
          <a:ln/>
        </p:spPr>
        <p:txBody>
          <a:bodyPr wrap="square" lIns="0" tIns="0" rIns="0" bIns="0" rtlCol="0" anchor="t"/>
          <a:lstStyle/>
          <a:p>
            <a:pPr indent="0" marL="0">
              <a:buNone/>
            </a:pPr>
            <a:r>
              <a:rPr lang="en-US" sz="1350" dirty="0">
                <a:solidFill>
                  <a:schemeClr val="tx1"/>
                </a:solidFill>
              </a:rPr>
              <a:t>Budget-to-design integer program and Pareto filter</a:t>
            </a:r>
            <a:endParaRPr lang="en-US" sz="1350" dirty="0"/>
          </a:p>
        </p:txBody>
      </p:sp>
      <p:sp>
        <p:nvSpPr>
          <p:cNvPr id="16" name="card"/>
          <p:cNvSpPr/>
          <p:nvPr/>
        </p:nvSpPr>
        <p:spPr>
          <a:xfrm>
            <a:off x="6217920" y="2240280"/>
            <a:ext cx="2606040" cy="1828800"/>
          </a:xfrm>
          <a:prstGeom prst="roundRect">
            <a:avLst>
              <a:gd name="adj" fmla="val 4000"/>
            </a:avLst>
          </a:prstGeom>
          <a:solidFill>
            <a:schemeClr val="bg2"/>
          </a:solidFill>
          <a:ln/>
        </p:spPr>
      </p:sp>
      <p:sp>
        <p:nvSpPr>
          <p:cNvPr id="17" name="icon circle"/>
          <p:cNvSpPr/>
          <p:nvPr/>
        </p:nvSpPr>
        <p:spPr>
          <a:xfrm>
            <a:off x="6419088" y="2423160"/>
            <a:ext cx="594360" cy="594360"/>
          </a:xfrm>
          <a:prstGeom prst="ellipse">
            <a:avLst/>
          </a:prstGeom>
          <a:solidFill>
            <a:schemeClr val="tx2"/>
          </a:solidFill>
          <a:ln/>
        </p:spPr>
      </p:sp>
      <p:pic>
        <p:nvPicPr>
          <p:cNvPr id="18" name="icon FaChartLine" descr="ChartLine icon">    </p:cNvPr>
          <p:cNvPicPr>
            <a:picLocks noChangeAspect="1"/>
          </p:cNvPicPr>
          <p:nvPr/>
        </p:nvPicPr>
        <p:blipFill>
          <a:blip r:embed="rId3"/>
          <a:stretch>
            <a:fillRect/>
          </a:stretch>
        </p:blipFill>
        <p:spPr>
          <a:xfrm>
            <a:off x="6561734" y="2565806"/>
            <a:ext cx="309067" cy="309067"/>
          </a:xfrm>
          <a:prstGeom prst="rect">
            <a:avLst/>
          </a:prstGeom>
        </p:spPr>
      </p:pic>
      <p:sp>
        <p:nvSpPr>
          <p:cNvPr id="19" name="Text 13"/>
          <p:cNvSpPr txBox="1"/>
          <p:nvPr/>
        </p:nvSpPr>
        <p:spPr>
          <a:xfrm>
            <a:off x="7132320" y="2377440"/>
            <a:ext cx="1600200" cy="685800"/>
          </a:xfrm>
          <a:prstGeom prst="rect">
            <a:avLst/>
          </a:prstGeom>
          <a:noFill/>
          <a:ln/>
        </p:spPr>
        <p:txBody>
          <a:bodyPr wrap="square" lIns="0" tIns="0" rIns="0" bIns="0" rtlCol="0" anchor="ctr"/>
          <a:lstStyle/>
          <a:p>
            <a:pPr indent="0" marL="0">
              <a:buNone/>
            </a:pPr>
            <a:r>
              <a:rPr lang="en-US" sz="1500" b="1" dirty="0">
                <a:solidFill>
                  <a:schemeClr val="tx2"/>
                </a:solidFill>
              </a:rPr>
              <a:t>Statistical and machine learning</a:t>
            </a:r>
            <a:endParaRPr lang="en-US" sz="1500" dirty="0"/>
          </a:p>
        </p:txBody>
      </p:sp>
      <p:sp>
        <p:nvSpPr>
          <p:cNvPr id="20" name="Text 14"/>
          <p:cNvSpPr txBox="1"/>
          <p:nvPr/>
        </p:nvSpPr>
        <p:spPr>
          <a:xfrm>
            <a:off x="6419088" y="3154680"/>
            <a:ext cx="2240280" cy="868680"/>
          </a:xfrm>
          <a:prstGeom prst="rect">
            <a:avLst/>
          </a:prstGeom>
          <a:noFill/>
          <a:ln/>
        </p:spPr>
        <p:txBody>
          <a:bodyPr wrap="square" lIns="0" tIns="0" rIns="0" bIns="0" rtlCol="0" anchor="t"/>
          <a:lstStyle/>
          <a:p>
            <a:pPr indent="0" marL="0">
              <a:buNone/>
            </a:pPr>
            <a:r>
              <a:rPr lang="en-US" sz="1350" dirty="0">
                <a:solidFill>
                  <a:schemeClr val="tx1"/>
                </a:solidFill>
              </a:rPr>
              <a:t>MLR, XGBoost, Isolation Forest, SHAP</a:t>
            </a:r>
            <a:endParaRPr lang="en-US" sz="1350" dirty="0"/>
          </a:p>
        </p:txBody>
      </p:sp>
      <p:sp>
        <p:nvSpPr>
          <p:cNvPr id="21" name="card"/>
          <p:cNvSpPr/>
          <p:nvPr/>
        </p:nvSpPr>
        <p:spPr>
          <a:xfrm>
            <a:off x="9052560" y="2240280"/>
            <a:ext cx="2606040" cy="1828800"/>
          </a:xfrm>
          <a:prstGeom prst="roundRect">
            <a:avLst>
              <a:gd name="adj" fmla="val 4000"/>
            </a:avLst>
          </a:prstGeom>
          <a:solidFill>
            <a:schemeClr val="bg2"/>
          </a:solidFill>
          <a:ln/>
        </p:spPr>
      </p:sp>
      <p:sp>
        <p:nvSpPr>
          <p:cNvPr id="22" name="icon circle"/>
          <p:cNvSpPr/>
          <p:nvPr/>
        </p:nvSpPr>
        <p:spPr>
          <a:xfrm>
            <a:off x="9253728" y="2423160"/>
            <a:ext cx="594360" cy="594360"/>
          </a:xfrm>
          <a:prstGeom prst="ellipse">
            <a:avLst/>
          </a:prstGeom>
          <a:solidFill>
            <a:schemeClr val="tx2"/>
          </a:solidFill>
          <a:ln/>
        </p:spPr>
      </p:sp>
      <p:pic>
        <p:nvPicPr>
          <p:cNvPr id="23" name="icon FaDice" descr="Dice icon">    </p:cNvPr>
          <p:cNvPicPr>
            <a:picLocks noChangeAspect="1"/>
          </p:cNvPicPr>
          <p:nvPr/>
        </p:nvPicPr>
        <p:blipFill>
          <a:blip r:embed="rId4"/>
          <a:stretch>
            <a:fillRect/>
          </a:stretch>
        </p:blipFill>
        <p:spPr>
          <a:xfrm>
            <a:off x="9396374" y="2565806"/>
            <a:ext cx="309067" cy="309067"/>
          </a:xfrm>
          <a:prstGeom prst="rect">
            <a:avLst/>
          </a:prstGeom>
        </p:spPr>
      </p:pic>
      <p:sp>
        <p:nvSpPr>
          <p:cNvPr id="24" name="Text 17"/>
          <p:cNvSpPr txBox="1"/>
          <p:nvPr/>
        </p:nvSpPr>
        <p:spPr>
          <a:xfrm>
            <a:off x="9966960" y="2377440"/>
            <a:ext cx="1600200" cy="685800"/>
          </a:xfrm>
          <a:prstGeom prst="rect">
            <a:avLst/>
          </a:prstGeom>
          <a:noFill/>
          <a:ln/>
        </p:spPr>
        <p:txBody>
          <a:bodyPr wrap="square" lIns="0" tIns="0" rIns="0" bIns="0" rtlCol="0" anchor="ctr"/>
          <a:lstStyle/>
          <a:p>
            <a:pPr indent="0" marL="0">
              <a:buNone/>
            </a:pPr>
            <a:r>
              <a:rPr lang="en-US" sz="1500" b="1" dirty="0">
                <a:solidFill>
                  <a:schemeClr val="tx2"/>
                </a:solidFill>
              </a:rPr>
              <a:t>Monte Carlo simulation</a:t>
            </a:r>
            <a:endParaRPr lang="en-US" sz="1500" dirty="0"/>
          </a:p>
        </p:txBody>
      </p:sp>
      <p:sp>
        <p:nvSpPr>
          <p:cNvPr id="25" name="Text 18"/>
          <p:cNvSpPr txBox="1"/>
          <p:nvPr/>
        </p:nvSpPr>
        <p:spPr>
          <a:xfrm>
            <a:off x="9253728" y="3154680"/>
            <a:ext cx="2240280" cy="868680"/>
          </a:xfrm>
          <a:prstGeom prst="rect">
            <a:avLst/>
          </a:prstGeom>
          <a:noFill/>
          <a:ln/>
        </p:spPr>
        <p:txBody>
          <a:bodyPr wrap="square" lIns="0" tIns="0" rIns="0" bIns="0" rtlCol="0" anchor="t"/>
          <a:lstStyle/>
          <a:p>
            <a:pPr indent="0" marL="0">
              <a:buNone/>
            </a:pPr>
            <a:r>
              <a:rPr lang="en-US" sz="1350" dirty="0">
                <a:solidFill>
                  <a:schemeClr val="tx1"/>
                </a:solidFill>
              </a:rPr>
              <a:t>SBD-300 benchmark with known overpricing</a:t>
            </a:r>
            <a:endParaRPr lang="en-US" sz="1350" dirty="0"/>
          </a:p>
        </p:txBody>
      </p:sp>
      <p:pic>
        <p:nvPicPr>
          <p:cNvPr id="26" name="diagram_method.png" descr="Methodological paradigm">    </p:cNvPr>
          <p:cNvPicPr>
            <a:picLocks noChangeAspect="1"/>
          </p:cNvPicPr>
          <p:nvPr/>
        </p:nvPicPr>
        <p:blipFill>
          <a:blip r:embed="rId5"/>
          <a:stretch>
            <a:fillRect/>
          </a:stretch>
        </p:blipFill>
        <p:spPr>
          <a:xfrm>
            <a:off x="2166910" y="4251960"/>
            <a:ext cx="7855131" cy="2011680"/>
          </a:xfrm>
          <a:prstGeom prst="rect">
            <a:avLst/>
          </a:prstGeom>
        </p:spPr>
      </p:pic>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229600" cy="292608"/>
          </a:xfrm>
          <a:prstGeom prst="rect">
            <a:avLst/>
          </a:prstGeom>
          <a:noFill/>
          <a:ln/>
        </p:spPr>
        <p:txBody>
          <a:bodyPr wrap="square" lIns="0" tIns="0" rIns="0" bIns="0" rtlCol="0"/>
          <a:lstStyle/>
          <a:p>
            <a:pPr indent="0" marL="0">
              <a:buNone/>
            </a:pPr>
            <a:r>
              <a:rPr lang="en-US" sz="1200" b="1" spc="200" kern="0" dirty="0">
                <a:solidFill>
                  <a:schemeClr val="accent5"/>
                </a:solidFill>
              </a:rPr>
              <a:t>RESEARCH LOCALE AND DATA SOURCES</a:t>
            </a:r>
            <a:endParaRPr lang="en-US" sz="1200" dirty="0"/>
          </a:p>
        </p:txBody>
      </p:sp>
      <p:sp>
        <p:nvSpPr>
          <p:cNvPr id="3" name="Text 0"/>
          <p:cNvSpPr/>
          <p:nvPr>
            <p:ph idx="101" type="title" hasCustomPrompt="1"/>
          </p:nvPr>
        </p:nvSpPr>
        <p:spPr>
          <a:xfrm>
            <a:off x="548640" y="53035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Bicol Region V, Standards and Prices</a:t>
            </a:r>
            <a:endParaRPr lang="en-US" sz="3200" dirty="0"/>
          </a:p>
        </p:txBody>
      </p:sp>
      <p:graphicFrame>
        <p:nvGraphicFramePr>
          <p:cNvPr id="20" name="locale table"/>
          <p:cNvGraphicFramePr>
            <a:graphicFrameLocks noGrp="1"/>
          </p:cNvGraphicFramePr>
          <p:nvPr>
            <p:extLst>
              <p:ext uri="{D42A27DB-BD31-4B8C-83A1-F6EECF244321}">
                <p14:modId xmlns:p14="http://schemas.microsoft.com/office/powerpoint/2010/main" val="1579011935"/>
              </p:ext>
            </p:extLst>
          </p:nvPr>
        </p:nvGraphicFramePr>
        <p:xfrm>
          <a:off x="548640" y="1508760"/>
          <a:ext cx="5120640" cy="914400"/>
        </p:xfrm>
        <a:graphic>
          <a:graphicData uri="http://schemas.openxmlformats.org/drawingml/2006/table">
            <a:tbl>
              <a:tblPr/>
              <a:tblGrid>
                <a:gridCol w="2194560"/>
                <a:gridCol w="1371600"/>
                <a:gridCol w="1554480"/>
              </a:tblGrid>
              <a:tr h="43891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Province</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2345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Location factor</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2345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Cost index</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2345A"/>
                    </a:solidFill>
                  </a:tcPr>
                </a:tc>
              </a:tr>
              <a:tr h="438912">
                <a:tc>
                  <a:txBody>
                    <a:bodyPr/>
                    <a:lstStyle/>
                    <a:p>
                      <a:pPr indent="0" marL="0">
                        <a:buNone/>
                      </a:pPr>
                      <a:r>
                        <a:rPr lang="en-US" sz="1400" b="1" dirty="0">
                          <a:solidFill>
                            <a:srgbClr val="12345A"/>
                          </a:solidFill>
                          <a:latin typeface="Calibri" pitchFamily="34" charset="0"/>
                          <a:ea typeface="Calibri" pitchFamily="34" charset="-122"/>
                          <a:cs typeface="Calibri" pitchFamily="34" charset="-120"/>
                        </a:rPr>
                        <a:t>Albay</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400" dirty="0">
                          <a:solidFill>
                            <a:srgbClr val="14202E"/>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400" dirty="0">
                          <a:solidFill>
                            <a:srgbClr val="14202E"/>
                          </a:solidFill>
                          <a:latin typeface="Calibri" pitchFamily="34" charset="0"/>
                          <a:ea typeface="Calibri" pitchFamily="34" charset="-122"/>
                          <a:cs typeface="Calibri" pitchFamily="34" charset="-120"/>
                        </a:rPr>
                        <a:t>0.90 (2022)</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400" b="1" dirty="0">
                          <a:solidFill>
                            <a:srgbClr val="12345A"/>
                          </a:solidFill>
                          <a:latin typeface="Calibri" pitchFamily="34" charset="0"/>
                          <a:ea typeface="Calibri" pitchFamily="34" charset="-122"/>
                          <a:cs typeface="Calibri" pitchFamily="34" charset="-120"/>
                        </a:rPr>
                        <a:t>Camarines Sur</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400" dirty="0">
                          <a:solidFill>
                            <a:srgbClr val="14202E"/>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400" dirty="0">
                          <a:solidFill>
                            <a:srgbClr val="14202E"/>
                          </a:solidFill>
                          <a:latin typeface="Calibri" pitchFamily="34" charset="0"/>
                          <a:ea typeface="Calibri" pitchFamily="34" charset="-122"/>
                          <a:cs typeface="Calibri" pitchFamily="34" charset="-120"/>
                        </a:rPr>
                        <a:t>0.94 (2023)</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400" b="1" dirty="0">
                          <a:solidFill>
                            <a:srgbClr val="12345A"/>
                          </a:solidFill>
                          <a:latin typeface="Calibri" pitchFamily="34" charset="0"/>
                          <a:ea typeface="Calibri" pitchFamily="34" charset="-122"/>
                          <a:cs typeface="Calibri" pitchFamily="34" charset="-120"/>
                        </a:rPr>
                        <a:t>Camarines Norte</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400" dirty="0">
                          <a:solidFill>
                            <a:srgbClr val="14202E"/>
                          </a:solidFill>
                          <a:latin typeface="Calibri" pitchFamily="34" charset="0"/>
                          <a:ea typeface="Calibri" pitchFamily="34" charset="-122"/>
                          <a:cs typeface="Calibri" pitchFamily="34" charset="-120"/>
                        </a:rPr>
                        <a:t>1.03</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400" dirty="0">
                          <a:solidFill>
                            <a:srgbClr val="14202E"/>
                          </a:solidFill>
                          <a:latin typeface="Calibri" pitchFamily="34" charset="0"/>
                          <a:ea typeface="Calibri" pitchFamily="34" charset="-122"/>
                          <a:cs typeface="Calibri" pitchFamily="34" charset="-120"/>
                        </a:rPr>
                        <a:t>0.97 (2024)</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400" b="1" dirty="0">
                          <a:solidFill>
                            <a:srgbClr val="12345A"/>
                          </a:solidFill>
                          <a:latin typeface="Calibri" pitchFamily="34" charset="0"/>
                          <a:ea typeface="Calibri" pitchFamily="34" charset="-122"/>
                          <a:cs typeface="Calibri" pitchFamily="34" charset="-120"/>
                        </a:rPr>
                        <a:t>Sorsogon</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400" dirty="0">
                          <a:solidFill>
                            <a:srgbClr val="14202E"/>
                          </a:solidFill>
                          <a:latin typeface="Calibri" pitchFamily="34" charset="0"/>
                          <a:ea typeface="Calibri" pitchFamily="34" charset="-122"/>
                          <a:cs typeface="Calibri" pitchFamily="34" charset="-120"/>
                        </a:rPr>
                        <a:t>1.03</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400" dirty="0">
                          <a:solidFill>
                            <a:srgbClr val="14202E"/>
                          </a:solidFill>
                          <a:latin typeface="Calibri" pitchFamily="34" charset="0"/>
                          <a:ea typeface="Calibri" pitchFamily="34" charset="-122"/>
                          <a:cs typeface="Calibri" pitchFamily="34" charset="-120"/>
                        </a:rPr>
                        <a:t>1.00 (2025)</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400" b="1" dirty="0">
                          <a:solidFill>
                            <a:srgbClr val="12345A"/>
                          </a:solidFill>
                          <a:latin typeface="Calibri" pitchFamily="34" charset="0"/>
                          <a:ea typeface="Calibri" pitchFamily="34" charset="-122"/>
                          <a:cs typeface="Calibri" pitchFamily="34" charset="-120"/>
                        </a:rPr>
                        <a:t>Masbate</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400" dirty="0">
                          <a:solidFill>
                            <a:srgbClr val="14202E"/>
                          </a:solidFill>
                          <a:latin typeface="Calibri" pitchFamily="34" charset="0"/>
                          <a:ea typeface="Calibri" pitchFamily="34" charset="-122"/>
                          <a:cs typeface="Calibri" pitchFamily="34" charset="-120"/>
                        </a:rPr>
                        <a:t>1.10</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400" dirty="0">
                          <a:solidFill>
                            <a:srgbClr val="14202E"/>
                          </a:solidFill>
                          <a:latin typeface="Calibri" pitchFamily="34" charset="0"/>
                          <a:ea typeface="Calibri" pitchFamily="34" charset="-122"/>
                          <a:cs typeface="Calibri" pitchFamily="34" charset="-120"/>
                        </a:rPr>
                        <a:t>1.03 (2026)</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38912">
                <a:tc>
                  <a:txBody>
                    <a:bodyPr/>
                    <a:lstStyle/>
                    <a:p>
                      <a:pPr indent="0" marL="0">
                        <a:buNone/>
                      </a:pPr>
                      <a:r>
                        <a:rPr lang="en-US" sz="1400" b="1" dirty="0">
                          <a:solidFill>
                            <a:srgbClr val="12345A"/>
                          </a:solidFill>
                          <a:latin typeface="Calibri" pitchFamily="34" charset="0"/>
                          <a:ea typeface="Calibri" pitchFamily="34" charset="-122"/>
                          <a:cs typeface="Calibri" pitchFamily="34" charset="-120"/>
                        </a:rPr>
                        <a:t>Catanduanes</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400" dirty="0">
                          <a:solidFill>
                            <a:srgbClr val="14202E"/>
                          </a:solidFill>
                          <a:latin typeface="Calibri" pitchFamily="34" charset="0"/>
                          <a:ea typeface="Calibri" pitchFamily="34" charset="-122"/>
                          <a:cs typeface="Calibri" pitchFamily="34" charset="-120"/>
                        </a:rPr>
                        <a:t>1.12</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r" indent="0" marL="0">
                        <a:buNone/>
                      </a:pPr>
                      <a:r>
                        <a:rPr lang="en-US" sz="1400" dirty="0">
                          <a:solidFill>
                            <a:srgbClr val="14202E"/>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6" name="Text 2"/>
          <p:cNvSpPr txBox="1"/>
          <p:nvPr/>
        </p:nvSpPr>
        <p:spPr>
          <a:xfrm>
            <a:off x="548640" y="4754880"/>
            <a:ext cx="5120640" cy="548640"/>
          </a:xfrm>
          <a:prstGeom prst="rect">
            <a:avLst/>
          </a:prstGeom>
          <a:noFill/>
          <a:ln/>
        </p:spPr>
        <p:txBody>
          <a:bodyPr wrap="square" lIns="0" tIns="0" rIns="0" bIns="0" rtlCol="0" anchor="t"/>
          <a:lstStyle/>
          <a:p>
            <a:pPr indent="0" marL="0">
              <a:buNone/>
            </a:pPr>
            <a:r>
              <a:rPr lang="en-US" sz="1300" i="1" dirty="0">
                <a:solidFill>
                  <a:srgbClr val="6B7A8C"/>
                </a:solidFill>
              </a:rPr>
              <a:t>Location factors and yearly cost index bring each price to 2025 Albay levels.</a:t>
            </a:r>
            <a:endParaRPr lang="en-US" sz="1300" dirty="0"/>
          </a:p>
        </p:txBody>
      </p:sp>
      <p:sp>
        <p:nvSpPr>
          <p:cNvPr id="7" name="card"/>
          <p:cNvSpPr/>
          <p:nvPr/>
        </p:nvSpPr>
        <p:spPr>
          <a:xfrm>
            <a:off x="5943600" y="1508760"/>
            <a:ext cx="5696712" cy="4709160"/>
          </a:xfrm>
          <a:prstGeom prst="roundRect">
            <a:avLst>
              <a:gd name="adj" fmla="val 1553"/>
            </a:avLst>
          </a:prstGeom>
          <a:solidFill>
            <a:schemeClr val="bg2"/>
          </a:solidFill>
          <a:ln/>
        </p:spPr>
      </p:sp>
      <p:sp>
        <p:nvSpPr>
          <p:cNvPr id="8" name="icon circle"/>
          <p:cNvSpPr/>
          <p:nvPr/>
        </p:nvSpPr>
        <p:spPr>
          <a:xfrm>
            <a:off x="6172200" y="1691640"/>
            <a:ext cx="594360" cy="594360"/>
          </a:xfrm>
          <a:prstGeom prst="ellipse">
            <a:avLst/>
          </a:prstGeom>
          <a:solidFill>
            <a:schemeClr val="tx2"/>
          </a:solidFill>
          <a:ln/>
        </p:spPr>
      </p:sp>
      <p:pic>
        <p:nvPicPr>
          <p:cNvPr id="9" name="icon FaBookBookmark" descr="BookBookmark icon">    </p:cNvPr>
          <p:cNvPicPr>
            <a:picLocks noChangeAspect="1"/>
          </p:cNvPicPr>
          <p:nvPr/>
        </p:nvPicPr>
        <p:blipFill>
          <a:blip r:embed="rId1"/>
          <a:stretch>
            <a:fillRect/>
          </a:stretch>
        </p:blipFill>
        <p:spPr>
          <a:xfrm>
            <a:off x="6314846" y="1834286"/>
            <a:ext cx="309067" cy="309067"/>
          </a:xfrm>
          <a:prstGeom prst="rect">
            <a:avLst/>
          </a:prstGeom>
        </p:spPr>
      </p:pic>
      <p:sp>
        <p:nvSpPr>
          <p:cNvPr id="10" name="Text 5"/>
          <p:cNvSpPr txBox="1"/>
          <p:nvPr/>
        </p:nvSpPr>
        <p:spPr>
          <a:xfrm>
            <a:off x="6949440" y="1691640"/>
            <a:ext cx="4480560" cy="594360"/>
          </a:xfrm>
          <a:prstGeom prst="rect">
            <a:avLst/>
          </a:prstGeom>
          <a:noFill/>
          <a:ln/>
        </p:spPr>
        <p:txBody>
          <a:bodyPr wrap="square" lIns="0" tIns="0" rIns="0" bIns="0" rtlCol="0" anchor="ctr"/>
          <a:lstStyle/>
          <a:p>
            <a:pPr indent="0" marL="0">
              <a:buNone/>
            </a:pPr>
            <a:r>
              <a:rPr lang="en-US" sz="1800" b="1" dirty="0">
                <a:solidFill>
                  <a:schemeClr val="tx2"/>
                </a:solidFill>
              </a:rPr>
              <a:t>Standards codified</a:t>
            </a:r>
            <a:endParaRPr lang="en-US" sz="1800" dirty="0"/>
          </a:p>
        </p:txBody>
      </p:sp>
      <p:sp>
        <p:nvSpPr>
          <p:cNvPr id="11" name="Text 6"/>
          <p:cNvSpPr txBox="1"/>
          <p:nvPr/>
        </p:nvSpPr>
        <p:spPr>
          <a:xfrm>
            <a:off x="6172200" y="2423160"/>
            <a:ext cx="5303520" cy="3657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NSCP 2015 Vol. I (buildings); AASHTO LRFD 9th ed. (bridges)</a:t>
            </a:r>
            <a:endParaRPr lang="en-US" sz="1400" dirty="0"/>
          </a:p>
          <a:p>
            <a:pPr marL="342900" indent="-342900">
              <a:spcAft>
                <a:spcPts val="600"/>
              </a:spcAft>
              <a:buSzPct val="100000"/>
              <a:buChar char="•"/>
            </a:pPr>
            <a:r>
              <a:rPr lang="en-US" sz="1400" dirty="0">
                <a:solidFill>
                  <a:schemeClr val="tx1"/>
                </a:solidFill>
              </a:rPr>
              <a:t>DPWH Standard Specifications Vol. II (2013) and Vol. III (2019)</a:t>
            </a:r>
            <a:endParaRPr lang="en-US" sz="1400" dirty="0"/>
          </a:p>
          <a:p>
            <a:pPr marL="342900" indent="-342900">
              <a:spcAft>
                <a:spcPts val="600"/>
              </a:spcAft>
              <a:buSzPct val="100000"/>
              <a:buChar char="•"/>
            </a:pPr>
            <a:r>
              <a:rPr lang="en-US" sz="1400" dirty="0">
                <a:solidFill>
                  <a:schemeClr val="tx1"/>
                </a:solidFill>
              </a:rPr>
              <a:t>DPWH D.O. 197 s. 2016 and D.O. 30 s. 2025 (indirect costs)</a:t>
            </a:r>
            <a:endParaRPr lang="en-US" sz="1400" dirty="0"/>
          </a:p>
          <a:p>
            <a:pPr marL="342900" indent="-342900">
              <a:spcAft>
                <a:spcPts val="600"/>
              </a:spcAft>
              <a:buSzPct val="100000"/>
              <a:buChar char="•"/>
            </a:pPr>
            <a:r>
              <a:rPr lang="en-US" sz="1400" dirty="0">
                <a:solidFill>
                  <a:schemeClr val="tx1"/>
                </a:solidFill>
              </a:rPr>
              <a:t>PD 1096, BP 344 accessibility, RA 9514 fire code</a:t>
            </a:r>
            <a:endParaRPr lang="en-US" sz="1400" dirty="0"/>
          </a:p>
          <a:p>
            <a:pPr marL="342900" indent="-342900">
              <a:spcAft>
                <a:spcPts val="600"/>
              </a:spcAft>
              <a:buSzPct val="100000"/>
              <a:buChar char="•"/>
            </a:pPr>
            <a:r>
              <a:rPr lang="en-US" sz="1400" dirty="0">
                <a:solidFill>
                  <a:schemeClr val="tx1"/>
                </a:solidFill>
              </a:rPr>
              <a:t>DepEd Educational Facilities Manual; DOH AO 2016-0042; Sphere</a:t>
            </a:r>
            <a:endParaRPr lang="en-US" sz="1400" dirty="0"/>
          </a:p>
          <a:p>
            <a:pPr marL="342900" indent="-342900">
              <a:spcAft>
                <a:spcPts val="600"/>
              </a:spcAft>
              <a:buSzPct val="100000"/>
              <a:buChar char="•"/>
            </a:pPr>
            <a:r>
              <a:rPr lang="en-US" sz="1400" dirty="0">
                <a:solidFill>
                  <a:schemeClr val="tx1"/>
                </a:solidFill>
              </a:rPr>
              <a:t>BUHAY-AH price book: DPWH pay items and 2025 unit costs</a:t>
            </a:r>
            <a:endParaRPr lang="en-US" sz="1400" dirty="0"/>
          </a:p>
        </p:txBody>
      </p:sp>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229600" cy="292608"/>
          </a:xfrm>
          <a:prstGeom prst="rect">
            <a:avLst/>
          </a:prstGeom>
          <a:noFill/>
          <a:ln/>
        </p:spPr>
        <p:txBody>
          <a:bodyPr wrap="square" lIns="0" tIns="0" rIns="0" bIns="0" rtlCol="0"/>
          <a:lstStyle/>
          <a:p>
            <a:pPr indent="0" marL="0">
              <a:buNone/>
            </a:pPr>
            <a:r>
              <a:rPr lang="en-US" sz="1200" b="1" spc="200" kern="0" dirty="0">
                <a:solidFill>
                  <a:schemeClr val="accent5"/>
                </a:solidFill>
              </a:rPr>
              <a:t>RESEARCH INSTRUMENTS</a:t>
            </a:r>
            <a:endParaRPr lang="en-US" sz="1200" dirty="0"/>
          </a:p>
        </p:txBody>
      </p:sp>
      <p:sp>
        <p:nvSpPr>
          <p:cNvPr id="3" name="Text 0"/>
          <p:cNvSpPr/>
          <p:nvPr>
            <p:ph idx="101" type="title" hasCustomPrompt="1"/>
          </p:nvPr>
        </p:nvSpPr>
        <p:spPr>
          <a:xfrm>
            <a:off x="548640" y="53035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Plan Variables Extracted</a:t>
            </a:r>
            <a:endParaRPr lang="en-US" sz="3200" dirty="0"/>
          </a:p>
        </p:txBody>
      </p:sp>
      <p:graphicFrame>
        <p:nvGraphicFramePr>
          <p:cNvPr id="21" name="building variables"/>
          <p:cNvGraphicFramePr>
            <a:graphicFrameLocks noGrp="1"/>
          </p:cNvGraphicFramePr>
          <p:nvPr>
            <p:extLst>
              <p:ext uri="{D42A27DB-BD31-4B8C-83A1-F6EECF244321}">
                <p14:modId xmlns:p14="http://schemas.microsoft.com/office/powerpoint/2010/main" val="1579011935"/>
              </p:ext>
            </p:extLst>
          </p:nvPr>
        </p:nvGraphicFramePr>
        <p:xfrm>
          <a:off x="548640" y="1508760"/>
          <a:ext cx="5394960" cy="914400"/>
        </p:xfrm>
        <a:graphic>
          <a:graphicData uri="http://schemas.openxmlformats.org/drawingml/2006/table">
            <a:tbl>
              <a:tblPr/>
              <a:tblGrid>
                <a:gridCol w="4023360"/>
                <a:gridCol w="1371600"/>
              </a:tblGrid>
              <a:tr h="42062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Building variables (9)</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2345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Unit</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2345A"/>
                    </a:solidFill>
                  </a:tcPr>
                </a:tc>
              </a:tr>
              <a:tr h="420624">
                <a:tc>
                  <a:txBody>
                    <a:bodyPr/>
                    <a:lstStyle/>
                    <a:p>
                      <a:pPr indent="0" marL="0">
                        <a:buNone/>
                      </a:pPr>
                      <a:r>
                        <a:rPr lang="en-US" sz="1400" dirty="0">
                          <a:solidFill>
                            <a:srgbClr val="14202E"/>
                          </a:solidFill>
                          <a:latin typeface="Calibri" pitchFamily="34" charset="0"/>
                          <a:ea typeface="Calibri" pitchFamily="34" charset="-122"/>
                          <a:cs typeface="Calibri" pitchFamily="34" charset="-120"/>
                        </a:rPr>
                        <a:t>Gross floor area, footprint</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400" dirty="0">
                          <a:solidFill>
                            <a:srgbClr val="14202E"/>
                          </a:solidFill>
                          <a:latin typeface="Calibri" pitchFamily="34" charset="0"/>
                          <a:ea typeface="Calibri" pitchFamily="34" charset="-122"/>
                          <a:cs typeface="Calibri" pitchFamily="34" charset="-120"/>
                        </a:rPr>
                        <a:t>m²</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0624">
                <a:tc>
                  <a:txBody>
                    <a:bodyPr/>
                    <a:lstStyle/>
                    <a:p>
                      <a:pPr indent="0" marL="0">
                        <a:buNone/>
                      </a:pPr>
                      <a:r>
                        <a:rPr lang="en-US" sz="1400" dirty="0">
                          <a:solidFill>
                            <a:srgbClr val="14202E"/>
                          </a:solidFill>
                          <a:latin typeface="Calibri" pitchFamily="34" charset="0"/>
                          <a:ea typeface="Calibri" pitchFamily="34" charset="-122"/>
                          <a:cs typeface="Calibri" pitchFamily="34" charset="-120"/>
                        </a:rPr>
                        <a:t>Number of storeys</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400" dirty="0">
                          <a:solidFill>
                            <a:srgbClr val="14202E"/>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0624">
                <a:tc>
                  <a:txBody>
                    <a:bodyPr/>
                    <a:lstStyle/>
                    <a:p>
                      <a:pPr indent="0" marL="0">
                        <a:buNone/>
                      </a:pPr>
                      <a:r>
                        <a:rPr lang="en-US" sz="1400" dirty="0">
                          <a:solidFill>
                            <a:srgbClr val="14202E"/>
                          </a:solidFill>
                          <a:latin typeface="Calibri" pitchFamily="34" charset="0"/>
                          <a:ea typeface="Calibri" pitchFamily="34" charset="-122"/>
                          <a:cs typeface="Calibri" pitchFamily="34" charset="-120"/>
                        </a:rPr>
                        <a:t>Structural span (bay)</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400" dirty="0">
                          <a:solidFill>
                            <a:srgbClr val="14202E"/>
                          </a:solidFill>
                          <a:latin typeface="Calibri" pitchFamily="34" charset="0"/>
                          <a:ea typeface="Calibri" pitchFamily="34" charset="-122"/>
                          <a:cs typeface="Calibri" pitchFamily="34" charset="-120"/>
                        </a:rPr>
                        <a:t>m</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0624">
                <a:tc>
                  <a:txBody>
                    <a:bodyPr/>
                    <a:lstStyle/>
                    <a:p>
                      <a:pPr indent="0" marL="0">
                        <a:buNone/>
                      </a:pPr>
                      <a:r>
                        <a:rPr lang="en-US" sz="1400" dirty="0">
                          <a:solidFill>
                            <a:srgbClr val="14202E"/>
                          </a:solidFill>
                          <a:latin typeface="Calibri" pitchFamily="34" charset="0"/>
                          <a:ea typeface="Calibri" pitchFamily="34" charset="-122"/>
                          <a:cs typeface="Calibri" pitchFamily="34" charset="-120"/>
                        </a:rPr>
                        <a:t>Floor-to-floor height</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400" dirty="0">
                          <a:solidFill>
                            <a:srgbClr val="14202E"/>
                          </a:solidFill>
                          <a:latin typeface="Calibri" pitchFamily="34" charset="0"/>
                          <a:ea typeface="Calibri" pitchFamily="34" charset="-122"/>
                          <a:cs typeface="Calibri" pitchFamily="34" charset="-120"/>
                        </a:rPr>
                        <a:t>m</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0624">
                <a:tc>
                  <a:txBody>
                    <a:bodyPr/>
                    <a:lstStyle/>
                    <a:p>
                      <a:pPr indent="0" marL="0">
                        <a:buNone/>
                      </a:pPr>
                      <a:r>
                        <a:rPr lang="en-US" sz="1400" dirty="0">
                          <a:solidFill>
                            <a:srgbClr val="14202E"/>
                          </a:solidFill>
                          <a:latin typeface="Calibri" pitchFamily="34" charset="0"/>
                          <a:ea typeface="Calibri" pitchFamily="34" charset="-122"/>
                          <a:cs typeface="Calibri" pitchFamily="34" charset="-120"/>
                        </a:rPr>
                        <a:t>Facility type, roof system</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400" dirty="0">
                          <a:solidFill>
                            <a:srgbClr val="14202E"/>
                          </a:solidFill>
                          <a:latin typeface="Calibri" pitchFamily="34" charset="0"/>
                          <a:ea typeface="Calibri" pitchFamily="34" charset="-122"/>
                          <a:cs typeface="Calibri" pitchFamily="34" charset="-120"/>
                        </a:rPr>
                        <a:t>category</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0624">
                <a:tc>
                  <a:txBody>
                    <a:bodyPr/>
                    <a:lstStyle/>
                    <a:p>
                      <a:pPr indent="0" marL="0">
                        <a:buNone/>
                      </a:pPr>
                      <a:r>
                        <a:rPr lang="en-US" sz="1400" dirty="0">
                          <a:solidFill>
                            <a:srgbClr val="14202E"/>
                          </a:solidFill>
                          <a:latin typeface="Calibri" pitchFamily="34" charset="0"/>
                          <a:ea typeface="Calibri" pitchFamily="34" charset="-122"/>
                          <a:cs typeface="Calibri" pitchFamily="34" charset="-120"/>
                        </a:rPr>
                        <a:t>Location factor, cost index</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400" dirty="0">
                          <a:solidFill>
                            <a:srgbClr val="14202E"/>
                          </a:solidFill>
                          <a:latin typeface="Calibri" pitchFamily="34" charset="0"/>
                          <a:ea typeface="Calibri" pitchFamily="34" charset="-122"/>
                          <a:cs typeface="Calibri" pitchFamily="34" charset="-120"/>
                        </a:rPr>
                        <a:t>factor</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graphicFrame>
        <p:nvGraphicFramePr>
          <p:cNvPr id="41" name="bridge variables"/>
          <p:cNvGraphicFramePr>
            <a:graphicFrameLocks noGrp="1"/>
          </p:cNvGraphicFramePr>
          <p:nvPr>
            <p:extLst>
              <p:ext uri="{D42A27DB-BD31-4B8C-83A1-F6EECF244321}">
                <p14:modId xmlns:p14="http://schemas.microsoft.com/office/powerpoint/2010/main" val="1579011935"/>
              </p:ext>
            </p:extLst>
          </p:nvPr>
        </p:nvGraphicFramePr>
        <p:xfrm>
          <a:off x="6245352" y="1508760"/>
          <a:ext cx="5394960" cy="914400"/>
        </p:xfrm>
        <a:graphic>
          <a:graphicData uri="http://schemas.openxmlformats.org/drawingml/2006/table">
            <a:tbl>
              <a:tblPr/>
              <a:tblGrid>
                <a:gridCol w="4023360"/>
                <a:gridCol w="1371600"/>
              </a:tblGrid>
              <a:tr h="42062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Bridge variables (11)</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2345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Unit</a:t>
                      </a:r>
                      <a:endParaRPr lang="en-US" sz="13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2345A"/>
                    </a:solidFill>
                  </a:tcPr>
                </a:tc>
              </a:tr>
              <a:tr h="420624">
                <a:tc>
                  <a:txBody>
                    <a:bodyPr/>
                    <a:lstStyle/>
                    <a:p>
                      <a:pPr indent="0" marL="0">
                        <a:buNone/>
                      </a:pPr>
                      <a:r>
                        <a:rPr lang="en-US" sz="1400" dirty="0">
                          <a:solidFill>
                            <a:srgbClr val="14202E"/>
                          </a:solidFill>
                          <a:latin typeface="Calibri" pitchFamily="34" charset="0"/>
                          <a:ea typeface="Calibri" pitchFamily="34" charset="-122"/>
                          <a:cs typeface="Calibri" pitchFamily="34" charset="-120"/>
                        </a:rPr>
                        <a:t>Total length, span length</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400" dirty="0">
                          <a:solidFill>
                            <a:srgbClr val="14202E"/>
                          </a:solidFill>
                          <a:latin typeface="Calibri" pitchFamily="34" charset="0"/>
                          <a:ea typeface="Calibri" pitchFamily="34" charset="-122"/>
                          <a:cs typeface="Calibri" pitchFamily="34" charset="-120"/>
                        </a:rPr>
                        <a:t>m</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0624">
                <a:tc>
                  <a:txBody>
                    <a:bodyPr/>
                    <a:lstStyle/>
                    <a:p>
                      <a:pPr indent="0" marL="0">
                        <a:buNone/>
                      </a:pPr>
                      <a:r>
                        <a:rPr lang="en-US" sz="1400" dirty="0">
                          <a:solidFill>
                            <a:srgbClr val="14202E"/>
                          </a:solidFill>
                          <a:latin typeface="Calibri" pitchFamily="34" charset="0"/>
                          <a:ea typeface="Calibri" pitchFamily="34" charset="-122"/>
                          <a:cs typeface="Calibri" pitchFamily="34" charset="-120"/>
                        </a:rPr>
                        <a:t>Deck width, deck area</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400" dirty="0">
                          <a:solidFill>
                            <a:srgbClr val="14202E"/>
                          </a:solidFill>
                          <a:latin typeface="Calibri" pitchFamily="34" charset="0"/>
                          <a:ea typeface="Calibri" pitchFamily="34" charset="-122"/>
                          <a:cs typeface="Calibri" pitchFamily="34" charset="-120"/>
                        </a:rPr>
                        <a:t>m, m²</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0624">
                <a:tc>
                  <a:txBody>
                    <a:bodyPr/>
                    <a:lstStyle/>
                    <a:p>
                      <a:pPr indent="0" marL="0">
                        <a:buNone/>
                      </a:pPr>
                      <a:r>
                        <a:rPr lang="en-US" sz="1400" dirty="0">
                          <a:solidFill>
                            <a:srgbClr val="14202E"/>
                          </a:solidFill>
                          <a:latin typeface="Calibri" pitchFamily="34" charset="0"/>
                          <a:ea typeface="Calibri" pitchFamily="34" charset="-122"/>
                          <a:cs typeface="Calibri" pitchFamily="34" charset="-120"/>
                        </a:rPr>
                        <a:t>Pier and abutment heights</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400" dirty="0">
                          <a:solidFill>
                            <a:srgbClr val="14202E"/>
                          </a:solidFill>
                          <a:latin typeface="Calibri" pitchFamily="34" charset="0"/>
                          <a:ea typeface="Calibri" pitchFamily="34" charset="-122"/>
                          <a:cs typeface="Calibri" pitchFamily="34" charset="-120"/>
                        </a:rPr>
                        <a:t>m</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0624">
                <a:tc>
                  <a:txBody>
                    <a:bodyPr/>
                    <a:lstStyle/>
                    <a:p>
                      <a:pPr indent="0" marL="0">
                        <a:buNone/>
                      </a:pPr>
                      <a:r>
                        <a:rPr lang="en-US" sz="1400" dirty="0">
                          <a:solidFill>
                            <a:srgbClr val="14202E"/>
                          </a:solidFill>
                          <a:latin typeface="Calibri" pitchFamily="34" charset="0"/>
                          <a:ea typeface="Calibri" pitchFamily="34" charset="-122"/>
                          <a:cs typeface="Calibri" pitchFamily="34" charset="-120"/>
                        </a:rPr>
                        <a:t>Superstructure type</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400" dirty="0">
                          <a:solidFill>
                            <a:srgbClr val="14202E"/>
                          </a:solidFill>
                          <a:latin typeface="Calibri" pitchFamily="34" charset="0"/>
                          <a:ea typeface="Calibri" pitchFamily="34" charset="-122"/>
                          <a:cs typeface="Calibri" pitchFamily="34" charset="-120"/>
                        </a:rPr>
                        <a:t>category</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0624">
                <a:tc>
                  <a:txBody>
                    <a:bodyPr/>
                    <a:lstStyle/>
                    <a:p>
                      <a:pPr indent="0" marL="0">
                        <a:buNone/>
                      </a:pPr>
                      <a:r>
                        <a:rPr lang="en-US" sz="1400" dirty="0">
                          <a:solidFill>
                            <a:srgbClr val="14202E"/>
                          </a:solidFill>
                          <a:latin typeface="Calibri" pitchFamily="34" charset="0"/>
                          <a:ea typeface="Calibri" pitchFamily="34" charset="-122"/>
                          <a:cs typeface="Calibri" pitchFamily="34" charset="-120"/>
                        </a:rPr>
                        <a:t>Foundation type, pile length</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400" dirty="0">
                          <a:solidFill>
                            <a:srgbClr val="14202E"/>
                          </a:solidFill>
                          <a:latin typeface="Calibri" pitchFamily="34" charset="0"/>
                          <a:ea typeface="Calibri" pitchFamily="34" charset="-122"/>
                          <a:cs typeface="Calibri" pitchFamily="34" charset="-120"/>
                        </a:rPr>
                        <a:t>category, m</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0624">
                <a:tc>
                  <a:txBody>
                    <a:bodyPr/>
                    <a:lstStyle/>
                    <a:p>
                      <a:pPr indent="0" marL="0">
                        <a:buNone/>
                      </a:pPr>
                      <a:r>
                        <a:rPr lang="en-US" sz="1400" dirty="0">
                          <a:solidFill>
                            <a:srgbClr val="14202E"/>
                          </a:solidFill>
                          <a:latin typeface="Calibri" pitchFamily="34" charset="0"/>
                          <a:ea typeface="Calibri" pitchFamily="34" charset="-122"/>
                          <a:cs typeface="Calibri" pitchFamily="34" charset="-120"/>
                        </a:rPr>
                        <a:t>Location factor, cost index</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400" dirty="0">
                          <a:solidFill>
                            <a:srgbClr val="14202E"/>
                          </a:solidFill>
                          <a:latin typeface="Calibri" pitchFamily="34" charset="0"/>
                          <a:ea typeface="Calibri" pitchFamily="34" charset="-122"/>
                          <a:cs typeface="Calibri" pitchFamily="34" charset="-120"/>
                        </a:rPr>
                        <a:t>factor</a:t>
                      </a:r>
                      <a:endParaRPr lang="en-US" sz="1400" dirty="0">
                        <a:latin typeface="Calibri" charset="0"/>
                        <a:ea typeface="Calibri" charset="0"/>
                        <a:cs typeface="Calibr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7" name="card"/>
          <p:cNvSpPr/>
          <p:nvPr/>
        </p:nvSpPr>
        <p:spPr>
          <a:xfrm>
            <a:off x="548640" y="4709160"/>
            <a:ext cx="11091672" cy="1463040"/>
          </a:xfrm>
          <a:prstGeom prst="roundRect">
            <a:avLst>
              <a:gd name="adj" fmla="val 5000"/>
            </a:avLst>
          </a:prstGeom>
          <a:solidFill>
            <a:schemeClr val="bg2"/>
          </a:solidFill>
          <a:ln/>
        </p:spPr>
      </p:sp>
      <p:sp>
        <p:nvSpPr>
          <p:cNvPr id="8" name="icon circle"/>
          <p:cNvSpPr/>
          <p:nvPr/>
        </p:nvSpPr>
        <p:spPr>
          <a:xfrm>
            <a:off x="777240" y="4983480"/>
            <a:ext cx="731520" cy="731520"/>
          </a:xfrm>
          <a:prstGeom prst="ellipse">
            <a:avLst/>
          </a:prstGeom>
          <a:solidFill>
            <a:schemeClr val="accent1"/>
          </a:solidFill>
          <a:ln/>
        </p:spPr>
      </p:sp>
      <p:pic>
        <p:nvPicPr>
          <p:cNvPr id="9" name="icon FaFileImport" descr="FileImport icon">    </p:cNvPr>
          <p:cNvPicPr>
            <a:picLocks noChangeAspect="1"/>
          </p:cNvPicPr>
          <p:nvPr/>
        </p:nvPicPr>
        <p:blipFill>
          <a:blip r:embed="rId1"/>
          <a:stretch>
            <a:fillRect/>
          </a:stretch>
        </p:blipFill>
        <p:spPr>
          <a:xfrm>
            <a:off x="952805" y="5159045"/>
            <a:ext cx="380390" cy="380390"/>
          </a:xfrm>
          <a:prstGeom prst="rect">
            <a:avLst/>
          </a:prstGeom>
        </p:spPr>
      </p:pic>
      <p:sp>
        <p:nvSpPr>
          <p:cNvPr id="10" name="Text 4"/>
          <p:cNvSpPr txBox="1"/>
          <p:nvPr/>
        </p:nvSpPr>
        <p:spPr>
          <a:xfrm>
            <a:off x="1737360" y="4846320"/>
            <a:ext cx="9692640" cy="1188720"/>
          </a:xfrm>
          <a:prstGeom prst="rect">
            <a:avLst/>
          </a:prstGeom>
          <a:noFill/>
          <a:ln/>
        </p:spPr>
        <p:txBody>
          <a:bodyPr wrap="square" lIns="0" tIns="0" rIns="0" bIns="0" rtlCol="0" anchor="ctr"/>
          <a:lstStyle/>
          <a:p>
            <a:pPr indent="0" marL="0">
              <a:buNone/>
            </a:pPr>
            <a:r>
              <a:rPr lang="en-US" sz="1500" b="1" dirty="0">
                <a:solidFill>
                  <a:schemeClr val="tx1"/>
                </a:solidFill>
              </a:rPr>
              <a:t>Plan sources: </a:t>
            </a:r>
            <a:pPr indent="0" marL="0">
              <a:buNone/>
            </a:pPr>
            <a:r>
              <a:rPr lang="en-US" sz="1500" dirty="0">
                <a:solidFill>
                  <a:schemeClr val="tx1"/>
                </a:solidFill>
              </a:rPr>
              <a:t>dimensions typed in, 19 reference plans, generated designs, or a DXF file. The largest closed polyline is the outline; area and perimeter come from the shoelace formula; walls on WALL or PARTITION layers are measured, and $INSUNITS sets the scale.</a:t>
            </a:r>
            <a:endParaRPr lang="en-US" sz="1500" dirty="0"/>
          </a:p>
        </p:txBody>
      </p:sp>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229600" cy="292608"/>
          </a:xfrm>
          <a:prstGeom prst="rect">
            <a:avLst/>
          </a:prstGeom>
          <a:noFill/>
          <a:ln/>
        </p:spPr>
        <p:txBody>
          <a:bodyPr wrap="square" lIns="0" tIns="0" rIns="0" bIns="0" rtlCol="0"/>
          <a:lstStyle/>
          <a:p>
            <a:pPr indent="0" marL="0">
              <a:buNone/>
            </a:pPr>
            <a:r>
              <a:rPr lang="en-US" sz="1200" b="1" spc="200" kern="0" dirty="0">
                <a:solidFill>
                  <a:schemeClr val="accent5"/>
                </a:solidFill>
              </a:rPr>
              <a:t>DATA GATHERING PROCEDURE</a:t>
            </a:r>
            <a:endParaRPr lang="en-US" sz="1200" dirty="0"/>
          </a:p>
        </p:txBody>
      </p:sp>
      <p:sp>
        <p:nvSpPr>
          <p:cNvPr id="3" name="Text 0"/>
          <p:cNvSpPr/>
          <p:nvPr>
            <p:ph idx="101" type="title" hasCustomPrompt="1"/>
          </p:nvPr>
        </p:nvSpPr>
        <p:spPr>
          <a:xfrm>
            <a:off x="548640" y="53035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Design Generation from a Budget</a:t>
            </a:r>
            <a:endParaRPr lang="en-US" sz="3200" dirty="0"/>
          </a:p>
        </p:txBody>
      </p:sp>
      <p:sp>
        <p:nvSpPr>
          <p:cNvPr id="5" name="Text 2"/>
          <p:cNvSpPr txBox="1"/>
          <p:nvPr/>
        </p:nvSpPr>
        <p:spPr>
          <a:xfrm>
            <a:off x="548640" y="1463040"/>
            <a:ext cx="5120640" cy="310896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chemeClr val="tx1"/>
                </a:solidFill>
              </a:rPr>
              <a:t>55 space modules </a:t>
            </a:r>
            <a:pPr indent="0" marL="0">
              <a:buNone/>
            </a:pPr>
            <a:r>
              <a:rPr lang="en-US" sz="1500" dirty="0">
                <a:solidFill>
                  <a:schemeClr val="tx1"/>
                </a:solidFill>
              </a:rPr>
              <a:t>(7 × 9 m DepEd classroom, 6-bed ward, 20-person evacuation bay…) laid out in rows and floors</a:t>
            </a:r>
            <a:endParaRPr lang="en-US" sz="1500" dirty="0"/>
          </a:p>
          <a:p>
            <a:pPr marL="342900" indent="-342900">
              <a:spcAft>
                <a:spcPts val="800"/>
              </a:spcAft>
              <a:buSzPct val="100000"/>
              <a:buChar char="•"/>
            </a:pPr>
            <a:r>
              <a:rPr lang="en-US" sz="1500" b="1" dirty="0">
                <a:solidFill>
                  <a:schemeClr val="tx1"/>
                </a:solidFill>
              </a:rPr>
              <a:t>41 building + 13 bridge templates, </a:t>
            </a:r>
            <a:pPr indent="0" marL="0">
              <a:buNone/>
            </a:pPr>
            <a:r>
              <a:rPr lang="en-US" sz="1500" dirty="0">
                <a:solidFill>
                  <a:schemeClr val="tx1"/>
                </a:solidFill>
              </a:rPr>
              <a:t>customizable and combinable as wings</a:t>
            </a:r>
            <a:endParaRPr lang="en-US" sz="1500" dirty="0"/>
          </a:p>
          <a:p>
            <a:pPr marL="342900" indent="-342900">
              <a:spcAft>
                <a:spcPts val="800"/>
              </a:spcAft>
              <a:buSzPct val="100000"/>
              <a:buChar char="•"/>
            </a:pPr>
            <a:r>
              <a:rPr lang="en-US" sz="1500" b="1" dirty="0">
                <a:solidFill>
                  <a:schemeClr val="tx1"/>
                </a:solidFill>
              </a:rPr>
              <a:t>Budget-to-design: </a:t>
            </a:r>
            <a:pPr indent="0" marL="0">
              <a:buNone/>
            </a:pPr>
            <a:r>
              <a:rPr lang="en-US" sz="1500" dirty="0">
                <a:solidFill>
                  <a:schemeClr val="tx1"/>
                </a:solidFill>
              </a:rPr>
              <a:t>maximize capacity κ subject to ABC ≤ budget, length ≤ lot, storeys ≤ limit</a:t>
            </a:r>
            <a:endParaRPr lang="en-US" sz="1500" dirty="0"/>
          </a:p>
          <a:p>
            <a:pPr marL="342900" indent="-342900">
              <a:spcAft>
                <a:spcPts val="800"/>
              </a:spcAft>
              <a:buSzPct val="100000"/>
              <a:buChar char="•"/>
            </a:pPr>
            <a:r>
              <a:rPr lang="en-US" sz="1500" b="1" dirty="0">
                <a:solidFill>
                  <a:schemeClr val="tx1"/>
                </a:solidFill>
              </a:rPr>
              <a:t>Exhaustive enumeration + Pareto filter, </a:t>
            </a:r>
            <a:pPr indent="0" marL="0">
              <a:buNone/>
            </a:pPr>
            <a:r>
              <a:rPr lang="en-US" sz="1500" dirty="0">
                <a:solidFill>
                  <a:schemeClr val="tx1"/>
                </a:solidFill>
              </a:rPr>
              <a:t>because cost jumps with new stairs, floors and footings</a:t>
            </a:r>
            <a:endParaRPr lang="en-US" sz="1500" dirty="0"/>
          </a:p>
        </p:txBody>
      </p:sp>
      <p:sp>
        <p:nvSpPr>
          <p:cNvPr id="6" name="card"/>
          <p:cNvSpPr/>
          <p:nvPr/>
        </p:nvSpPr>
        <p:spPr>
          <a:xfrm>
            <a:off x="548640" y="4617720"/>
            <a:ext cx="5120640" cy="1600200"/>
          </a:xfrm>
          <a:prstGeom prst="roundRect">
            <a:avLst>
              <a:gd name="adj" fmla="val 4571"/>
            </a:avLst>
          </a:prstGeom>
          <a:solidFill>
            <a:schemeClr val="bg2"/>
          </a:solidFill>
          <a:ln/>
        </p:spPr>
      </p:sp>
      <p:pic>
        <p:nvPicPr>
          <p:cNvPr id="7" name="equation opt.png" descr="Budget-to-design integer program">    </p:cNvPr>
          <p:cNvPicPr>
            <a:picLocks noChangeAspect="1"/>
          </p:cNvPicPr>
          <p:nvPr/>
        </p:nvPicPr>
        <p:blipFill>
          <a:blip r:embed="rId1"/>
          <a:stretch>
            <a:fillRect/>
          </a:stretch>
        </p:blipFill>
        <p:spPr>
          <a:xfrm>
            <a:off x="685800" y="4859668"/>
            <a:ext cx="4846320" cy="339064"/>
          </a:xfrm>
          <a:prstGeom prst="rect">
            <a:avLst/>
          </a:prstGeom>
        </p:spPr>
      </p:pic>
      <p:pic>
        <p:nvPicPr>
          <p:cNvPr id="8" name="equation pareto.png" descr="Pareto dominance">    </p:cNvPr>
          <p:cNvPicPr>
            <a:picLocks noChangeAspect="1"/>
          </p:cNvPicPr>
          <p:nvPr/>
        </p:nvPicPr>
        <p:blipFill>
          <a:blip r:embed="rId2"/>
          <a:stretch>
            <a:fillRect/>
          </a:stretch>
        </p:blipFill>
        <p:spPr>
          <a:xfrm>
            <a:off x="685800" y="5565720"/>
            <a:ext cx="4846320" cy="298560"/>
          </a:xfrm>
          <a:prstGeom prst="rect">
            <a:avLst/>
          </a:prstGeom>
        </p:spPr>
      </p:pic>
      <p:pic>
        <p:nvPicPr>
          <p:cNvPr id="9" name="plan_school_gf.png" descr="Generated ground floor plan of a 2-storey 6-classroom school">    </p:cNvPr>
          <p:cNvPicPr>
            <a:picLocks noChangeAspect="1"/>
          </p:cNvPicPr>
          <p:nvPr/>
        </p:nvPicPr>
        <p:blipFill>
          <a:blip r:embed="rId3"/>
          <a:stretch>
            <a:fillRect/>
          </a:stretch>
        </p:blipFill>
        <p:spPr>
          <a:xfrm>
            <a:off x="5943600" y="1523373"/>
            <a:ext cx="5696712" cy="2256774"/>
          </a:xfrm>
          <a:prstGeom prst="rect">
            <a:avLst/>
          </a:prstGeom>
        </p:spPr>
      </p:pic>
      <p:pic>
        <p:nvPicPr>
          <p:cNvPr id="10" name="plan_evac.png" descr="Generated plan of an evacuation center for 200 persons">    </p:cNvPr>
          <p:cNvPicPr>
            <a:picLocks noChangeAspect="1"/>
          </p:cNvPicPr>
          <p:nvPr/>
        </p:nvPicPr>
        <p:blipFill>
          <a:blip r:embed="rId4"/>
          <a:stretch>
            <a:fillRect/>
          </a:stretch>
        </p:blipFill>
        <p:spPr>
          <a:xfrm>
            <a:off x="7033494" y="3931920"/>
            <a:ext cx="3516923" cy="2286000"/>
          </a:xfrm>
          <a:prstGeom prst="rect">
            <a:avLst/>
          </a:prstGeom>
        </p:spPr>
      </p:pic>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229600" cy="292608"/>
          </a:xfrm>
          <a:prstGeom prst="rect">
            <a:avLst/>
          </a:prstGeom>
          <a:noFill/>
          <a:ln/>
        </p:spPr>
        <p:txBody>
          <a:bodyPr wrap="square" lIns="0" tIns="0" rIns="0" bIns="0" rtlCol="0"/>
          <a:lstStyle/>
          <a:p>
            <a:pPr indent="0" marL="0">
              <a:buNone/>
            </a:pPr>
            <a:r>
              <a:rPr lang="en-US" sz="1200" b="1" spc="200" kern="0" dirty="0">
                <a:solidFill>
                  <a:schemeClr val="accent5"/>
                </a:solidFill>
              </a:rPr>
              <a:t>DATA GATHERING PROCEDURE</a:t>
            </a:r>
            <a:endParaRPr lang="en-US" sz="1200" dirty="0"/>
          </a:p>
        </p:txBody>
      </p:sp>
      <p:sp>
        <p:nvSpPr>
          <p:cNvPr id="3" name="Text 0"/>
          <p:cNvSpPr/>
          <p:nvPr>
            <p:ph idx="101" type="title" hasCustomPrompt="1"/>
          </p:nvPr>
        </p:nvSpPr>
        <p:spPr>
          <a:xfrm>
            <a:off x="548640" y="53035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Quantity Take-Off and Quotation</a:t>
            </a:r>
            <a:endParaRPr lang="en-US" sz="3200" dirty="0"/>
          </a:p>
        </p:txBody>
      </p:sp>
      <p:sp>
        <p:nvSpPr>
          <p:cNvPr id="5" name="card"/>
          <p:cNvSpPr/>
          <p:nvPr/>
        </p:nvSpPr>
        <p:spPr>
          <a:xfrm>
            <a:off x="548640" y="1508760"/>
            <a:ext cx="5486400" cy="2423160"/>
          </a:xfrm>
          <a:prstGeom prst="roundRect">
            <a:avLst>
              <a:gd name="adj" fmla="val 3019"/>
            </a:avLst>
          </a:prstGeom>
          <a:solidFill>
            <a:schemeClr val="bg2"/>
          </a:solidFill>
          <a:ln/>
        </p:spPr>
      </p:sp>
      <p:sp>
        <p:nvSpPr>
          <p:cNvPr id="6" name="Text 3"/>
          <p:cNvSpPr txBox="1"/>
          <p:nvPr/>
        </p:nvSpPr>
        <p:spPr>
          <a:xfrm>
            <a:off x="777240" y="1645920"/>
            <a:ext cx="5029200" cy="365760"/>
          </a:xfrm>
          <a:prstGeom prst="rect">
            <a:avLst/>
          </a:prstGeom>
          <a:noFill/>
          <a:ln/>
        </p:spPr>
        <p:txBody>
          <a:bodyPr wrap="square" lIns="0" tIns="0" rIns="0" bIns="0" rtlCol="0" anchor="t"/>
          <a:lstStyle/>
          <a:p>
            <a:pPr indent="0" marL="0">
              <a:buNone/>
            </a:pPr>
            <a:r>
              <a:rPr lang="en-US" sz="1600" b="1" dirty="0">
                <a:solidFill>
                  <a:schemeClr val="tx2"/>
                </a:solidFill>
              </a:rPr>
              <a:t>Estimated direct cost and ABC</a:t>
            </a:r>
            <a:endParaRPr lang="en-US" sz="1600" dirty="0"/>
          </a:p>
        </p:txBody>
      </p:sp>
      <p:pic>
        <p:nvPicPr>
          <p:cNvPr id="7" name="equation edc.png" descr="EDC equation">    </p:cNvPr>
          <p:cNvPicPr>
            <a:picLocks noChangeAspect="1"/>
          </p:cNvPicPr>
          <p:nvPr/>
        </p:nvPicPr>
        <p:blipFill>
          <a:blip r:embed="rId1"/>
          <a:stretch>
            <a:fillRect/>
          </a:stretch>
        </p:blipFill>
        <p:spPr>
          <a:xfrm>
            <a:off x="777240" y="2141113"/>
            <a:ext cx="2190811" cy="609813"/>
          </a:xfrm>
          <a:prstGeom prst="rect">
            <a:avLst/>
          </a:prstGeom>
        </p:spPr>
      </p:pic>
      <p:pic>
        <p:nvPicPr>
          <p:cNvPr id="8" name="equation abc.png" descr="ABC equation">    </p:cNvPr>
          <p:cNvPicPr>
            <a:picLocks noChangeAspect="1"/>
          </p:cNvPicPr>
          <p:nvPr/>
        </p:nvPicPr>
        <p:blipFill>
          <a:blip r:embed="rId2"/>
          <a:stretch>
            <a:fillRect/>
          </a:stretch>
        </p:blipFill>
        <p:spPr>
          <a:xfrm>
            <a:off x="777240" y="3128368"/>
            <a:ext cx="3034010" cy="372664"/>
          </a:xfrm>
          <a:prstGeom prst="rect">
            <a:avLst/>
          </a:prstGeom>
        </p:spPr>
      </p:pic>
      <p:sp>
        <p:nvSpPr>
          <p:cNvPr id="9" name="card"/>
          <p:cNvSpPr/>
          <p:nvPr/>
        </p:nvSpPr>
        <p:spPr>
          <a:xfrm>
            <a:off x="548640" y="4114800"/>
            <a:ext cx="5486400" cy="2103120"/>
          </a:xfrm>
          <a:prstGeom prst="roundRect">
            <a:avLst>
              <a:gd name="adj" fmla="val 3478"/>
            </a:avLst>
          </a:prstGeom>
          <a:solidFill>
            <a:schemeClr val="bg2"/>
          </a:solidFill>
          <a:ln/>
        </p:spPr>
      </p:sp>
      <p:sp>
        <p:nvSpPr>
          <p:cNvPr id="10" name="Text 5"/>
          <p:cNvSpPr txBox="1"/>
          <p:nvPr/>
        </p:nvSpPr>
        <p:spPr>
          <a:xfrm>
            <a:off x="777240" y="4224528"/>
            <a:ext cx="5029200" cy="365760"/>
          </a:xfrm>
          <a:prstGeom prst="rect">
            <a:avLst/>
          </a:prstGeom>
          <a:noFill/>
          <a:ln/>
        </p:spPr>
        <p:txBody>
          <a:bodyPr wrap="square" lIns="0" tIns="0" rIns="0" bIns="0" rtlCol="0" anchor="t"/>
          <a:lstStyle/>
          <a:p>
            <a:pPr indent="0" marL="0">
              <a:buNone/>
            </a:pPr>
            <a:r>
              <a:rPr lang="en-US" sz="1600" b="1" dirty="0">
                <a:solidFill>
                  <a:schemeClr val="tx2"/>
                </a:solidFill>
              </a:rPr>
              <a:t>Structural quantities from engineering formulas</a:t>
            </a:r>
            <a:endParaRPr lang="en-US" sz="1600" dirty="0"/>
          </a:p>
        </p:txBody>
      </p:sp>
      <p:pic>
        <p:nvPicPr>
          <p:cNvPr id="11" name="equation footing.png" descr="Footing width">    </p:cNvPr>
          <p:cNvPicPr>
            <a:picLocks noChangeAspect="1"/>
          </p:cNvPicPr>
          <p:nvPr/>
        </p:nvPicPr>
        <p:blipFill>
          <a:blip r:embed="rId3"/>
          <a:stretch>
            <a:fillRect/>
          </a:stretch>
        </p:blipFill>
        <p:spPr>
          <a:xfrm>
            <a:off x="777240" y="4681278"/>
            <a:ext cx="1750390" cy="741563"/>
          </a:xfrm>
          <a:prstGeom prst="rect">
            <a:avLst/>
          </a:prstGeom>
        </p:spPr>
      </p:pic>
      <p:pic>
        <p:nvPicPr>
          <p:cNvPr id="12" name="equation rebar.png" descr="Reinforcing steel">    </p:cNvPr>
          <p:cNvPicPr>
            <a:picLocks noChangeAspect="1"/>
          </p:cNvPicPr>
          <p:nvPr/>
        </p:nvPicPr>
        <p:blipFill>
          <a:blip r:embed="rId4"/>
          <a:stretch>
            <a:fillRect/>
          </a:stretch>
        </p:blipFill>
        <p:spPr>
          <a:xfrm>
            <a:off x="3291840" y="4803618"/>
            <a:ext cx="1554648" cy="496885"/>
          </a:xfrm>
          <a:prstGeom prst="rect">
            <a:avLst/>
          </a:prstGeom>
        </p:spPr>
      </p:pic>
      <p:sp>
        <p:nvSpPr>
          <p:cNvPr id="13" name="Text 6"/>
          <p:cNvSpPr txBox="1"/>
          <p:nvPr/>
        </p:nvSpPr>
        <p:spPr>
          <a:xfrm>
            <a:off x="777240" y="5577840"/>
            <a:ext cx="5029200" cy="502920"/>
          </a:xfrm>
          <a:prstGeom prst="rect">
            <a:avLst/>
          </a:prstGeom>
          <a:noFill/>
          <a:ln/>
        </p:spPr>
        <p:txBody>
          <a:bodyPr wrap="square" lIns="0" tIns="0" rIns="0" bIns="0" rtlCol="0" anchor="t"/>
          <a:lstStyle/>
          <a:p>
            <a:pPr indent="0" marL="0">
              <a:buNone/>
            </a:pPr>
            <a:r>
              <a:rPr lang="en-US" sz="1300" dirty="0">
                <a:solidFill>
                  <a:srgbClr val="44505E"/>
                </a:solidFill>
              </a:rPr>
              <a:t>Footing width from load and soil bearing; steel from volume × intensity.</a:t>
            </a:r>
            <a:endParaRPr lang="en-US" sz="1300" dirty="0"/>
          </a:p>
        </p:txBody>
      </p:sp>
      <p:graphicFrame>
        <p:nvGraphicFramePr>
          <p:cNvPr id="23" name="tier table"/>
          <p:cNvGraphicFramePr>
            <a:graphicFrameLocks noGrp="1"/>
          </p:cNvGraphicFramePr>
          <p:nvPr>
            <p:extLst>
              <p:ext uri="{D42A27DB-BD31-4B8C-83A1-F6EECF244321}">
                <p14:modId xmlns:p14="http://schemas.microsoft.com/office/powerpoint/2010/main" val="1579011935"/>
              </p:ext>
            </p:extLst>
          </p:nvPr>
        </p:nvGraphicFramePr>
        <p:xfrm>
          <a:off x="6263640" y="1508760"/>
          <a:ext cx="5376672" cy="914400"/>
        </p:xfrm>
        <a:graphic>
          <a:graphicData uri="http://schemas.openxmlformats.org/drawingml/2006/table">
            <a:tbl>
              <a:tblPr/>
              <a:tblGrid>
                <a:gridCol w="1920240"/>
                <a:gridCol w="1188720"/>
                <a:gridCol w="1097280"/>
                <a:gridCol w="1170432"/>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Setting</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2345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Lean (start)</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2345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Standard</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2345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Ceiling</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2345A"/>
                    </a:solidFill>
                  </a:tcPr>
                </a:tc>
              </a:tr>
              <a:tr h="457200">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Reinforcement factor τ</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0.80</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1.25</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Structural steel factor</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0.92</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1.15</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Floor finish</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Cement topping</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Ceramic tiles</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Porcelain / granite</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MEPF allowance factor</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0.85</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1.25</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Mobilization / OSH</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1.0% / 1.0%</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1.2% / 1.5%</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1.5% / 2.0%</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Scope contingency</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202E"/>
                          </a:solidFill>
                          <a:latin typeface="Calibri" pitchFamily="34" charset="0"/>
                          <a:ea typeface="Calibri" pitchFamily="34" charset="-122"/>
                          <a:cs typeface="Calibri" pitchFamily="34" charset="-120"/>
                        </a:rPr>
                        <a:t>8% of works</a:t>
                      </a:r>
                      <a:endParaRPr lang="en-US" sz="1300" dirty="0">
                        <a:latin typeface="Calibri" charset="0"/>
                        <a:ea typeface="Calibri" charset="0"/>
                        <a:cs typeface="Calibri" charset="0"/>
                      </a:endParaRPr>
                    </a:p>
                  </a:txBody>
                  <a:tcPr marL="73152" marR="73152"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graphicFrame>
        <p:nvGraphicFramePr>
          <p:cNvPr id="45" name="indirect cost table"/>
          <p:cNvGraphicFramePr>
            <a:graphicFrameLocks noGrp="1"/>
          </p:cNvGraphicFramePr>
          <p:nvPr>
            <p:extLst>
              <p:ext uri="{D42A27DB-BD31-4B8C-83A1-F6EECF244321}">
                <p14:modId xmlns:p14="http://schemas.microsoft.com/office/powerpoint/2010/main" val="1579011935"/>
              </p:ext>
            </p:extLst>
          </p:nvPr>
        </p:nvGraphicFramePr>
        <p:xfrm>
          <a:off x="6263640" y="4892040"/>
          <a:ext cx="5376672" cy="914400"/>
        </p:xfrm>
        <a:graphic>
          <a:graphicData uri="http://schemas.openxmlformats.org/drawingml/2006/table">
            <a:tbl>
              <a:tblPr/>
              <a:tblGrid>
                <a:gridCol w="2651760"/>
                <a:gridCol w="1371600"/>
                <a:gridCol w="1353312"/>
              </a:tblGrid>
              <a:tr h="26517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EDC bracket</a:t>
                      </a:r>
                      <a:endParaRPr lang="en-US" sz="1300" dirty="0">
                        <a:latin typeface="Calibri" charset="0"/>
                        <a:ea typeface="Calibri" charset="0"/>
                        <a:cs typeface="Calibri" charset="0"/>
                      </a:endParaRPr>
                    </a:p>
                  </a:txBody>
                  <a:tcPr marL="73152" marR="73152" marT="18288" marB="18288"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2345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OCM</a:t>
                      </a:r>
                      <a:endParaRPr lang="en-US" sz="1300" dirty="0">
                        <a:latin typeface="Calibri" charset="0"/>
                        <a:ea typeface="Calibri" charset="0"/>
                        <a:cs typeface="Calibri" charset="0"/>
                      </a:endParaRPr>
                    </a:p>
                  </a:txBody>
                  <a:tcPr marL="73152" marR="73152" marT="18288" marB="18288"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2345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Profit</a:t>
                      </a:r>
                      <a:endParaRPr lang="en-US" sz="1300" dirty="0">
                        <a:latin typeface="Calibri" charset="0"/>
                        <a:ea typeface="Calibri" charset="0"/>
                        <a:cs typeface="Calibri" charset="0"/>
                      </a:endParaRPr>
                    </a:p>
                  </a:txBody>
                  <a:tcPr marL="73152" marR="73152" marT="18288" marB="18288"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2345A"/>
                    </a:solidFill>
                  </a:tcPr>
                </a:tc>
              </a:tr>
              <a:tr h="265176">
                <a:tc>
                  <a:txBody>
                    <a:bodyPr/>
                    <a:lstStyle/>
                    <a:p>
                      <a:pPr indent="0" marL="0">
                        <a:buNone/>
                      </a:pPr>
                      <a:r>
                        <a:rPr lang="en-US" sz="1200" dirty="0">
                          <a:solidFill>
                            <a:srgbClr val="14202E"/>
                          </a:solidFill>
                          <a:latin typeface="Calibri" pitchFamily="34" charset="0"/>
                          <a:ea typeface="Calibri" pitchFamily="34" charset="-122"/>
                          <a:cs typeface="Calibri" pitchFamily="34" charset="-120"/>
                        </a:rPr>
                        <a:t>Up to ₱5 million</a:t>
                      </a:r>
                      <a:endParaRPr lang="en-US" sz="1200" dirty="0">
                        <a:latin typeface="Calibri" charset="0"/>
                        <a:ea typeface="Calibri" charset="0"/>
                        <a:cs typeface="Calibri" charset="0"/>
                      </a:endParaRPr>
                    </a:p>
                  </a:txBody>
                  <a:tcPr marL="73152" marR="73152" marT="18288" marB="18288"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4202E"/>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73152" marR="73152" marT="18288" marB="18288"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4202E"/>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3152" marR="73152" marT="18288" marB="18288"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65176">
                <a:tc>
                  <a:txBody>
                    <a:bodyPr/>
                    <a:lstStyle/>
                    <a:p>
                      <a:pPr indent="0" marL="0">
                        <a:buNone/>
                      </a:pPr>
                      <a:r>
                        <a:rPr lang="en-US" sz="1200" dirty="0">
                          <a:solidFill>
                            <a:srgbClr val="14202E"/>
                          </a:solidFill>
                          <a:latin typeface="Calibri" pitchFamily="34" charset="0"/>
                          <a:ea typeface="Calibri" pitchFamily="34" charset="-122"/>
                          <a:cs typeface="Calibri" pitchFamily="34" charset="-120"/>
                        </a:rPr>
                        <a:t>₱5M – ₱50M</a:t>
                      </a:r>
                      <a:endParaRPr lang="en-US" sz="1200" dirty="0">
                        <a:latin typeface="Calibri" charset="0"/>
                        <a:ea typeface="Calibri" charset="0"/>
                        <a:cs typeface="Calibri" charset="0"/>
                      </a:endParaRPr>
                    </a:p>
                  </a:txBody>
                  <a:tcPr marL="73152" marR="73152" marT="18288" marB="18288"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4202E"/>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73152" marR="73152" marT="18288" marB="18288"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4202E"/>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73152" marR="73152" marT="18288" marB="18288"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65176">
                <a:tc>
                  <a:txBody>
                    <a:bodyPr/>
                    <a:lstStyle/>
                    <a:p>
                      <a:pPr indent="0" marL="0">
                        <a:buNone/>
                      </a:pPr>
                      <a:r>
                        <a:rPr lang="en-US" sz="1200" dirty="0">
                          <a:solidFill>
                            <a:srgbClr val="14202E"/>
                          </a:solidFill>
                          <a:latin typeface="Calibri" pitchFamily="34" charset="0"/>
                          <a:ea typeface="Calibri" pitchFamily="34" charset="-122"/>
                          <a:cs typeface="Calibri" pitchFamily="34" charset="-120"/>
                        </a:rPr>
                        <a:t>₱50M – ₱150M</a:t>
                      </a:r>
                      <a:endParaRPr lang="en-US" sz="1200" dirty="0">
                        <a:latin typeface="Calibri" charset="0"/>
                        <a:ea typeface="Calibri" charset="0"/>
                        <a:cs typeface="Calibri" charset="0"/>
                      </a:endParaRPr>
                    </a:p>
                  </a:txBody>
                  <a:tcPr marL="73152" marR="73152" marT="18288" marB="18288"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4202E"/>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3152" marR="73152" marT="18288" marB="18288"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4202E"/>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73152" marR="73152" marT="18288" marB="18288"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265176">
                <a:tc>
                  <a:txBody>
                    <a:bodyPr/>
                    <a:lstStyle/>
                    <a:p>
                      <a:pPr indent="0" marL="0">
                        <a:buNone/>
                      </a:pPr>
                      <a:r>
                        <a:rPr lang="en-US" sz="1200" dirty="0">
                          <a:solidFill>
                            <a:srgbClr val="14202E"/>
                          </a:solidFill>
                          <a:latin typeface="Calibri" pitchFamily="34" charset="0"/>
                          <a:ea typeface="Calibri" pitchFamily="34" charset="-122"/>
                          <a:cs typeface="Calibri" pitchFamily="34" charset="-120"/>
                        </a:rPr>
                        <a:t>Above ₱150M</a:t>
                      </a:r>
                      <a:endParaRPr lang="en-US" sz="1200" dirty="0">
                        <a:latin typeface="Calibri" charset="0"/>
                        <a:ea typeface="Calibri" charset="0"/>
                        <a:cs typeface="Calibri" charset="0"/>
                      </a:endParaRPr>
                    </a:p>
                  </a:txBody>
                  <a:tcPr marL="73152" marR="73152" marT="18288" marB="18288"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4202E"/>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73152" marR="73152" marT="18288" marB="18288"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4202E"/>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73152" marR="73152" marT="18288" marB="18288"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229600" cy="292608"/>
          </a:xfrm>
          <a:prstGeom prst="rect">
            <a:avLst/>
          </a:prstGeom>
          <a:noFill/>
          <a:ln/>
        </p:spPr>
        <p:txBody>
          <a:bodyPr wrap="square" lIns="0" tIns="0" rIns="0" bIns="0" rtlCol="0"/>
          <a:lstStyle/>
          <a:p>
            <a:pPr indent="0" marL="0">
              <a:buNone/>
            </a:pPr>
            <a:r>
              <a:rPr lang="en-US" sz="1200" b="1" spc="200" kern="0" dirty="0">
                <a:solidFill>
                  <a:schemeClr val="accent5"/>
                </a:solidFill>
              </a:rPr>
              <a:t>DATA GATHERING PROCEDURE</a:t>
            </a:r>
            <a:endParaRPr lang="en-US" sz="1200" dirty="0"/>
          </a:p>
        </p:txBody>
      </p:sp>
      <p:sp>
        <p:nvSpPr>
          <p:cNvPr id="3" name="Text 0"/>
          <p:cNvSpPr/>
          <p:nvPr>
            <p:ph idx="101" type="title" hasCustomPrompt="1"/>
          </p:nvPr>
        </p:nvSpPr>
        <p:spPr>
          <a:xfrm>
            <a:off x="548640" y="53035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Simulated Benchmark SBD-300</a:t>
            </a:r>
            <a:endParaRPr lang="en-US" sz="3200" dirty="0"/>
          </a:p>
        </p:txBody>
      </p:sp>
      <p:sp>
        <p:nvSpPr>
          <p:cNvPr id="5" name="card"/>
          <p:cNvSpPr/>
          <p:nvPr/>
        </p:nvSpPr>
        <p:spPr>
          <a:xfrm>
            <a:off x="548640" y="1508760"/>
            <a:ext cx="2606040" cy="1417320"/>
          </a:xfrm>
          <a:prstGeom prst="roundRect">
            <a:avLst>
              <a:gd name="adj" fmla="val 5161"/>
            </a:avLst>
          </a:prstGeom>
          <a:solidFill>
            <a:schemeClr val="bg2"/>
          </a:solidFill>
          <a:ln/>
        </p:spPr>
      </p:sp>
      <p:sp>
        <p:nvSpPr>
          <p:cNvPr id="6" name="Text 3"/>
          <p:cNvSpPr txBox="1"/>
          <p:nvPr/>
        </p:nvSpPr>
        <p:spPr>
          <a:xfrm>
            <a:off x="777240" y="1572768"/>
            <a:ext cx="2194560" cy="777240"/>
          </a:xfrm>
          <a:prstGeom prst="rect">
            <a:avLst/>
          </a:prstGeom>
          <a:noFill/>
          <a:ln/>
        </p:spPr>
        <p:txBody>
          <a:bodyPr wrap="square" lIns="0" tIns="0" rIns="0" bIns="0" rtlCol="0" anchor="t"/>
          <a:lstStyle/>
          <a:p>
            <a:pPr indent="0" marL="0">
              <a:buNone/>
            </a:pPr>
            <a:r>
              <a:rPr lang="en-US" sz="4000" b="1" dirty="0">
                <a:solidFill>
                  <a:schemeClr val="tx2"/>
                </a:solidFill>
                <a:latin typeface="Cambria" pitchFamily="34" charset="0"/>
                <a:ea typeface="Cambria" pitchFamily="34" charset="-122"/>
                <a:cs typeface="Cambria" pitchFamily="34" charset="-120"/>
              </a:rPr>
              <a:t>300</a:t>
            </a:r>
            <a:endParaRPr lang="en-US" sz="4000" dirty="0"/>
          </a:p>
        </p:txBody>
      </p:sp>
      <p:sp>
        <p:nvSpPr>
          <p:cNvPr id="7" name="Text 4"/>
          <p:cNvSpPr txBox="1"/>
          <p:nvPr/>
        </p:nvSpPr>
        <p:spPr>
          <a:xfrm>
            <a:off x="777240" y="2377440"/>
            <a:ext cx="2194560" cy="411480"/>
          </a:xfrm>
          <a:prstGeom prst="rect">
            <a:avLst/>
          </a:prstGeom>
          <a:noFill/>
          <a:ln/>
        </p:spPr>
        <p:txBody>
          <a:bodyPr wrap="square" lIns="0" tIns="0" rIns="0" bIns="0" rtlCol="0" anchor="t"/>
          <a:lstStyle/>
          <a:p>
            <a:pPr indent="0" marL="0">
              <a:buNone/>
            </a:pPr>
            <a:r>
              <a:rPr lang="en-US" sz="1500" dirty="0">
                <a:solidFill>
                  <a:schemeClr val="tx1"/>
                </a:solidFill>
              </a:rPr>
              <a:t>simulated projects</a:t>
            </a:r>
            <a:endParaRPr lang="en-US" sz="1500" dirty="0"/>
          </a:p>
        </p:txBody>
      </p:sp>
      <p:sp>
        <p:nvSpPr>
          <p:cNvPr id="8" name="card"/>
          <p:cNvSpPr/>
          <p:nvPr/>
        </p:nvSpPr>
        <p:spPr>
          <a:xfrm>
            <a:off x="3383280" y="1508760"/>
            <a:ext cx="2606040" cy="1417320"/>
          </a:xfrm>
          <a:prstGeom prst="roundRect">
            <a:avLst>
              <a:gd name="adj" fmla="val 5161"/>
            </a:avLst>
          </a:prstGeom>
          <a:solidFill>
            <a:schemeClr val="bg2"/>
          </a:solidFill>
          <a:ln/>
        </p:spPr>
      </p:sp>
      <p:sp>
        <p:nvSpPr>
          <p:cNvPr id="9" name="Text 6"/>
          <p:cNvSpPr txBox="1"/>
          <p:nvPr/>
        </p:nvSpPr>
        <p:spPr>
          <a:xfrm>
            <a:off x="3611880" y="1572768"/>
            <a:ext cx="2194560" cy="777240"/>
          </a:xfrm>
          <a:prstGeom prst="rect">
            <a:avLst/>
          </a:prstGeom>
          <a:noFill/>
          <a:ln/>
        </p:spPr>
        <p:txBody>
          <a:bodyPr wrap="square" lIns="0" tIns="0" rIns="0" bIns="0" rtlCol="0" anchor="t"/>
          <a:lstStyle/>
          <a:p>
            <a:pPr indent="0" marL="0">
              <a:buNone/>
            </a:pPr>
            <a:r>
              <a:rPr lang="en-US" sz="4000" b="1" dirty="0">
                <a:solidFill>
                  <a:schemeClr val="tx2"/>
                </a:solidFill>
                <a:latin typeface="Cambria" pitchFamily="34" charset="0"/>
                <a:ea typeface="Cambria" pitchFamily="34" charset="-122"/>
                <a:cs typeface="Cambria" pitchFamily="34" charset="-120"/>
              </a:rPr>
              <a:t>160</a:t>
            </a:r>
            <a:endParaRPr lang="en-US" sz="4000" dirty="0"/>
          </a:p>
        </p:txBody>
      </p:sp>
      <p:sp>
        <p:nvSpPr>
          <p:cNvPr id="10" name="Text 7"/>
          <p:cNvSpPr txBox="1"/>
          <p:nvPr/>
        </p:nvSpPr>
        <p:spPr>
          <a:xfrm>
            <a:off x="3611880" y="2377440"/>
            <a:ext cx="2194560" cy="411480"/>
          </a:xfrm>
          <a:prstGeom prst="rect">
            <a:avLst/>
          </a:prstGeom>
          <a:noFill/>
          <a:ln/>
        </p:spPr>
        <p:txBody>
          <a:bodyPr wrap="square" lIns="0" tIns="0" rIns="0" bIns="0" rtlCol="0" anchor="t"/>
          <a:lstStyle/>
          <a:p>
            <a:pPr indent="0" marL="0">
              <a:buNone/>
            </a:pPr>
            <a:r>
              <a:rPr lang="en-US" sz="1500" dirty="0">
                <a:solidFill>
                  <a:schemeClr val="tx1"/>
                </a:solidFill>
              </a:rPr>
              <a:t>buildings</a:t>
            </a:r>
            <a:endParaRPr lang="en-US" sz="1500" dirty="0"/>
          </a:p>
        </p:txBody>
      </p:sp>
      <p:sp>
        <p:nvSpPr>
          <p:cNvPr id="11" name="card"/>
          <p:cNvSpPr/>
          <p:nvPr/>
        </p:nvSpPr>
        <p:spPr>
          <a:xfrm>
            <a:off x="6217920" y="1508760"/>
            <a:ext cx="2606040" cy="1417320"/>
          </a:xfrm>
          <a:prstGeom prst="roundRect">
            <a:avLst>
              <a:gd name="adj" fmla="val 5161"/>
            </a:avLst>
          </a:prstGeom>
          <a:solidFill>
            <a:schemeClr val="bg2"/>
          </a:solidFill>
          <a:ln/>
        </p:spPr>
      </p:sp>
      <p:sp>
        <p:nvSpPr>
          <p:cNvPr id="12" name="Text 9"/>
          <p:cNvSpPr txBox="1"/>
          <p:nvPr/>
        </p:nvSpPr>
        <p:spPr>
          <a:xfrm>
            <a:off x="6446520" y="1572768"/>
            <a:ext cx="2194560" cy="777240"/>
          </a:xfrm>
          <a:prstGeom prst="rect">
            <a:avLst/>
          </a:prstGeom>
          <a:noFill/>
          <a:ln/>
        </p:spPr>
        <p:txBody>
          <a:bodyPr wrap="square" lIns="0" tIns="0" rIns="0" bIns="0" rtlCol="0" anchor="t"/>
          <a:lstStyle/>
          <a:p>
            <a:pPr indent="0" marL="0">
              <a:buNone/>
            </a:pPr>
            <a:r>
              <a:rPr lang="en-US" sz="4000" b="1" dirty="0">
                <a:solidFill>
                  <a:schemeClr val="tx2"/>
                </a:solidFill>
                <a:latin typeface="Cambria" pitchFamily="34" charset="0"/>
                <a:ea typeface="Cambria" pitchFamily="34" charset="-122"/>
                <a:cs typeface="Cambria" pitchFamily="34" charset="-120"/>
              </a:rPr>
              <a:t>140</a:t>
            </a:r>
            <a:endParaRPr lang="en-US" sz="4000" dirty="0"/>
          </a:p>
        </p:txBody>
      </p:sp>
      <p:sp>
        <p:nvSpPr>
          <p:cNvPr id="13" name="Text 10"/>
          <p:cNvSpPr txBox="1"/>
          <p:nvPr/>
        </p:nvSpPr>
        <p:spPr>
          <a:xfrm>
            <a:off x="6446520" y="2377440"/>
            <a:ext cx="2194560" cy="411480"/>
          </a:xfrm>
          <a:prstGeom prst="rect">
            <a:avLst/>
          </a:prstGeom>
          <a:noFill/>
          <a:ln/>
        </p:spPr>
        <p:txBody>
          <a:bodyPr wrap="square" lIns="0" tIns="0" rIns="0" bIns="0" rtlCol="0" anchor="t"/>
          <a:lstStyle/>
          <a:p>
            <a:pPr indent="0" marL="0">
              <a:buNone/>
            </a:pPr>
            <a:r>
              <a:rPr lang="en-US" sz="1500" dirty="0">
                <a:solidFill>
                  <a:schemeClr val="tx1"/>
                </a:solidFill>
              </a:rPr>
              <a:t>bridges</a:t>
            </a:r>
            <a:endParaRPr lang="en-US" sz="1500" dirty="0"/>
          </a:p>
        </p:txBody>
      </p:sp>
      <p:sp>
        <p:nvSpPr>
          <p:cNvPr id="14" name="card"/>
          <p:cNvSpPr/>
          <p:nvPr/>
        </p:nvSpPr>
        <p:spPr>
          <a:xfrm>
            <a:off x="9052560" y="1508760"/>
            <a:ext cx="2606040" cy="1417320"/>
          </a:xfrm>
          <a:prstGeom prst="roundRect">
            <a:avLst>
              <a:gd name="adj" fmla="val 5161"/>
            </a:avLst>
          </a:prstGeom>
          <a:solidFill>
            <a:schemeClr val="tx2"/>
          </a:solidFill>
          <a:ln/>
        </p:spPr>
      </p:sp>
      <p:sp>
        <p:nvSpPr>
          <p:cNvPr id="15" name="Text 12"/>
          <p:cNvSpPr txBox="1"/>
          <p:nvPr/>
        </p:nvSpPr>
        <p:spPr>
          <a:xfrm>
            <a:off x="9281160" y="1572768"/>
            <a:ext cx="2194560" cy="77724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36</a:t>
            </a:r>
            <a:endParaRPr lang="en-US" sz="4000" dirty="0"/>
          </a:p>
        </p:txBody>
      </p:sp>
      <p:sp>
        <p:nvSpPr>
          <p:cNvPr id="16" name="Text 13"/>
          <p:cNvSpPr txBox="1"/>
          <p:nvPr/>
        </p:nvSpPr>
        <p:spPr>
          <a:xfrm>
            <a:off x="9281160" y="2377440"/>
            <a:ext cx="2194560" cy="411480"/>
          </a:xfrm>
          <a:prstGeom prst="rect">
            <a:avLst/>
          </a:prstGeom>
          <a:noFill/>
          <a:ln/>
        </p:spPr>
        <p:txBody>
          <a:bodyPr wrap="square" lIns="0" tIns="0" rIns="0" bIns="0" rtlCol="0" anchor="t"/>
          <a:lstStyle/>
          <a:p>
            <a:pPr indent="0" marL="0">
              <a:buNone/>
            </a:pPr>
            <a:r>
              <a:rPr lang="en-US" sz="1500" dirty="0">
                <a:solidFill>
                  <a:schemeClr val="bg1"/>
                </a:solidFill>
              </a:rPr>
              <a:t>injected overpricing</a:t>
            </a:r>
            <a:endParaRPr lang="en-US" sz="1500" dirty="0"/>
          </a:p>
        </p:txBody>
      </p:sp>
      <p:sp>
        <p:nvSpPr>
          <p:cNvPr id="17" name="card"/>
          <p:cNvSpPr/>
          <p:nvPr/>
        </p:nvSpPr>
        <p:spPr>
          <a:xfrm>
            <a:off x="548640" y="3154680"/>
            <a:ext cx="5486400" cy="3063240"/>
          </a:xfrm>
          <a:prstGeom prst="roundRect">
            <a:avLst>
              <a:gd name="adj" fmla="val 2388"/>
            </a:avLst>
          </a:prstGeom>
          <a:solidFill>
            <a:schemeClr val="bg2"/>
          </a:solidFill>
          <a:ln/>
        </p:spPr>
      </p:sp>
      <p:sp>
        <p:nvSpPr>
          <p:cNvPr id="18" name="Text 15"/>
          <p:cNvSpPr txBox="1"/>
          <p:nvPr/>
        </p:nvSpPr>
        <p:spPr>
          <a:xfrm>
            <a:off x="777240" y="3291840"/>
            <a:ext cx="5029200" cy="365760"/>
          </a:xfrm>
          <a:prstGeom prst="rect">
            <a:avLst/>
          </a:prstGeom>
          <a:noFill/>
          <a:ln/>
        </p:spPr>
        <p:txBody>
          <a:bodyPr wrap="square" lIns="0" tIns="0" rIns="0" bIns="0" rtlCol="0" anchor="t"/>
          <a:lstStyle/>
          <a:p>
            <a:pPr indent="0" marL="0">
              <a:buNone/>
            </a:pPr>
            <a:r>
              <a:rPr lang="en-US" sz="1600" b="1" dirty="0">
                <a:solidFill>
                  <a:schemeClr val="tx2"/>
                </a:solidFill>
              </a:rPr>
              <a:t>Awarded cost</a:t>
            </a:r>
            <a:endParaRPr lang="en-US" sz="1600" dirty="0"/>
          </a:p>
        </p:txBody>
      </p:sp>
      <p:pic>
        <p:nvPicPr>
          <p:cNvPr id="19" name="equation sim.png" descr="Simulated awarded cost">    </p:cNvPr>
          <p:cNvPicPr>
            <a:picLocks noChangeAspect="1"/>
          </p:cNvPicPr>
          <p:nvPr/>
        </p:nvPicPr>
        <p:blipFill>
          <a:blip r:embed="rId1"/>
          <a:stretch>
            <a:fillRect/>
          </a:stretch>
        </p:blipFill>
        <p:spPr>
          <a:xfrm>
            <a:off x="777240" y="3882748"/>
            <a:ext cx="4791928" cy="372664"/>
          </a:xfrm>
          <a:prstGeom prst="rect">
            <a:avLst/>
          </a:prstGeom>
        </p:spPr>
      </p:pic>
      <p:sp>
        <p:nvSpPr>
          <p:cNvPr id="20" name="Text 16"/>
          <p:cNvSpPr txBox="1"/>
          <p:nvPr/>
        </p:nvSpPr>
        <p:spPr>
          <a:xfrm>
            <a:off x="777240" y="4572000"/>
            <a:ext cx="50749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η: lognormal bid competition (fair bids slightly below standard)</a:t>
            </a:r>
            <a:endParaRPr lang="en-US" sz="1400" dirty="0"/>
          </a:p>
          <a:p>
            <a:pPr marL="342900" indent="-342900">
              <a:spcAft>
                <a:spcPts val="600"/>
              </a:spcAft>
              <a:buSzPct val="100000"/>
              <a:buChar char="•"/>
            </a:pPr>
            <a:r>
              <a:rPr lang="en-US" sz="1400" dirty="0">
                <a:solidFill>
                  <a:schemeClr val="tx1"/>
                </a:solidFill>
              </a:rPr>
              <a:t>μ = 1 for fair projects; 1.20–1.40 moderate, 1.40–2.10 severe padding</a:t>
            </a:r>
            <a:endParaRPr lang="en-US" sz="1400" dirty="0"/>
          </a:p>
        </p:txBody>
      </p:sp>
      <p:sp>
        <p:nvSpPr>
          <p:cNvPr id="21" name="card"/>
          <p:cNvSpPr/>
          <p:nvPr/>
        </p:nvSpPr>
        <p:spPr>
          <a:xfrm>
            <a:off x="6263640" y="3154680"/>
            <a:ext cx="5376672" cy="3063240"/>
          </a:xfrm>
          <a:prstGeom prst="roundRect">
            <a:avLst>
              <a:gd name="adj" fmla="val 2388"/>
            </a:avLst>
          </a:prstGeom>
          <a:solidFill>
            <a:schemeClr val="bg2"/>
          </a:solidFill>
          <a:ln/>
        </p:spPr>
      </p:sp>
      <p:sp>
        <p:nvSpPr>
          <p:cNvPr id="22" name="Text 18"/>
          <p:cNvSpPr txBox="1"/>
          <p:nvPr/>
        </p:nvSpPr>
        <p:spPr>
          <a:xfrm>
            <a:off x="6492240" y="3291840"/>
            <a:ext cx="4937760" cy="365760"/>
          </a:xfrm>
          <a:prstGeom prst="rect">
            <a:avLst/>
          </a:prstGeom>
          <a:noFill/>
          <a:ln/>
        </p:spPr>
        <p:txBody>
          <a:bodyPr wrap="square" lIns="0" tIns="0" rIns="0" bIns="0" rtlCol="0" anchor="t"/>
          <a:lstStyle/>
          <a:p>
            <a:pPr indent="0" marL="0">
              <a:buNone/>
            </a:pPr>
            <a:r>
              <a:rPr lang="en-US" sz="1600" b="1" dirty="0">
                <a:solidFill>
                  <a:schemeClr val="tx2"/>
                </a:solidFill>
              </a:rPr>
              <a:t>Hidden variation the plan cannot see</a:t>
            </a:r>
            <a:endParaRPr lang="en-US" sz="1600" dirty="0"/>
          </a:p>
        </p:txBody>
      </p:sp>
      <p:sp>
        <p:nvSpPr>
          <p:cNvPr id="23" name="Text 19"/>
          <p:cNvSpPr txBox="1"/>
          <p:nvPr/>
        </p:nvSpPr>
        <p:spPr>
          <a:xfrm>
            <a:off x="6492240" y="3749040"/>
            <a:ext cx="493776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Unit prices ±7% per project</a:t>
            </a:r>
            <a:endParaRPr lang="en-US" sz="1400" dirty="0"/>
          </a:p>
          <a:p>
            <a:pPr marL="342900" indent="-342900">
              <a:spcAft>
                <a:spcPts val="600"/>
              </a:spcAft>
              <a:buSzPct val="100000"/>
              <a:buChar char="•"/>
            </a:pPr>
            <a:r>
              <a:rPr lang="en-US" sz="1400" dirty="0">
                <a:solidFill>
                  <a:schemeClr val="tx1"/>
                </a:solidFill>
              </a:rPr>
              <a:t>Reinforcement ±10%, concrete ±6%</a:t>
            </a:r>
            <a:endParaRPr lang="en-US" sz="1400" dirty="0"/>
          </a:p>
          <a:p>
            <a:pPr marL="342900" indent="-342900">
              <a:spcAft>
                <a:spcPts val="600"/>
              </a:spcAft>
              <a:buSzPct val="100000"/>
              <a:buChar char="•"/>
            </a:pPr>
            <a:r>
              <a:rPr lang="en-US" sz="1400" dirty="0">
                <a:solidFill>
                  <a:schemeClr val="tx1"/>
                </a:solidFill>
              </a:rPr>
              <a:t>MEPF ±8%, earthworks +5–15%</a:t>
            </a:r>
            <a:endParaRPr lang="en-US" sz="1400" dirty="0"/>
          </a:p>
          <a:p>
            <a:pPr marL="342900" indent="-342900">
              <a:spcAft>
                <a:spcPts val="600"/>
              </a:spcAft>
              <a:buSzPct val="100000"/>
              <a:buChar char="•"/>
            </a:pPr>
            <a:r>
              <a:rPr lang="en-US" sz="1400" dirty="0">
                <a:solidFill>
                  <a:schemeClr val="tx1"/>
                </a:solidFill>
              </a:rPr>
              <a:t>Pile lengths 0.95–1.35 × planned</a:t>
            </a:r>
            <a:endParaRPr lang="en-US" sz="1400" dirty="0"/>
          </a:p>
          <a:p>
            <a:pPr marL="342900" indent="-342900">
              <a:spcAft>
                <a:spcPts val="600"/>
              </a:spcAft>
              <a:buSzPct val="100000"/>
              <a:buChar char="•"/>
            </a:pPr>
            <a:r>
              <a:rPr lang="en-US" sz="1400" dirty="0">
                <a:solidFill>
                  <a:schemeClr val="tx1"/>
                </a:solidFill>
              </a:rPr>
              <a:t>Provinces weighted by size; award years 2022–2025</a:t>
            </a:r>
            <a:endParaRPr lang="en-US" sz="1400" dirty="0"/>
          </a:p>
        </p:txBody>
      </p:sp>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229600" cy="292608"/>
          </a:xfrm>
          <a:prstGeom prst="rect">
            <a:avLst/>
          </a:prstGeom>
          <a:noFill/>
          <a:ln/>
        </p:spPr>
        <p:txBody>
          <a:bodyPr wrap="square" lIns="0" tIns="0" rIns="0" bIns="0" rtlCol="0"/>
          <a:lstStyle/>
          <a:p>
            <a:pPr indent="0" marL="0">
              <a:buNone/>
            </a:pPr>
            <a:r>
              <a:rPr lang="en-US" sz="1200" b="1" spc="200" kern="0" dirty="0">
                <a:solidFill>
                  <a:schemeClr val="accent5"/>
                </a:solidFill>
              </a:rPr>
              <a:t>DATA ANALYSIS</a:t>
            </a:r>
            <a:endParaRPr lang="en-US" sz="1200" dirty="0"/>
          </a:p>
        </p:txBody>
      </p:sp>
      <p:sp>
        <p:nvSpPr>
          <p:cNvPr id="3" name="Text 0"/>
          <p:cNvSpPr/>
          <p:nvPr>
            <p:ph idx="101" type="title" hasCustomPrompt="1"/>
          </p:nvPr>
        </p:nvSpPr>
        <p:spPr>
          <a:xfrm>
            <a:off x="548640" y="53035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Model Development</a:t>
            </a:r>
            <a:endParaRPr lang="en-US" sz="3200" dirty="0"/>
          </a:p>
        </p:txBody>
      </p:sp>
      <p:sp>
        <p:nvSpPr>
          <p:cNvPr id="5" name="card"/>
          <p:cNvSpPr/>
          <p:nvPr/>
        </p:nvSpPr>
        <p:spPr>
          <a:xfrm>
            <a:off x="548640" y="1508760"/>
            <a:ext cx="5422392" cy="2194560"/>
          </a:xfrm>
          <a:prstGeom prst="roundRect">
            <a:avLst>
              <a:gd name="adj" fmla="val 3333"/>
            </a:avLst>
          </a:prstGeom>
          <a:solidFill>
            <a:schemeClr val="bg2"/>
          </a:solidFill>
          <a:ln/>
        </p:spPr>
      </p:sp>
      <p:sp>
        <p:nvSpPr>
          <p:cNvPr id="6" name="Text 3"/>
          <p:cNvSpPr txBox="1"/>
          <p:nvPr/>
        </p:nvSpPr>
        <p:spPr>
          <a:xfrm>
            <a:off x="777240" y="1645920"/>
            <a:ext cx="4937760" cy="384048"/>
          </a:xfrm>
          <a:prstGeom prst="rect">
            <a:avLst/>
          </a:prstGeom>
          <a:noFill/>
          <a:ln/>
        </p:spPr>
        <p:txBody>
          <a:bodyPr wrap="square" lIns="0" tIns="0" rIns="0" bIns="0" rtlCol="0" anchor="t"/>
          <a:lstStyle/>
          <a:p>
            <a:pPr indent="0" marL="0">
              <a:buNone/>
            </a:pPr>
            <a:r>
              <a:rPr lang="en-US" sz="1800" b="1" dirty="0">
                <a:solidFill>
                  <a:schemeClr val="tx2"/>
                </a:solidFill>
              </a:rPr>
              <a:t>Multiple Linear Regression</a:t>
            </a:r>
            <a:endParaRPr lang="en-US" sz="1800" dirty="0"/>
          </a:p>
        </p:txBody>
      </p:sp>
      <p:pic>
        <p:nvPicPr>
          <p:cNvPr id="7" name="equation mlr.png" descr="equation">    </p:cNvPr>
          <p:cNvPicPr>
            <a:picLocks noChangeAspect="1"/>
          </p:cNvPicPr>
          <p:nvPr/>
        </p:nvPicPr>
        <p:blipFill>
          <a:blip r:embed="rId1"/>
          <a:stretch>
            <a:fillRect/>
          </a:stretch>
        </p:blipFill>
        <p:spPr>
          <a:xfrm>
            <a:off x="777240" y="2188182"/>
            <a:ext cx="2202104" cy="643692"/>
          </a:xfrm>
          <a:prstGeom prst="rect">
            <a:avLst/>
          </a:prstGeom>
        </p:spPr>
      </p:pic>
      <p:pic>
        <p:nvPicPr>
          <p:cNvPr id="8" name="equation vif.png" descr="equation">    </p:cNvPr>
          <p:cNvPicPr>
            <a:picLocks noChangeAspect="1"/>
          </p:cNvPicPr>
          <p:nvPr/>
        </p:nvPicPr>
        <p:blipFill>
          <a:blip r:embed="rId2"/>
          <a:stretch>
            <a:fillRect/>
          </a:stretch>
        </p:blipFill>
        <p:spPr>
          <a:xfrm>
            <a:off x="3749040" y="2143011"/>
            <a:ext cx="1449248" cy="734035"/>
          </a:xfrm>
          <a:prstGeom prst="rect">
            <a:avLst/>
          </a:prstGeom>
        </p:spPr>
      </p:pic>
      <p:sp>
        <p:nvSpPr>
          <p:cNvPr id="9" name="Text 4"/>
          <p:cNvSpPr txBox="1"/>
          <p:nvPr/>
        </p:nvSpPr>
        <p:spPr>
          <a:xfrm>
            <a:off x="777240" y="3108960"/>
            <a:ext cx="4937760" cy="457200"/>
          </a:xfrm>
          <a:prstGeom prst="rect">
            <a:avLst/>
          </a:prstGeom>
          <a:noFill/>
          <a:ln/>
        </p:spPr>
        <p:txBody>
          <a:bodyPr wrap="square" lIns="0" tIns="0" rIns="0" bIns="0" rtlCol="0" anchor="t"/>
          <a:lstStyle/>
          <a:p>
            <a:pPr indent="0" marL="0">
              <a:buNone/>
            </a:pPr>
            <a:r>
              <a:rPr lang="en-US" sz="1400" dirty="0">
                <a:solidFill>
                  <a:srgbClr val="44505E"/>
                </a:solidFill>
              </a:rPr>
              <a:t>Interpretable baseline; VIF &gt; 10 removed</a:t>
            </a:r>
            <a:endParaRPr lang="en-US" sz="1400" dirty="0"/>
          </a:p>
        </p:txBody>
      </p:sp>
      <p:sp>
        <p:nvSpPr>
          <p:cNvPr id="10" name="card"/>
          <p:cNvSpPr/>
          <p:nvPr/>
        </p:nvSpPr>
        <p:spPr>
          <a:xfrm>
            <a:off x="6217920" y="1508760"/>
            <a:ext cx="5422392" cy="2194560"/>
          </a:xfrm>
          <a:prstGeom prst="roundRect">
            <a:avLst>
              <a:gd name="adj" fmla="val 3333"/>
            </a:avLst>
          </a:prstGeom>
          <a:solidFill>
            <a:schemeClr val="bg2"/>
          </a:solidFill>
          <a:ln/>
        </p:spPr>
      </p:sp>
      <p:sp>
        <p:nvSpPr>
          <p:cNvPr id="11" name="Text 6"/>
          <p:cNvSpPr txBox="1"/>
          <p:nvPr/>
        </p:nvSpPr>
        <p:spPr>
          <a:xfrm>
            <a:off x="6446520" y="1645920"/>
            <a:ext cx="4937760" cy="384048"/>
          </a:xfrm>
          <a:prstGeom prst="rect">
            <a:avLst/>
          </a:prstGeom>
          <a:noFill/>
          <a:ln/>
        </p:spPr>
        <p:txBody>
          <a:bodyPr wrap="square" lIns="0" tIns="0" rIns="0" bIns="0" rtlCol="0" anchor="t"/>
          <a:lstStyle/>
          <a:p>
            <a:pPr indent="0" marL="0">
              <a:buNone/>
            </a:pPr>
            <a:r>
              <a:rPr lang="en-US" sz="1800" b="1" dirty="0">
                <a:solidFill>
                  <a:schemeClr val="tx2"/>
                </a:solidFill>
              </a:rPr>
              <a:t>XGBoost</a:t>
            </a:r>
            <a:endParaRPr lang="en-US" sz="1800" dirty="0"/>
          </a:p>
        </p:txBody>
      </p:sp>
      <p:pic>
        <p:nvPicPr>
          <p:cNvPr id="12" name="equation xgb.png" descr="equation">    </p:cNvPr>
          <p:cNvPicPr>
            <a:picLocks noChangeAspect="1"/>
          </p:cNvPicPr>
          <p:nvPr/>
        </p:nvPicPr>
        <p:blipFill>
          <a:blip r:embed="rId3"/>
          <a:stretch>
            <a:fillRect/>
          </a:stretch>
        </p:blipFill>
        <p:spPr>
          <a:xfrm>
            <a:off x="6446520" y="2240438"/>
            <a:ext cx="4937760" cy="539181"/>
          </a:xfrm>
          <a:prstGeom prst="rect">
            <a:avLst/>
          </a:prstGeom>
        </p:spPr>
      </p:pic>
      <p:sp>
        <p:nvSpPr>
          <p:cNvPr id="13" name="Text 7"/>
          <p:cNvSpPr txBox="1"/>
          <p:nvPr/>
        </p:nvSpPr>
        <p:spPr>
          <a:xfrm>
            <a:off x="6446520" y="3108960"/>
            <a:ext cx="4937760" cy="457200"/>
          </a:xfrm>
          <a:prstGeom prst="rect">
            <a:avLst/>
          </a:prstGeom>
          <a:noFill/>
          <a:ln/>
        </p:spPr>
        <p:txBody>
          <a:bodyPr wrap="square" lIns="0" tIns="0" rIns="0" bIns="0" rtlCol="0" anchor="t"/>
          <a:lstStyle/>
          <a:p>
            <a:pPr indent="0" marL="0">
              <a:buNone/>
            </a:pPr>
            <a:r>
              <a:rPr lang="en-US" sz="1400" dirty="0">
                <a:solidFill>
                  <a:srgbClr val="44505E"/>
                </a:solidFill>
              </a:rPr>
              <a:t>Regularized trees on log cost; randomized search, 5-fold CV</a:t>
            </a:r>
            <a:endParaRPr lang="en-US" sz="1400" dirty="0"/>
          </a:p>
        </p:txBody>
      </p:sp>
      <p:sp>
        <p:nvSpPr>
          <p:cNvPr id="14" name="card"/>
          <p:cNvSpPr/>
          <p:nvPr/>
        </p:nvSpPr>
        <p:spPr>
          <a:xfrm>
            <a:off x="548640" y="3904488"/>
            <a:ext cx="5422392" cy="2194560"/>
          </a:xfrm>
          <a:prstGeom prst="roundRect">
            <a:avLst>
              <a:gd name="adj" fmla="val 3333"/>
            </a:avLst>
          </a:prstGeom>
          <a:solidFill>
            <a:schemeClr val="bg2"/>
          </a:solidFill>
          <a:ln/>
        </p:spPr>
      </p:sp>
      <p:sp>
        <p:nvSpPr>
          <p:cNvPr id="15" name="Text 9"/>
          <p:cNvSpPr txBox="1"/>
          <p:nvPr/>
        </p:nvSpPr>
        <p:spPr>
          <a:xfrm>
            <a:off x="777240" y="4041648"/>
            <a:ext cx="4937760" cy="384048"/>
          </a:xfrm>
          <a:prstGeom prst="rect">
            <a:avLst/>
          </a:prstGeom>
          <a:noFill/>
          <a:ln/>
        </p:spPr>
        <p:txBody>
          <a:bodyPr wrap="square" lIns="0" tIns="0" rIns="0" bIns="0" rtlCol="0" anchor="t"/>
          <a:lstStyle/>
          <a:p>
            <a:pPr indent="0" marL="0">
              <a:buNone/>
            </a:pPr>
            <a:r>
              <a:rPr lang="en-US" sz="1800" b="1" dirty="0">
                <a:solidFill>
                  <a:schemeClr val="tx2"/>
                </a:solidFill>
              </a:rPr>
              <a:t>Isolation Forest</a:t>
            </a:r>
            <a:endParaRPr lang="en-US" sz="1800" dirty="0"/>
          </a:p>
        </p:txBody>
      </p:sp>
      <p:pic>
        <p:nvPicPr>
          <p:cNvPr id="16" name="equation iforest.png" descr="equation">    </p:cNvPr>
          <p:cNvPicPr>
            <a:picLocks noChangeAspect="1"/>
          </p:cNvPicPr>
          <p:nvPr/>
        </p:nvPicPr>
        <p:blipFill>
          <a:blip r:embed="rId4"/>
          <a:stretch>
            <a:fillRect/>
          </a:stretch>
        </p:blipFill>
        <p:spPr>
          <a:xfrm>
            <a:off x="777240" y="4615193"/>
            <a:ext cx="4937760" cy="581125"/>
          </a:xfrm>
          <a:prstGeom prst="rect">
            <a:avLst/>
          </a:prstGeom>
        </p:spPr>
      </p:pic>
      <p:sp>
        <p:nvSpPr>
          <p:cNvPr id="17" name="Text 10"/>
          <p:cNvSpPr txBox="1"/>
          <p:nvPr/>
        </p:nvSpPr>
        <p:spPr>
          <a:xfrm>
            <a:off x="777240" y="5504688"/>
            <a:ext cx="4937760" cy="457200"/>
          </a:xfrm>
          <a:prstGeom prst="rect">
            <a:avLst/>
          </a:prstGeom>
          <a:noFill/>
          <a:ln/>
        </p:spPr>
        <p:txBody>
          <a:bodyPr wrap="square" lIns="0" tIns="0" rIns="0" bIns="0" rtlCol="0" anchor="t"/>
          <a:lstStyle/>
          <a:p>
            <a:pPr indent="0" marL="0">
              <a:buNone/>
            </a:pPr>
            <a:r>
              <a:rPr lang="en-US" sz="1400" dirty="0">
                <a:solidFill>
                  <a:srgbClr val="44505E"/>
                </a:solidFill>
              </a:rPr>
              <a:t>Short average path → unusual contract</a:t>
            </a:r>
            <a:endParaRPr lang="en-US" sz="1400" dirty="0"/>
          </a:p>
        </p:txBody>
      </p:sp>
      <p:sp>
        <p:nvSpPr>
          <p:cNvPr id="18" name="card"/>
          <p:cNvSpPr/>
          <p:nvPr/>
        </p:nvSpPr>
        <p:spPr>
          <a:xfrm>
            <a:off x="6217920" y="3904488"/>
            <a:ext cx="5422392" cy="2194560"/>
          </a:xfrm>
          <a:prstGeom prst="roundRect">
            <a:avLst>
              <a:gd name="adj" fmla="val 3333"/>
            </a:avLst>
          </a:prstGeom>
          <a:solidFill>
            <a:schemeClr val="bg2"/>
          </a:solidFill>
          <a:ln/>
        </p:spPr>
      </p:sp>
      <p:sp>
        <p:nvSpPr>
          <p:cNvPr id="19" name="Text 12"/>
          <p:cNvSpPr txBox="1"/>
          <p:nvPr/>
        </p:nvSpPr>
        <p:spPr>
          <a:xfrm>
            <a:off x="6446520" y="4041648"/>
            <a:ext cx="4937760" cy="384048"/>
          </a:xfrm>
          <a:prstGeom prst="rect">
            <a:avLst/>
          </a:prstGeom>
          <a:noFill/>
          <a:ln/>
        </p:spPr>
        <p:txBody>
          <a:bodyPr wrap="square" lIns="0" tIns="0" rIns="0" bIns="0" rtlCol="0" anchor="t"/>
          <a:lstStyle/>
          <a:p>
            <a:pPr indent="0" marL="0">
              <a:buNone/>
            </a:pPr>
            <a:r>
              <a:rPr lang="en-US" sz="1800" b="1" dirty="0">
                <a:solidFill>
                  <a:schemeClr val="tx2"/>
                </a:solidFill>
              </a:rPr>
              <a:t>SHAP (Shapley values)</a:t>
            </a:r>
            <a:endParaRPr lang="en-US" sz="1800" dirty="0"/>
          </a:p>
        </p:txBody>
      </p:sp>
      <p:pic>
        <p:nvPicPr>
          <p:cNvPr id="20" name="equation shap.png" descr="equation">    </p:cNvPr>
          <p:cNvPicPr>
            <a:picLocks noChangeAspect="1"/>
          </p:cNvPicPr>
          <p:nvPr/>
        </p:nvPicPr>
        <p:blipFill>
          <a:blip r:embed="rId5"/>
          <a:stretch>
            <a:fillRect/>
          </a:stretch>
        </p:blipFill>
        <p:spPr>
          <a:xfrm>
            <a:off x="6446520" y="4568853"/>
            <a:ext cx="1836969" cy="673806"/>
          </a:xfrm>
          <a:prstGeom prst="rect">
            <a:avLst/>
          </a:prstGeom>
        </p:spPr>
      </p:pic>
      <p:sp>
        <p:nvSpPr>
          <p:cNvPr id="21" name="Text 13"/>
          <p:cNvSpPr txBox="1"/>
          <p:nvPr/>
        </p:nvSpPr>
        <p:spPr>
          <a:xfrm>
            <a:off x="6446520" y="5504688"/>
            <a:ext cx="4937760" cy="457200"/>
          </a:xfrm>
          <a:prstGeom prst="rect">
            <a:avLst/>
          </a:prstGeom>
          <a:noFill/>
          <a:ln/>
        </p:spPr>
        <p:txBody>
          <a:bodyPr wrap="square" lIns="0" tIns="0" rIns="0" bIns="0" rtlCol="0" anchor="t"/>
          <a:lstStyle/>
          <a:p>
            <a:pPr indent="0" marL="0">
              <a:buNone/>
            </a:pPr>
            <a:r>
              <a:rPr lang="en-US" sz="1400" dirty="0">
                <a:solidFill>
                  <a:srgbClr val="44505E"/>
                </a:solidFill>
              </a:rPr>
              <a:t>Exact TreeSHAP, also run on the phone</a:t>
            </a:r>
            <a:endParaRPr lang="en-US" sz="1400" dirty="0"/>
          </a:p>
        </p:txBody>
      </p:sp>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229600" cy="292608"/>
          </a:xfrm>
          <a:prstGeom prst="rect">
            <a:avLst/>
          </a:prstGeom>
          <a:noFill/>
          <a:ln/>
        </p:spPr>
        <p:txBody>
          <a:bodyPr wrap="square" lIns="0" tIns="0" rIns="0" bIns="0" rtlCol="0"/>
          <a:lstStyle/>
          <a:p>
            <a:pPr indent="0" marL="0">
              <a:buNone/>
            </a:pPr>
            <a:r>
              <a:rPr lang="en-US" sz="1200" b="1" spc="200" kern="0" dirty="0">
                <a:solidFill>
                  <a:schemeClr val="accent5"/>
                </a:solidFill>
              </a:rPr>
              <a:t>DATA ANALYSIS</a:t>
            </a:r>
            <a:endParaRPr lang="en-US" sz="1200" dirty="0"/>
          </a:p>
        </p:txBody>
      </p:sp>
      <p:sp>
        <p:nvSpPr>
          <p:cNvPr id="3" name="Text 0"/>
          <p:cNvSpPr/>
          <p:nvPr>
            <p:ph idx="101" type="title" hasCustomPrompt="1"/>
          </p:nvPr>
        </p:nvSpPr>
        <p:spPr>
          <a:xfrm>
            <a:off x="548640" y="53035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The BUHAY-AH Risk Index</a:t>
            </a:r>
            <a:endParaRPr lang="en-US" sz="3200" dirty="0"/>
          </a:p>
        </p:txBody>
      </p:sp>
      <p:sp>
        <p:nvSpPr>
          <p:cNvPr id="5" name="card"/>
          <p:cNvSpPr/>
          <p:nvPr/>
        </p:nvSpPr>
        <p:spPr>
          <a:xfrm>
            <a:off x="548640" y="1508760"/>
            <a:ext cx="6766560" cy="4709160"/>
          </a:xfrm>
          <a:prstGeom prst="roundRect">
            <a:avLst>
              <a:gd name="adj" fmla="val 1553"/>
            </a:avLst>
          </a:prstGeom>
          <a:solidFill>
            <a:schemeClr val="bg2"/>
          </a:solidFill>
          <a:ln/>
        </p:spPr>
      </p:sp>
      <p:sp>
        <p:nvSpPr>
          <p:cNvPr id="6" name="Text 3"/>
          <p:cNvSpPr txBox="1"/>
          <p:nvPr/>
        </p:nvSpPr>
        <p:spPr>
          <a:xfrm>
            <a:off x="777240" y="1645920"/>
            <a:ext cx="6309360" cy="365760"/>
          </a:xfrm>
          <a:prstGeom prst="rect">
            <a:avLst/>
          </a:prstGeom>
          <a:noFill/>
          <a:ln/>
        </p:spPr>
        <p:txBody>
          <a:bodyPr wrap="square" lIns="0" tIns="0" rIns="0" bIns="0" rtlCol="0" anchor="t"/>
          <a:lstStyle/>
          <a:p>
            <a:pPr indent="0" marL="0">
              <a:buNone/>
            </a:pPr>
            <a:r>
              <a:rPr lang="en-US" sz="1600" b="1" dirty="0">
                <a:solidFill>
                  <a:schemeClr val="tx2"/>
                </a:solidFill>
              </a:rPr>
              <a:t>Over-budget ratio</a:t>
            </a:r>
            <a:endParaRPr lang="en-US" sz="1600" dirty="0"/>
          </a:p>
        </p:txBody>
      </p:sp>
      <p:pic>
        <p:nvPicPr>
          <p:cNvPr id="7" name="equation obr.png" descr="equation">    </p:cNvPr>
          <p:cNvPicPr>
            <a:picLocks noChangeAspect="1"/>
          </p:cNvPicPr>
          <p:nvPr/>
        </p:nvPicPr>
        <p:blipFill>
          <a:blip r:embed="rId1"/>
          <a:stretch>
            <a:fillRect/>
          </a:stretch>
        </p:blipFill>
        <p:spPr>
          <a:xfrm>
            <a:off x="777240" y="2101314"/>
            <a:ext cx="1558412" cy="643692"/>
          </a:xfrm>
          <a:prstGeom prst="rect">
            <a:avLst/>
          </a:prstGeom>
        </p:spPr>
      </p:pic>
      <p:sp>
        <p:nvSpPr>
          <p:cNvPr id="8" name="Text 4"/>
          <p:cNvSpPr txBox="1"/>
          <p:nvPr/>
        </p:nvSpPr>
        <p:spPr>
          <a:xfrm>
            <a:off x="777240" y="2971800"/>
            <a:ext cx="6309360" cy="365760"/>
          </a:xfrm>
          <a:prstGeom prst="rect">
            <a:avLst/>
          </a:prstGeom>
          <a:noFill/>
          <a:ln/>
        </p:spPr>
        <p:txBody>
          <a:bodyPr wrap="square" lIns="0" tIns="0" rIns="0" bIns="0" rtlCol="0" anchor="t"/>
          <a:lstStyle/>
          <a:p>
            <a:pPr indent="0" marL="0">
              <a:buNone/>
            </a:pPr>
            <a:r>
              <a:rPr lang="en-US" sz="1600" b="1" dirty="0">
                <a:solidFill>
                  <a:schemeClr val="tx2"/>
                </a:solidFill>
              </a:rPr>
              <a:t>Risk index and signal scaling</a:t>
            </a:r>
            <a:endParaRPr lang="en-US" sz="1600" dirty="0"/>
          </a:p>
        </p:txBody>
      </p:sp>
      <p:pic>
        <p:nvPicPr>
          <p:cNvPr id="9" name="equation bri.png" descr="equation">    </p:cNvPr>
          <p:cNvPicPr>
            <a:picLocks noChangeAspect="1"/>
          </p:cNvPicPr>
          <p:nvPr/>
        </p:nvPicPr>
        <p:blipFill>
          <a:blip r:embed="rId2"/>
          <a:stretch>
            <a:fillRect/>
          </a:stretch>
        </p:blipFill>
        <p:spPr>
          <a:xfrm>
            <a:off x="777240" y="3562708"/>
            <a:ext cx="4114358" cy="372664"/>
          </a:xfrm>
          <a:prstGeom prst="rect">
            <a:avLst/>
          </a:prstGeom>
        </p:spPr>
      </p:pic>
      <p:pic>
        <p:nvPicPr>
          <p:cNvPr id="10" name="equation bri_s.png" descr="equation">    </p:cNvPr>
          <p:cNvPicPr>
            <a:picLocks noChangeAspect="1"/>
          </p:cNvPicPr>
          <p:nvPr/>
        </p:nvPicPr>
        <p:blipFill>
          <a:blip r:embed="rId3"/>
          <a:stretch>
            <a:fillRect/>
          </a:stretch>
        </p:blipFill>
        <p:spPr>
          <a:xfrm>
            <a:off x="777240" y="4250703"/>
            <a:ext cx="6188476" cy="734035"/>
          </a:xfrm>
          <a:prstGeom prst="rect">
            <a:avLst/>
          </a:prstGeom>
        </p:spPr>
      </p:pic>
      <p:sp>
        <p:nvSpPr>
          <p:cNvPr id="11" name="Text 5"/>
          <p:cNvSpPr txBox="1"/>
          <p:nvPr/>
        </p:nvSpPr>
        <p:spPr>
          <a:xfrm>
            <a:off x="777240" y="5257800"/>
            <a:ext cx="6309360" cy="731520"/>
          </a:xfrm>
          <a:prstGeom prst="rect">
            <a:avLst/>
          </a:prstGeom>
          <a:noFill/>
          <a:ln/>
        </p:spPr>
        <p:txBody>
          <a:bodyPr wrap="square" lIns="0" tIns="0" rIns="0" bIns="0" rtlCol="0" anchor="t"/>
          <a:lstStyle/>
          <a:p>
            <a:pPr indent="0" marL="0">
              <a:buNone/>
            </a:pPr>
            <a:r>
              <a:rPr lang="en-US" sz="1400" dirty="0">
                <a:solidFill>
                  <a:srgbClr val="44505E"/>
                </a:solidFill>
              </a:rPr>
              <a:t>Each signal is clipped to [0, 1]; the over-budget signal does not inherit padding from past prices.</a:t>
            </a:r>
            <a:endParaRPr lang="en-US" sz="1400" dirty="0"/>
          </a:p>
        </p:txBody>
      </p:sp>
      <p:sp>
        <p:nvSpPr>
          <p:cNvPr id="12" name="BRI band Fair"/>
          <p:cNvSpPr/>
          <p:nvPr/>
        </p:nvSpPr>
        <p:spPr>
          <a:xfrm>
            <a:off x="7543800" y="1508760"/>
            <a:ext cx="4096512" cy="1371600"/>
          </a:xfrm>
          <a:prstGeom prst="roundRect">
            <a:avLst>
              <a:gd name="adj" fmla="val 5333"/>
            </a:avLst>
          </a:prstGeom>
          <a:solidFill>
            <a:schemeClr val="accent3"/>
          </a:solidFill>
          <a:ln/>
        </p:spPr>
      </p:sp>
      <p:sp>
        <p:nvSpPr>
          <p:cNvPr id="13" name="Text 7"/>
          <p:cNvSpPr txBox="1"/>
          <p:nvPr/>
        </p:nvSpPr>
        <p:spPr>
          <a:xfrm>
            <a:off x="7772400" y="1645920"/>
            <a:ext cx="3657600" cy="54864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BRI 0 – 20</a:t>
            </a:r>
            <a:endParaRPr lang="en-US" sz="2400" dirty="0"/>
          </a:p>
        </p:txBody>
      </p:sp>
      <p:sp>
        <p:nvSpPr>
          <p:cNvPr id="14" name="Text 8"/>
          <p:cNvSpPr txBox="1"/>
          <p:nvPr/>
        </p:nvSpPr>
        <p:spPr>
          <a:xfrm>
            <a:off x="7772400" y="2221992"/>
            <a:ext cx="3657600" cy="548640"/>
          </a:xfrm>
          <a:prstGeom prst="rect">
            <a:avLst/>
          </a:prstGeom>
          <a:noFill/>
          <a:ln/>
        </p:spPr>
        <p:txBody>
          <a:bodyPr wrap="square" lIns="0" tIns="0" rIns="0" bIns="0" rtlCol="0" anchor="t"/>
          <a:lstStyle/>
          <a:p>
            <a:pPr indent="0" marL="0">
              <a:buNone/>
            </a:pPr>
            <a:r>
              <a:rPr lang="en-US" sz="1500" dirty="0">
                <a:solidFill>
                  <a:srgbClr val="FFFFFF"/>
                </a:solidFill>
              </a:rPr>
              <a:t>Fair</a:t>
            </a:r>
            <a:endParaRPr lang="en-US" sz="1500" dirty="0"/>
          </a:p>
        </p:txBody>
      </p:sp>
      <p:sp>
        <p:nvSpPr>
          <p:cNvPr id="15" name="BRI band Review"/>
          <p:cNvSpPr/>
          <p:nvPr/>
        </p:nvSpPr>
        <p:spPr>
          <a:xfrm>
            <a:off x="7543800" y="3108960"/>
            <a:ext cx="4096512" cy="1371600"/>
          </a:xfrm>
          <a:prstGeom prst="roundRect">
            <a:avLst>
              <a:gd name="adj" fmla="val 5333"/>
            </a:avLst>
          </a:prstGeom>
          <a:solidFill>
            <a:schemeClr val="accent1"/>
          </a:solidFill>
          <a:ln/>
        </p:spPr>
      </p:sp>
      <p:sp>
        <p:nvSpPr>
          <p:cNvPr id="16" name="Text 10"/>
          <p:cNvSpPr txBox="1"/>
          <p:nvPr/>
        </p:nvSpPr>
        <p:spPr>
          <a:xfrm>
            <a:off x="7772400" y="3246120"/>
            <a:ext cx="3657600" cy="548640"/>
          </a:xfrm>
          <a:prstGeom prst="rect">
            <a:avLst/>
          </a:prstGeom>
          <a:noFill/>
          <a:ln/>
        </p:spPr>
        <p:txBody>
          <a:bodyPr wrap="square" lIns="0" tIns="0" rIns="0" bIns="0" rtlCol="0" anchor="t"/>
          <a:lstStyle/>
          <a:p>
            <a:pPr indent="0" marL="0">
              <a:buNone/>
            </a:pPr>
            <a:r>
              <a:rPr lang="en-US" sz="2400" b="1" dirty="0">
                <a:solidFill>
                  <a:srgbClr val="14202E"/>
                </a:solidFill>
                <a:latin typeface="Cambria" pitchFamily="34" charset="0"/>
                <a:ea typeface="Cambria" pitchFamily="34" charset="-122"/>
                <a:cs typeface="Cambria" pitchFamily="34" charset="-120"/>
              </a:rPr>
              <a:t>BRI 20 – 30</a:t>
            </a:r>
            <a:endParaRPr lang="en-US" sz="2400" dirty="0"/>
          </a:p>
        </p:txBody>
      </p:sp>
      <p:sp>
        <p:nvSpPr>
          <p:cNvPr id="17" name="Text 11"/>
          <p:cNvSpPr txBox="1"/>
          <p:nvPr/>
        </p:nvSpPr>
        <p:spPr>
          <a:xfrm>
            <a:off x="7772400" y="3822192"/>
            <a:ext cx="3657600" cy="548640"/>
          </a:xfrm>
          <a:prstGeom prst="rect">
            <a:avLst/>
          </a:prstGeom>
          <a:noFill/>
          <a:ln/>
        </p:spPr>
        <p:txBody>
          <a:bodyPr wrap="square" lIns="0" tIns="0" rIns="0" bIns="0" rtlCol="0" anchor="t"/>
          <a:lstStyle/>
          <a:p>
            <a:pPr indent="0" marL="0">
              <a:buNone/>
            </a:pPr>
            <a:r>
              <a:rPr lang="en-US" sz="1500" dirty="0">
                <a:solidFill>
                  <a:srgbClr val="14202E"/>
                </a:solidFill>
              </a:rPr>
              <a:t>Review</a:t>
            </a:r>
            <a:endParaRPr lang="en-US" sz="1500" dirty="0"/>
          </a:p>
        </p:txBody>
      </p:sp>
      <p:sp>
        <p:nvSpPr>
          <p:cNvPr id="18" name="BRI band Flag for review by COA, Ombudsman, ICI"/>
          <p:cNvSpPr/>
          <p:nvPr/>
        </p:nvSpPr>
        <p:spPr>
          <a:xfrm>
            <a:off x="7543800" y="4709160"/>
            <a:ext cx="4096512" cy="1371600"/>
          </a:xfrm>
          <a:prstGeom prst="roundRect">
            <a:avLst>
              <a:gd name="adj" fmla="val 5333"/>
            </a:avLst>
          </a:prstGeom>
          <a:solidFill>
            <a:schemeClr val="accent2"/>
          </a:solidFill>
          <a:ln/>
        </p:spPr>
      </p:sp>
      <p:sp>
        <p:nvSpPr>
          <p:cNvPr id="19" name="Text 13"/>
          <p:cNvSpPr txBox="1"/>
          <p:nvPr/>
        </p:nvSpPr>
        <p:spPr>
          <a:xfrm>
            <a:off x="7772400" y="4846320"/>
            <a:ext cx="3657600" cy="54864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BRI 30 – 100</a:t>
            </a:r>
            <a:endParaRPr lang="en-US" sz="2400" dirty="0"/>
          </a:p>
        </p:txBody>
      </p:sp>
      <p:sp>
        <p:nvSpPr>
          <p:cNvPr id="20" name="Text 14"/>
          <p:cNvSpPr txBox="1"/>
          <p:nvPr/>
        </p:nvSpPr>
        <p:spPr>
          <a:xfrm>
            <a:off x="7772400" y="5422392"/>
            <a:ext cx="3657600" cy="548640"/>
          </a:xfrm>
          <a:prstGeom prst="rect">
            <a:avLst/>
          </a:prstGeom>
          <a:noFill/>
          <a:ln/>
        </p:spPr>
        <p:txBody>
          <a:bodyPr wrap="square" lIns="0" tIns="0" rIns="0" bIns="0" rtlCol="0" anchor="t"/>
          <a:lstStyle/>
          <a:p>
            <a:pPr indent="0" marL="0">
              <a:buNone/>
            </a:pPr>
            <a:r>
              <a:rPr lang="en-US" sz="1500" dirty="0">
                <a:solidFill>
                  <a:srgbClr val="FFFFFF"/>
                </a:solidFill>
              </a:rPr>
              <a:t>Flag for review by COA, Ombudsman, ICI</a:t>
            </a:r>
            <a:endParaRPr lang="en-US" sz="1500" dirty="0"/>
          </a:p>
        </p:txBody>
      </p:sp>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229600" cy="292608"/>
          </a:xfrm>
          <a:prstGeom prst="rect">
            <a:avLst/>
          </a:prstGeom>
          <a:noFill/>
          <a:ln/>
        </p:spPr>
        <p:txBody>
          <a:bodyPr wrap="square" lIns="0" tIns="0" rIns="0" bIns="0" rtlCol="0"/>
          <a:lstStyle/>
          <a:p>
            <a:pPr indent="0" marL="0">
              <a:buNone/>
            </a:pPr>
            <a:r>
              <a:rPr lang="en-US" sz="1200" b="1" spc="200" kern="0" dirty="0">
                <a:solidFill>
                  <a:schemeClr val="accent5"/>
                </a:solidFill>
              </a:rPr>
              <a:t>DATA ANALYSIS AND STATISTICAL TREATMENT</a:t>
            </a:r>
            <a:endParaRPr lang="en-US" sz="1200" dirty="0"/>
          </a:p>
        </p:txBody>
      </p:sp>
      <p:sp>
        <p:nvSpPr>
          <p:cNvPr id="3" name="Text 0"/>
          <p:cNvSpPr/>
          <p:nvPr>
            <p:ph idx="101" type="title" hasCustomPrompt="1"/>
          </p:nvPr>
        </p:nvSpPr>
        <p:spPr>
          <a:xfrm>
            <a:off x="548640" y="53035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Validation and Metrics</a:t>
            </a:r>
            <a:endParaRPr lang="en-US" sz="3200" dirty="0"/>
          </a:p>
        </p:txBody>
      </p:sp>
      <p:sp>
        <p:nvSpPr>
          <p:cNvPr id="5" name="card"/>
          <p:cNvSpPr/>
          <p:nvPr/>
        </p:nvSpPr>
        <p:spPr>
          <a:xfrm>
            <a:off x="548640" y="1508760"/>
            <a:ext cx="11091672" cy="914400"/>
          </a:xfrm>
          <a:prstGeom prst="roundRect">
            <a:avLst>
              <a:gd name="adj" fmla="val 8000"/>
            </a:avLst>
          </a:prstGeom>
          <a:solidFill>
            <a:schemeClr val="bg2"/>
          </a:solidFill>
          <a:ln/>
        </p:spPr>
      </p:sp>
      <p:sp>
        <p:nvSpPr>
          <p:cNvPr id="6" name="icon circle"/>
          <p:cNvSpPr/>
          <p:nvPr/>
        </p:nvSpPr>
        <p:spPr>
          <a:xfrm>
            <a:off x="731520" y="1645920"/>
            <a:ext cx="640080" cy="640080"/>
          </a:xfrm>
          <a:prstGeom prst="ellipse">
            <a:avLst/>
          </a:prstGeom>
          <a:solidFill>
            <a:schemeClr val="tx2"/>
          </a:solidFill>
          <a:ln/>
        </p:spPr>
      </p:sp>
      <p:pic>
        <p:nvPicPr>
          <p:cNvPr id="7" name="icon FaArrowsRotate" descr="ArrowsRotate icon">    </p:cNvPr>
          <p:cNvPicPr>
            <a:picLocks noChangeAspect="1"/>
          </p:cNvPicPr>
          <p:nvPr/>
        </p:nvPicPr>
        <p:blipFill>
          <a:blip r:embed="rId1"/>
          <a:stretch>
            <a:fillRect/>
          </a:stretch>
        </p:blipFill>
        <p:spPr>
          <a:xfrm>
            <a:off x="885139" y="1799539"/>
            <a:ext cx="332842" cy="332842"/>
          </a:xfrm>
          <a:prstGeom prst="rect">
            <a:avLst/>
          </a:prstGeom>
        </p:spPr>
      </p:pic>
      <p:sp>
        <p:nvSpPr>
          <p:cNvPr id="8" name="Text 4"/>
          <p:cNvSpPr txBox="1"/>
          <p:nvPr/>
        </p:nvSpPr>
        <p:spPr>
          <a:xfrm>
            <a:off x="1554480" y="1508760"/>
            <a:ext cx="9966960" cy="914400"/>
          </a:xfrm>
          <a:prstGeom prst="rect">
            <a:avLst/>
          </a:prstGeom>
          <a:noFill/>
          <a:ln/>
        </p:spPr>
        <p:txBody>
          <a:bodyPr wrap="square" lIns="0" tIns="0" rIns="0" bIns="0" rtlCol="0" anchor="ctr"/>
          <a:lstStyle/>
          <a:p>
            <a:pPr indent="0" marL="0">
              <a:buNone/>
            </a:pPr>
            <a:r>
              <a:rPr lang="en-US" sz="1500" b="1" dirty="0">
                <a:solidFill>
                  <a:schemeClr val="tx1"/>
                </a:solidFill>
              </a:rPr>
              <a:t>Leave-one-out cross-validation: </a:t>
            </a:r>
            <a:pPr indent="0" marL="0">
              <a:buNone/>
            </a:pPr>
            <a:r>
              <a:rPr lang="en-US" sz="1500" dirty="0">
                <a:solidFill>
                  <a:schemeClr val="tx1"/>
                </a:solidFill>
              </a:rPr>
              <a:t>Each of the 300 projects is predicted by a model that never saw it; honest error on a small sample.</a:t>
            </a:r>
            <a:endParaRPr lang="en-US" sz="1500" dirty="0"/>
          </a:p>
        </p:txBody>
      </p:sp>
      <p:sp>
        <p:nvSpPr>
          <p:cNvPr id="9" name="card"/>
          <p:cNvSpPr/>
          <p:nvPr/>
        </p:nvSpPr>
        <p:spPr>
          <a:xfrm>
            <a:off x="548640" y="2606040"/>
            <a:ext cx="11091672" cy="1691640"/>
          </a:xfrm>
          <a:prstGeom prst="roundRect">
            <a:avLst>
              <a:gd name="adj" fmla="val 4324"/>
            </a:avLst>
          </a:prstGeom>
          <a:solidFill>
            <a:schemeClr val="bg2"/>
          </a:solidFill>
          <a:ln/>
        </p:spPr>
      </p:sp>
      <p:sp>
        <p:nvSpPr>
          <p:cNvPr id="10" name="Text 6"/>
          <p:cNvSpPr txBox="1"/>
          <p:nvPr/>
        </p:nvSpPr>
        <p:spPr>
          <a:xfrm>
            <a:off x="777240" y="2697480"/>
            <a:ext cx="10607040" cy="411480"/>
          </a:xfrm>
          <a:prstGeom prst="rect">
            <a:avLst/>
          </a:prstGeom>
          <a:noFill/>
          <a:ln/>
        </p:spPr>
        <p:txBody>
          <a:bodyPr wrap="square" lIns="0" tIns="0" rIns="0" bIns="0" rtlCol="0" anchor="t"/>
          <a:lstStyle/>
          <a:p>
            <a:pPr indent="0" marL="0">
              <a:buNone/>
            </a:pPr>
            <a:r>
              <a:rPr lang="en-US" sz="1500" b="1" dirty="0">
                <a:solidFill>
                  <a:schemeClr val="tx1"/>
                </a:solidFill>
              </a:rPr>
              <a:t>Cost prediction: </a:t>
            </a:r>
            <a:pPr indent="0" marL="0">
              <a:buNone/>
            </a:pPr>
            <a:r>
              <a:rPr lang="en-US" sz="1500" dirty="0">
                <a:solidFill>
                  <a:schemeClr val="tx1"/>
                </a:solidFill>
              </a:rPr>
              <a:t>Typical error in pesos, share of variance explained, and error as a percentage of each project’s cost.</a:t>
            </a:r>
            <a:endParaRPr lang="en-US" sz="1500" dirty="0"/>
          </a:p>
        </p:txBody>
      </p:sp>
      <p:pic>
        <p:nvPicPr>
          <p:cNvPr id="11" name="equation rmse.png" descr="equation">    </p:cNvPr>
          <p:cNvPicPr>
            <a:picLocks noChangeAspect="1"/>
          </p:cNvPicPr>
          <p:nvPr/>
        </p:nvPicPr>
        <p:blipFill>
          <a:blip r:embed="rId2"/>
          <a:stretch>
            <a:fillRect/>
          </a:stretch>
        </p:blipFill>
        <p:spPr>
          <a:xfrm>
            <a:off x="777240" y="3290583"/>
            <a:ext cx="2552182" cy="734035"/>
          </a:xfrm>
          <a:prstGeom prst="rect">
            <a:avLst/>
          </a:prstGeom>
        </p:spPr>
      </p:pic>
      <p:pic>
        <p:nvPicPr>
          <p:cNvPr id="12" name="equation r2.png" descr="equation">    </p:cNvPr>
          <p:cNvPicPr>
            <a:picLocks noChangeAspect="1"/>
          </p:cNvPicPr>
          <p:nvPr/>
        </p:nvPicPr>
        <p:blipFill>
          <a:blip r:embed="rId3"/>
          <a:stretch>
            <a:fillRect/>
          </a:stretch>
        </p:blipFill>
        <p:spPr>
          <a:xfrm>
            <a:off x="4434840" y="3154680"/>
            <a:ext cx="2032711" cy="1042706"/>
          </a:xfrm>
          <a:prstGeom prst="rect">
            <a:avLst/>
          </a:prstGeom>
        </p:spPr>
      </p:pic>
      <p:pic>
        <p:nvPicPr>
          <p:cNvPr id="13" name="equation mape.png" descr="equation">    </p:cNvPr>
          <p:cNvPicPr>
            <a:picLocks noChangeAspect="1"/>
          </p:cNvPicPr>
          <p:nvPr/>
        </p:nvPicPr>
        <p:blipFill>
          <a:blip r:embed="rId4"/>
          <a:stretch>
            <a:fillRect/>
          </a:stretch>
        </p:blipFill>
        <p:spPr>
          <a:xfrm>
            <a:off x="7726680" y="3322579"/>
            <a:ext cx="2808153" cy="670042"/>
          </a:xfrm>
          <a:prstGeom prst="rect">
            <a:avLst/>
          </a:prstGeom>
        </p:spPr>
      </p:pic>
      <p:sp>
        <p:nvSpPr>
          <p:cNvPr id="14" name="card"/>
          <p:cNvSpPr/>
          <p:nvPr/>
        </p:nvSpPr>
        <p:spPr>
          <a:xfrm>
            <a:off x="548640" y="4480560"/>
            <a:ext cx="6583680" cy="1737360"/>
          </a:xfrm>
          <a:prstGeom prst="roundRect">
            <a:avLst>
              <a:gd name="adj" fmla="val 4211"/>
            </a:avLst>
          </a:prstGeom>
          <a:solidFill>
            <a:schemeClr val="bg2"/>
          </a:solidFill>
          <a:ln/>
        </p:spPr>
      </p:sp>
      <p:sp>
        <p:nvSpPr>
          <p:cNvPr id="15" name="Text 8"/>
          <p:cNvSpPr txBox="1"/>
          <p:nvPr/>
        </p:nvSpPr>
        <p:spPr>
          <a:xfrm>
            <a:off x="777240" y="4572000"/>
            <a:ext cx="6217920" cy="457200"/>
          </a:xfrm>
          <a:prstGeom prst="rect">
            <a:avLst/>
          </a:prstGeom>
          <a:noFill/>
          <a:ln/>
        </p:spPr>
        <p:txBody>
          <a:bodyPr wrap="square" lIns="0" tIns="0" rIns="0" bIns="0" rtlCol="0" anchor="t"/>
          <a:lstStyle/>
          <a:p>
            <a:pPr indent="0" marL="0">
              <a:buNone/>
            </a:pPr>
            <a:r>
              <a:rPr lang="en-US" sz="1500" b="1" dirty="0">
                <a:solidFill>
                  <a:schemeClr val="tx1"/>
                </a:solidFill>
              </a:rPr>
              <a:t>Detection: </a:t>
            </a:r>
            <a:pPr indent="0" marL="0">
              <a:buNone/>
            </a:pPr>
            <a:r>
              <a:rPr lang="en-US" sz="1500" dirty="0">
                <a:solidFill>
                  <a:schemeClr val="tx1"/>
                </a:solidFill>
              </a:rPr>
              <a:t>Against the 36 injected cases; threshold-free ROC AUC.</a:t>
            </a:r>
            <a:endParaRPr lang="en-US" sz="1500" dirty="0"/>
          </a:p>
        </p:txBody>
      </p:sp>
      <p:pic>
        <p:nvPicPr>
          <p:cNvPr id="16" name="equation prf.png" descr="equation">    </p:cNvPr>
          <p:cNvPicPr>
            <a:picLocks noChangeAspect="1"/>
          </p:cNvPicPr>
          <p:nvPr/>
        </p:nvPicPr>
        <p:blipFill>
          <a:blip r:embed="rId5"/>
          <a:stretch>
            <a:fillRect/>
          </a:stretch>
        </p:blipFill>
        <p:spPr>
          <a:xfrm>
            <a:off x="777240" y="5248191"/>
            <a:ext cx="4814514" cy="613578"/>
          </a:xfrm>
          <a:prstGeom prst="rect">
            <a:avLst/>
          </a:prstGeom>
        </p:spPr>
      </p:pic>
      <p:sp>
        <p:nvSpPr>
          <p:cNvPr id="17" name="card"/>
          <p:cNvSpPr/>
          <p:nvPr/>
        </p:nvSpPr>
        <p:spPr>
          <a:xfrm>
            <a:off x="7360920" y="4480560"/>
            <a:ext cx="4279392" cy="1737360"/>
          </a:xfrm>
          <a:prstGeom prst="roundRect">
            <a:avLst>
              <a:gd name="adj" fmla="val 4211"/>
            </a:avLst>
          </a:prstGeom>
          <a:solidFill>
            <a:schemeClr val="bg2"/>
          </a:solidFill>
          <a:ln/>
        </p:spPr>
      </p:sp>
      <p:sp>
        <p:nvSpPr>
          <p:cNvPr id="18" name="Text 10"/>
          <p:cNvSpPr txBox="1"/>
          <p:nvPr/>
        </p:nvSpPr>
        <p:spPr>
          <a:xfrm>
            <a:off x="7589520" y="4572000"/>
            <a:ext cx="3840480" cy="1554480"/>
          </a:xfrm>
          <a:prstGeom prst="rect">
            <a:avLst/>
          </a:prstGeom>
          <a:noFill/>
          <a:ln/>
        </p:spPr>
        <p:txBody>
          <a:bodyPr wrap="square" lIns="0" tIns="0" rIns="0" bIns="0" rtlCol="0" anchor="t"/>
          <a:lstStyle/>
          <a:p>
            <a:pPr indent="0" marL="0">
              <a:buNone/>
            </a:pPr>
            <a:r>
              <a:rPr lang="en-US" sz="1500" b="1" dirty="0">
                <a:solidFill>
                  <a:schemeClr val="tx1"/>
                </a:solidFill>
              </a:rPr>
              <a:t>Design generation: </a:t>
            </a:r>
            <a:pPr indent="0" marL="0">
              <a:buNone/>
            </a:pPr>
            <a:r>
              <a:rPr lang="en-US" sz="1500" dirty="0">
                <a:solidFill>
                  <a:schemeClr val="tx1"/>
                </a:solidFill>
              </a:rPr>
              <a:t>Space-standard checks passed; budget used; search time in milliseconds.</a:t>
            </a:r>
            <a:endParaRPr lang="en-US" sz="1500" dirty="0"/>
          </a:p>
        </p:txBody>
      </p:sp>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229600" cy="292608"/>
          </a:xfrm>
          <a:prstGeom prst="rect">
            <a:avLst/>
          </a:prstGeom>
          <a:noFill/>
          <a:ln/>
        </p:spPr>
        <p:txBody>
          <a:bodyPr wrap="square" lIns="0" tIns="0" rIns="0" bIns="0" rtlCol="0"/>
          <a:lstStyle/>
          <a:p>
            <a:pPr indent="0" marL="0">
              <a:buNone/>
            </a:pPr>
            <a:r>
              <a:rPr lang="en-US" sz="1200" b="1" spc="200" kern="0" dirty="0">
                <a:solidFill>
                  <a:schemeClr val="accent5"/>
                </a:solidFill>
              </a:rPr>
              <a:t>DATA GATHERING PROCEDURE</a:t>
            </a:r>
            <a:endParaRPr lang="en-US" sz="1200" dirty="0"/>
          </a:p>
        </p:txBody>
      </p:sp>
      <p:sp>
        <p:nvSpPr>
          <p:cNvPr id="3" name="Text 0"/>
          <p:cNvSpPr/>
          <p:nvPr>
            <p:ph idx="101" type="title" hasCustomPrompt="1"/>
          </p:nvPr>
        </p:nvSpPr>
        <p:spPr>
          <a:xfrm>
            <a:off x="548640" y="53035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App and Website Development</a:t>
            </a:r>
            <a:endParaRPr lang="en-US" sz="3200" dirty="0"/>
          </a:p>
        </p:txBody>
      </p:sp>
      <p:pic>
        <p:nvPicPr>
          <p:cNvPr id="5" name="diagram_architecture.png" descr="System architecture">    </p:cNvPr>
          <p:cNvPicPr>
            <a:picLocks noChangeAspect="1"/>
          </p:cNvPicPr>
          <p:nvPr/>
        </p:nvPicPr>
        <p:blipFill>
          <a:blip r:embed="rId1"/>
          <a:stretch>
            <a:fillRect/>
          </a:stretch>
        </p:blipFill>
        <p:spPr>
          <a:xfrm>
            <a:off x="548640" y="1483291"/>
            <a:ext cx="11091672" cy="2656977"/>
          </a:xfrm>
          <a:prstGeom prst="rect">
            <a:avLst/>
          </a:prstGeom>
        </p:spPr>
      </p:pic>
      <p:sp>
        <p:nvSpPr>
          <p:cNvPr id="6" name="card"/>
          <p:cNvSpPr/>
          <p:nvPr/>
        </p:nvSpPr>
        <p:spPr>
          <a:xfrm>
            <a:off x="548640" y="4343400"/>
            <a:ext cx="2606040" cy="1874520"/>
          </a:xfrm>
          <a:prstGeom prst="roundRect">
            <a:avLst>
              <a:gd name="adj" fmla="val 3902"/>
            </a:avLst>
          </a:prstGeom>
          <a:solidFill>
            <a:schemeClr val="bg2"/>
          </a:solidFill>
          <a:ln/>
        </p:spPr>
      </p:sp>
      <p:sp>
        <p:nvSpPr>
          <p:cNvPr id="7" name="icon circle"/>
          <p:cNvSpPr/>
          <p:nvPr/>
        </p:nvSpPr>
        <p:spPr>
          <a:xfrm>
            <a:off x="749808" y="4526280"/>
            <a:ext cx="594360" cy="594360"/>
          </a:xfrm>
          <a:prstGeom prst="ellipse">
            <a:avLst/>
          </a:prstGeom>
          <a:solidFill>
            <a:schemeClr val="tx2"/>
          </a:solidFill>
          <a:ln/>
        </p:spPr>
      </p:sp>
      <p:pic>
        <p:nvPicPr>
          <p:cNvPr id="8" name="icon FaPython" descr="Python icon">    </p:cNvPr>
          <p:cNvPicPr>
            <a:picLocks noChangeAspect="1"/>
          </p:cNvPicPr>
          <p:nvPr/>
        </p:nvPicPr>
        <p:blipFill>
          <a:blip r:embed="rId2"/>
          <a:stretch>
            <a:fillRect/>
          </a:stretch>
        </p:blipFill>
        <p:spPr>
          <a:xfrm>
            <a:off x="892454" y="4668926"/>
            <a:ext cx="309067" cy="309067"/>
          </a:xfrm>
          <a:prstGeom prst="rect">
            <a:avLst/>
          </a:prstGeom>
        </p:spPr>
      </p:pic>
      <p:sp>
        <p:nvSpPr>
          <p:cNvPr id="9" name="Text 4"/>
          <p:cNvSpPr txBox="1"/>
          <p:nvPr/>
        </p:nvSpPr>
        <p:spPr>
          <a:xfrm>
            <a:off x="1463040" y="4480560"/>
            <a:ext cx="1600200" cy="685800"/>
          </a:xfrm>
          <a:prstGeom prst="rect">
            <a:avLst/>
          </a:prstGeom>
          <a:noFill/>
          <a:ln/>
        </p:spPr>
        <p:txBody>
          <a:bodyPr wrap="square" lIns="0" tIns="0" rIns="0" bIns="0" rtlCol="0" anchor="ctr"/>
          <a:lstStyle/>
          <a:p>
            <a:pPr indent="0" marL="0">
              <a:buNone/>
            </a:pPr>
            <a:r>
              <a:rPr lang="en-US" sz="1500" b="1" dirty="0">
                <a:solidFill>
                  <a:schemeClr val="tx2"/>
                </a:solidFill>
              </a:rPr>
              <a:t>Python research pipeline</a:t>
            </a:r>
            <a:endParaRPr lang="en-US" sz="1500" dirty="0"/>
          </a:p>
        </p:txBody>
      </p:sp>
      <p:sp>
        <p:nvSpPr>
          <p:cNvPr id="10" name="Text 5"/>
          <p:cNvSpPr txBox="1"/>
          <p:nvPr/>
        </p:nvSpPr>
        <p:spPr>
          <a:xfrm>
            <a:off x="749808" y="5303520"/>
            <a:ext cx="2240280" cy="822960"/>
          </a:xfrm>
          <a:prstGeom prst="rect">
            <a:avLst/>
          </a:prstGeom>
          <a:noFill/>
          <a:ln/>
        </p:spPr>
        <p:txBody>
          <a:bodyPr wrap="square" lIns="0" tIns="0" rIns="0" bIns="0" rtlCol="0" anchor="t"/>
          <a:lstStyle/>
          <a:p>
            <a:pPr indent="0" marL="0">
              <a:buNone/>
            </a:pPr>
            <a:r>
              <a:rPr lang="en-US" sz="1350" dirty="0">
                <a:solidFill>
                  <a:schemeClr val="tx1"/>
                </a:solidFill>
              </a:rPr>
              <a:t>NumPy, scikit-learn, statsmodels, XGBoost, SHAP</a:t>
            </a:r>
            <a:endParaRPr lang="en-US" sz="1350" dirty="0"/>
          </a:p>
        </p:txBody>
      </p:sp>
      <p:sp>
        <p:nvSpPr>
          <p:cNvPr id="11" name="card"/>
          <p:cNvSpPr/>
          <p:nvPr/>
        </p:nvSpPr>
        <p:spPr>
          <a:xfrm>
            <a:off x="3383280" y="4343400"/>
            <a:ext cx="2606040" cy="1874520"/>
          </a:xfrm>
          <a:prstGeom prst="roundRect">
            <a:avLst>
              <a:gd name="adj" fmla="val 3902"/>
            </a:avLst>
          </a:prstGeom>
          <a:solidFill>
            <a:schemeClr val="bg2"/>
          </a:solidFill>
          <a:ln/>
        </p:spPr>
      </p:sp>
      <p:sp>
        <p:nvSpPr>
          <p:cNvPr id="12" name="icon circle"/>
          <p:cNvSpPr/>
          <p:nvPr/>
        </p:nvSpPr>
        <p:spPr>
          <a:xfrm>
            <a:off x="3584448" y="4526280"/>
            <a:ext cx="594360" cy="594360"/>
          </a:xfrm>
          <a:prstGeom prst="ellipse">
            <a:avLst/>
          </a:prstGeom>
          <a:solidFill>
            <a:schemeClr val="tx2"/>
          </a:solidFill>
          <a:ln/>
        </p:spPr>
      </p:sp>
      <p:pic>
        <p:nvPicPr>
          <p:cNvPr id="13" name="icon FaJs" descr="Js icon">    </p:cNvPr>
          <p:cNvPicPr>
            <a:picLocks noChangeAspect="1"/>
          </p:cNvPicPr>
          <p:nvPr/>
        </p:nvPicPr>
        <p:blipFill>
          <a:blip r:embed="rId3"/>
          <a:stretch>
            <a:fillRect/>
          </a:stretch>
        </p:blipFill>
        <p:spPr>
          <a:xfrm>
            <a:off x="3727094" y="4668926"/>
            <a:ext cx="309067" cy="309067"/>
          </a:xfrm>
          <a:prstGeom prst="rect">
            <a:avLst/>
          </a:prstGeom>
        </p:spPr>
      </p:pic>
      <p:sp>
        <p:nvSpPr>
          <p:cNvPr id="14" name="Text 8"/>
          <p:cNvSpPr txBox="1"/>
          <p:nvPr/>
        </p:nvSpPr>
        <p:spPr>
          <a:xfrm>
            <a:off x="4297680" y="4480560"/>
            <a:ext cx="1600200" cy="685800"/>
          </a:xfrm>
          <a:prstGeom prst="rect">
            <a:avLst/>
          </a:prstGeom>
          <a:noFill/>
          <a:ln/>
        </p:spPr>
        <p:txBody>
          <a:bodyPr wrap="square" lIns="0" tIns="0" rIns="0" bIns="0" rtlCol="0" anchor="ctr"/>
          <a:lstStyle/>
          <a:p>
            <a:pPr indent="0" marL="0">
              <a:buNone/>
            </a:pPr>
            <a:r>
              <a:rPr lang="en-US" sz="1500" b="1" dirty="0">
                <a:solidFill>
                  <a:schemeClr val="tx2"/>
                </a:solidFill>
              </a:rPr>
              <a:t>One JavaScript engine</a:t>
            </a:r>
            <a:endParaRPr lang="en-US" sz="1500" dirty="0"/>
          </a:p>
        </p:txBody>
      </p:sp>
      <p:sp>
        <p:nvSpPr>
          <p:cNvPr id="15" name="Text 9"/>
          <p:cNvSpPr txBox="1"/>
          <p:nvPr/>
        </p:nvSpPr>
        <p:spPr>
          <a:xfrm>
            <a:off x="3584448" y="5303520"/>
            <a:ext cx="2240280" cy="822960"/>
          </a:xfrm>
          <a:prstGeom prst="rect">
            <a:avLst/>
          </a:prstGeom>
          <a:noFill/>
          <a:ln/>
        </p:spPr>
        <p:txBody>
          <a:bodyPr wrap="square" lIns="0" tIns="0" rIns="0" bIns="0" rtlCol="0" anchor="t"/>
          <a:lstStyle/>
          <a:p>
            <a:pPr indent="0" marL="0">
              <a:buNone/>
            </a:pPr>
            <a:r>
              <a:rPr lang="en-US" sz="1350" dirty="0">
                <a:solidFill>
                  <a:schemeClr val="tx1"/>
                </a:solidFill>
              </a:rPr>
              <a:t>Same take-off and models in app, site and paper</a:t>
            </a:r>
            <a:endParaRPr lang="en-US" sz="1350" dirty="0"/>
          </a:p>
        </p:txBody>
      </p:sp>
      <p:sp>
        <p:nvSpPr>
          <p:cNvPr id="16" name="card"/>
          <p:cNvSpPr/>
          <p:nvPr/>
        </p:nvSpPr>
        <p:spPr>
          <a:xfrm>
            <a:off x="6217920" y="4343400"/>
            <a:ext cx="2606040" cy="1874520"/>
          </a:xfrm>
          <a:prstGeom prst="roundRect">
            <a:avLst>
              <a:gd name="adj" fmla="val 3902"/>
            </a:avLst>
          </a:prstGeom>
          <a:solidFill>
            <a:schemeClr val="bg2"/>
          </a:solidFill>
          <a:ln/>
        </p:spPr>
      </p:sp>
      <p:sp>
        <p:nvSpPr>
          <p:cNvPr id="17" name="icon circle"/>
          <p:cNvSpPr/>
          <p:nvPr/>
        </p:nvSpPr>
        <p:spPr>
          <a:xfrm>
            <a:off x="6419088" y="4526280"/>
            <a:ext cx="594360" cy="594360"/>
          </a:xfrm>
          <a:prstGeom prst="ellipse">
            <a:avLst/>
          </a:prstGeom>
          <a:solidFill>
            <a:schemeClr val="tx2"/>
          </a:solidFill>
          <a:ln/>
        </p:spPr>
      </p:sp>
      <p:pic>
        <p:nvPicPr>
          <p:cNvPr id="18" name="icon FaAndroid" descr="Android icon">    </p:cNvPr>
          <p:cNvPicPr>
            <a:picLocks noChangeAspect="1"/>
          </p:cNvPicPr>
          <p:nvPr/>
        </p:nvPicPr>
        <p:blipFill>
          <a:blip r:embed="rId4"/>
          <a:stretch>
            <a:fillRect/>
          </a:stretch>
        </p:blipFill>
        <p:spPr>
          <a:xfrm>
            <a:off x="6561734" y="4668926"/>
            <a:ext cx="309067" cy="309067"/>
          </a:xfrm>
          <a:prstGeom prst="rect">
            <a:avLst/>
          </a:prstGeom>
        </p:spPr>
      </p:pic>
      <p:sp>
        <p:nvSpPr>
          <p:cNvPr id="19" name="Text 12"/>
          <p:cNvSpPr txBox="1"/>
          <p:nvPr/>
        </p:nvSpPr>
        <p:spPr>
          <a:xfrm>
            <a:off x="7132320" y="4480560"/>
            <a:ext cx="1600200" cy="685800"/>
          </a:xfrm>
          <a:prstGeom prst="rect">
            <a:avLst/>
          </a:prstGeom>
          <a:noFill/>
          <a:ln/>
        </p:spPr>
        <p:txBody>
          <a:bodyPr wrap="square" lIns="0" tIns="0" rIns="0" bIns="0" rtlCol="0" anchor="ctr"/>
          <a:lstStyle/>
          <a:p>
            <a:pPr indent="0" marL="0">
              <a:buNone/>
            </a:pPr>
            <a:r>
              <a:rPr lang="en-US" sz="1500" b="1" dirty="0">
                <a:solidFill>
                  <a:schemeClr val="tx2"/>
                </a:solidFill>
              </a:rPr>
              <a:t>Android + offline</a:t>
            </a:r>
            <a:endParaRPr lang="en-US" sz="1500" dirty="0"/>
          </a:p>
        </p:txBody>
      </p:sp>
      <p:sp>
        <p:nvSpPr>
          <p:cNvPr id="20" name="Text 13"/>
          <p:cNvSpPr txBox="1"/>
          <p:nvPr/>
        </p:nvSpPr>
        <p:spPr>
          <a:xfrm>
            <a:off x="6419088" y="5303520"/>
            <a:ext cx="2240280" cy="822960"/>
          </a:xfrm>
          <a:prstGeom prst="rect">
            <a:avLst/>
          </a:prstGeom>
          <a:noFill/>
          <a:ln/>
        </p:spPr>
        <p:txBody>
          <a:bodyPr wrap="square" lIns="0" tIns="0" rIns="0" bIns="0" rtlCol="0" anchor="t"/>
          <a:lstStyle/>
          <a:p>
            <a:pPr indent="0" marL="0">
              <a:buNone/>
            </a:pPr>
            <a:r>
              <a:rPr lang="en-US" sz="1350" dirty="0">
                <a:solidFill>
                  <a:schemeClr val="tx1"/>
                </a:solidFill>
              </a:rPr>
              <a:t>PWA, Capacitor APK, offline ZIP</a:t>
            </a:r>
            <a:endParaRPr lang="en-US" sz="1350" dirty="0"/>
          </a:p>
        </p:txBody>
      </p:sp>
      <p:sp>
        <p:nvSpPr>
          <p:cNvPr id="21" name="card"/>
          <p:cNvSpPr/>
          <p:nvPr/>
        </p:nvSpPr>
        <p:spPr>
          <a:xfrm>
            <a:off x="9052560" y="4343400"/>
            <a:ext cx="2606040" cy="1874520"/>
          </a:xfrm>
          <a:prstGeom prst="roundRect">
            <a:avLst>
              <a:gd name="adj" fmla="val 3902"/>
            </a:avLst>
          </a:prstGeom>
          <a:solidFill>
            <a:schemeClr val="bg2"/>
          </a:solidFill>
          <a:ln/>
        </p:spPr>
      </p:sp>
      <p:sp>
        <p:nvSpPr>
          <p:cNvPr id="22" name="icon circle"/>
          <p:cNvSpPr/>
          <p:nvPr/>
        </p:nvSpPr>
        <p:spPr>
          <a:xfrm>
            <a:off x="9253728" y="4526280"/>
            <a:ext cx="594360" cy="594360"/>
          </a:xfrm>
          <a:prstGeom prst="ellipse">
            <a:avLst/>
          </a:prstGeom>
          <a:solidFill>
            <a:schemeClr val="tx2"/>
          </a:solidFill>
          <a:ln/>
        </p:spPr>
      </p:sp>
      <p:pic>
        <p:nvPicPr>
          <p:cNvPr id="23" name="icon FaCode" descr="Code icon">    </p:cNvPr>
          <p:cNvPicPr>
            <a:picLocks noChangeAspect="1"/>
          </p:cNvPicPr>
          <p:nvPr/>
        </p:nvPicPr>
        <p:blipFill>
          <a:blip r:embed="rId5"/>
          <a:stretch>
            <a:fillRect/>
          </a:stretch>
        </p:blipFill>
        <p:spPr>
          <a:xfrm>
            <a:off x="9396374" y="4668926"/>
            <a:ext cx="309067" cy="309067"/>
          </a:xfrm>
          <a:prstGeom prst="rect">
            <a:avLst/>
          </a:prstGeom>
        </p:spPr>
      </p:pic>
      <p:sp>
        <p:nvSpPr>
          <p:cNvPr id="24" name="Text 16"/>
          <p:cNvSpPr txBox="1"/>
          <p:nvPr/>
        </p:nvSpPr>
        <p:spPr>
          <a:xfrm>
            <a:off x="9966960" y="4480560"/>
            <a:ext cx="1600200" cy="685800"/>
          </a:xfrm>
          <a:prstGeom prst="rect">
            <a:avLst/>
          </a:prstGeom>
          <a:noFill/>
          <a:ln/>
        </p:spPr>
        <p:txBody>
          <a:bodyPr wrap="square" lIns="0" tIns="0" rIns="0" bIns="0" rtlCol="0" anchor="ctr"/>
          <a:lstStyle/>
          <a:p>
            <a:pPr indent="0" marL="0">
              <a:buNone/>
            </a:pPr>
            <a:r>
              <a:rPr lang="en-US" sz="1500" b="1" dirty="0">
                <a:solidFill>
                  <a:schemeClr val="tx2"/>
                </a:solidFill>
              </a:rPr>
              <a:t>Float32 parity</a:t>
            </a:r>
            <a:endParaRPr lang="en-US" sz="1500" dirty="0"/>
          </a:p>
        </p:txBody>
      </p:sp>
      <p:sp>
        <p:nvSpPr>
          <p:cNvPr id="25" name="Text 17"/>
          <p:cNvSpPr txBox="1"/>
          <p:nvPr/>
        </p:nvSpPr>
        <p:spPr>
          <a:xfrm>
            <a:off x="9253728" y="5303520"/>
            <a:ext cx="2240280" cy="822960"/>
          </a:xfrm>
          <a:prstGeom prst="rect">
            <a:avLst/>
          </a:prstGeom>
          <a:noFill/>
          <a:ln/>
        </p:spPr>
        <p:txBody>
          <a:bodyPr wrap="square" lIns="0" tIns="0" rIns="0" bIns="0" rtlCol="0" anchor="t"/>
          <a:lstStyle/>
          <a:p>
            <a:pPr indent="0" marL="0">
              <a:buNone/>
            </a:pPr>
            <a:r>
              <a:rPr lang="en-US" sz="1350" dirty="0">
                <a:solidFill>
                  <a:schemeClr val="tx1"/>
                </a:solidFill>
              </a:rPr>
              <a:t>Math.fround thresholds; SHAP within 1e-5</a:t>
            </a:r>
            <a:endParaRPr lang="en-US" sz="1350" dirty="0"/>
          </a:p>
        </p:txBody>
      </p:sp>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229600" cy="292608"/>
          </a:xfrm>
          <a:prstGeom prst="rect">
            <a:avLst/>
          </a:prstGeom>
          <a:noFill/>
          <a:ln/>
        </p:spPr>
        <p:txBody>
          <a:bodyPr wrap="square" lIns="0" tIns="0" rIns="0" bIns="0" rtlCol="0"/>
          <a:lstStyle/>
          <a:p>
            <a:pPr indent="0" marL="0">
              <a:buNone/>
            </a:pPr>
            <a:r>
              <a:rPr lang="en-US" sz="1200" b="1" spc="200" kern="0" dirty="0">
                <a:solidFill>
                  <a:schemeClr val="accent5"/>
                </a:solidFill>
              </a:rPr>
              <a:t>ETHICAL CONSIDERATIONS</a:t>
            </a:r>
            <a:endParaRPr lang="en-US" sz="1200" dirty="0"/>
          </a:p>
        </p:txBody>
      </p:sp>
      <p:sp>
        <p:nvSpPr>
          <p:cNvPr id="3" name="Text 0"/>
          <p:cNvSpPr/>
          <p:nvPr>
            <p:ph idx="101" type="title" hasCustomPrompt="1"/>
          </p:nvPr>
        </p:nvSpPr>
        <p:spPr>
          <a:xfrm>
            <a:off x="548640" y="530352"/>
            <a:ext cx="1106424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Risk, Safety and Responsible Use</a:t>
            </a:r>
            <a:endParaRPr lang="en-US" sz="3200" dirty="0"/>
          </a:p>
        </p:txBody>
      </p:sp>
      <p:sp>
        <p:nvSpPr>
          <p:cNvPr id="5" name="card"/>
          <p:cNvSpPr/>
          <p:nvPr/>
        </p:nvSpPr>
        <p:spPr>
          <a:xfrm>
            <a:off x="548640" y="1554480"/>
            <a:ext cx="5422392" cy="2148840"/>
          </a:xfrm>
          <a:prstGeom prst="roundRect">
            <a:avLst>
              <a:gd name="adj" fmla="val 3404"/>
            </a:avLst>
          </a:prstGeom>
          <a:solidFill>
            <a:schemeClr val="bg2"/>
          </a:solidFill>
          <a:ln/>
        </p:spPr>
      </p:sp>
      <p:sp>
        <p:nvSpPr>
          <p:cNvPr id="6" name="icon circle"/>
          <p:cNvSpPr/>
          <p:nvPr/>
        </p:nvSpPr>
        <p:spPr>
          <a:xfrm>
            <a:off x="822960" y="1828800"/>
            <a:ext cx="777240" cy="777240"/>
          </a:xfrm>
          <a:prstGeom prst="ellipse">
            <a:avLst/>
          </a:prstGeom>
          <a:solidFill>
            <a:schemeClr val="tx2"/>
          </a:solidFill>
          <a:ln/>
        </p:spPr>
      </p:sp>
      <p:pic>
        <p:nvPicPr>
          <p:cNvPr id="7" name="icon FaUserShield" descr="UserShield icon">    </p:cNvPr>
          <p:cNvPicPr>
            <a:picLocks noChangeAspect="1"/>
          </p:cNvPicPr>
          <p:nvPr/>
        </p:nvPicPr>
        <p:blipFill>
          <a:blip r:embed="rId1"/>
          <a:stretch>
            <a:fillRect/>
          </a:stretch>
        </p:blipFill>
        <p:spPr>
          <a:xfrm>
            <a:off x="1009498" y="2015338"/>
            <a:ext cx="404165" cy="404165"/>
          </a:xfrm>
          <a:prstGeom prst="rect">
            <a:avLst/>
          </a:prstGeom>
        </p:spPr>
      </p:pic>
      <p:sp>
        <p:nvSpPr>
          <p:cNvPr id="8" name="Text 4"/>
          <p:cNvSpPr txBox="1"/>
          <p:nvPr/>
        </p:nvSpPr>
        <p:spPr>
          <a:xfrm>
            <a:off x="1828800" y="1828800"/>
            <a:ext cx="3931920" cy="548640"/>
          </a:xfrm>
          <a:prstGeom prst="rect">
            <a:avLst/>
          </a:prstGeom>
          <a:noFill/>
          <a:ln/>
        </p:spPr>
        <p:txBody>
          <a:bodyPr wrap="square" lIns="0" tIns="0" rIns="0" bIns="0" rtlCol="0" anchor="ctr"/>
          <a:lstStyle/>
          <a:p>
            <a:pPr indent="0" marL="0">
              <a:buNone/>
            </a:pPr>
            <a:r>
              <a:rPr lang="en-US" sz="1900" b="1" dirty="0">
                <a:solidFill>
                  <a:schemeClr val="tx2"/>
                </a:solidFill>
              </a:rPr>
              <a:t>No human participants</a:t>
            </a:r>
            <a:endParaRPr lang="en-US" sz="1900" dirty="0"/>
          </a:p>
        </p:txBody>
      </p:sp>
      <p:sp>
        <p:nvSpPr>
          <p:cNvPr id="9" name="Text 5"/>
          <p:cNvSpPr txBox="1"/>
          <p:nvPr/>
        </p:nvSpPr>
        <p:spPr>
          <a:xfrm>
            <a:off x="1828800" y="2423160"/>
            <a:ext cx="3931920" cy="1097280"/>
          </a:xfrm>
          <a:prstGeom prst="rect">
            <a:avLst/>
          </a:prstGeom>
          <a:noFill/>
          <a:ln/>
        </p:spPr>
        <p:txBody>
          <a:bodyPr wrap="square" lIns="0" tIns="0" rIns="0" bIns="0" rtlCol="0" anchor="t"/>
          <a:lstStyle/>
          <a:p>
            <a:pPr indent="0" marL="0">
              <a:buNone/>
            </a:pPr>
            <a:r>
              <a:rPr lang="en-US" sz="1500" dirty="0">
                <a:solidFill>
                  <a:schemeClr val="tx1"/>
                </a:solidFill>
              </a:rPr>
              <a:t>No surveys, interviews or personal data; a purely computational study.</a:t>
            </a:r>
            <a:endParaRPr lang="en-US" sz="1500" dirty="0"/>
          </a:p>
        </p:txBody>
      </p:sp>
      <p:sp>
        <p:nvSpPr>
          <p:cNvPr id="10" name="card"/>
          <p:cNvSpPr/>
          <p:nvPr/>
        </p:nvSpPr>
        <p:spPr>
          <a:xfrm>
            <a:off x="6217920" y="1554480"/>
            <a:ext cx="5422392" cy="2148840"/>
          </a:xfrm>
          <a:prstGeom prst="roundRect">
            <a:avLst>
              <a:gd name="adj" fmla="val 3404"/>
            </a:avLst>
          </a:prstGeom>
          <a:solidFill>
            <a:schemeClr val="bg2"/>
          </a:solidFill>
          <a:ln/>
        </p:spPr>
      </p:sp>
      <p:sp>
        <p:nvSpPr>
          <p:cNvPr id="11" name="icon circle"/>
          <p:cNvSpPr/>
          <p:nvPr/>
        </p:nvSpPr>
        <p:spPr>
          <a:xfrm>
            <a:off x="6492240" y="1828800"/>
            <a:ext cx="777240" cy="777240"/>
          </a:xfrm>
          <a:prstGeom prst="ellipse">
            <a:avLst/>
          </a:prstGeom>
          <a:solidFill>
            <a:schemeClr val="tx2"/>
          </a:solidFill>
          <a:ln/>
        </p:spPr>
      </p:sp>
      <p:pic>
        <p:nvPicPr>
          <p:cNvPr id="12" name="icon FaDatabase" descr="Database icon">    </p:cNvPr>
          <p:cNvPicPr>
            <a:picLocks noChangeAspect="1"/>
          </p:cNvPicPr>
          <p:nvPr/>
        </p:nvPicPr>
        <p:blipFill>
          <a:blip r:embed="rId2"/>
          <a:stretch>
            <a:fillRect/>
          </a:stretch>
        </p:blipFill>
        <p:spPr>
          <a:xfrm>
            <a:off x="6678778" y="2015338"/>
            <a:ext cx="404165" cy="404165"/>
          </a:xfrm>
          <a:prstGeom prst="rect">
            <a:avLst/>
          </a:prstGeom>
        </p:spPr>
      </p:pic>
      <p:sp>
        <p:nvSpPr>
          <p:cNvPr id="13" name="Text 8"/>
          <p:cNvSpPr txBox="1"/>
          <p:nvPr/>
        </p:nvSpPr>
        <p:spPr>
          <a:xfrm>
            <a:off x="7498080" y="1828800"/>
            <a:ext cx="3931920" cy="548640"/>
          </a:xfrm>
          <a:prstGeom prst="rect">
            <a:avLst/>
          </a:prstGeom>
          <a:noFill/>
          <a:ln/>
        </p:spPr>
        <p:txBody>
          <a:bodyPr wrap="square" lIns="0" tIns="0" rIns="0" bIns="0" rtlCol="0" anchor="ctr"/>
          <a:lstStyle/>
          <a:p>
            <a:pPr indent="0" marL="0">
              <a:buNone/>
            </a:pPr>
            <a:r>
              <a:rPr lang="en-US" sz="1900" b="1" dirty="0">
                <a:solidFill>
                  <a:schemeClr val="tx2"/>
                </a:solidFill>
              </a:rPr>
              <a:t>Public and simulated data</a:t>
            </a:r>
            <a:endParaRPr lang="en-US" sz="1900" dirty="0"/>
          </a:p>
        </p:txBody>
      </p:sp>
      <p:sp>
        <p:nvSpPr>
          <p:cNvPr id="14" name="Text 9"/>
          <p:cNvSpPr txBox="1"/>
          <p:nvPr/>
        </p:nvSpPr>
        <p:spPr>
          <a:xfrm>
            <a:off x="7498080" y="2423160"/>
            <a:ext cx="3931920" cy="1097280"/>
          </a:xfrm>
          <a:prstGeom prst="rect">
            <a:avLst/>
          </a:prstGeom>
          <a:noFill/>
          <a:ln/>
        </p:spPr>
        <p:txBody>
          <a:bodyPr wrap="square" lIns="0" tIns="0" rIns="0" bIns="0" rtlCol="0" anchor="t"/>
          <a:lstStyle/>
          <a:p>
            <a:pPr indent="0" marL="0">
              <a:buNone/>
            </a:pPr>
            <a:r>
              <a:rPr lang="en-US" sz="1500" dirty="0">
                <a:solidFill>
                  <a:schemeClr val="tx1"/>
                </a:solidFill>
              </a:rPr>
              <a:t>Standards, price items and news reports are public; the benchmark is simulated.</a:t>
            </a:r>
            <a:endParaRPr lang="en-US" sz="1500" dirty="0"/>
          </a:p>
        </p:txBody>
      </p:sp>
      <p:sp>
        <p:nvSpPr>
          <p:cNvPr id="15" name="card"/>
          <p:cNvSpPr/>
          <p:nvPr/>
        </p:nvSpPr>
        <p:spPr>
          <a:xfrm>
            <a:off x="548640" y="3931920"/>
            <a:ext cx="5422392" cy="2148840"/>
          </a:xfrm>
          <a:prstGeom prst="roundRect">
            <a:avLst>
              <a:gd name="adj" fmla="val 3404"/>
            </a:avLst>
          </a:prstGeom>
          <a:solidFill>
            <a:schemeClr val="bg2"/>
          </a:solidFill>
          <a:ln/>
        </p:spPr>
      </p:sp>
      <p:sp>
        <p:nvSpPr>
          <p:cNvPr id="16" name="icon circle"/>
          <p:cNvSpPr/>
          <p:nvPr/>
        </p:nvSpPr>
        <p:spPr>
          <a:xfrm>
            <a:off x="822960" y="4206240"/>
            <a:ext cx="777240" cy="777240"/>
          </a:xfrm>
          <a:prstGeom prst="ellipse">
            <a:avLst/>
          </a:prstGeom>
          <a:solidFill>
            <a:schemeClr val="tx2"/>
          </a:solidFill>
          <a:ln/>
        </p:spPr>
      </p:sp>
      <p:pic>
        <p:nvPicPr>
          <p:cNvPr id="17" name="icon FaScaleBalanced" descr="ScaleBalanced icon">    </p:cNvPr>
          <p:cNvPicPr>
            <a:picLocks noChangeAspect="1"/>
          </p:cNvPicPr>
          <p:nvPr/>
        </p:nvPicPr>
        <p:blipFill>
          <a:blip r:embed="rId3"/>
          <a:stretch>
            <a:fillRect/>
          </a:stretch>
        </p:blipFill>
        <p:spPr>
          <a:xfrm>
            <a:off x="1009498" y="4392778"/>
            <a:ext cx="404165" cy="404165"/>
          </a:xfrm>
          <a:prstGeom prst="rect">
            <a:avLst/>
          </a:prstGeom>
        </p:spPr>
      </p:pic>
      <p:sp>
        <p:nvSpPr>
          <p:cNvPr id="18" name="Text 12"/>
          <p:cNvSpPr txBox="1"/>
          <p:nvPr/>
        </p:nvSpPr>
        <p:spPr>
          <a:xfrm>
            <a:off x="1828800" y="4206240"/>
            <a:ext cx="3931920" cy="548640"/>
          </a:xfrm>
          <a:prstGeom prst="rect">
            <a:avLst/>
          </a:prstGeom>
          <a:noFill/>
          <a:ln/>
        </p:spPr>
        <p:txBody>
          <a:bodyPr wrap="square" lIns="0" tIns="0" rIns="0" bIns="0" rtlCol="0" anchor="ctr"/>
          <a:lstStyle/>
          <a:p>
            <a:pPr indent="0" marL="0">
              <a:buNone/>
            </a:pPr>
            <a:r>
              <a:rPr lang="en-US" sz="1900" b="1" dirty="0">
                <a:solidFill>
                  <a:schemeClr val="tx2"/>
                </a:solidFill>
              </a:rPr>
              <a:t>Flags are not verdicts</a:t>
            </a:r>
            <a:endParaRPr lang="en-US" sz="1900" dirty="0"/>
          </a:p>
        </p:txBody>
      </p:sp>
      <p:sp>
        <p:nvSpPr>
          <p:cNvPr id="19" name="Text 13"/>
          <p:cNvSpPr txBox="1"/>
          <p:nvPr/>
        </p:nvSpPr>
        <p:spPr>
          <a:xfrm>
            <a:off x="1828800" y="4800600"/>
            <a:ext cx="3931920" cy="1097280"/>
          </a:xfrm>
          <a:prstGeom prst="rect">
            <a:avLst/>
          </a:prstGeom>
          <a:noFill/>
          <a:ln/>
        </p:spPr>
        <p:txBody>
          <a:bodyPr wrap="square" lIns="0" tIns="0" rIns="0" bIns="0" rtlCol="0" anchor="t"/>
          <a:lstStyle/>
          <a:p>
            <a:pPr indent="0" marL="0">
              <a:buNone/>
            </a:pPr>
            <a:r>
              <a:rPr lang="en-US" sz="1500" dirty="0">
                <a:solidFill>
                  <a:schemeClr val="tx1"/>
                </a:solidFill>
              </a:rPr>
              <a:t>A high BRI calls for review by the implementing office, COA, Ombudsman or ICI.</a:t>
            </a:r>
            <a:endParaRPr lang="en-US" sz="1500" dirty="0"/>
          </a:p>
        </p:txBody>
      </p:sp>
      <p:sp>
        <p:nvSpPr>
          <p:cNvPr id="20" name="card"/>
          <p:cNvSpPr/>
          <p:nvPr/>
        </p:nvSpPr>
        <p:spPr>
          <a:xfrm>
            <a:off x="6217920" y="3931920"/>
            <a:ext cx="5422392" cy="2148840"/>
          </a:xfrm>
          <a:prstGeom prst="roundRect">
            <a:avLst>
              <a:gd name="adj" fmla="val 3404"/>
            </a:avLst>
          </a:prstGeom>
          <a:solidFill>
            <a:schemeClr val="bg2"/>
          </a:solidFill>
          <a:ln/>
        </p:spPr>
      </p:sp>
      <p:sp>
        <p:nvSpPr>
          <p:cNvPr id="21" name="icon circle"/>
          <p:cNvSpPr/>
          <p:nvPr/>
        </p:nvSpPr>
        <p:spPr>
          <a:xfrm>
            <a:off x="6492240" y="4206240"/>
            <a:ext cx="777240" cy="777240"/>
          </a:xfrm>
          <a:prstGeom prst="ellipse">
            <a:avLst/>
          </a:prstGeom>
          <a:solidFill>
            <a:schemeClr val="tx2"/>
          </a:solidFill>
          <a:ln/>
        </p:spPr>
      </p:sp>
      <p:pic>
        <p:nvPicPr>
          <p:cNvPr id="22" name="icon FaCompassDrafting" descr="CompassDrafting icon">    </p:cNvPr>
          <p:cNvPicPr>
            <a:picLocks noChangeAspect="1"/>
          </p:cNvPicPr>
          <p:nvPr/>
        </p:nvPicPr>
        <p:blipFill>
          <a:blip r:embed="rId4"/>
          <a:stretch>
            <a:fillRect/>
          </a:stretch>
        </p:blipFill>
        <p:spPr>
          <a:xfrm>
            <a:off x="6678778" y="4392778"/>
            <a:ext cx="404165" cy="404165"/>
          </a:xfrm>
          <a:prstGeom prst="rect">
            <a:avLst/>
          </a:prstGeom>
        </p:spPr>
      </p:pic>
      <p:sp>
        <p:nvSpPr>
          <p:cNvPr id="23" name="Text 16"/>
          <p:cNvSpPr txBox="1"/>
          <p:nvPr/>
        </p:nvSpPr>
        <p:spPr>
          <a:xfrm>
            <a:off x="7498080" y="4206240"/>
            <a:ext cx="3931920" cy="548640"/>
          </a:xfrm>
          <a:prstGeom prst="rect">
            <a:avLst/>
          </a:prstGeom>
          <a:noFill/>
          <a:ln/>
        </p:spPr>
        <p:txBody>
          <a:bodyPr wrap="square" lIns="0" tIns="0" rIns="0" bIns="0" rtlCol="0" anchor="ctr"/>
          <a:lstStyle/>
          <a:p>
            <a:pPr indent="0" marL="0">
              <a:buNone/>
            </a:pPr>
            <a:r>
              <a:rPr lang="en-US" sz="1900" b="1" dirty="0">
                <a:solidFill>
                  <a:schemeClr val="tx2"/>
                </a:solidFill>
              </a:rPr>
              <a:t>Schematic designs</a:t>
            </a:r>
            <a:endParaRPr lang="en-US" sz="1900" dirty="0"/>
          </a:p>
        </p:txBody>
      </p:sp>
      <p:sp>
        <p:nvSpPr>
          <p:cNvPr id="24" name="Text 17"/>
          <p:cNvSpPr txBox="1"/>
          <p:nvPr/>
        </p:nvSpPr>
        <p:spPr>
          <a:xfrm>
            <a:off x="7498080" y="4800600"/>
            <a:ext cx="3931920" cy="1097280"/>
          </a:xfrm>
          <a:prstGeom prst="rect">
            <a:avLst/>
          </a:prstGeom>
          <a:noFill/>
          <a:ln/>
        </p:spPr>
        <p:txBody>
          <a:bodyPr wrap="square" lIns="0" tIns="0" rIns="0" bIns="0" rtlCol="0" anchor="t"/>
          <a:lstStyle/>
          <a:p>
            <a:pPr indent="0" marL="0">
              <a:buNone/>
            </a:pPr>
            <a:r>
              <a:rPr lang="en-US" sz="1500" dirty="0">
                <a:solidFill>
                  <a:schemeClr val="tx1"/>
                </a:solidFill>
              </a:rPr>
              <a:t>Designs are for estimating; licensed architects and engineers must develop them.</a:t>
            </a:r>
            <a:endParaRPr lang="en-US" sz="1500" dirty="0"/>
          </a:p>
        </p:txBody>
      </p:sp>
      <p:sp>
        <p:nvSpPr>
          <p:cNvPr id="25" name="Slide Number Placeholder 0"/>
          <p:cNvSpPr>
            <a:spLocks noGrp="1"/>
          </p:cNvSpPr>
          <p:nvPr>
            <p:ph type="sldNum" sz="quarter" idx="4294967295"/>
          </p:nvPr>
        </p:nvSpPr>
        <p:spPr>
          <a:xfrm>
            <a:off x="11064240"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40080" y="822960"/>
            <a:ext cx="6949440" cy="365760"/>
          </a:xfrm>
          <a:prstGeom prst="rect">
            <a:avLst/>
          </a:prstGeom>
          <a:noFill/>
          <a:ln/>
        </p:spPr>
        <p:txBody>
          <a:bodyPr wrap="square" rtlCol="0"/>
          <a:lstStyle/>
          <a:p>
            <a:pPr indent="0" marL="0">
              <a:buNone/>
            </a:pPr>
            <a:r>
              <a:rPr lang="en-US" sz="1400" b="1" spc="300" kern="0" dirty="0">
                <a:solidFill>
                  <a:schemeClr val="accent1"/>
                </a:solidFill>
              </a:rPr>
              <a:t>BUHAY-AH</a:t>
            </a:r>
            <a:endParaRPr lang="en-US" sz="1400" dirty="0"/>
          </a:p>
        </p:txBody>
      </p:sp>
      <p:sp>
        <p:nvSpPr>
          <p:cNvPr id="3" name="Text 0"/>
          <p:cNvSpPr/>
          <p:nvPr>
            <p:ph idx="101" type="title" hasCustomPrompt="1"/>
          </p:nvPr>
        </p:nvSpPr>
        <p:spPr>
          <a:xfrm>
            <a:off x="640080" y="1234440"/>
            <a:ext cx="6949440" cy="1188720"/>
          </a:xfrm>
          <a:prstGeom prst="rect">
            <a:avLst/>
          </a:prstGeom>
          <a:noFill/>
          <a:ln/>
        </p:spPr>
        <p:txBody>
          <a:bodyPr wrap="square" rtlCol="0"/>
          <a:lstStyle/>
          <a:p>
            <a:pPr algn="l" indent="0" marL="0">
              <a:buNone/>
            </a:pPr>
            <a:r>
              <a:rPr lang="en-US" sz="6000" b="1" dirty="0">
                <a:solidFill>
                  <a:schemeClr val="bg1"/>
                </a:solidFill>
                <a:latin typeface="Cambria" pitchFamily="34" charset="0"/>
                <a:ea typeface="Cambria" pitchFamily="34" charset="-122"/>
                <a:cs typeface="Cambria" pitchFamily="34" charset="-120"/>
              </a:rPr>
              <a:t>Thank You</a:t>
            </a:r>
            <a:endParaRPr lang="en-US" sz="6000" dirty="0"/>
          </a:p>
        </p:txBody>
      </p:sp>
      <p:sp>
        <p:nvSpPr>
          <p:cNvPr id="4" name="Text 0"/>
          <p:cNvSpPr/>
          <p:nvPr>
            <p:ph idx="102" type="body" hasCustomPrompt="1"/>
          </p:nvPr>
        </p:nvSpPr>
        <p:spPr>
          <a:xfrm>
            <a:off x="640080" y="2514600"/>
            <a:ext cx="6766560" cy="1920240"/>
          </a:xfrm>
          <a:prstGeom prst="rect">
            <a:avLst/>
          </a:prstGeom>
          <a:noFill/>
          <a:ln/>
        </p:spPr>
        <p:txBody>
          <a:bodyPr wrap="square" rtlCol="0" anchor="t"/>
          <a:lstStyle/>
          <a:p>
            <a:pPr indent="0" marL="0">
              <a:buNone/>
            </a:pPr>
            <a:r>
              <a:rPr lang="en-US" sz="1700" dirty="0">
                <a:solidFill>
                  <a:schemeClr val="bg2"/>
                </a:solidFill>
              </a:rPr>
              <a:t>Design it. Price it. Keep it honest. A building should be priced by what it needs, not by who builds it.</a:t>
            </a:r>
            <a:endParaRPr lang="en-US" sz="1700" dirty="0"/>
          </a:p>
        </p:txBody>
      </p:sp>
      <p:sp>
        <p:nvSpPr>
          <p:cNvPr id="5" name="Text 0"/>
          <p:cNvSpPr/>
          <p:nvPr>
            <p:ph idx="103" type="body" hasCustomPrompt="1"/>
          </p:nvPr>
        </p:nvSpPr>
        <p:spPr>
          <a:xfrm>
            <a:off x="640080" y="4846320"/>
            <a:ext cx="6766560" cy="1097280"/>
          </a:xfrm>
          <a:prstGeom prst="rect">
            <a:avLst/>
          </a:prstGeom>
          <a:noFill/>
          <a:ln/>
        </p:spPr>
        <p:txBody>
          <a:bodyPr wrap="square" rtlCol="0" anchor="t"/>
          <a:lstStyle/>
          <a:p>
            <a:pPr indent="0" marL="0">
              <a:buNone/>
            </a:pPr>
            <a:r>
              <a:rPr lang="en-US" sz="1600" b="1" dirty="0">
                <a:solidFill>
                  <a:schemeClr val="bg1"/>
                </a:solidFill>
              </a:rPr>
              <a:t>Enrique Miguel C. Buban</a:t>
            </a:r>
            <a:endParaRPr lang="en-US" sz="1600" dirty="0"/>
          </a:p>
          <a:p>
            <a:pPr indent="0" marL="0">
              <a:buNone/>
            </a:pPr>
            <a:r>
              <a:rPr lang="en-US" sz="1600" dirty="0">
                <a:solidFill>
                  <a:schemeClr val="bg1"/>
                </a:solidFill>
              </a:rPr>
              <a:t>Lead Researcher</a:t>
            </a:r>
            <a:endParaRPr lang="en-US" sz="1600" dirty="0"/>
          </a:p>
          <a:p>
            <a:pPr indent="0" marL="0">
              <a:buNone/>
            </a:pPr>
            <a:r>
              <a:rPr lang="en-US" sz="1200" dirty="0">
                <a:solidFill>
                  <a:schemeClr val="accent1"/>
                </a:solidFill>
              </a:rPr>
              <a:t>Results are from the simulated benchmark SBD-300; a flag calls for review, not proof of wrongdoing.</a:t>
            </a:r>
            <a:endParaRPr lang="en-US" sz="1600" dirty="0"/>
          </a:p>
        </p:txBody>
      </p:sp>
      <p:sp>
        <p:nvSpPr>
          <p:cNvPr id="6" name="closing frame"/>
          <p:cNvSpPr/>
          <p:nvPr/>
        </p:nvSpPr>
        <p:spPr>
          <a:xfrm>
            <a:off x="8001000" y="822960"/>
            <a:ext cx="3657600" cy="5212080"/>
          </a:xfrm>
          <a:prstGeom prst="roundRect">
            <a:avLst>
              <a:gd name="adj" fmla="val 3000"/>
            </a:avLst>
          </a:prstGeom>
          <a:solidFill>
            <a:schemeClr val="bg1"/>
          </a:solidFill>
          <a:ln/>
        </p:spPr>
      </p:sp>
      <p:pic>
        <p:nvPicPr>
          <p:cNvPr id="7" name="viz_bridge_truss.png" descr="3D steel truss bridge">    </p:cNvPr>
          <p:cNvPicPr>
            <a:picLocks noChangeAspect="1"/>
          </p:cNvPicPr>
          <p:nvPr/>
        </p:nvPicPr>
        <p:blipFill>
          <a:blip r:embed="rId1"/>
          <a:stretch>
            <a:fillRect/>
          </a:stretch>
        </p:blipFill>
        <p:spPr>
          <a:xfrm>
            <a:off x="8276225" y="960120"/>
            <a:ext cx="3107149" cy="2377440"/>
          </a:xfrm>
          <a:prstGeom prst="rect">
            <a:avLst/>
          </a:prstGeom>
        </p:spPr>
      </p:pic>
      <p:pic>
        <p:nvPicPr>
          <p:cNvPr id="8" name="viz_bridge_pscg.png" descr="3D PSCG bridge">    </p:cNvPr>
          <p:cNvPicPr>
            <a:picLocks noChangeAspect="1"/>
          </p:cNvPicPr>
          <p:nvPr/>
        </p:nvPicPr>
        <p:blipFill>
          <a:blip r:embed="rId2"/>
          <a:stretch>
            <a:fillRect/>
          </a:stretch>
        </p:blipFill>
        <p:spPr>
          <a:xfrm>
            <a:off x="8216472" y="3429000"/>
            <a:ext cx="3226655" cy="2468880"/>
          </a:xfrm>
          <a:prstGeom prst="rect">
            <a:avLst/>
          </a:prstGeom>
        </p:spPr>
      </p:pic>
    </p:spTree>
  </p:cSld>
  <p:clrMapOvr>
    <a:masterClrMapping/>
  </p:clrMapOvr>
</p:sld>
</file>

<file path=ppt/theme/theme1.xml><?xml version="1.0" encoding="utf-8"?>
<a:theme xmlns:a="http://schemas.openxmlformats.org/drawingml/2006/main" name="BUHAY-AH">
  <a:themeElements>
    <a:clrScheme name="BUHAY-AH">
      <a:dk1>
        <a:srgbClr val="14202E"/>
      </a:dk1>
      <a:lt1>
        <a:srgbClr val="FFFFFF"/>
      </a:lt1>
      <a:dk2>
        <a:srgbClr val="12345A"/>
      </a:dk2>
      <a:lt2>
        <a:srgbClr val="EEF2F7"/>
      </a:lt2>
      <a:accent1>
        <a:srgbClr val="E3A51A"/>
      </a:accent1>
      <a:accent2>
        <a:srgbClr val="B8322A"/>
      </a:accent2>
      <a:accent3>
        <a:srgbClr val="1F7A5A"/>
      </a:accent3>
      <a:accent4>
        <a:srgbClr val="4F7CAC"/>
      </a:accent4>
      <a:accent5>
        <a:srgbClr val="8A5A00"/>
      </a:accent5>
      <a:accent6>
        <a:srgbClr val="6B7A8C"/>
      </a:accent6>
      <a:hlink>
        <a:srgbClr val="12345A"/>
      </a:hlink>
      <a:folHlink>
        <a:srgbClr val="4F7CAC"/>
      </a:folHlink>
    </a:clrScheme>
    <a:fontScheme name="BUHAY-A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BUHAY-AH — Introduction and Methodology (PR2)</dc:title>
  <dc:subject>BUHAY-AH: A Budget-to-Blueprint Design Generator, Standards-Based Quantity Take-Off, and Hybrid Machine Learning System for Start Quotations and Over-Budget Detection in Public Buildings and Bridges</dc:subject>
  <dc:creator>Enrique Miguel C. Buban</dc:creator>
  <cp:lastModifiedBy>Enrique Miguel C. Buban</cp:lastModifiedBy>
  <cp:revision>1</cp:revision>
  <dcterms:created xsi:type="dcterms:W3CDTF">2026-10-25T22:42:39Z</dcterms:created>
  <dcterms:modified xsi:type="dcterms:W3CDTF">2026-10-25T22:42:39Z</dcterms:modified>
</cp:coreProperties>
</file>