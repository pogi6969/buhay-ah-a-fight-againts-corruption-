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font" Target="fonts/font16.fntdata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3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585" y="546888"/>
            <a:ext cx="2392319" cy="2426082"/>
          </a:xfrm>
          <a:custGeom>
            <a:avLst/>
            <a:gdLst/>
            <a:ahLst/>
            <a:cxnLst/>
            <a:rect r="r" b="b" t="t" l="l"/>
            <a:pathLst>
              <a:path h="2426082" w="2392319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2243" y="3462510"/>
            <a:ext cx="15273465" cy="22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</a:pPr>
            <a:r>
              <a:rPr lang="en-US" sz="86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BUHAY-AH</a:t>
            </a:r>
          </a:p>
        </p:txBody>
      </p:sp>
      <p:sp>
        <p:nvSpPr>
          <p:cNvPr name="AutoShape 7" id="7"/>
          <p:cNvSpPr/>
          <p:nvPr/>
        </p:nvSpPr>
        <p:spPr>
          <a:xfrm>
            <a:off x="3320720" y="7135730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320720" y="8650702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169007" y="7583666"/>
            <a:ext cx="9949987" cy="69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4795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Enrique Miguel C. Buban · Lead Researcher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603" y="5728930"/>
            <a:ext cx="163707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1700" b="0">
                <a:solidFill>
                  <a:srgbClr val="FFFFFF"/>
                </a:solidFill>
                <a:latin typeface="ITC Avant Garde Gothic"/>
              </a:rPr>
              <a:t>A Budget-to-Blueprint Design Generator, Standards-Based Quantity Take-Off, and Hybrid Machine Learning System for Start Quotations and Over-Budget Detection in Public Buildings, Bridges, Airports and Seaports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10–30%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of public infrastructure investment is lost to corruption, mismanagement and inefficiency (CoST).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32 / 100: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Philippine score in the 2025 Corruption Perceptions Index, 120th of 182.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₱545.64 billion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in flood-control projects (2022–2025); about 20% went to 15 contractors.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₱62.64 million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overstatement in the Cebu City Medical Center: VAT at 12% instead of 5%.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₱1.225 billion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Cabagan–Santa Maria Bridge collapsed less than a month after completion (2025).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ITC Avant Garde Gothic"/>
              </a:rPr>
              <a:t>Outside reviewers cannot rebuild an estimate from the plans; padding hides in the price.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941832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Schools, hospitals and evacuation centers protect communities in typhoon- and earthquake-prone Bicol.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Airports, seaports, RoRo piers and jeepney, UV Express and bus terminals are the largest facilities a region builds.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Machine learning learns what projects HAVE cost, not what they SHOULD cost.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Communities often have only a need and a budget, not a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97312" y="2239656"/>
            <a:ext cx="3511296" cy="3018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z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349384"/>
            <a:ext cx="3291840" cy="2799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4154912" y="2239656"/>
            <a:ext cx="3511296" cy="3018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z_bridge_tru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0" y="2349384"/>
            <a:ext cx="3291840" cy="279931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211133" y="5742432"/>
            <a:ext cx="5741252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rfield_run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861" y="5852160"/>
            <a:ext cx="5521796" cy="1645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733004" y="7662672"/>
            <a:ext cx="4697510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ort_ro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2732" y="7772400"/>
            <a:ext cx="447805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RESEARCH GAP AND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Scope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cost screening has focused on roads, not buildings, bridges, airports and ports.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Reference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data-driven models copy past padding; no open standards-based yardstick.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Validation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detectors are never tested where the truly padded contracts are known.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Design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no independent design and price for a community with only a need and a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Access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models stay in notebooks, not on the phones of auditors, officials and citizens.</a:t>
            </a:r>
          </a:p>
          <a:p>
            <a:pPr algn="l">
              <a:spcAft>
                <a:spcPts val="1000"/>
              </a:spcAft>
              <a:buNone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Rationale: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a fair price can be computed from the plan and the standards, then compared with the contract.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RRL/RRS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16824960" cy="7077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4389120"/>
                <a:gridCol w="4206240"/>
              </a:tblGrid>
              <a:tr h="78638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Study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Finding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Gap for this study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Mahamid (2011)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Multiple regression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Early cost estimates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Roads only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Elmousalami (2020)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AI cost-model review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Tree ensembles lead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Learns past prices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Coffie &amp; Cudjoe (2024)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+ SHAP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Explains cost overruns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 reference price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Larocque et al. (2025)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Explainable ML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11,646 road contracts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Roads only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Liu et al. (2008)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Isolation Forest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Label-free anomalies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Misses ordinary padding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Buban (2026), CORA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MLR + XGBoost + IF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R² 0.8723, MAPE 29.20%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Recall unknown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GAO (2020)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Should-cost estimating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Bottom-up fair price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 open tool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ICAO (2022); OCDI (2009)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Aerodrome / port standards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Runway, pier rules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Not priced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43620"/>
            <a:ext cx="17044415" cy="64283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theore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53348"/>
            <a:ext cx="16824960" cy="62089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8778240"/>
            <a:ext cx="1682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2400" b="0">
                <a:solidFill>
                  <a:srgbClr val="FFFFFF"/>
                </a:solidFill>
                <a:latin typeface="ITC Avant Garde Gothic"/>
              </a:rPr>
              <a:t>Agency · Should-Cost · Optimization · Statistical Learning · Cooperative Game 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CONCEPTUAL FRAMEWORK PARADIGM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88899"/>
            <a:ext cx="17044415" cy="740084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8627"/>
            <a:ext cx="16824960" cy="71813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DPWH, DOH, DOTr, CAAP, PPA: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cross-check programs of works and ABCs before bidding.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COA, Ombudsman, ICI: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rank contracts by risk; focus inspections.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LGUs, schools, hospitals, cooperatives: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a design and price from a need or a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Contractors: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a public reference that rewards fair bids.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Citizens and media: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check any project on a phone.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Academe: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open pipeline, price book and benchmarks with known overpricing.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SDGs: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16.5, 16.6, 16.10 (anti-corruption) · 9.1, 11.5 (resilient infrastructure) · 12.7 (procurement) · 4.a (schools).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This study aimed to develop BUHAY-AH, a budget-to-blueprint design generator, standards-based quantity take-off and hybrid machine-learning system that produces start quotations and detects over-budgeted public buildings, bridges, airports and seaports in Bicol Region V. Specifically: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1. What plan variables can be extracted from plans and standards (physical, structural, location and year)?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2. How can designs be generated from a requirement or a budget (module library, optimization, standards)?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3. How accurate are the lean, standard and ceiling quotations against fair awarded costs (MAPE, R²)?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4. How do MLR and XGBoost predict cost under LOOCV (R², RMSE, MAPE)?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5. How well do the over-budget ratio, XGBoost residual, Isolation Forest and BUHAY-AH Risk Index detect over-budgeted contracts (precision, recall, F1, AUC)?</a:t>
            </a:r>
          </a:p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6. How can the generator and engine extend to hospitals, airport, seaport and jeepney, UV Express and bus terminals, airfield pavements and port structures (templates, accuracy, detection)?</a:t>
            </a:r>
          </a:p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7. How can the system be deployed as a mobile app, a download website and an explainable interface?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HYPOTHESIS (IF ANY)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Developmental study: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expected outcomes instead of statistical hypotheses (DM 058 s. 2026 Research Plan).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The standards-based estimate will be closer to fair awarded costs than the data-driven models.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A hybrid risk index will catch more padded contracts than an Isolation Forest alone.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An exact budget-to-design search will run fast enough for a phone.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The same take-off will extend to hospitals, terminals, runways and piers.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Quantitative developmental design with a simulation-based computational experiment (Mathematics and Computational Science): deterministic modeling, combinatorial optimization, statistical and machine learning, and Monte Carlo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776736"/>
            <a:ext cx="17044415" cy="45282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86464"/>
            <a:ext cx="16824960" cy="43088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DESIGN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106 space modules on DepEd, DOH, NBC, DSWD, IATA and AASHTO norms.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Rows and floors by a greedy longest-first rule; stairs and exits per RA 9514.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Budget-to-design: largest capacity whose quotation fits the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Exact enumeration + Pareto filter (cost is not monotonic).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124339"/>
            <a:ext cx="8723376" cy="114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234067"/>
            <a:ext cx="8503920" cy="9268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3707591"/>
            <a:ext cx="8723376" cy="8144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817319"/>
            <a:ext cx="8503920" cy="59496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5160447"/>
            <a:ext cx="8723376" cy="743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re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270175"/>
            <a:ext cx="8503920" cy="5238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40042" y="6382512"/>
            <a:ext cx="8528955" cy="35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lan_school_g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770" y="6492240"/>
            <a:ext cx="830949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QUANTITY TAKE-OFF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NSCP 2015, DPWH Vol. II/III, AASHTO LRFD, PD 1096, BP 344, RA 9514.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DPWH pay items and 2025 Bicol unit costs (editable price book).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OCM, profit and 5% VAT per D.O. 197 s. 2016 / D.O. 30 s. 2025.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Three tiers: lean start quotation, standard fair estimate, ceiling.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97609" y="1993391"/>
            <a:ext cx="3413821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o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337" y="2103120"/>
            <a:ext cx="3194365" cy="13533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077678" y="3575303"/>
            <a:ext cx="4453682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406" y="3685031"/>
            <a:ext cx="4234226" cy="1353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763842" y="5157216"/>
            <a:ext cx="5081354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3570" y="5266944"/>
            <a:ext cx="4861898" cy="135331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6893520"/>
            <a:ext cx="8723376" cy="12639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7003248"/>
            <a:ext cx="8503920" cy="10445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556572" y="8321040"/>
            <a:ext cx="3495895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b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6300" y="8430767"/>
            <a:ext cx="3276439" cy="13533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Hospitals (DOH Level 1–3): medical gases, standby power, bed elevators.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Airport and seaport terminals: curtain walls, baggage, curbside.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Jeepney, UV Express and bus terminals: bays, PCCP, canopies.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Runways, taxiways, aprons (ICAO, FAA); piers and wharves on piles (OCDI, PIANC).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500230"/>
            <a:ext cx="8723376" cy="954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609958"/>
            <a:ext cx="8503920" cy="7351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4653925"/>
            <a:ext cx="8723376" cy="6019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r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763653"/>
            <a:ext cx="8503920" cy="3825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6600594"/>
            <a:ext cx="8723376" cy="6634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6710322"/>
            <a:ext cx="8503920" cy="44394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8016817"/>
            <a:ext cx="8723376" cy="1785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ri_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8126545"/>
            <a:ext cx="8503920" cy="15662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SBD-300: 160 buildings + 140 bridges, 36 injected overpricing cases.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SBD-EXT: 180 hospitals, terminals, airfields and ports, 22 injected cases.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Hidden variation: unit prices ±7%, rebar ±10%, concrete ±6%, MEPF ±10%, piles ×0.95–1.35.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Overpricing μ = 1.20–1.40 (moderate) and 1.40–2.10 (severe).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7347767"/>
            <a:ext cx="13021056" cy="121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457495"/>
            <a:ext cx="12801600" cy="9955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MLR with VIF screening (interpretable baseline).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XGBoost on log cost, randomized search, 5-fold CV.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Isolation Forest on features, residual and OBR.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Exact TreeSHAP explanations, also on the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79916" y="1993391"/>
            <a:ext cx="4849207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644" y="2103120"/>
            <a:ext cx="4629751" cy="13533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858830" y="3575303"/>
            <a:ext cx="2891379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558" y="3685031"/>
            <a:ext cx="2671923" cy="1353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5369577"/>
            <a:ext cx="8723376" cy="1148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x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479305"/>
            <a:ext cx="8503920" cy="9285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6915370"/>
            <a:ext cx="8723376" cy="12202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7025098"/>
            <a:ext cx="8503920" cy="10008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350053" y="8321040"/>
            <a:ext cx="3908932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9781" y="8430767"/>
            <a:ext cx="3689476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Leave-one-out cross-validation for cost models.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RMSE, R² and MAPE for cost prediction.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Precision, recall, F1 and ROC AUC for detection.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BRI ≥ 30 flags; 20–30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482659"/>
            <a:ext cx="8723376" cy="9897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592387"/>
            <a:ext cx="8503920" cy="77025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4340838"/>
            <a:ext cx="8723376" cy="12281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i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450566"/>
            <a:ext cx="8503920" cy="10086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530192" y="5948172"/>
            <a:ext cx="7548654" cy="19682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920" y="6057900"/>
            <a:ext cx="7329198" cy="174879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8258073"/>
            <a:ext cx="8723376" cy="13032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8367801"/>
            <a:ext cx="8503920" cy="10837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APP &amp; ETHICS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" y="1993391"/>
            <a:ext cx="17015155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2103120"/>
            <a:ext cx="16795699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92240"/>
            <a:ext cx="1664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One JavaScript engine for app, website and paper; offline PWA, Android APK, ZIP.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No human participants, animals or hazardous materials; public and simulated data only.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A flag calls for review by COA, the Ombudsman or the ICI; it is not proof of wrongdoing.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PLAN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9 building variables: GFA, footprint, storeys, span, floor height, type, roof, location, year.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11 bridge variables: length, deck width and area, span, pier and abutment heights, superstructure, foundation, pile length, location, year.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Extension: beds, peak-hour passengers, loading bays, runway and deck dimensions, water depth.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Bridges varied far more than buildings in size and cost.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DESIGN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667611"/>
            <a:ext cx="10277856" cy="655197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design_templ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77339"/>
            <a:ext cx="10058400" cy="6332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0" y="2103120"/>
            <a:ext cx="640080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55 building, 13 bridge, 7 airfield, 5 port designs.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210/210 space-standard checks passed.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Median search 3.6 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Multi-storey adds up to 10 classrooms per budget.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BUDGET-TO-DESIGN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89226"/>
            <a:ext cx="10277856" cy="670874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ontier_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8954"/>
            <a:ext cx="10058400" cy="6489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0" y="2103120"/>
            <a:ext cx="640080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₱10M → 4 classrooms (1 storey).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₱25M → 9 classrooms (2 storeys).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₱50M → 15 classrooms (4 storeys).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₱150M → 185-bed hospital (4 storeys).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₱40M → 12-bay bus terminal.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QUANTITY TAKE-OFF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MAPE </a:t>
            </a:r>
            <a:r>
              <a:rPr sz="2800" b="1">
                <a:solidFill>
                  <a:srgbClr val="FFFFFF"/>
                </a:solidFill>
                <a:latin typeface="ITC Avant Garde Gothic"/>
              </a:rPr>
              <a:t>5.21% </a:t>
            </a:r>
            <a:r>
              <a:rPr sz="2800" b="0">
                <a:solidFill>
                  <a:srgbClr val="FFFFFF"/>
                </a:solidFill>
                <a:latin typeface="ITC Avant Garde Gothic"/>
              </a:rPr>
              <a:t>buildings, </a:t>
            </a:r>
            <a:r>
              <a:rPr sz="2800" b="1">
                <a:solidFill>
                  <a:srgbClr val="FFFFFF"/>
                </a:solidFill>
                <a:latin typeface="ITC Avant Garde Gothic"/>
              </a:rPr>
              <a:t>7.67% </a:t>
            </a:r>
            <a:r>
              <a:rPr sz="2800" b="0">
                <a:solidFill>
                  <a:srgbClr val="FFFFFF"/>
                </a:solidFill>
                <a:latin typeface="ITC Avant Garde Gothic"/>
              </a:rPr>
              <a:t>bridges; R² about 0.98.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Less than half the error of the best data-driven model.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Lean start quotation about 14.4% (buildings) and 5.9% (bridges) below standard, keeping code minimums.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Extension (SBD-EXT): MAPE 6.40%, R² 0.9863; ceiling covers 95.6% of fair awards.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COST MODELS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9456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017520"/>
                <a:gridCol w="3017520"/>
              </a:tblGrid>
              <a:tr h="82296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LOOCV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Buildings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Bridges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MLR R²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0.8112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0.8640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MLR MAPE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13.43%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65.65%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R²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0.7874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0.8630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MAPE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13.94%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19.18%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680192" y="3672332"/>
            <a:ext cx="6986016" cy="4542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782060"/>
            <a:ext cx="6766560" cy="4323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28520"/>
            <a:ext cx="8449056" cy="70301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c_poo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38248"/>
            <a:ext cx="8229600" cy="68107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2103120"/>
            <a:ext cx="813816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Risk Index: recall 94.4%, F1 0.764, AUC 0.987.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Isolation Forest alone: recall 27.8%.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Extension rule: recall 95.5%, precision 0.750.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Most false alarms: unseen pile lengths (bridges, ports).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EXTENSION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88405"/>
            <a:ext cx="8449056" cy="293838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_hospital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98133"/>
            <a:ext cx="8229600" cy="27189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62161" y="5376672"/>
            <a:ext cx="696831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rfield_run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889" y="5486400"/>
            <a:ext cx="6748861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395790" y="7662672"/>
            <a:ext cx="4901058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rt_ro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518" y="7772400"/>
            <a:ext cx="4681602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17152" y="4286766"/>
            <a:ext cx="8449056" cy="34051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t_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4396494"/>
            <a:ext cx="8229600" cy="318565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243295"/>
            <a:ext cx="8449056" cy="54006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design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53023"/>
            <a:ext cx="8229600" cy="51811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17152" y="3243295"/>
            <a:ext cx="8449056" cy="54006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pp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3353023"/>
            <a:ext cx="8229600" cy="518115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Plan variables from plans and standards are enough to price a project.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Designs can be generated from a need or a budget, exactly and fast, and pass the standards.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The standards-based estimate beats the data-driven models on accuracy.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XGBoost is needed for bridges; regression suffices for buildings.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The Risk Index caught 94.4% of padded contracts vs. 27.8% for Isolation Forest alone.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The engine extends to hospitals, terminals, runways and piers.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BUHAY-AH runs offline as an app, an Android package and a website.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Validate on actual DPWH, DOH, CAAP and PPA contracts.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Review the design library with licensed architects and engineers.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Add geotechnical data for bridge and port piles.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Connect current DPWH and PSA price data.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Retrain the models for the extension types; calibrate thresholds by class.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Extend to flood control, water systems and roads with CORA.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Pilot with oversight bodies; publish open contracting data.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Buban, E. M. C. (2026). CORA: Computational outlier recognition and analytics for road construction cost prediction.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Chen, T., &amp; Guestrin, C. (2016). XGBoost: A scalable tree boosting system. KDD, 785–794.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Department of Public Works and Highways. (2016). D.O. No. 197, s. 2016: Approved budget for the contract.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Federal Aviation Administration. (2021). Airport pavement design and evaluation (AC 150/5320-6G).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International Civil Aviation Organization. (2022). Annex 14, Vol. I: Aerodrome design and operations (9th ed.).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Liu, F. T., Ting, K. M., &amp; Zhou, Z.-H. (2008). Isolation forest. IEEE ICDM, 413–422.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Lundberg, S. M., &amp; Lee, S.-I. (2017). A unified approach to interpreting model predictions. NeurIPS 30.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OCDI. (2009). Technical standards and commentaries for port and harbour facilities in Japan.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Shapley, L. S. (1953). A value for n-person games. Contributions to the Theory of Games II, 307–317.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U.S. Government Accountability Office. (2020). Cost estimating and assessment guide (GAO-20-195G).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6875" y="3089694"/>
            <a:ext cx="11854250" cy="425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QUESTIONS &amp; ANSWER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1817" y="4031050"/>
            <a:ext cx="12904366" cy="236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7677223"/>
            <a:ext cx="7315200" cy="465513"/>
          </a:xfrm>
          <a:custGeom>
            <a:avLst/>
            <a:gdLst/>
            <a:ahLst/>
            <a:cxnLst/>
            <a:rect r="r" b="b" t="t" l="l"/>
            <a:pathLst>
              <a:path h="465513" w="7315200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4466" y="-2049686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37818" y="7909979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DAHXUrdeoSg</dc:identifier>
  <dcterms:modified xsi:type="dcterms:W3CDTF">2011-08-01T06:04:30Z</dcterms:modified>
  <cp:revision>1</cp:revision>
  <dc:title>PR2 TEMPLATE</dc:title>
</cp:coreProperties>
</file>