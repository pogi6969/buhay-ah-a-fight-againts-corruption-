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43fc359-8d30-3b3c-9c84-7a5ab04a71be}">
          <p14:sldIdLst>
            <p14:sldId id="256"/>
          </p14:sldIdLst>
        </p14:section>
        <p14:section name="Overview" id="{c4f0ebb2-15ee-645e-4c70-92c7b0696199}">
          <p14:sldIdLst>
            <p14:sldId id="257"/>
          </p14:sldIdLst>
        </p14:section>
        <p14:section name="Introduction" id="{99145d50-7dea-ba7c-acf5-6df3d2567327}">
          <p14:sldIdLst>
            <p14:sldId id="258"/>
            <p14:sldId id="259"/>
            <p14:sldId id="260"/>
            <p14:sldId id="261"/>
            <p14:sldId id="262"/>
            <p14:sldId id="263"/>
            <p14:sldId id="264"/>
            <p14:sldId id="265"/>
            <p14:sldId id="266"/>
            <p14:sldId id="267"/>
          </p14:sldIdLst>
        </p14:section>
        <p14:section name="Framework" id="{4cbb3e63-ec67-a3fb-1c09-b66f9cb9d1bd}">
          <p14:sldIdLst>
            <p14:sldId id="268"/>
            <p14:sldId id="269"/>
            <p14:sldId id="270"/>
            <p14:sldId id="271"/>
          </p14:sldIdLst>
        </p14:section>
        <p14:section name="Methodology" id="{a6bfe8bd-e4c7-aa65-c892-90f7e9cb81e0}">
          <p14:sldIdLst>
            <p14:sldId id="272"/>
            <p14:sldId id="273"/>
            <p14:sldId id="274"/>
            <p14:sldId id="275"/>
            <p14:sldId id="276"/>
            <p14:sldId id="277"/>
            <p14:sldId id="278"/>
            <p14:sldId id="279"/>
            <p14:sldId id="280"/>
            <p14:sldId id="281"/>
            <p14:sldId id="282"/>
            <p14:sldId id="283"/>
          </p14:sldIdLst>
        </p14:section>
        <p14:section name="Results and Discussion" id="{6e4920b1-e256-96a3-2686-dbc633f37622}">
          <p14:sldIdLst>
            <p14:sldId id="284"/>
            <p14:sldId id="285"/>
            <p14:sldId id="286"/>
            <p14:sldId id="287"/>
            <p14:sldId id="288"/>
            <p14:sldId id="289"/>
            <p14:sldId id="290"/>
            <p14:sldId id="291"/>
            <p14:sldId id="292"/>
            <p14:sldId id="293"/>
            <p14:sldId id="294"/>
            <p14:sldId id="295"/>
            <p14:sldId id="296"/>
          </p14:sldIdLst>
        </p14:section>
        <p14:section name="Conclusion" id="{8815bb7b-a4a8-76ef-98f3-d75648085a9e}">
          <p14:sldIdLst>
            <p14:sldId id="297"/>
            <p14:sldId id="298"/>
          </p14:sldIdLst>
        </p14:section>
        <p14:section name="Recommendations" id="{37f79f1c-7d88-e0e5-4a48-f4a9272587c3}">
          <p14:sldIdLst>
            <p14:sldId id="299"/>
          </p14:sldIdLst>
        </p14:section>
        <p14:section name="References" id="{d577237a-757b-b419-830c-6938970a8089}">
          <p14:sldIdLst>
            <p14:sldId id="300"/>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Buildings by type (n = 160)</a:t>
            </a:r>
          </a:p>
        </c:rich>
      </c:tx>
      <c:layout/>
      <c:overlay val="0"/>
    </c:title>
    <c:autoTitleDeleted val="0"/>
    <c:plotArea>
      <c:layout/>
      <c:barChart>
        <c:barDir val="bar"/>
        <c:grouping val="clustered"/>
        <c:varyColors val="0"/>
        <c:ser>
          <c:idx val="0"/>
          <c:order val="0"/>
          <c:tx>
            <c:strRef>
              <c:f>Sheet1!$B$1</c:f>
              <c:strCache>
                <c:ptCount val="1"/>
                <c:pt idx="0">
                  <c:v>Buildings</c:v>
                </c:pt>
              </c:strCache>
            </c:strRef>
          </c:tx>
          <c:spPr>
            <a:solidFill>
              <a:srgbClr val="12345A"/>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School buildings</c:v>
                  </c:pt>
                  <c:pt idx="1">
                    <c:v>Multi-purpose / evacuation</c:v>
                  </c:pt>
                  <c:pt idx="2">
                    <c:v>Health facilities</c:v>
                  </c:pt>
                  <c:pt idx="3">
                    <c:v>Public markets</c:v>
                  </c:pt>
                  <c:pt idx="4">
                    <c:v>Government offices</c:v>
                  </c:pt>
                  <c:pt idx="5">
                    <c:v>Dormitories</c:v>
                  </c:pt>
                </c:lvl>
              </c:multiLvlStrCache>
            </c:multiLvlStrRef>
          </c:cat>
          <c:val>
            <c:numRef>
              <c:f>Sheet1!$B$2:$B$7</c:f>
              <c:numCache>
                <c:formatCode>General</c:formatCode>
                <c:ptCount val="6"/>
                <c:pt idx="0">
                  <c:v>67</c:v>
                </c:pt>
                <c:pt idx="1">
                  <c:v>22</c:v>
                </c:pt>
                <c:pt idx="2">
                  <c:v>22</c:v>
                </c:pt>
                <c:pt idx="3">
                  <c:v>20</c:v>
                </c:pt>
                <c:pt idx="4">
                  <c:v>19</c:v>
                </c:pt>
                <c:pt idx="5">
                  <c:v>10</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Bridges by superstructure (n = 140)</a:t>
            </a:r>
          </a:p>
        </c:rich>
      </c:tx>
      <c:layout/>
      <c:overlay val="0"/>
    </c:title>
    <c:autoTitleDeleted val="0"/>
    <c:plotArea>
      <c:layout/>
      <c:barChart>
        <c:barDir val="bar"/>
        <c:grouping val="clustered"/>
        <c:varyColors val="0"/>
        <c:ser>
          <c:idx val="0"/>
          <c:order val="0"/>
          <c:tx>
            <c:strRef>
              <c:f>Sheet1!$B$1</c:f>
              <c:strCache>
                <c:ptCount val="1"/>
                <c:pt idx="0">
                  <c:v>Bridges</c:v>
                </c:pt>
              </c:strCache>
            </c:strRef>
          </c:tx>
          <c:spPr>
            <a:solidFill>
              <a:srgbClr val="E3A51A"/>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RC deck girder</c:v>
                  </c:pt>
                  <c:pt idx="1">
                    <c:v>PSC girder</c:v>
                  </c:pt>
                  <c:pt idx="2">
                    <c:v>RC box culvert</c:v>
                  </c:pt>
                  <c:pt idx="3">
                    <c:v>Steel truss</c:v>
                  </c:pt>
                </c:lvl>
              </c:multiLvlStrCache>
            </c:multiLvlStrRef>
          </c:cat>
          <c:val>
            <c:numRef>
              <c:f>Sheet1!$B$2:$B$5</c:f>
              <c:numCache>
                <c:formatCode>General</c:formatCode>
                <c:ptCount val="4"/>
                <c:pt idx="0">
                  <c:v>70</c:v>
                </c:pt>
                <c:pt idx="1">
                  <c:v>31</c:v>
                </c:pt>
                <c:pt idx="2">
                  <c:v>24</c:v>
                </c:pt>
                <c:pt idx="3">
                  <c:v>15</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Classrooms that fit a budget (PHP million, lot ≤ 60 m)</a:t>
            </a:r>
          </a:p>
        </c:rich>
      </c:tx>
      <c:layout/>
      <c:overlay val="0"/>
    </c:title>
    <c:autoTitleDeleted val="0"/>
    <c:plotArea>
      <c:layout/>
      <c:lineChart>
        <c:varyColors val="0"/>
        <c:ser>
          <c:idx val="0"/>
          <c:order val="0"/>
          <c:tx>
            <c:strRef>
              <c:f>Sheet1!$B$1</c:f>
              <c:strCache>
                <c:ptCount val="1"/>
                <c:pt idx="0">
                  <c:v>Up to 1 storey</c:v>
                </c:pt>
              </c:strCache>
            </c:strRef>
          </c:tx>
          <c:spPr>
            <a:solidFill>
              <a:srgbClr val="6B7A8C"/>
            </a:solidFill>
            <a:ln w="31750" cap="flat">
              <a:solidFill>
                <a:srgbClr val="6B7A8C"/>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6B7A8C"/>
              </a:solidFill>
              <a:ln w="9525" cap="flat">
                <a:solidFill>
                  <a:srgbClr val="6B7A8C"/>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Sheet1!$B$2:$B$20</c:f>
              <c:numCache>
                <c:formatCode>General</c:formatCode>
                <c:ptCount val="19"/>
                <c:pt idx="0">
                  <c:v>3</c:v>
                </c:pt>
                <c:pt idx="1">
                  <c:v>5</c:v>
                </c:pt>
                <c:pt idx="2">
                  <c:v>5</c:v>
                </c:pt>
                <c:pt idx="3">
                  <c:v>5</c:v>
                </c:pt>
                <c:pt idx="4">
                  <c:v>5</c:v>
                </c:pt>
                <c:pt idx="5">
                  <c:v>5</c:v>
                </c:pt>
                <c:pt idx="6">
                  <c:v>5</c:v>
                </c:pt>
                <c:pt idx="7">
                  <c:v>5</c:v>
                </c:pt>
                <c:pt idx="8">
                  <c:v>5</c:v>
                </c:pt>
                <c:pt idx="9">
                  <c:v>5</c:v>
                </c:pt>
                <c:pt idx="10">
                  <c:v>5</c:v>
                </c:pt>
                <c:pt idx="11">
                  <c:v>5</c:v>
                </c:pt>
                <c:pt idx="12">
                  <c:v>5</c:v>
                </c:pt>
                <c:pt idx="13">
                  <c:v>5</c:v>
                </c:pt>
                <c:pt idx="14">
                  <c:v>5</c:v>
                </c:pt>
                <c:pt idx="15">
                  <c:v>5</c:v>
                </c:pt>
                <c:pt idx="16">
                  <c:v>5</c:v>
                </c:pt>
                <c:pt idx="17">
                  <c:v>5</c:v>
                </c:pt>
                <c:pt idx="18">
                  <c:v>5</c:v>
                </c:pt>
              </c:numCache>
            </c:numRef>
          </c:val>
          <c:smooth val="0"/>
        </c:ser>
        <c:ser>
          <c:idx val="1"/>
          <c:order val="1"/>
          <c:tx>
            <c:strRef>
              <c:f>Sheet1!$C$1</c:f>
              <c:strCache>
                <c:ptCount val="1"/>
                <c:pt idx="0">
                  <c:v>Up to 2 storeys</c:v>
                </c:pt>
              </c:strCache>
            </c:strRef>
          </c:tx>
          <c:spPr>
            <a:solidFill>
              <a:srgbClr val="4F7CAC"/>
            </a:solidFill>
            <a:ln w="31750" cap="flat">
              <a:solidFill>
                <a:srgbClr val="4F7CAC"/>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4F7CAC"/>
              </a:solidFill>
              <a:ln w="9525" cap="flat">
                <a:solidFill>
                  <a:srgbClr val="4F7CAC"/>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Sheet1!$C$2:$C$20</c:f>
              <c:numCache>
                <c:formatCode>General</c:formatCode>
                <c:ptCount val="19"/>
                <c:pt idx="0">
                  <c:v>3</c:v>
                </c:pt>
                <c:pt idx="1">
                  <c:v>5</c:v>
                </c:pt>
                <c:pt idx="2">
                  <c:v>5</c:v>
                </c:pt>
                <c:pt idx="3">
                  <c:v>7</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numCache>
            </c:numRef>
          </c:val>
          <c:smooth val="0"/>
        </c:ser>
        <c:ser>
          <c:idx val="2"/>
          <c:order val="2"/>
          <c:tx>
            <c:strRef>
              <c:f>Sheet1!$D$1</c:f>
              <c:strCache>
                <c:ptCount val="1"/>
                <c:pt idx="0">
                  <c:v>Up to 3 storeys</c:v>
                </c:pt>
              </c:strCache>
            </c:strRef>
          </c:tx>
          <c:spPr>
            <a:solidFill>
              <a:srgbClr val="E3A51A"/>
            </a:solidFill>
            <a:ln w="31750" cap="flat">
              <a:solidFill>
                <a:srgbClr val="E3A51A"/>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E3A51A"/>
              </a:solidFill>
              <a:ln w="9525" cap="flat">
                <a:solidFill>
                  <a:srgbClr val="E3A51A"/>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Sheet1!$D$2:$D$20</c:f>
              <c:numCache>
                <c:formatCode>General</c:formatCode>
                <c:ptCount val="19"/>
                <c:pt idx="0">
                  <c:v>3</c:v>
                </c:pt>
                <c:pt idx="1">
                  <c:v>5</c:v>
                </c:pt>
                <c:pt idx="2">
                  <c:v>5</c:v>
                </c:pt>
                <c:pt idx="3">
                  <c:v>7</c:v>
                </c:pt>
                <c:pt idx="4">
                  <c:v>9</c:v>
                </c:pt>
                <c:pt idx="5">
                  <c:v>9</c:v>
                </c:pt>
                <c:pt idx="6">
                  <c:v>9</c:v>
                </c:pt>
                <c:pt idx="7">
                  <c:v>11</c:v>
                </c:pt>
                <c:pt idx="8">
                  <c:v>11</c:v>
                </c:pt>
                <c:pt idx="9">
                  <c:v>11</c:v>
                </c:pt>
                <c:pt idx="10">
                  <c:v>11</c:v>
                </c:pt>
                <c:pt idx="11">
                  <c:v>11</c:v>
                </c:pt>
                <c:pt idx="12">
                  <c:v>11</c:v>
                </c:pt>
                <c:pt idx="13">
                  <c:v>11</c:v>
                </c:pt>
                <c:pt idx="14">
                  <c:v>11</c:v>
                </c:pt>
                <c:pt idx="15">
                  <c:v>11</c:v>
                </c:pt>
                <c:pt idx="16">
                  <c:v>11</c:v>
                </c:pt>
                <c:pt idx="17">
                  <c:v>11</c:v>
                </c:pt>
                <c:pt idx="18">
                  <c:v>11</c:v>
                </c:pt>
              </c:numCache>
            </c:numRef>
          </c:val>
          <c:smooth val="0"/>
        </c:ser>
        <c:ser>
          <c:idx val="3"/>
          <c:order val="3"/>
          <c:tx>
            <c:strRef>
              <c:f>Sheet1!$E$1</c:f>
              <c:strCache>
                <c:ptCount val="1"/>
                <c:pt idx="0">
                  <c:v>Up to 4 storeys</c:v>
                </c:pt>
              </c:strCache>
            </c:strRef>
          </c:tx>
          <c:spPr>
            <a:solidFill>
              <a:srgbClr val="12345A"/>
            </a:solidFill>
            <a:ln w="31750" cap="flat">
              <a:solidFill>
                <a:srgbClr val="12345A"/>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12345A"/>
              </a:solidFill>
              <a:ln w="9525" cap="flat">
                <a:solidFill>
                  <a:srgbClr val="12345A"/>
                </a:solidFill>
                <a:prstDash val="solid"/>
                <a:round/>
              </a:ln>
              <a:effectLst/>
            </c:spPr>
          </c:marker>
          <c:cat>
            <c:multiLvlStrRef>
              <c:f>Sheet1!$A$2:$A$20</c:f>
              <c:multiLvlStrCache>
                <c:ptCount val="19"/>
                <c:lvl>
                  <c:pt idx="0">
                    <c:v>8</c:v>
                  </c:pt>
                  <c:pt idx="1">
                    <c:v>12</c:v>
                  </c:pt>
                  <c:pt idx="2">
                    <c:v>16</c:v>
                  </c:pt>
                  <c:pt idx="3">
                    <c:v>20</c:v>
                  </c:pt>
                  <c:pt idx="4">
                    <c:v>24</c:v>
                  </c:pt>
                  <c:pt idx="5">
                    <c:v>28</c:v>
                  </c:pt>
                  <c:pt idx="6">
                    <c:v>32</c:v>
                  </c:pt>
                  <c:pt idx="7">
                    <c:v>36</c:v>
                  </c:pt>
                  <c:pt idx="8">
                    <c:v>40</c:v>
                  </c:pt>
                  <c:pt idx="9">
                    <c:v>44</c:v>
                  </c:pt>
                  <c:pt idx="10">
                    <c:v>48</c:v>
                  </c:pt>
                  <c:pt idx="11">
                    <c:v>52</c:v>
                  </c:pt>
                  <c:pt idx="12">
                    <c:v>56</c:v>
                  </c:pt>
                  <c:pt idx="13">
                    <c:v>60</c:v>
                  </c:pt>
                  <c:pt idx="14">
                    <c:v>64</c:v>
                  </c:pt>
                  <c:pt idx="15">
                    <c:v>68</c:v>
                  </c:pt>
                  <c:pt idx="16">
                    <c:v>72</c:v>
                  </c:pt>
                  <c:pt idx="17">
                    <c:v>76</c:v>
                  </c:pt>
                  <c:pt idx="18">
                    <c:v>80</c:v>
                  </c:pt>
                </c:lvl>
              </c:multiLvlStrCache>
            </c:multiLvlStrRef>
          </c:cat>
          <c:val>
            <c:numRef>
              <c:f>Sheet1!$E$2:$E$20</c:f>
              <c:numCache>
                <c:formatCode>General</c:formatCode>
                <c:ptCount val="19"/>
                <c:pt idx="0">
                  <c:v>3</c:v>
                </c:pt>
                <c:pt idx="1">
                  <c:v>5</c:v>
                </c:pt>
                <c:pt idx="2">
                  <c:v>5</c:v>
                </c:pt>
                <c:pt idx="3">
                  <c:v>7</c:v>
                </c:pt>
                <c:pt idx="4">
                  <c:v>9</c:v>
                </c:pt>
                <c:pt idx="5">
                  <c:v>9</c:v>
                </c:pt>
                <c:pt idx="6">
                  <c:v>9</c:v>
                </c:pt>
                <c:pt idx="7">
                  <c:v>11</c:v>
                </c:pt>
                <c:pt idx="8">
                  <c:v>12</c:v>
                </c:pt>
                <c:pt idx="9">
                  <c:v>13</c:v>
                </c:pt>
                <c:pt idx="10">
                  <c:v>15</c:v>
                </c:pt>
                <c:pt idx="11">
                  <c:v>15</c:v>
                </c:pt>
                <c:pt idx="12">
                  <c:v>15</c:v>
                </c:pt>
                <c:pt idx="13">
                  <c:v>15</c:v>
                </c:pt>
                <c:pt idx="14">
                  <c:v>15</c:v>
                </c:pt>
                <c:pt idx="15">
                  <c:v>15</c:v>
                </c:pt>
                <c:pt idx="16">
                  <c:v>15</c:v>
                </c:pt>
                <c:pt idx="17">
                  <c:v>15</c:v>
                </c:pt>
                <c:pt idx="18">
                  <c:v>15</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majorUnit val="4"/>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Quotation tiers against fair awarded costs (%)</a:t>
            </a:r>
          </a:p>
        </c:rich>
      </c:tx>
      <c:layout/>
      <c:overlay val="0"/>
    </c:title>
    <c:autoTitleDeleted val="0"/>
    <c:plotArea>
      <c:layout/>
      <c:barChart>
        <c:barDir val="col"/>
        <c:grouping val="clustered"/>
        <c:varyColors val="0"/>
        <c:ser>
          <c:idx val="0"/>
          <c:order val="0"/>
          <c:tx>
            <c:strRef>
              <c:f>Sheet1!$B$1</c:f>
              <c:strCache>
                <c:ptCount val="1"/>
                <c:pt idx="0">
                  <c:v>Buildings</c:v>
                </c:pt>
              </c:strCache>
            </c:strRef>
          </c:tx>
          <c:spPr>
            <a:solidFill>
              <a:srgbClr val="12345A"/>
            </a:solidFill>
            <a:effectLst/>
          </c:spPr>
          <c:invertIfNegative val="0"/>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Lean ≤ fair award</c:v>
                  </c:pt>
                  <c:pt idx="1">
                    <c:v>Ceiling covers fair award</c:v>
                  </c:pt>
                  <c:pt idx="2">
                    <c:v>Average lean saving</c:v>
                  </c:pt>
                </c:lvl>
              </c:multiLvlStrCache>
            </c:multiLvlStrRef>
          </c:cat>
          <c:val>
            <c:numRef>
              <c:f>Sheet1!$B$2:$B$4</c:f>
              <c:numCache>
                <c:formatCode>General</c:formatCode>
                <c:ptCount val="3"/>
                <c:pt idx="0">
                  <c:v>94.3</c:v>
                </c:pt>
                <c:pt idx="1">
                  <c:v>100</c:v>
                </c:pt>
                <c:pt idx="2">
                  <c:v>14.4</c:v>
                </c:pt>
              </c:numCache>
            </c:numRef>
          </c:val>
        </c:ser>
        <c:ser>
          <c:idx val="1"/>
          <c:order val="1"/>
          <c:tx>
            <c:strRef>
              <c:f>Sheet1!$C$1</c:f>
              <c:strCache>
                <c:ptCount val="1"/>
                <c:pt idx="0">
                  <c:v>Bridges</c:v>
                </c:pt>
              </c:strCache>
            </c:strRef>
          </c:tx>
          <c:spPr>
            <a:solidFill>
              <a:srgbClr val="E3A51A"/>
            </a:solidFill>
            <a:effectLst/>
          </c:spPr>
          <c:invertIfNegative val="0"/>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Lean ≤ fair award</c:v>
                  </c:pt>
                  <c:pt idx="1">
                    <c:v>Ceiling covers fair award</c:v>
                  </c:pt>
                  <c:pt idx="2">
                    <c:v>Average lean saving</c:v>
                  </c:pt>
                </c:lvl>
              </c:multiLvlStrCache>
            </c:multiLvlStrRef>
          </c:cat>
          <c:val>
            <c:numRef>
              <c:f>Sheet1!$C$2:$C$4</c:f>
              <c:numCache>
                <c:formatCode>General</c:formatCode>
                <c:ptCount val="3"/>
                <c:pt idx="0">
                  <c:v>81.5</c:v>
                </c:pt>
                <c:pt idx="1">
                  <c:v>88.7</c:v>
                </c:pt>
                <c:pt idx="2">
                  <c:v>5.9</c:v>
                </c:pt>
              </c:numCache>
            </c:numRef>
          </c:val>
        </c:ser>
        <c:dLbls>
          <c:numFmt formatCode="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MAPE under LOOCV (lower is better)</a:t>
            </a:r>
          </a:p>
        </c:rich>
      </c:tx>
      <c:layout/>
      <c:overlay val="0"/>
    </c:title>
    <c:autoTitleDeleted val="0"/>
    <c:plotArea>
      <c:layout/>
      <c:barChart>
        <c:barDir val="col"/>
        <c:grouping val="clustered"/>
        <c:varyColors val="0"/>
        <c:ser>
          <c:idx val="0"/>
          <c:order val="0"/>
          <c:tx>
            <c:strRef>
              <c:f>Sheet1!$B$1</c:f>
              <c:strCache>
                <c:ptCount val="1"/>
                <c:pt idx="0">
                  <c:v>Multiple Linear Regression</c:v>
                </c:pt>
              </c:strCache>
            </c:strRef>
          </c:tx>
          <c:spPr>
            <a:solidFill>
              <a:srgbClr val="6B7A8C"/>
            </a:solidFill>
            <a:effectLst/>
          </c:spPr>
          <c:invertIfNegative val="0"/>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Sheet1!$A$2:$A$3</c:f>
              <c:multiLvlStrCache>
                <c:ptCount val="2"/>
                <c:lvl>
                  <c:pt idx="0">
                    <c:v>Buildings</c:v>
                  </c:pt>
                  <c:pt idx="1">
                    <c:v>Bridges</c:v>
                  </c:pt>
                </c:lvl>
              </c:multiLvlStrCache>
            </c:multiLvlStrRef>
          </c:cat>
          <c:val>
            <c:numRef>
              <c:f>Sheet1!$B$2:$B$3</c:f>
              <c:numCache>
                <c:formatCode>General</c:formatCode>
                <c:ptCount val="2"/>
                <c:pt idx="0">
                  <c:v>13.43</c:v>
                </c:pt>
                <c:pt idx="1">
                  <c:v>65.65</c:v>
                </c:pt>
              </c:numCache>
            </c:numRef>
          </c:val>
        </c:ser>
        <c:ser>
          <c:idx val="1"/>
          <c:order val="1"/>
          <c:tx>
            <c:strRef>
              <c:f>Sheet1!$C$1</c:f>
              <c:strCache>
                <c:ptCount val="1"/>
                <c:pt idx="0">
                  <c:v>XGBoost</c:v>
                </c:pt>
              </c:strCache>
            </c:strRef>
          </c:tx>
          <c:spPr>
            <a:solidFill>
              <a:srgbClr val="12345A"/>
            </a:solidFill>
            <a:effectLst/>
          </c:spPr>
          <c:invertIfNegative val="0"/>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Sheet1!$A$2:$A$3</c:f>
              <c:multiLvlStrCache>
                <c:ptCount val="2"/>
                <c:lvl>
                  <c:pt idx="0">
                    <c:v>Buildings</c:v>
                  </c:pt>
                  <c:pt idx="1">
                    <c:v>Bridges</c:v>
                  </c:pt>
                </c:lvl>
              </c:multiLvlStrCache>
            </c:multiLvlStrRef>
          </c:cat>
          <c:val>
            <c:numRef>
              <c:f>Sheet1!$C$2:$C$3</c:f>
              <c:numCache>
                <c:formatCode>General</c:formatCode>
                <c:ptCount val="2"/>
                <c:pt idx="0">
                  <c:v>13.94</c:v>
                </c:pt>
                <c:pt idx="1">
                  <c:v>19.18</c:v>
                </c:pt>
              </c:numCache>
            </c:numRef>
          </c:val>
        </c:ser>
        <c:dLbls>
          <c:numFmt formatCode="0.00&quot;%&quot;"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5A"/>
                </a:solidFill>
                <a:latin typeface="+mn-lt"/>
              </a:defRPr>
            </a:pPr>
            <a:r>
              <a:rPr sz="1400" b="0" i="0" u="none" strike="noStrike">
                <a:solidFill>
                  <a:srgbClr val="12345A"/>
                </a:solidFill>
                <a:latin typeface="+mn-lt"/>
              </a:rPr>
              <a:t>Detection of 36 injected cases, all 300 projects</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12345A"/>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Sheet1!$B$2:$B$5</c:f>
              <c:numCache>
                <c:formatCode>General</c:formatCode>
                <c:ptCount val="4"/>
                <c:pt idx="0">
                  <c:v>0.833</c:v>
                </c:pt>
                <c:pt idx="1">
                  <c:v>0.667</c:v>
                </c:pt>
                <c:pt idx="2">
                  <c:v>0.278</c:v>
                </c:pt>
                <c:pt idx="3">
                  <c:v>0.944</c:v>
                </c:pt>
              </c:numCache>
            </c:numRef>
          </c:val>
        </c:ser>
        <c:ser>
          <c:idx val="1"/>
          <c:order val="1"/>
          <c:tx>
            <c:strRef>
              <c:f>Sheet1!$C$1</c:f>
              <c:strCache>
                <c:ptCount val="1"/>
                <c:pt idx="0">
                  <c:v>F1-score</c:v>
                </c:pt>
              </c:strCache>
            </c:strRef>
          </c:tx>
          <c:spPr>
            <a:solidFill>
              <a:srgbClr val="E3A51A"/>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Sheet1!$C$2:$C$5</c:f>
              <c:numCache>
                <c:formatCode>General</c:formatCode>
                <c:ptCount val="4"/>
                <c:pt idx="0">
                  <c:v>0.75</c:v>
                </c:pt>
                <c:pt idx="1">
                  <c:v>0.686</c:v>
                </c:pt>
                <c:pt idx="2">
                  <c:v>0.37</c:v>
                </c:pt>
                <c:pt idx="3">
                  <c:v>0.764</c:v>
                </c:pt>
              </c:numCache>
            </c:numRef>
          </c:val>
        </c:ser>
        <c:ser>
          <c:idx val="2"/>
          <c:order val="2"/>
          <c:tx>
            <c:strRef>
              <c:f>Sheet1!$D$1</c:f>
              <c:strCache>
                <c:ptCount val="1"/>
                <c:pt idx="0">
                  <c:v>ROC AUC</c:v>
                </c:pt>
              </c:strCache>
            </c:strRef>
          </c:tx>
          <c:spPr>
            <a:solidFill>
              <a:srgbClr val="6B7A8C"/>
            </a:solidFill>
            <a:effectLst/>
          </c:spPr>
          <c:invertIfNegative val="0"/>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Sheet1!$A$2:$A$5</c:f>
              <c:multiLvlStrCache>
                <c:ptCount val="4"/>
                <c:lvl>
                  <c:pt idx="0">
                    <c:v>Standards rule</c:v>
                  </c:pt>
                  <c:pt idx="1">
                    <c:v>XGBoost residual</c:v>
                  </c:pt>
                  <c:pt idx="2">
                    <c:v>Isolation Forest</c:v>
                  </c:pt>
                  <c:pt idx="3">
                    <c:v>Risk Index</c:v>
                  </c:pt>
                </c:lvl>
              </c:multiLvlStrCache>
            </c:multiLvlStrRef>
          </c:cat>
          <c:val>
            <c:numRef>
              <c:f>Sheet1!$D$2:$D$5</c:f>
              <c:numCache>
                <c:formatCode>General</c:formatCode>
                <c:ptCount val="4"/>
                <c:pt idx="0">
                  <c:v>0.994</c:v>
                </c:pt>
                <c:pt idx="1">
                  <c:v>0.955</c:v>
                </c:pt>
                <c:pt idx="2">
                  <c:v>0.731</c:v>
                </c:pt>
                <c:pt idx="3">
                  <c:v>0.987</c:v>
                </c:pt>
              </c:numCache>
            </c:numRef>
          </c:val>
        </c:ser>
        <c:dLbls>
          <c:numFmt formatCode="0.0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450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I am Enrique Miguel C. Buban, and this is BUHAY-AH. Buhay means life, because public infrastructure carries lives. This study builds a system that designs public buildings and bridges from a budget, prices them from engineering standards, and flags contracts that are over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the IMRaD structure of Practical Research 2. We go from Introduction to Methodology, then Results and Discussion, Conclusion and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why this study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is one of the sectors most exposed to corruption. CoST estimates 10 to 30 percent of investment in public infrastructure is lost to corruption, mismanagement and inefficiency. The Philippines scored 32 of 100 in the 2025 Corruption Perceptions Index, ranking 120th of 182. About 20 percent of 545.64 billion pesos in flood-control projects went to 15 contractors. COA found the Cebu City Medical Center building overstated by about 62.64 million pesos, partly because VAT was computed at 12 percent instead of 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Buildings and bridges carry a particular weight. School buildings, health stations and evacuation centers are the facilities communities rely on during typhoons; bridges are the links that keep them reachable. Each is priced through a Program of Works and Detailed Unit Price Analysis leading to the ABC. Machine learning can screen many contracts, but it learns from past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gaps motivate this study. Scope: screening has focused on roads. Reference: data-driven models learn what similar projects have cost, not what they should cost. Validation: detectors are tested where nobody knows the true overpriced cases. Design: communities know only their need and budget. Access: models stay in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aimed to develop BUHAY-AH, a budget-to-blueprint design generator, standards-based quantity take-off and hybrid machine-learning system that produces start quotations and detects over-budgeted public buildings and bridges in Bicol Region V. Specifically, it sought to answer six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four to six cover the models, detection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BUHAY-AH gives anyone with a need, a budget or a plan an itemized, standards-based design and price, and a fast way to see whether a contract amount 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16.5, 16.6 and 16.10: reduce corruption, build accountable institutions and widen public access to information. SDG 9.1 and 11.5: fair pricing protects the quality of resilient infrastructure. SDG 12.7: sustainable public procurement under RA 12009. SDG 4.a: lean quotations stretch school-building funds to more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covers public buildings and bridges in the six provinces of Bicol Region V, priced from 2022 to 2026. Roads and flood-control structures are excluded. Unit costs are indicative 2025 Albay prices. Generated designs are schematic. The benchmark is simulated because itemized bills of quantities are not publicly available in machine-readable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terms are defined conceptually and operationally to ensure a common understanding of the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literature and the frameworks that guided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has long been used for early cost estimates. Tree ensembles and parametric models are now the standard tools. Isolation Forest detects anomalies without labels. CORA combined MLR, XGBoost and Isolation Forest on Bicol road contracts. None of these says what a project should cost, and none was validated where overpricing is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Agency Theory explains why padding happens: information asymmetry between the public and implementers. Should-Cost Theory says a fair price can be built bottom-up. Optimization Theory chooses the best design under a budget. Statistical Learning Theory guides the models. Cooperative Game Theory gives the Shapley value behind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are a requirement, a budget, or a plan, plus the standards, the price book and past projects. The process generates designs, performs the take-off, prices the quotation tiers, trains the models and scores the risk. Outputs are designs, quotations, flags and the app. Feedback updates the price book and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methodology, which is where Mathematical and Computational Sciences does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quantitative developmental research design with a simulation-based computational experiment, following the approach of the Mathematical and Computational Sciences. Four kinds of mathematics work together: deterministic modeling, combinatorial optimization, statistical and machine learning, and Monte Carlo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locale is Bicol Region V: six provinces with location factors. The data sources are engineering standards, DPWH pay items and unit costs for 2025, reference plans and the simulated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instruments are the BUHAY-AH plan reader, cost engine and models. Nine variables describe a building and eleven a bridge. A DXF outline is read with the shoelace formula for area and perimeter; walls drawn on WALL or PARTITION layers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there is no plan, BUHAY-AH builds one from 55 space modules sized to DepEd, DOH, National Building Code and DSWD norms. Modules are laid out in rows along corridors and across floors. For a budget, the best design maximizes capacity subject to the ABC fitting the budget, the length fitting the lot and the storeys within the limit. Because cost is not monotonic in capacity, the solver enumerates every combination and keeps the Pareto-efficient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lays out the column grid, sizes footings from the service load and allowable soil bearing, computes concrete, reinforcement, formwork, masonry, roofing, finishes and MEPF, multiplies each quantity by its DPWH unit cost, and applies OCM, profit and 5% VAT by bracket. It runs three times: lean, standard and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recall, the truly overpriced contracts must be known. SBD-300 has 160 buildings and 140 bridges, each priced by the engine plus hidden variation the plan does not show, then bid competition, and in 36 projects deliberate overpricing of 20 to 110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Linear Regression is the interpretable baseline, with VIF used to remove multicollinear predictors above 10. XGBoost is trained on the logarithm of cost with randomized hyperparameter search. Isolation Forest scores how unusual a contract is from its plan features, log cost and residual. SHAP explains every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are combined: the over-budget ratio weighted 0.5 because it does not depend on past prices, the XGBoost residual weighted 0.3, and the Isolation Forest score weighted 0.2. A BRI of 30 or more is a flag; 20 to 30 is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were validated by leave-one-out cross-validation: each project is predicted by a model trained without it. Cost prediction is measured by RMSE, R² and MAPE. Detection is measured against the injected labels with precision, recall, F1-score and ROC AUC. Generated designs are checked against space standards; search time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JavaScript cost engine is shared by the app, the website and the research pipeline. The trained XGBoost trees and Isolation Forest are exported to JSON and evaluated in the browser with exact TreeSHAP; parity with Python is within 1e-5 in log cost. The app is a progressive web app, packaged for Android with Capacitor through GitHub Actions, and offered as an offline ZIP and a download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involves no human participants, animals, hazardous materials or devices. All data are simulated or drawn from public documents. Results are screening signals, not findings of wrongdoing; generated designs are schematic. Personal information is not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are presented in the order of the research questions. All accuracy and detection results are from the simulated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160 buildings ranged from 116.6 to 1,990.8 square metres, one to four storeys, priced from 5.37 to 56.77 million pesos. The 140 bridges ranged from 2.0 to 189.5 metres, priced from 1.00 to 179.23 million pesos. Schools and RC deck girders dominate, as in the real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55 space modules the generator produced 41 building templates and 13 bridge templates, from a 149-square-metre barangay health station to a 3,024-square-metre multi-storey facility. All 152 applicable space-standard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2-storey 6-classroom school comes out 38.5 by 9.5 metres with 732 square metres of floor area, a lean start quotation of 16.25 million and a standard estimate of 18.77 million pesos. The hospital places wards on a double-loaded corridor; the market is folded into parallel rows so no row exceeds 48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10 million pesos the solver returns a 4-classroom school; with 25 million, 9 classrooms in 2 storeys; with 50 million, 15 classrooms in 4 storeys on a 60-metre lot. Allowing multi-storey designs added an average of 6.4 and up to 10 classrooms for the same budget. Searches finished in a median of 3.6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Culverts were cheapest up to 12 metres; multi-span RC deck girders were the lowest-cost option from 20 to 120 metres at these prices, because pier costs stay modest on spread footings. Prestressed girders and trusses become competitive when piers are costly, such as deep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fair awarded costs, the standard estimate reached a MAPE of 5.21 percent for buildings and 7.67 percent for bridges, R-squared 0.9799 and 0.9801, less than half the error of the best data-driven model. The lean start quotation was at or below the fair award for 94.3 percent of buildings and 81.5 percent of bridges; the ceiling covered 100 and 88.7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tiers for selected reference plans in Albay at 2025 prices. The lean start quotation is 5 to 15 percent below standard, larger for buildings because finishes and MEPF carry more of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leave-one-out cross-validation, regression reached R-squared 0.8112 and MAPE 13.43 percent for buildings, and 0.8640 and 65.65 percent for bridges. XGBoost reached 0.7874 and 13.94 percent for buildings, and 0.8630 and 19.18 percent for bridges. For buildings, cost is close to linear in floor area; for bridges, XGBoost captures type interactions. Deck area was removed for multicollinearity (VIF 44.40).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buildings, gross floor area dominates, with mean absolute SHAP of 0.343 in log cost, far above storeys and location. For bridges the picture is broader: deck area, pile length, total length and foundation type all matter. SHAP shows every reviewer why the expected cost is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300 projects, the BUHAY-AH Risk Index caught 34 of 36 padded contracts, recall 0.944, with the highest F1-score of 0.764 and AUC of 0.987. The Isolation Forest alone caught only 27.8 percent, because a padded ordinary building does not look unusual in its plan features. For buildings alone, the Risk Index reached an F1 of 0.927.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over-budget ratio separates padded from fair contracts: fair projects cluster at or below 1.0, while injected cases sit to the right of the review line. The overlap is small for buildings and larger for bridges, because hidden pile lengths make some fair bridges look expensive. The ROC curves show the risk index and standards rule dominate the Isolation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BUHAY-AH runs as an installable offline app with five screens: Home, Design, Quote, Check and Library. It is distributed as an Android package, an offline ZIP and a download website with a live budget-to-design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building variables and eleven bridge variables are enough to price plans. Schematic designs can be generated without a blueprint and pass space standards. The standards engine priced plans within 5 to 8 percent. Regression is enough for buildings; XGBoost is needed for bridges. The Risk Index caught 94.4 percent of padded contracts. BUHAY-AH was deployed as an app, an Android package and a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on actual contracts; review the template library with licensed professionals; add geotechnical data for bridges; connect current price data; calibrate thresholds by asset class; extend plan import to IFC and scanned PDFs; extend to other project types; and pilot with oversight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follow APA 7th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BUHAY-AH shows that mathematics can stand between a budget and a padded price.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UHAY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lstStyle>
            <a:lvl1pPr indent="0" marL="0">
              <a:buNone/>
              <a:defRPr lang="en-US" sz="1700" dirty="0">
                <a:solidFill>
                  <a:schemeClr val="bg2"/>
                </a:solidFill>
              </a:defRPr>
            </a:lvl1pPr>
          </a:lstStyle>
          <a:p>
            <a:pPr indent="0" marL="0">
              <a:buNone/>
            </a:pP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UHAY 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lvl1pPr indent="0" marL="0">
              <a:buNone/>
              <a:defRPr lang="en-US" sz="8000" b="1" dirty="0">
                <a:solidFill>
                  <a:schemeClr val="accent1"/>
                </a:solidFill>
                <a:latin typeface="Cambria" pitchFamily="34" charset="0"/>
                <a:ea typeface="Cambria" pitchFamily="34" charset="-122"/>
                <a:cs typeface="Cambria" pitchFamily="34" charset="-120"/>
              </a:defRPr>
            </a:lvl1pPr>
          </a:lstStyle>
          <a:p>
            <a:pPr indent="0" marL="0">
              <a:buNone/>
            </a:pP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UHAY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28232"/>
            <a:ext cx="7315200" cy="274320"/>
          </a:xfrm>
          <a:prstGeom prst="rect">
            <a:avLst/>
          </a:prstGeom>
          <a:noFill/>
          <a:ln/>
        </p:spPr>
        <p:txBody>
          <a:bodyPr wrap="square" lIns="0" tIns="0" rIns="0" bIns="0" rtlCol="0" anchor="ctr"/>
          <a:lstStyle/>
          <a:p>
            <a:pPr indent="0" marL="0">
              <a:buNone/>
            </a:pPr>
            <a:r>
              <a:rPr lang="en-US" sz="1000" dirty="0">
                <a:solidFill>
                  <a:srgbClr val="6B7A8C"/>
                </a:solidFill>
              </a:rPr>
              <a:t>BUHAY-AH  ·  Enrique Miguel C. Buban, Lead Researcher</a:t>
            </a:r>
            <a:endParaRPr lang="en-US" sz="10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4.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4.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2.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PRACTICAL RESEARCH 2 · FULL RESEARCH</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BUHAY-AH</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A Budget-to-Blueprint Design Generator, Standards-Based Quantity Take-Off, and Hybrid Machine Learning System for Start Quotations and Over-Budget Detection in Public Buildings and Bridges</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600" dirty="0">
                <a:solidFill>
                  <a:schemeClr val="accent1"/>
                </a:solidFill>
              </a:rPr>
              <a:t>Mathematical and Computational Sciences · 2026</a:t>
            </a:r>
            <a:endParaRPr lang="en-US" sz="1600" dirty="0"/>
          </a:p>
        </p:txBody>
      </p:sp>
      <p:sp>
        <p:nvSpPr>
          <p:cNvPr id="6" name="hero frame"/>
          <p:cNvSpPr/>
          <p:nvPr/>
        </p:nvSpPr>
        <p:spPr>
          <a:xfrm>
            <a:off x="8001000" y="822960"/>
            <a:ext cx="3657600" cy="5212080"/>
          </a:xfrm>
          <a:prstGeom prst="roundRect">
            <a:avLst>
              <a:gd name="adj" fmla="val 3000"/>
            </a:avLst>
          </a:prstGeom>
          <a:solidFill>
            <a:schemeClr val="bg1"/>
          </a:solidFill>
          <a:ln/>
        </p:spPr>
      </p:sp>
      <p:pic>
        <p:nvPicPr>
          <p:cNvPr id="7" name="viz_building.png" descr="3D model of a generated 2-storey school building">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rcdg.png" descr="3D model of a three-span RCD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OVERVIEW</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Presentation Outline</a:t>
            </a:r>
            <a:endParaRPr lang="en-US" sz="3200" dirty="0"/>
          </a:p>
        </p:txBody>
      </p:sp>
      <p:sp>
        <p:nvSpPr>
          <p:cNvPr id="5" name="outline card"/>
          <p:cNvSpPr/>
          <p:nvPr/>
        </p:nvSpPr>
        <p:spPr>
          <a:xfrm>
            <a:off x="548640" y="1600200"/>
            <a:ext cx="1998878" cy="4480560"/>
          </a:xfrm>
          <a:prstGeom prst="roundRect">
            <a:avLst>
              <a:gd name="adj" fmla="val 3660"/>
            </a:avLst>
          </a:prstGeom>
          <a:solidFill>
            <a:schemeClr val="bg2"/>
          </a:solidFill>
          <a:ln/>
        </p:spPr>
      </p:sp>
      <p:sp>
        <p:nvSpPr>
          <p:cNvPr id="6" name="icon circle"/>
          <p:cNvSpPr/>
          <p:nvPr/>
        </p:nvSpPr>
        <p:spPr>
          <a:xfrm>
            <a:off x="868680" y="1920240"/>
            <a:ext cx="777240" cy="777240"/>
          </a:xfrm>
          <a:prstGeom prst="ellipse">
            <a:avLst/>
          </a:prstGeom>
          <a:solidFill>
            <a:schemeClr val="tx2"/>
          </a:solidFill>
          <a:ln/>
        </p:spPr>
      </p:sp>
      <p:pic>
        <p:nvPicPr>
          <p:cNvPr id="7" name="icon FaBookOpen" descr="BookOpen icon">    </p:cNvPr>
          <p:cNvPicPr>
            <a:picLocks noChangeAspect="1"/>
          </p:cNvPicPr>
          <p:nvPr/>
        </p:nvPicPr>
        <p:blipFill>
          <a:blip r:embed="rId1"/>
          <a:stretch>
            <a:fillRect/>
          </a:stretch>
        </p:blipFill>
        <p:spPr>
          <a:xfrm>
            <a:off x="1055218" y="2106778"/>
            <a:ext cx="404165" cy="404165"/>
          </a:xfrm>
          <a:prstGeom prst="rect">
            <a:avLst/>
          </a:prstGeom>
        </p:spPr>
      </p:pic>
      <p:sp>
        <p:nvSpPr>
          <p:cNvPr id="8" name="Text 4"/>
          <p:cNvSpPr txBox="1"/>
          <p:nvPr/>
        </p:nvSpPr>
        <p:spPr>
          <a:xfrm>
            <a:off x="1495958"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I</a:t>
            </a:r>
            <a:endParaRPr lang="en-US" sz="4400" dirty="0"/>
          </a:p>
        </p:txBody>
      </p:sp>
      <p:sp>
        <p:nvSpPr>
          <p:cNvPr id="9" name="Text 5"/>
          <p:cNvSpPr txBox="1"/>
          <p:nvPr/>
        </p:nvSpPr>
        <p:spPr>
          <a:xfrm>
            <a:off x="868680"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Introduction</a:t>
            </a:r>
            <a:endParaRPr lang="en-US" sz="1800" dirty="0"/>
          </a:p>
        </p:txBody>
      </p:sp>
      <p:sp>
        <p:nvSpPr>
          <p:cNvPr id="10" name="Text 6"/>
          <p:cNvSpPr txBox="1"/>
          <p:nvPr/>
        </p:nvSpPr>
        <p:spPr>
          <a:xfrm>
            <a:off x="868680"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Background, gaps, objectives, significance, scope, terms</a:t>
            </a:r>
            <a:endParaRPr lang="en-US" sz="1500" dirty="0"/>
          </a:p>
        </p:txBody>
      </p:sp>
      <p:sp>
        <p:nvSpPr>
          <p:cNvPr id="11" name="outline card"/>
          <p:cNvSpPr/>
          <p:nvPr/>
        </p:nvSpPr>
        <p:spPr>
          <a:xfrm>
            <a:off x="2821838" y="1600200"/>
            <a:ext cx="1998878" cy="4480560"/>
          </a:xfrm>
          <a:prstGeom prst="roundRect">
            <a:avLst>
              <a:gd name="adj" fmla="val 3660"/>
            </a:avLst>
          </a:prstGeom>
          <a:solidFill>
            <a:schemeClr val="bg2"/>
          </a:solidFill>
          <a:ln/>
        </p:spPr>
      </p:sp>
      <p:sp>
        <p:nvSpPr>
          <p:cNvPr id="12" name="icon circle"/>
          <p:cNvSpPr/>
          <p:nvPr/>
        </p:nvSpPr>
        <p:spPr>
          <a:xfrm>
            <a:off x="3141878" y="1920240"/>
            <a:ext cx="777240" cy="777240"/>
          </a:xfrm>
          <a:prstGeom prst="ellipse">
            <a:avLst/>
          </a:prstGeom>
          <a:solidFill>
            <a:schemeClr val="tx2"/>
          </a:solidFill>
          <a:ln/>
        </p:spPr>
      </p:sp>
      <p:pic>
        <p:nvPicPr>
          <p:cNvPr id="13" name="icon FaSitemap" descr="Sitemap icon">    </p:cNvPr>
          <p:cNvPicPr>
            <a:picLocks noChangeAspect="1"/>
          </p:cNvPicPr>
          <p:nvPr/>
        </p:nvPicPr>
        <p:blipFill>
          <a:blip r:embed="rId2"/>
          <a:stretch>
            <a:fillRect/>
          </a:stretch>
        </p:blipFill>
        <p:spPr>
          <a:xfrm>
            <a:off x="3328416" y="2106778"/>
            <a:ext cx="404165" cy="404165"/>
          </a:xfrm>
          <a:prstGeom prst="rect">
            <a:avLst/>
          </a:prstGeom>
        </p:spPr>
      </p:pic>
      <p:sp>
        <p:nvSpPr>
          <p:cNvPr id="14" name="Text 9"/>
          <p:cNvSpPr txBox="1"/>
          <p:nvPr/>
        </p:nvSpPr>
        <p:spPr>
          <a:xfrm>
            <a:off x="3769157"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F</a:t>
            </a:r>
            <a:endParaRPr lang="en-US" sz="4400" dirty="0"/>
          </a:p>
        </p:txBody>
      </p:sp>
      <p:sp>
        <p:nvSpPr>
          <p:cNvPr id="15" name="Text 10"/>
          <p:cNvSpPr txBox="1"/>
          <p:nvPr/>
        </p:nvSpPr>
        <p:spPr>
          <a:xfrm>
            <a:off x="3141878"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Framework</a:t>
            </a:r>
            <a:endParaRPr lang="en-US" sz="1800" dirty="0"/>
          </a:p>
        </p:txBody>
      </p:sp>
      <p:sp>
        <p:nvSpPr>
          <p:cNvPr id="16" name="Text 11"/>
          <p:cNvSpPr txBox="1"/>
          <p:nvPr/>
        </p:nvSpPr>
        <p:spPr>
          <a:xfrm>
            <a:off x="3141878"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Literature, theoretical and conceptual frameworks</a:t>
            </a:r>
            <a:endParaRPr lang="en-US" sz="1500" dirty="0"/>
          </a:p>
        </p:txBody>
      </p:sp>
      <p:sp>
        <p:nvSpPr>
          <p:cNvPr id="17" name="outline card"/>
          <p:cNvSpPr/>
          <p:nvPr/>
        </p:nvSpPr>
        <p:spPr>
          <a:xfrm>
            <a:off x="5095037" y="1600200"/>
            <a:ext cx="1998878" cy="4480560"/>
          </a:xfrm>
          <a:prstGeom prst="roundRect">
            <a:avLst>
              <a:gd name="adj" fmla="val 3660"/>
            </a:avLst>
          </a:prstGeom>
          <a:solidFill>
            <a:schemeClr val="bg2"/>
          </a:solidFill>
          <a:ln/>
        </p:spPr>
      </p:sp>
      <p:sp>
        <p:nvSpPr>
          <p:cNvPr id="18" name="icon circle"/>
          <p:cNvSpPr/>
          <p:nvPr/>
        </p:nvSpPr>
        <p:spPr>
          <a:xfrm>
            <a:off x="5415077" y="1920240"/>
            <a:ext cx="777240" cy="777240"/>
          </a:xfrm>
          <a:prstGeom prst="ellipse">
            <a:avLst/>
          </a:prstGeom>
          <a:solidFill>
            <a:schemeClr val="tx2"/>
          </a:solidFill>
          <a:ln/>
        </p:spPr>
      </p:sp>
      <p:pic>
        <p:nvPicPr>
          <p:cNvPr id="19" name="icon FaGears" descr="Gears icon">    </p:cNvPr>
          <p:cNvPicPr>
            <a:picLocks noChangeAspect="1"/>
          </p:cNvPicPr>
          <p:nvPr/>
        </p:nvPicPr>
        <p:blipFill>
          <a:blip r:embed="rId3"/>
          <a:stretch>
            <a:fillRect/>
          </a:stretch>
        </p:blipFill>
        <p:spPr>
          <a:xfrm>
            <a:off x="5601614" y="2106778"/>
            <a:ext cx="404165" cy="404165"/>
          </a:xfrm>
          <a:prstGeom prst="rect">
            <a:avLst/>
          </a:prstGeom>
        </p:spPr>
      </p:pic>
      <p:sp>
        <p:nvSpPr>
          <p:cNvPr id="20" name="Text 14"/>
          <p:cNvSpPr txBox="1"/>
          <p:nvPr/>
        </p:nvSpPr>
        <p:spPr>
          <a:xfrm>
            <a:off x="6042355"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M</a:t>
            </a:r>
            <a:endParaRPr lang="en-US" sz="4400" dirty="0"/>
          </a:p>
        </p:txBody>
      </p:sp>
      <p:sp>
        <p:nvSpPr>
          <p:cNvPr id="21" name="Text 15"/>
          <p:cNvSpPr txBox="1"/>
          <p:nvPr/>
        </p:nvSpPr>
        <p:spPr>
          <a:xfrm>
            <a:off x="5415077"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Methods</a:t>
            </a:r>
            <a:endParaRPr lang="en-US" sz="1800" dirty="0"/>
          </a:p>
        </p:txBody>
      </p:sp>
      <p:sp>
        <p:nvSpPr>
          <p:cNvPr id="22" name="Text 16"/>
          <p:cNvSpPr txBox="1"/>
          <p:nvPr/>
        </p:nvSpPr>
        <p:spPr>
          <a:xfrm>
            <a:off x="5415077"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Design, data, models, validation, app</a:t>
            </a:r>
            <a:endParaRPr lang="en-US" sz="1500" dirty="0"/>
          </a:p>
        </p:txBody>
      </p:sp>
      <p:sp>
        <p:nvSpPr>
          <p:cNvPr id="23" name="outline card"/>
          <p:cNvSpPr/>
          <p:nvPr/>
        </p:nvSpPr>
        <p:spPr>
          <a:xfrm>
            <a:off x="7368235" y="1600200"/>
            <a:ext cx="1998878" cy="4480560"/>
          </a:xfrm>
          <a:prstGeom prst="roundRect">
            <a:avLst>
              <a:gd name="adj" fmla="val 3660"/>
            </a:avLst>
          </a:prstGeom>
          <a:solidFill>
            <a:schemeClr val="bg2"/>
          </a:solidFill>
          <a:ln/>
        </p:spPr>
      </p:sp>
      <p:sp>
        <p:nvSpPr>
          <p:cNvPr id="24" name="icon circle"/>
          <p:cNvSpPr/>
          <p:nvPr/>
        </p:nvSpPr>
        <p:spPr>
          <a:xfrm>
            <a:off x="7688275" y="1920240"/>
            <a:ext cx="777240" cy="777240"/>
          </a:xfrm>
          <a:prstGeom prst="ellipse">
            <a:avLst/>
          </a:prstGeom>
          <a:solidFill>
            <a:schemeClr val="tx2"/>
          </a:solidFill>
          <a:ln/>
        </p:spPr>
      </p:sp>
      <p:pic>
        <p:nvPicPr>
          <p:cNvPr id="25" name="icon FaChartColumn" descr="ChartColumn icon">    </p:cNvPr>
          <p:cNvPicPr>
            <a:picLocks noChangeAspect="1"/>
          </p:cNvPicPr>
          <p:nvPr/>
        </p:nvPicPr>
        <p:blipFill>
          <a:blip r:embed="rId4"/>
          <a:stretch>
            <a:fillRect/>
          </a:stretch>
        </p:blipFill>
        <p:spPr>
          <a:xfrm>
            <a:off x="7874813" y="2106778"/>
            <a:ext cx="404165" cy="404165"/>
          </a:xfrm>
          <a:prstGeom prst="rect">
            <a:avLst/>
          </a:prstGeom>
        </p:spPr>
      </p:pic>
      <p:sp>
        <p:nvSpPr>
          <p:cNvPr id="26" name="Text 19"/>
          <p:cNvSpPr txBox="1"/>
          <p:nvPr/>
        </p:nvSpPr>
        <p:spPr>
          <a:xfrm>
            <a:off x="8315554"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R</a:t>
            </a:r>
            <a:endParaRPr lang="en-US" sz="4400" dirty="0"/>
          </a:p>
        </p:txBody>
      </p:sp>
      <p:sp>
        <p:nvSpPr>
          <p:cNvPr id="27" name="Text 20"/>
          <p:cNvSpPr txBox="1"/>
          <p:nvPr/>
        </p:nvSpPr>
        <p:spPr>
          <a:xfrm>
            <a:off x="7688275"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Results</a:t>
            </a:r>
            <a:endParaRPr lang="en-US" sz="1800" dirty="0"/>
          </a:p>
        </p:txBody>
      </p:sp>
      <p:sp>
        <p:nvSpPr>
          <p:cNvPr id="28" name="Text 21"/>
          <p:cNvSpPr txBox="1"/>
          <p:nvPr/>
        </p:nvSpPr>
        <p:spPr>
          <a:xfrm>
            <a:off x="7688275"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Results and discussion of the six research questions</a:t>
            </a:r>
            <a:endParaRPr lang="en-US" sz="1500" dirty="0"/>
          </a:p>
        </p:txBody>
      </p:sp>
      <p:sp>
        <p:nvSpPr>
          <p:cNvPr id="29" name="outline card"/>
          <p:cNvSpPr/>
          <p:nvPr/>
        </p:nvSpPr>
        <p:spPr>
          <a:xfrm>
            <a:off x="9641434" y="1600200"/>
            <a:ext cx="1998878" cy="4480560"/>
          </a:xfrm>
          <a:prstGeom prst="roundRect">
            <a:avLst>
              <a:gd name="adj" fmla="val 3660"/>
            </a:avLst>
          </a:prstGeom>
          <a:solidFill>
            <a:schemeClr val="bg2"/>
          </a:solidFill>
          <a:ln/>
        </p:spPr>
      </p:sp>
      <p:sp>
        <p:nvSpPr>
          <p:cNvPr id="30" name="icon circle"/>
          <p:cNvSpPr/>
          <p:nvPr/>
        </p:nvSpPr>
        <p:spPr>
          <a:xfrm>
            <a:off x="9961474" y="1920240"/>
            <a:ext cx="777240" cy="777240"/>
          </a:xfrm>
          <a:prstGeom prst="ellipse">
            <a:avLst/>
          </a:prstGeom>
          <a:solidFill>
            <a:schemeClr val="tx2"/>
          </a:solidFill>
          <a:ln/>
        </p:spPr>
      </p:sp>
      <p:pic>
        <p:nvPicPr>
          <p:cNvPr id="31" name="icon FaFlagCheckered" descr="FlagCheckered icon">    </p:cNvPr>
          <p:cNvPicPr>
            <a:picLocks noChangeAspect="1"/>
          </p:cNvPicPr>
          <p:nvPr/>
        </p:nvPicPr>
        <p:blipFill>
          <a:blip r:embed="rId5"/>
          <a:stretch>
            <a:fillRect/>
          </a:stretch>
        </p:blipFill>
        <p:spPr>
          <a:xfrm>
            <a:off x="10148011" y="2106778"/>
            <a:ext cx="404165" cy="404165"/>
          </a:xfrm>
          <a:prstGeom prst="rect">
            <a:avLst/>
          </a:prstGeom>
        </p:spPr>
      </p:pic>
      <p:sp>
        <p:nvSpPr>
          <p:cNvPr id="32" name="Text 24"/>
          <p:cNvSpPr txBox="1"/>
          <p:nvPr/>
        </p:nvSpPr>
        <p:spPr>
          <a:xfrm>
            <a:off x="10588752"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C</a:t>
            </a:r>
            <a:endParaRPr lang="en-US" sz="4400" dirty="0"/>
          </a:p>
        </p:txBody>
      </p:sp>
      <p:sp>
        <p:nvSpPr>
          <p:cNvPr id="33" name="Text 25"/>
          <p:cNvSpPr txBox="1"/>
          <p:nvPr/>
        </p:nvSpPr>
        <p:spPr>
          <a:xfrm>
            <a:off x="9961474" y="2971800"/>
            <a:ext cx="1541678" cy="8229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Conclusion</a:t>
            </a:r>
            <a:endParaRPr lang="en-US" sz="1800" dirty="0"/>
          </a:p>
        </p:txBody>
      </p:sp>
      <p:sp>
        <p:nvSpPr>
          <p:cNvPr id="34" name="Text 26"/>
          <p:cNvSpPr txBox="1"/>
          <p:nvPr/>
        </p:nvSpPr>
        <p:spPr>
          <a:xfrm>
            <a:off x="9961474" y="3840480"/>
            <a:ext cx="1450238" cy="2011680"/>
          </a:xfrm>
          <a:prstGeom prst="rect">
            <a:avLst/>
          </a:prstGeom>
          <a:noFill/>
          <a:ln/>
        </p:spPr>
        <p:txBody>
          <a:bodyPr wrap="square" lIns="0" tIns="0" rIns="0" bIns="0" rtlCol="0" anchor="t"/>
          <a:lstStyle/>
          <a:p>
            <a:pPr indent="0" marL="0">
              <a:buNone/>
            </a:pPr>
            <a:r>
              <a:rPr lang="en-US" sz="1500" dirty="0">
                <a:solidFill>
                  <a:schemeClr val="tx1"/>
                </a:solidFill>
              </a:rPr>
              <a:t>Conclusions, recommendations and references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01</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Background of the study, research gap and rationale, objective, significance, scope and delimitation, definition of terms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Corruption Hides in the Price</a:t>
            </a:r>
            <a:endParaRPr lang="en-US" sz="3200" dirty="0"/>
          </a:p>
        </p:txBody>
      </p:sp>
      <p:sp>
        <p:nvSpPr>
          <p:cNvPr id="5" name="card"/>
          <p:cNvSpPr/>
          <p:nvPr/>
        </p:nvSpPr>
        <p:spPr>
          <a:xfrm>
            <a:off x="548640" y="1600200"/>
            <a:ext cx="2606040" cy="3291840"/>
          </a:xfrm>
          <a:prstGeom prst="roundRect">
            <a:avLst>
              <a:gd name="adj" fmla="val 2807"/>
            </a:avLst>
          </a:prstGeom>
          <a:solidFill>
            <a:schemeClr val="bg2"/>
          </a:solidFill>
          <a:ln/>
        </p:spPr>
      </p:sp>
      <p:sp>
        <p:nvSpPr>
          <p:cNvPr id="6" name="Text 3"/>
          <p:cNvSpPr txBox="1"/>
          <p:nvPr/>
        </p:nvSpPr>
        <p:spPr>
          <a:xfrm>
            <a:off x="77724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10–30%</a:t>
            </a:r>
            <a:endParaRPr lang="en-US" sz="3600" dirty="0"/>
          </a:p>
        </p:txBody>
      </p:sp>
      <p:sp>
        <p:nvSpPr>
          <p:cNvPr id="7" name="Text 4"/>
          <p:cNvSpPr txBox="1"/>
          <p:nvPr/>
        </p:nvSpPr>
        <p:spPr>
          <a:xfrm>
            <a:off x="77724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of public infrastructure investment lost to corruption, mismanagement and inefficiency</a:t>
            </a:r>
            <a:endParaRPr lang="en-US" sz="1400" dirty="0"/>
          </a:p>
        </p:txBody>
      </p:sp>
      <p:sp>
        <p:nvSpPr>
          <p:cNvPr id="8" name="Text 5"/>
          <p:cNvSpPr txBox="1"/>
          <p:nvPr/>
        </p:nvSpPr>
        <p:spPr>
          <a:xfrm>
            <a:off x="77724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CoST, n.d.</a:t>
            </a:r>
            <a:endParaRPr lang="en-US" sz="1100" dirty="0"/>
          </a:p>
        </p:txBody>
      </p:sp>
      <p:sp>
        <p:nvSpPr>
          <p:cNvPr id="9" name="card"/>
          <p:cNvSpPr/>
          <p:nvPr/>
        </p:nvSpPr>
        <p:spPr>
          <a:xfrm>
            <a:off x="3383280" y="1600200"/>
            <a:ext cx="2606040" cy="3291840"/>
          </a:xfrm>
          <a:prstGeom prst="roundRect">
            <a:avLst>
              <a:gd name="adj" fmla="val 2807"/>
            </a:avLst>
          </a:prstGeom>
          <a:solidFill>
            <a:schemeClr val="bg2"/>
          </a:solidFill>
          <a:ln/>
        </p:spPr>
      </p:sp>
      <p:sp>
        <p:nvSpPr>
          <p:cNvPr id="10" name="Text 7"/>
          <p:cNvSpPr txBox="1"/>
          <p:nvPr/>
        </p:nvSpPr>
        <p:spPr>
          <a:xfrm>
            <a:off x="361188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32 / 100</a:t>
            </a:r>
            <a:endParaRPr lang="en-US" sz="3600" dirty="0"/>
          </a:p>
        </p:txBody>
      </p:sp>
      <p:sp>
        <p:nvSpPr>
          <p:cNvPr id="11" name="Text 8"/>
          <p:cNvSpPr txBox="1"/>
          <p:nvPr/>
        </p:nvSpPr>
        <p:spPr>
          <a:xfrm>
            <a:off x="361188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Philippine score in the 2025 Corruption Perceptions Index; 120th of 182</a:t>
            </a:r>
            <a:endParaRPr lang="en-US" sz="1400" dirty="0"/>
          </a:p>
        </p:txBody>
      </p:sp>
      <p:sp>
        <p:nvSpPr>
          <p:cNvPr id="12" name="Text 9"/>
          <p:cNvSpPr txBox="1"/>
          <p:nvPr/>
        </p:nvSpPr>
        <p:spPr>
          <a:xfrm>
            <a:off x="361188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Transparency International, 2026</a:t>
            </a:r>
            <a:endParaRPr lang="en-US" sz="1100" dirty="0"/>
          </a:p>
        </p:txBody>
      </p:sp>
      <p:sp>
        <p:nvSpPr>
          <p:cNvPr id="13" name="card"/>
          <p:cNvSpPr/>
          <p:nvPr/>
        </p:nvSpPr>
        <p:spPr>
          <a:xfrm>
            <a:off x="6217920" y="1600200"/>
            <a:ext cx="2606040" cy="3291840"/>
          </a:xfrm>
          <a:prstGeom prst="roundRect">
            <a:avLst>
              <a:gd name="adj" fmla="val 2807"/>
            </a:avLst>
          </a:prstGeom>
          <a:solidFill>
            <a:schemeClr val="bg2"/>
          </a:solidFill>
          <a:ln/>
        </p:spPr>
      </p:sp>
      <p:sp>
        <p:nvSpPr>
          <p:cNvPr id="14" name="Text 11"/>
          <p:cNvSpPr txBox="1"/>
          <p:nvPr/>
        </p:nvSpPr>
        <p:spPr>
          <a:xfrm>
            <a:off x="644652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₱545.64B</a:t>
            </a:r>
            <a:endParaRPr lang="en-US" sz="3600" dirty="0"/>
          </a:p>
        </p:txBody>
      </p:sp>
      <p:sp>
        <p:nvSpPr>
          <p:cNvPr id="15" name="Text 12"/>
          <p:cNvSpPr txBox="1"/>
          <p:nvPr/>
        </p:nvSpPr>
        <p:spPr>
          <a:xfrm>
            <a:off x="644652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flood-control projects, July 2022 – May 2025; about 20% went to 15 contractors</a:t>
            </a:r>
            <a:endParaRPr lang="en-US" sz="1400" dirty="0"/>
          </a:p>
        </p:txBody>
      </p:sp>
      <p:sp>
        <p:nvSpPr>
          <p:cNvPr id="16" name="Text 13"/>
          <p:cNvSpPr txBox="1"/>
          <p:nvPr/>
        </p:nvSpPr>
        <p:spPr>
          <a:xfrm>
            <a:off x="644652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DZRH News, 2025; PCIJ, 2025</a:t>
            </a:r>
            <a:endParaRPr lang="en-US" sz="1100" dirty="0"/>
          </a:p>
        </p:txBody>
      </p:sp>
      <p:sp>
        <p:nvSpPr>
          <p:cNvPr id="17" name="card"/>
          <p:cNvSpPr/>
          <p:nvPr/>
        </p:nvSpPr>
        <p:spPr>
          <a:xfrm>
            <a:off x="9052560" y="1600200"/>
            <a:ext cx="2606040" cy="3291840"/>
          </a:xfrm>
          <a:prstGeom prst="roundRect">
            <a:avLst>
              <a:gd name="adj" fmla="val 2807"/>
            </a:avLst>
          </a:prstGeom>
          <a:solidFill>
            <a:schemeClr val="bg2"/>
          </a:solidFill>
          <a:ln/>
        </p:spPr>
      </p:sp>
      <p:sp>
        <p:nvSpPr>
          <p:cNvPr id="18" name="Text 15"/>
          <p:cNvSpPr txBox="1"/>
          <p:nvPr/>
        </p:nvSpPr>
        <p:spPr>
          <a:xfrm>
            <a:off x="9281160" y="1828800"/>
            <a:ext cx="2194560"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₱62.64M</a:t>
            </a:r>
            <a:endParaRPr lang="en-US" sz="3600" dirty="0"/>
          </a:p>
        </p:txBody>
      </p:sp>
      <p:sp>
        <p:nvSpPr>
          <p:cNvPr id="19" name="Text 16"/>
          <p:cNvSpPr txBox="1"/>
          <p:nvPr/>
        </p:nvSpPr>
        <p:spPr>
          <a:xfrm>
            <a:off x="928116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overstatement found by COA in the Cebu City Medical Center building</a:t>
            </a:r>
            <a:endParaRPr lang="en-US" sz="1400" dirty="0"/>
          </a:p>
        </p:txBody>
      </p:sp>
      <p:sp>
        <p:nvSpPr>
          <p:cNvPr id="20" name="Text 17"/>
          <p:cNvSpPr txBox="1"/>
          <p:nvPr/>
        </p:nvSpPr>
        <p:spPr>
          <a:xfrm>
            <a:off x="928116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Cebu Daily News, 2023</a:t>
            </a:r>
            <a:endParaRPr lang="en-US" sz="1100" dirty="0"/>
          </a:p>
        </p:txBody>
      </p:sp>
      <p:sp>
        <p:nvSpPr>
          <p:cNvPr id="21" name="icon circle"/>
          <p:cNvSpPr/>
          <p:nvPr/>
        </p:nvSpPr>
        <p:spPr>
          <a:xfrm>
            <a:off x="548640" y="5212080"/>
            <a:ext cx="685800" cy="685800"/>
          </a:xfrm>
          <a:prstGeom prst="ellipse">
            <a:avLst/>
          </a:prstGeom>
          <a:solidFill>
            <a:schemeClr val="accent1"/>
          </a:solidFill>
          <a:ln/>
        </p:spPr>
      </p:sp>
      <p:pic>
        <p:nvPicPr>
          <p:cNvPr id="22" name="icon FaTriangleExclamation" descr="TriangleExclamation icon">    </p:cNvPr>
          <p:cNvPicPr>
            <a:picLocks noChangeAspect="1"/>
          </p:cNvPicPr>
          <p:nvPr/>
        </p:nvPicPr>
        <p:blipFill>
          <a:blip r:embed="rId1"/>
          <a:stretch>
            <a:fillRect/>
          </a:stretch>
        </p:blipFill>
        <p:spPr>
          <a:xfrm>
            <a:off x="713232" y="5376672"/>
            <a:ext cx="356616" cy="356616"/>
          </a:xfrm>
          <a:prstGeom prst="rect">
            <a:avLst/>
          </a:prstGeom>
        </p:spPr>
      </p:pic>
      <p:sp>
        <p:nvSpPr>
          <p:cNvPr id="23" name="Text 19"/>
          <p:cNvSpPr txBox="1"/>
          <p:nvPr/>
        </p:nvSpPr>
        <p:spPr>
          <a:xfrm>
            <a:off x="1417320" y="516636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In 2025 a newly opened ₱1.2-billion bridge in Isabela collapsed </a:t>
            </a:r>
            <a:pPr indent="0" marL="0">
              <a:buNone/>
            </a:pPr>
            <a:r>
              <a:rPr lang="en-US" sz="1500" dirty="0">
                <a:solidFill>
                  <a:schemeClr val="tx1"/>
                </a:solidFill>
              </a:rPr>
              <a:t>less than a month after completion (Philstar, 2025). In Bicol, COA findings on DPWH projects worth ₱13 billion showed that cost checks against an independent estimate happen late, if at all.</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Buildings and Bridges</a:t>
            </a:r>
            <a:endParaRPr lang="en-US" sz="3200" dirty="0"/>
          </a:p>
        </p:txBody>
      </p:sp>
      <p:pic>
        <p:nvPicPr>
          <p:cNvPr id="5" name="viz_building.png" descr="3D school building">    </p:cNvPr>
          <p:cNvPicPr>
            <a:picLocks noChangeAspect="1"/>
          </p:cNvPicPr>
          <p:nvPr/>
        </p:nvPicPr>
        <p:blipFill>
          <a:blip r:embed="rId1"/>
          <a:stretch>
            <a:fillRect/>
          </a:stretch>
        </p:blipFill>
        <p:spPr>
          <a:xfrm>
            <a:off x="808022" y="1508760"/>
            <a:ext cx="3047396" cy="2331720"/>
          </a:xfrm>
          <a:prstGeom prst="rect">
            <a:avLst/>
          </a:prstGeom>
        </p:spPr>
      </p:pic>
      <p:pic>
        <p:nvPicPr>
          <p:cNvPr id="6" name="viz_bridge_truss.png" descr="3D steel truss bridge">    </p:cNvPr>
          <p:cNvPicPr>
            <a:picLocks noChangeAspect="1"/>
          </p:cNvPicPr>
          <p:nvPr/>
        </p:nvPicPr>
        <p:blipFill>
          <a:blip r:embed="rId2"/>
          <a:stretch>
            <a:fillRect/>
          </a:stretch>
        </p:blipFill>
        <p:spPr>
          <a:xfrm>
            <a:off x="808022" y="3886200"/>
            <a:ext cx="3047396" cy="2331720"/>
          </a:xfrm>
          <a:prstGeom prst="rect">
            <a:avLst/>
          </a:prstGeom>
        </p:spPr>
      </p:pic>
      <p:sp>
        <p:nvSpPr>
          <p:cNvPr id="7" name="icon circle"/>
          <p:cNvSpPr/>
          <p:nvPr/>
        </p:nvSpPr>
        <p:spPr>
          <a:xfrm>
            <a:off x="4480560" y="1600200"/>
            <a:ext cx="685800" cy="685800"/>
          </a:xfrm>
          <a:prstGeom prst="ellipse">
            <a:avLst/>
          </a:prstGeom>
          <a:solidFill>
            <a:schemeClr val="tx2"/>
          </a:solidFill>
          <a:ln/>
        </p:spPr>
      </p:sp>
      <p:pic>
        <p:nvPicPr>
          <p:cNvPr id="8" name="icon FaSchool" descr="School icon">    </p:cNvPr>
          <p:cNvPicPr>
            <a:picLocks noChangeAspect="1"/>
          </p:cNvPicPr>
          <p:nvPr/>
        </p:nvPicPr>
        <p:blipFill>
          <a:blip r:embed="rId3"/>
          <a:stretch>
            <a:fillRect/>
          </a:stretch>
        </p:blipFill>
        <p:spPr>
          <a:xfrm>
            <a:off x="4645152" y="1764792"/>
            <a:ext cx="356616" cy="356616"/>
          </a:xfrm>
          <a:prstGeom prst="rect">
            <a:avLst/>
          </a:prstGeom>
        </p:spPr>
      </p:pic>
      <p:sp>
        <p:nvSpPr>
          <p:cNvPr id="9" name="Text 3"/>
          <p:cNvSpPr txBox="1"/>
          <p:nvPr/>
        </p:nvSpPr>
        <p:spPr>
          <a:xfrm>
            <a:off x="5394960" y="1554480"/>
            <a:ext cx="6217920" cy="365760"/>
          </a:xfrm>
          <a:prstGeom prst="rect">
            <a:avLst/>
          </a:prstGeom>
          <a:noFill/>
          <a:ln/>
        </p:spPr>
        <p:txBody>
          <a:bodyPr wrap="square" lIns="0" tIns="0" rIns="0" bIns="0" rtlCol="0" anchor="t"/>
          <a:lstStyle/>
          <a:p>
            <a:pPr indent="0" marL="0">
              <a:buNone/>
            </a:pPr>
            <a:r>
              <a:rPr lang="en-US" sz="1800" b="1" dirty="0">
                <a:solidFill>
                  <a:schemeClr val="tx2"/>
                </a:solidFill>
              </a:rPr>
              <a:t>Every padded peso is a missing classroom</a:t>
            </a:r>
            <a:endParaRPr lang="en-US" sz="1800" dirty="0"/>
          </a:p>
        </p:txBody>
      </p:sp>
      <p:sp>
        <p:nvSpPr>
          <p:cNvPr id="10" name="Text 4"/>
          <p:cNvSpPr txBox="1"/>
          <p:nvPr/>
        </p:nvSpPr>
        <p:spPr>
          <a:xfrm>
            <a:off x="5394960" y="1938528"/>
            <a:ext cx="6217920" cy="685800"/>
          </a:xfrm>
          <a:prstGeom prst="rect">
            <a:avLst/>
          </a:prstGeom>
          <a:noFill/>
          <a:ln/>
        </p:spPr>
        <p:txBody>
          <a:bodyPr wrap="square" lIns="0" tIns="0" rIns="0" bIns="0" rtlCol="0" anchor="t"/>
          <a:lstStyle/>
          <a:p>
            <a:pPr indent="0" marL="0">
              <a:buNone/>
            </a:pPr>
            <a:r>
              <a:rPr lang="en-US" sz="1500" dirty="0">
                <a:solidFill>
                  <a:schemeClr val="tx1"/>
                </a:solidFill>
              </a:rPr>
              <a:t>School buildings, health stations and evacuation centers are what communities rely on during typhoons.</a:t>
            </a:r>
            <a:endParaRPr lang="en-US" sz="1500" dirty="0"/>
          </a:p>
        </p:txBody>
      </p:sp>
      <p:sp>
        <p:nvSpPr>
          <p:cNvPr id="11" name="icon circle"/>
          <p:cNvSpPr/>
          <p:nvPr/>
        </p:nvSpPr>
        <p:spPr>
          <a:xfrm>
            <a:off x="4480560" y="2770632"/>
            <a:ext cx="685800" cy="685800"/>
          </a:xfrm>
          <a:prstGeom prst="ellipse">
            <a:avLst/>
          </a:prstGeom>
          <a:solidFill>
            <a:schemeClr val="tx2"/>
          </a:solidFill>
          <a:ln/>
        </p:spPr>
      </p:sp>
      <p:pic>
        <p:nvPicPr>
          <p:cNvPr id="12" name="icon FaBridge" descr="Bridge icon">    </p:cNvPr>
          <p:cNvPicPr>
            <a:picLocks noChangeAspect="1"/>
          </p:cNvPicPr>
          <p:nvPr/>
        </p:nvPicPr>
        <p:blipFill>
          <a:blip r:embed="rId4"/>
          <a:stretch>
            <a:fillRect/>
          </a:stretch>
        </p:blipFill>
        <p:spPr>
          <a:xfrm>
            <a:off x="4645152" y="2935224"/>
            <a:ext cx="356616" cy="356616"/>
          </a:xfrm>
          <a:prstGeom prst="rect">
            <a:avLst/>
          </a:prstGeom>
        </p:spPr>
      </p:pic>
      <p:sp>
        <p:nvSpPr>
          <p:cNvPr id="13" name="Text 6"/>
          <p:cNvSpPr txBox="1"/>
          <p:nvPr/>
        </p:nvSpPr>
        <p:spPr>
          <a:xfrm>
            <a:off x="5394960" y="2724912"/>
            <a:ext cx="6217920" cy="365760"/>
          </a:xfrm>
          <a:prstGeom prst="rect">
            <a:avLst/>
          </a:prstGeom>
          <a:noFill/>
          <a:ln/>
        </p:spPr>
        <p:txBody>
          <a:bodyPr wrap="square" lIns="0" tIns="0" rIns="0" bIns="0" rtlCol="0" anchor="t"/>
          <a:lstStyle/>
          <a:p>
            <a:pPr indent="0" marL="0">
              <a:buNone/>
            </a:pPr>
            <a:r>
              <a:rPr lang="en-US" sz="1800" b="1" dirty="0">
                <a:solidFill>
                  <a:schemeClr val="tx2"/>
                </a:solidFill>
              </a:rPr>
              <a:t>Bridges keep communities reachable</a:t>
            </a:r>
            <a:endParaRPr lang="en-US" sz="1800" dirty="0"/>
          </a:p>
        </p:txBody>
      </p:sp>
      <p:sp>
        <p:nvSpPr>
          <p:cNvPr id="14" name="Text 7"/>
          <p:cNvSpPr txBox="1"/>
          <p:nvPr/>
        </p:nvSpPr>
        <p:spPr>
          <a:xfrm>
            <a:off x="5394960" y="3108960"/>
            <a:ext cx="6217920" cy="685800"/>
          </a:xfrm>
          <a:prstGeom prst="rect">
            <a:avLst/>
          </a:prstGeom>
          <a:noFill/>
          <a:ln/>
        </p:spPr>
        <p:txBody>
          <a:bodyPr wrap="square" lIns="0" tIns="0" rIns="0" bIns="0" rtlCol="0" anchor="t"/>
          <a:lstStyle/>
          <a:p>
            <a:pPr indent="0" marL="0">
              <a:buNone/>
            </a:pPr>
            <a:r>
              <a:rPr lang="en-US" sz="1500" dirty="0">
                <a:solidFill>
                  <a:schemeClr val="tx1"/>
                </a:solidFill>
              </a:rPr>
              <a:t>Bicol is in NSCP Seismic Zone 4 and in the path of frequent typhoons; thin bridges fail first.</a:t>
            </a:r>
            <a:endParaRPr lang="en-US" sz="1500" dirty="0"/>
          </a:p>
        </p:txBody>
      </p:sp>
      <p:sp>
        <p:nvSpPr>
          <p:cNvPr id="15" name="icon circle"/>
          <p:cNvSpPr/>
          <p:nvPr/>
        </p:nvSpPr>
        <p:spPr>
          <a:xfrm>
            <a:off x="4480560" y="3941064"/>
            <a:ext cx="685800" cy="685800"/>
          </a:xfrm>
          <a:prstGeom prst="ellipse">
            <a:avLst/>
          </a:prstGeom>
          <a:solidFill>
            <a:schemeClr val="tx2"/>
          </a:solidFill>
          <a:ln/>
        </p:spPr>
      </p:sp>
      <p:pic>
        <p:nvPicPr>
          <p:cNvPr id="16" name="icon FaFileInvoiceDollar" descr="FileInvoiceDollar icon">    </p:cNvPr>
          <p:cNvPicPr>
            <a:picLocks noChangeAspect="1"/>
          </p:cNvPicPr>
          <p:nvPr/>
        </p:nvPicPr>
        <p:blipFill>
          <a:blip r:embed="rId5"/>
          <a:stretch>
            <a:fillRect/>
          </a:stretch>
        </p:blipFill>
        <p:spPr>
          <a:xfrm>
            <a:off x="4645152" y="4105656"/>
            <a:ext cx="356616" cy="356616"/>
          </a:xfrm>
          <a:prstGeom prst="rect">
            <a:avLst/>
          </a:prstGeom>
        </p:spPr>
      </p:pic>
      <p:sp>
        <p:nvSpPr>
          <p:cNvPr id="17" name="Text 9"/>
          <p:cNvSpPr txBox="1"/>
          <p:nvPr/>
        </p:nvSpPr>
        <p:spPr>
          <a:xfrm>
            <a:off x="5394960" y="3895344"/>
            <a:ext cx="6217920" cy="365760"/>
          </a:xfrm>
          <a:prstGeom prst="rect">
            <a:avLst/>
          </a:prstGeom>
          <a:noFill/>
          <a:ln/>
        </p:spPr>
        <p:txBody>
          <a:bodyPr wrap="square" lIns="0" tIns="0" rIns="0" bIns="0" rtlCol="0" anchor="t"/>
          <a:lstStyle/>
          <a:p>
            <a:pPr indent="0" marL="0">
              <a:buNone/>
            </a:pPr>
            <a:r>
              <a:rPr lang="en-US" sz="1800" b="1" dirty="0">
                <a:solidFill>
                  <a:schemeClr val="tx2"/>
                </a:solidFill>
              </a:rPr>
              <a:t>The ABC is set by the same office</a:t>
            </a:r>
            <a:endParaRPr lang="en-US" sz="1800" dirty="0"/>
          </a:p>
        </p:txBody>
      </p:sp>
      <p:sp>
        <p:nvSpPr>
          <p:cNvPr id="18" name="Text 10"/>
          <p:cNvSpPr txBox="1"/>
          <p:nvPr/>
        </p:nvSpPr>
        <p:spPr>
          <a:xfrm>
            <a:off x="5394960" y="4279392"/>
            <a:ext cx="6217920" cy="685800"/>
          </a:xfrm>
          <a:prstGeom prst="rect">
            <a:avLst/>
          </a:prstGeom>
          <a:noFill/>
          <a:ln/>
        </p:spPr>
        <p:txBody>
          <a:bodyPr wrap="square" lIns="0" tIns="0" rIns="0" bIns="0" rtlCol="0" anchor="t"/>
          <a:lstStyle/>
          <a:p>
            <a:pPr indent="0" marL="0">
              <a:buNone/>
            </a:pPr>
            <a:r>
              <a:rPr lang="en-US" sz="1500" dirty="0">
                <a:solidFill>
                  <a:schemeClr val="tx1"/>
                </a:solidFill>
              </a:rPr>
              <a:t>Each project gets a Program of Works and an ABC; outsiders have no independent estimate to compare.</a:t>
            </a:r>
            <a:endParaRPr lang="en-US" sz="1500" dirty="0"/>
          </a:p>
        </p:txBody>
      </p:sp>
      <p:sp>
        <p:nvSpPr>
          <p:cNvPr id="19" name="icon circle"/>
          <p:cNvSpPr/>
          <p:nvPr/>
        </p:nvSpPr>
        <p:spPr>
          <a:xfrm>
            <a:off x="4480560" y="5111496"/>
            <a:ext cx="685800" cy="685800"/>
          </a:xfrm>
          <a:prstGeom prst="ellipse">
            <a:avLst/>
          </a:prstGeom>
          <a:solidFill>
            <a:schemeClr val="tx2"/>
          </a:solidFill>
          <a:ln/>
        </p:spPr>
      </p:sp>
      <p:pic>
        <p:nvPicPr>
          <p:cNvPr id="20" name="icon FaRobot" descr="Robot icon">    </p:cNvPr>
          <p:cNvPicPr>
            <a:picLocks noChangeAspect="1"/>
          </p:cNvPicPr>
          <p:nvPr/>
        </p:nvPicPr>
        <p:blipFill>
          <a:blip r:embed="rId6"/>
          <a:stretch>
            <a:fillRect/>
          </a:stretch>
        </p:blipFill>
        <p:spPr>
          <a:xfrm>
            <a:off x="4645152" y="5276088"/>
            <a:ext cx="356616" cy="356616"/>
          </a:xfrm>
          <a:prstGeom prst="rect">
            <a:avLst/>
          </a:prstGeom>
        </p:spPr>
      </p:pic>
      <p:sp>
        <p:nvSpPr>
          <p:cNvPr id="21" name="Text 12"/>
          <p:cNvSpPr txBox="1"/>
          <p:nvPr/>
        </p:nvSpPr>
        <p:spPr>
          <a:xfrm>
            <a:off x="5394960" y="5065776"/>
            <a:ext cx="6217920" cy="365760"/>
          </a:xfrm>
          <a:prstGeom prst="rect">
            <a:avLst/>
          </a:prstGeom>
          <a:noFill/>
          <a:ln/>
        </p:spPr>
        <p:txBody>
          <a:bodyPr wrap="square" lIns="0" tIns="0" rIns="0" bIns="0" rtlCol="0" anchor="t"/>
          <a:lstStyle/>
          <a:p>
            <a:pPr indent="0" marL="0">
              <a:buNone/>
            </a:pPr>
            <a:r>
              <a:rPr lang="en-US" sz="1800" b="1" dirty="0">
                <a:solidFill>
                  <a:schemeClr val="tx2"/>
                </a:solidFill>
              </a:rPr>
              <a:t>Machine learning screens many contracts</a:t>
            </a:r>
            <a:endParaRPr lang="en-US" sz="1800" dirty="0"/>
          </a:p>
        </p:txBody>
      </p:sp>
      <p:sp>
        <p:nvSpPr>
          <p:cNvPr id="22" name="Text 13"/>
          <p:cNvSpPr txBox="1"/>
          <p:nvPr/>
        </p:nvSpPr>
        <p:spPr>
          <a:xfrm>
            <a:off x="5394960" y="5449824"/>
            <a:ext cx="6217920" cy="685800"/>
          </a:xfrm>
          <a:prstGeom prst="rect">
            <a:avLst/>
          </a:prstGeom>
          <a:noFill/>
          <a:ln/>
        </p:spPr>
        <p:txBody>
          <a:bodyPr wrap="square" lIns="0" tIns="0" rIns="0" bIns="0" rtlCol="0" anchor="t"/>
          <a:lstStyle/>
          <a:p>
            <a:pPr indent="0" marL="0">
              <a:buNone/>
            </a:pPr>
            <a:r>
              <a:rPr lang="en-US" sz="1500" dirty="0">
                <a:solidFill>
                  <a:schemeClr val="tx1"/>
                </a:solidFill>
              </a:rPr>
              <a:t>Regression and XGBoost predict cost; CORA screened 11,646 Bicol road contracts (Buban, 2026).</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GAP AND RATIONALE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Gaps This Study Closes</a:t>
            </a:r>
            <a:endParaRPr lang="en-US" sz="3200" dirty="0"/>
          </a:p>
        </p:txBody>
      </p:sp>
      <p:sp>
        <p:nvSpPr>
          <p:cNvPr id="5" name="card"/>
          <p:cNvSpPr/>
          <p:nvPr/>
        </p:nvSpPr>
        <p:spPr>
          <a:xfrm>
            <a:off x="548640" y="1600200"/>
            <a:ext cx="2057400" cy="3566160"/>
          </a:xfrm>
          <a:prstGeom prst="roundRect">
            <a:avLst>
              <a:gd name="adj" fmla="val 3556"/>
            </a:avLst>
          </a:prstGeom>
          <a:solidFill>
            <a:schemeClr val="bg2"/>
          </a:solidFill>
          <a:ln/>
        </p:spPr>
      </p:sp>
      <p:sp>
        <p:nvSpPr>
          <p:cNvPr id="6" name="icon circle"/>
          <p:cNvSpPr/>
          <p:nvPr/>
        </p:nvSpPr>
        <p:spPr>
          <a:xfrm>
            <a:off x="777240" y="1828800"/>
            <a:ext cx="685800" cy="685800"/>
          </a:xfrm>
          <a:prstGeom prst="ellipse">
            <a:avLst/>
          </a:prstGeom>
          <a:solidFill>
            <a:schemeClr val="tx2"/>
          </a:solidFill>
          <a:ln/>
        </p:spPr>
      </p:sp>
      <p:pic>
        <p:nvPicPr>
          <p:cNvPr id="7" name="icon FaRoad" descr="Road icon">    </p:cNvPr>
          <p:cNvPicPr>
            <a:picLocks noChangeAspect="1"/>
          </p:cNvPicPr>
          <p:nvPr/>
        </p:nvPicPr>
        <p:blipFill>
          <a:blip r:embed="rId1"/>
          <a:stretch>
            <a:fillRect/>
          </a:stretch>
        </p:blipFill>
        <p:spPr>
          <a:xfrm>
            <a:off x="941832" y="1993392"/>
            <a:ext cx="356616" cy="356616"/>
          </a:xfrm>
          <a:prstGeom prst="rect">
            <a:avLst/>
          </a:prstGeom>
        </p:spPr>
      </p:pic>
      <p:sp>
        <p:nvSpPr>
          <p:cNvPr id="8" name="Text 4"/>
          <p:cNvSpPr txBox="1"/>
          <p:nvPr/>
        </p:nvSpPr>
        <p:spPr>
          <a:xfrm>
            <a:off x="777240"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Scope gap</a:t>
            </a:r>
            <a:endParaRPr lang="en-US" sz="1800" dirty="0"/>
          </a:p>
        </p:txBody>
      </p:sp>
      <p:sp>
        <p:nvSpPr>
          <p:cNvPr id="9" name="Text 5"/>
          <p:cNvSpPr txBox="1"/>
          <p:nvPr/>
        </p:nvSpPr>
        <p:spPr>
          <a:xfrm>
            <a:off x="777240"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Cost screening research has focused on roads; buildings and bridges have frames, footings, girders and piles.</a:t>
            </a:r>
            <a:endParaRPr lang="en-US" sz="1400" dirty="0"/>
          </a:p>
        </p:txBody>
      </p:sp>
      <p:sp>
        <p:nvSpPr>
          <p:cNvPr id="10" name="card"/>
          <p:cNvSpPr/>
          <p:nvPr/>
        </p:nvSpPr>
        <p:spPr>
          <a:xfrm>
            <a:off x="2807208" y="1600200"/>
            <a:ext cx="2057400" cy="3566160"/>
          </a:xfrm>
          <a:prstGeom prst="roundRect">
            <a:avLst>
              <a:gd name="adj" fmla="val 3556"/>
            </a:avLst>
          </a:prstGeom>
          <a:solidFill>
            <a:schemeClr val="bg2"/>
          </a:solidFill>
          <a:ln/>
        </p:spPr>
      </p:sp>
      <p:sp>
        <p:nvSpPr>
          <p:cNvPr id="11" name="icon circle"/>
          <p:cNvSpPr/>
          <p:nvPr/>
        </p:nvSpPr>
        <p:spPr>
          <a:xfrm>
            <a:off x="3035808" y="1828800"/>
            <a:ext cx="685800" cy="685800"/>
          </a:xfrm>
          <a:prstGeom prst="ellipse">
            <a:avLst/>
          </a:prstGeom>
          <a:solidFill>
            <a:schemeClr val="tx2"/>
          </a:solidFill>
          <a:ln/>
        </p:spPr>
      </p:sp>
      <p:pic>
        <p:nvPicPr>
          <p:cNvPr id="12" name="icon FaScaleUnbalanced" descr="ScaleUnbalanced icon">    </p:cNvPr>
          <p:cNvPicPr>
            <a:picLocks noChangeAspect="1"/>
          </p:cNvPicPr>
          <p:nvPr/>
        </p:nvPicPr>
        <p:blipFill>
          <a:blip r:embed="rId2"/>
          <a:stretch>
            <a:fillRect/>
          </a:stretch>
        </p:blipFill>
        <p:spPr>
          <a:xfrm>
            <a:off x="3200400" y="1993392"/>
            <a:ext cx="356616" cy="356616"/>
          </a:xfrm>
          <a:prstGeom prst="rect">
            <a:avLst/>
          </a:prstGeom>
        </p:spPr>
      </p:pic>
      <p:sp>
        <p:nvSpPr>
          <p:cNvPr id="13" name="Text 8"/>
          <p:cNvSpPr txBox="1"/>
          <p:nvPr/>
        </p:nvSpPr>
        <p:spPr>
          <a:xfrm>
            <a:off x="3035808"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Reference gap</a:t>
            </a:r>
            <a:endParaRPr lang="en-US" sz="1800" dirty="0"/>
          </a:p>
        </p:txBody>
      </p:sp>
      <p:sp>
        <p:nvSpPr>
          <p:cNvPr id="14" name="Text 9"/>
          <p:cNvSpPr txBox="1"/>
          <p:nvPr/>
        </p:nvSpPr>
        <p:spPr>
          <a:xfrm>
            <a:off x="3035808"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Data-driven models learn what projects have cost; if past prices were padded, so is the model.</a:t>
            </a:r>
            <a:endParaRPr lang="en-US" sz="1400" dirty="0"/>
          </a:p>
        </p:txBody>
      </p:sp>
      <p:sp>
        <p:nvSpPr>
          <p:cNvPr id="15" name="card"/>
          <p:cNvSpPr/>
          <p:nvPr/>
        </p:nvSpPr>
        <p:spPr>
          <a:xfrm>
            <a:off x="5065776" y="1600200"/>
            <a:ext cx="2057400" cy="3566160"/>
          </a:xfrm>
          <a:prstGeom prst="roundRect">
            <a:avLst>
              <a:gd name="adj" fmla="val 3556"/>
            </a:avLst>
          </a:prstGeom>
          <a:solidFill>
            <a:schemeClr val="bg2"/>
          </a:solidFill>
          <a:ln/>
        </p:spPr>
      </p:sp>
      <p:sp>
        <p:nvSpPr>
          <p:cNvPr id="16" name="icon circle"/>
          <p:cNvSpPr/>
          <p:nvPr/>
        </p:nvSpPr>
        <p:spPr>
          <a:xfrm>
            <a:off x="5294376" y="1828800"/>
            <a:ext cx="685800" cy="685800"/>
          </a:xfrm>
          <a:prstGeom prst="ellipse">
            <a:avLst/>
          </a:prstGeom>
          <a:solidFill>
            <a:schemeClr val="tx2"/>
          </a:solidFill>
          <a:ln/>
        </p:spPr>
      </p:sp>
      <p:pic>
        <p:nvPicPr>
          <p:cNvPr id="17" name="icon FaVialCircleCheck" descr="VialCircleCheck icon">    </p:cNvPr>
          <p:cNvPicPr>
            <a:picLocks noChangeAspect="1"/>
          </p:cNvPicPr>
          <p:nvPr/>
        </p:nvPicPr>
        <p:blipFill>
          <a:blip r:embed="rId3"/>
          <a:stretch>
            <a:fillRect/>
          </a:stretch>
        </p:blipFill>
        <p:spPr>
          <a:xfrm>
            <a:off x="5458968" y="1993392"/>
            <a:ext cx="356616" cy="356616"/>
          </a:xfrm>
          <a:prstGeom prst="rect">
            <a:avLst/>
          </a:prstGeom>
        </p:spPr>
      </p:pic>
      <p:sp>
        <p:nvSpPr>
          <p:cNvPr id="18" name="Text 12"/>
          <p:cNvSpPr txBox="1"/>
          <p:nvPr/>
        </p:nvSpPr>
        <p:spPr>
          <a:xfrm>
            <a:off x="5294376"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Validation gap</a:t>
            </a:r>
            <a:endParaRPr lang="en-US" sz="1800" dirty="0"/>
          </a:p>
        </p:txBody>
      </p:sp>
      <p:sp>
        <p:nvSpPr>
          <p:cNvPr id="19" name="Text 13"/>
          <p:cNvSpPr txBox="1"/>
          <p:nvPr/>
        </p:nvSpPr>
        <p:spPr>
          <a:xfrm>
            <a:off x="5294376"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Anomaly detectors are tested where true overpricing is unknown, so recall cannot be measured.</a:t>
            </a:r>
            <a:endParaRPr lang="en-US" sz="1400" dirty="0"/>
          </a:p>
        </p:txBody>
      </p:sp>
      <p:sp>
        <p:nvSpPr>
          <p:cNvPr id="20" name="card"/>
          <p:cNvSpPr/>
          <p:nvPr/>
        </p:nvSpPr>
        <p:spPr>
          <a:xfrm>
            <a:off x="7324344" y="1600200"/>
            <a:ext cx="2057400" cy="3566160"/>
          </a:xfrm>
          <a:prstGeom prst="roundRect">
            <a:avLst>
              <a:gd name="adj" fmla="val 3556"/>
            </a:avLst>
          </a:prstGeom>
          <a:solidFill>
            <a:schemeClr val="bg2"/>
          </a:solidFill>
          <a:ln/>
        </p:spPr>
      </p:sp>
      <p:sp>
        <p:nvSpPr>
          <p:cNvPr id="21" name="icon circle"/>
          <p:cNvSpPr/>
          <p:nvPr/>
        </p:nvSpPr>
        <p:spPr>
          <a:xfrm>
            <a:off x="7552944" y="1828800"/>
            <a:ext cx="685800" cy="68580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7717536" y="1993392"/>
            <a:ext cx="356616" cy="356616"/>
          </a:xfrm>
          <a:prstGeom prst="rect">
            <a:avLst/>
          </a:prstGeom>
        </p:spPr>
      </p:pic>
      <p:sp>
        <p:nvSpPr>
          <p:cNvPr id="23" name="Text 16"/>
          <p:cNvSpPr txBox="1"/>
          <p:nvPr/>
        </p:nvSpPr>
        <p:spPr>
          <a:xfrm>
            <a:off x="7552944"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Design gap</a:t>
            </a:r>
            <a:endParaRPr lang="en-US" sz="1800" dirty="0"/>
          </a:p>
        </p:txBody>
      </p:sp>
      <p:sp>
        <p:nvSpPr>
          <p:cNvPr id="24" name="Text 17"/>
          <p:cNvSpPr txBox="1"/>
          <p:nvPr/>
        </p:nvSpPr>
        <p:spPr>
          <a:xfrm>
            <a:off x="7552944"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Many communities have a need and a budget but no plan, and so no independent price at all.</a:t>
            </a:r>
            <a:endParaRPr lang="en-US" sz="1400" dirty="0"/>
          </a:p>
        </p:txBody>
      </p:sp>
      <p:sp>
        <p:nvSpPr>
          <p:cNvPr id="25" name="card"/>
          <p:cNvSpPr/>
          <p:nvPr/>
        </p:nvSpPr>
        <p:spPr>
          <a:xfrm>
            <a:off x="9582912" y="1600200"/>
            <a:ext cx="2057400" cy="3566160"/>
          </a:xfrm>
          <a:prstGeom prst="roundRect">
            <a:avLst>
              <a:gd name="adj" fmla="val 3556"/>
            </a:avLst>
          </a:prstGeom>
          <a:solidFill>
            <a:schemeClr val="bg2"/>
          </a:solidFill>
          <a:ln/>
        </p:spPr>
      </p:sp>
      <p:sp>
        <p:nvSpPr>
          <p:cNvPr id="26" name="icon circle"/>
          <p:cNvSpPr/>
          <p:nvPr/>
        </p:nvSpPr>
        <p:spPr>
          <a:xfrm>
            <a:off x="9811512" y="1828800"/>
            <a:ext cx="685800" cy="685800"/>
          </a:xfrm>
          <a:prstGeom prst="ellipse">
            <a:avLst/>
          </a:prstGeom>
          <a:solidFill>
            <a:schemeClr val="tx2"/>
          </a:solidFill>
          <a:ln/>
        </p:spPr>
      </p:sp>
      <p:pic>
        <p:nvPicPr>
          <p:cNvPr id="27" name="icon FaMobileScreen" descr="MobileScreen icon">    </p:cNvPr>
          <p:cNvPicPr>
            <a:picLocks noChangeAspect="1"/>
          </p:cNvPicPr>
          <p:nvPr/>
        </p:nvPicPr>
        <p:blipFill>
          <a:blip r:embed="rId5"/>
          <a:stretch>
            <a:fillRect/>
          </a:stretch>
        </p:blipFill>
        <p:spPr>
          <a:xfrm>
            <a:off x="9976104" y="1993392"/>
            <a:ext cx="356616" cy="356616"/>
          </a:xfrm>
          <a:prstGeom prst="rect">
            <a:avLst/>
          </a:prstGeom>
        </p:spPr>
      </p:pic>
      <p:sp>
        <p:nvSpPr>
          <p:cNvPr id="28" name="Text 20"/>
          <p:cNvSpPr txBox="1"/>
          <p:nvPr/>
        </p:nvSpPr>
        <p:spPr>
          <a:xfrm>
            <a:off x="9811512"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Access gap</a:t>
            </a:r>
            <a:endParaRPr lang="en-US" sz="1800" dirty="0"/>
          </a:p>
        </p:txBody>
      </p:sp>
      <p:sp>
        <p:nvSpPr>
          <p:cNvPr id="29" name="Text 21"/>
          <p:cNvSpPr txBox="1"/>
          <p:nvPr/>
        </p:nvSpPr>
        <p:spPr>
          <a:xfrm>
            <a:off x="9811512"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Models stay in notebooks; barangays, school heads, auditors and reporters need a tool on their phones.</a:t>
            </a:r>
            <a:endParaRPr lang="en-US" sz="1400" dirty="0"/>
          </a:p>
        </p:txBody>
      </p:sp>
      <p:sp>
        <p:nvSpPr>
          <p:cNvPr id="30" name="card"/>
          <p:cNvSpPr/>
          <p:nvPr/>
        </p:nvSpPr>
        <p:spPr>
          <a:xfrm>
            <a:off x="548640" y="5394960"/>
            <a:ext cx="11091672" cy="777240"/>
          </a:xfrm>
          <a:prstGeom prst="roundRect">
            <a:avLst>
              <a:gd name="adj" fmla="val 9412"/>
            </a:avLst>
          </a:prstGeom>
          <a:solidFill>
            <a:schemeClr val="tx2"/>
          </a:solidFill>
          <a:ln/>
        </p:spPr>
      </p:sp>
      <p:sp>
        <p:nvSpPr>
          <p:cNvPr id="31" name="Text 23"/>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1700" b="1" dirty="0">
                <a:solidFill>
                  <a:schemeClr val="accent1"/>
                </a:solidFill>
              </a:rPr>
              <a:t>Rationale: </a:t>
            </a:r>
            <a:pPr indent="0" marL="0">
              <a:buNone/>
            </a:pPr>
            <a:r>
              <a:rPr lang="en-US" sz="1700" dirty="0">
                <a:solidFill>
                  <a:schemeClr val="bg1"/>
                </a:solidFill>
              </a:rPr>
              <a:t>a fair price can be computed from the plan and the standards, then compared with the contract.</a:t>
            </a:r>
            <a:endParaRPr lang="en-US" sz="17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a:t>
            </a:r>
            <a:endParaRPr lang="en-US" sz="3200" dirty="0"/>
          </a:p>
        </p:txBody>
      </p:sp>
      <p:sp>
        <p:nvSpPr>
          <p:cNvPr id="5" name="Text 2"/>
          <p:cNvSpPr txBox="1"/>
          <p:nvPr/>
        </p:nvSpPr>
        <p:spPr>
          <a:xfrm>
            <a:off x="548640" y="1417320"/>
            <a:ext cx="11064240" cy="822960"/>
          </a:xfrm>
          <a:prstGeom prst="rect">
            <a:avLst/>
          </a:prstGeom>
          <a:noFill/>
          <a:ln/>
        </p:spPr>
        <p:txBody>
          <a:bodyPr wrap="square" lIns="0" tIns="0" rIns="0" bIns="0" rtlCol="0" anchor="t"/>
          <a:lstStyle/>
          <a:p>
            <a:pPr indent="0" marL="0">
              <a:buNone/>
            </a:pPr>
            <a:r>
              <a:rPr lang="en-US" sz="1600" dirty="0">
                <a:solidFill>
                  <a:schemeClr val="tx1"/>
                </a:solidFill>
              </a:rPr>
              <a:t>This study aimed to develop BUHAY-AH, a budget-to-blueprint design generator, standards-based quantity take-off and hybrid machine-learning system that produces start quotations and detects over-budgeted public buildings and bridges in Bicol Region V. </a:t>
            </a:r>
            <a:pPr indent="0" marL="0">
              <a:buNone/>
            </a:pPr>
            <a:r>
              <a:rPr lang="en-US" sz="1600" b="1" dirty="0">
                <a:solidFill>
                  <a:schemeClr val="tx1"/>
                </a:solidFill>
              </a:rPr>
              <a:t>Specifically, it sought to answer the following research questions:</a:t>
            </a:r>
            <a:endParaRPr lang="en-US" sz="1600" dirty="0"/>
          </a:p>
        </p:txBody>
      </p:sp>
      <p:sp>
        <p:nvSpPr>
          <p:cNvPr id="6" name="card"/>
          <p:cNvSpPr/>
          <p:nvPr/>
        </p:nvSpPr>
        <p:spPr>
          <a:xfrm>
            <a:off x="548640" y="2331720"/>
            <a:ext cx="11091672" cy="1188720"/>
          </a:xfrm>
          <a:prstGeom prst="roundRect">
            <a:avLst>
              <a:gd name="adj" fmla="val 6154"/>
            </a:avLst>
          </a:prstGeom>
          <a:solidFill>
            <a:schemeClr val="bg2"/>
          </a:solidFill>
          <a:ln/>
        </p:spPr>
      </p:sp>
      <p:sp>
        <p:nvSpPr>
          <p:cNvPr id="7" name="Text 4"/>
          <p:cNvSpPr txBox="1"/>
          <p:nvPr/>
        </p:nvSpPr>
        <p:spPr>
          <a:xfrm>
            <a:off x="777240" y="246888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RQ1</a:t>
            </a:r>
            <a:endParaRPr lang="en-US" sz="2800" dirty="0"/>
          </a:p>
        </p:txBody>
      </p:sp>
      <p:sp>
        <p:nvSpPr>
          <p:cNvPr id="8" name="Text 5"/>
          <p:cNvSpPr txBox="1"/>
          <p:nvPr/>
        </p:nvSpPr>
        <p:spPr>
          <a:xfrm>
            <a:off x="1965960" y="2423160"/>
            <a:ext cx="9509760" cy="1005840"/>
          </a:xfrm>
          <a:prstGeom prst="rect">
            <a:avLst/>
          </a:prstGeom>
          <a:noFill/>
          <a:ln/>
        </p:spPr>
        <p:txBody>
          <a:bodyPr wrap="square" lIns="0" tIns="0" rIns="0" bIns="0" rtlCol="0" anchor="ctr"/>
          <a:lstStyle/>
          <a:p>
            <a:pPr indent="0" marL="0">
              <a:buNone/>
            </a:pPr>
            <a:r>
              <a:rPr lang="en-US" sz="1500" dirty="0">
                <a:solidFill>
                  <a:schemeClr val="tx1"/>
                </a:solidFill>
              </a:rPr>
              <a:t>What plan variables and derived indicators can be extracted from building and bridge plans and engineering standards to estimate construction cost, in terms of physical properties; structural system and foundation; and location and price year?</a:t>
            </a:r>
            <a:endParaRPr lang="en-US" sz="1500" dirty="0"/>
          </a:p>
        </p:txBody>
      </p:sp>
      <p:sp>
        <p:nvSpPr>
          <p:cNvPr id="9" name="card"/>
          <p:cNvSpPr/>
          <p:nvPr/>
        </p:nvSpPr>
        <p:spPr>
          <a:xfrm>
            <a:off x="548640" y="3657600"/>
            <a:ext cx="11091672" cy="1188720"/>
          </a:xfrm>
          <a:prstGeom prst="roundRect">
            <a:avLst>
              <a:gd name="adj" fmla="val 6154"/>
            </a:avLst>
          </a:prstGeom>
          <a:solidFill>
            <a:schemeClr val="bg2"/>
          </a:solidFill>
          <a:ln/>
        </p:spPr>
      </p:sp>
      <p:sp>
        <p:nvSpPr>
          <p:cNvPr id="10" name="Text 7"/>
          <p:cNvSpPr txBox="1"/>
          <p:nvPr/>
        </p:nvSpPr>
        <p:spPr>
          <a:xfrm>
            <a:off x="777240" y="37947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RQ2</a:t>
            </a:r>
            <a:endParaRPr lang="en-US" sz="2800" dirty="0"/>
          </a:p>
        </p:txBody>
      </p:sp>
      <p:sp>
        <p:nvSpPr>
          <p:cNvPr id="11" name="Text 8"/>
          <p:cNvSpPr txBox="1"/>
          <p:nvPr/>
        </p:nvSpPr>
        <p:spPr>
          <a:xfrm>
            <a:off x="1965960" y="37490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schematic designs be generated from a requirement or a budget, in terms of a modular design library; budget-to-design optimization; and compliance with design and space standards?</a:t>
            </a:r>
            <a:endParaRPr lang="en-US" sz="1500" dirty="0"/>
          </a:p>
        </p:txBody>
      </p:sp>
      <p:sp>
        <p:nvSpPr>
          <p:cNvPr id="12" name="card"/>
          <p:cNvSpPr/>
          <p:nvPr/>
        </p:nvSpPr>
        <p:spPr>
          <a:xfrm>
            <a:off x="548640" y="4983480"/>
            <a:ext cx="11091672" cy="1188720"/>
          </a:xfrm>
          <a:prstGeom prst="roundRect">
            <a:avLst>
              <a:gd name="adj" fmla="val 6154"/>
            </a:avLst>
          </a:prstGeom>
          <a:solidFill>
            <a:schemeClr val="bg2"/>
          </a:solidFill>
          <a:ln/>
        </p:spPr>
      </p:sp>
      <p:sp>
        <p:nvSpPr>
          <p:cNvPr id="13" name="Text 10"/>
          <p:cNvSpPr txBox="1"/>
          <p:nvPr/>
        </p:nvSpPr>
        <p:spPr>
          <a:xfrm>
            <a:off x="777240" y="512064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RQ3</a:t>
            </a:r>
            <a:endParaRPr lang="en-US" sz="2800" dirty="0"/>
          </a:p>
        </p:txBody>
      </p:sp>
      <p:sp>
        <p:nvSpPr>
          <p:cNvPr id="14" name="Text 11"/>
          <p:cNvSpPr txBox="1"/>
          <p:nvPr/>
        </p:nvSpPr>
        <p:spPr>
          <a:xfrm>
            <a:off x="1965960" y="507492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accurately does the standards-based quantity take-off engine estimate construction cost, in terms of the lean start quotation, standard fair estimate and ceiling; and MAPE against fair awarded costs?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 (continued)</a:t>
            </a:r>
            <a:endParaRPr lang="en-US" sz="3200" dirty="0"/>
          </a:p>
        </p:txBody>
      </p:sp>
      <p:sp>
        <p:nvSpPr>
          <p:cNvPr id="5" name="card"/>
          <p:cNvSpPr/>
          <p:nvPr/>
        </p:nvSpPr>
        <p:spPr>
          <a:xfrm>
            <a:off x="548640" y="1508760"/>
            <a:ext cx="11091672" cy="1188720"/>
          </a:xfrm>
          <a:prstGeom prst="roundRect">
            <a:avLst>
              <a:gd name="adj" fmla="val 6154"/>
            </a:avLst>
          </a:prstGeom>
          <a:solidFill>
            <a:schemeClr val="bg2"/>
          </a:solidFill>
          <a:ln/>
        </p:spPr>
      </p:sp>
      <p:sp>
        <p:nvSpPr>
          <p:cNvPr id="6" name="Text 3"/>
          <p:cNvSpPr txBox="1"/>
          <p:nvPr/>
        </p:nvSpPr>
        <p:spPr>
          <a:xfrm>
            <a:off x="777240" y="164592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RQ4</a:t>
            </a:r>
            <a:endParaRPr lang="en-US" sz="2800" dirty="0"/>
          </a:p>
        </p:txBody>
      </p:sp>
      <p:sp>
        <p:nvSpPr>
          <p:cNvPr id="7" name="Text 4"/>
          <p:cNvSpPr txBox="1"/>
          <p:nvPr/>
        </p:nvSpPr>
        <p:spPr>
          <a:xfrm>
            <a:off x="1965960" y="160020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do Multiple Linear Regression and Extreme Gradient Boosting (XGBoost) perform in predicting construction cost, in terms of R², RMSE and MAPE under leave-one-out cross-validation?</a:t>
            </a:r>
            <a:endParaRPr lang="en-US" sz="1500" dirty="0"/>
          </a:p>
        </p:txBody>
      </p:sp>
      <p:sp>
        <p:nvSpPr>
          <p:cNvPr id="8" name="card"/>
          <p:cNvSpPr/>
          <p:nvPr/>
        </p:nvSpPr>
        <p:spPr>
          <a:xfrm>
            <a:off x="548640" y="2971800"/>
            <a:ext cx="11091672" cy="1188720"/>
          </a:xfrm>
          <a:prstGeom prst="roundRect">
            <a:avLst>
              <a:gd name="adj" fmla="val 6154"/>
            </a:avLst>
          </a:prstGeom>
          <a:solidFill>
            <a:schemeClr val="bg2"/>
          </a:solidFill>
          <a:ln/>
        </p:spPr>
      </p:sp>
      <p:sp>
        <p:nvSpPr>
          <p:cNvPr id="9" name="Text 6"/>
          <p:cNvSpPr txBox="1"/>
          <p:nvPr/>
        </p:nvSpPr>
        <p:spPr>
          <a:xfrm>
            <a:off x="777240" y="31089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RQ5</a:t>
            </a:r>
            <a:endParaRPr lang="en-US" sz="2800" dirty="0"/>
          </a:p>
        </p:txBody>
      </p:sp>
      <p:sp>
        <p:nvSpPr>
          <p:cNvPr id="10" name="Text 7"/>
          <p:cNvSpPr txBox="1"/>
          <p:nvPr/>
        </p:nvSpPr>
        <p:spPr>
          <a:xfrm>
            <a:off x="1965960" y="30632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effectively do the over-budget ratio, the XGBoost residual, the Isolation Forest and the hybrid BUHAY-AH Risk Index detect over-budgeted contracts, in terms of precision, recall, F1-score and ROC AUC?</a:t>
            </a:r>
            <a:endParaRPr lang="en-US" sz="1500" dirty="0"/>
          </a:p>
        </p:txBody>
      </p:sp>
      <p:sp>
        <p:nvSpPr>
          <p:cNvPr id="11" name="card"/>
          <p:cNvSpPr/>
          <p:nvPr/>
        </p:nvSpPr>
        <p:spPr>
          <a:xfrm>
            <a:off x="548640" y="4434840"/>
            <a:ext cx="11091672" cy="1188720"/>
          </a:xfrm>
          <a:prstGeom prst="roundRect">
            <a:avLst>
              <a:gd name="adj" fmla="val 6154"/>
            </a:avLst>
          </a:prstGeom>
          <a:solidFill>
            <a:schemeClr val="bg2"/>
          </a:solidFill>
          <a:ln/>
        </p:spPr>
      </p:sp>
      <p:sp>
        <p:nvSpPr>
          <p:cNvPr id="12" name="Text 9"/>
          <p:cNvSpPr txBox="1"/>
          <p:nvPr/>
        </p:nvSpPr>
        <p:spPr>
          <a:xfrm>
            <a:off x="777240" y="457200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RQ6</a:t>
            </a:r>
            <a:endParaRPr lang="en-US" sz="2800" dirty="0"/>
          </a:p>
        </p:txBody>
      </p:sp>
      <p:sp>
        <p:nvSpPr>
          <p:cNvPr id="13" name="Text 10"/>
          <p:cNvSpPr txBox="1"/>
          <p:nvPr/>
        </p:nvSpPr>
        <p:spPr>
          <a:xfrm>
            <a:off x="1965960" y="452628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the system be deployed as a mobile application with a design studio, a download website, and an explainable interface with floor plans, 3D models and SHAP explanations?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Who Benefits</a:t>
            </a:r>
            <a:endParaRPr lang="en-US" sz="3200" dirty="0"/>
          </a:p>
        </p:txBody>
      </p:sp>
      <p:sp>
        <p:nvSpPr>
          <p:cNvPr id="5" name="card"/>
          <p:cNvSpPr/>
          <p:nvPr/>
        </p:nvSpPr>
        <p:spPr>
          <a:xfrm>
            <a:off x="548640" y="1600200"/>
            <a:ext cx="3520440" cy="2057400"/>
          </a:xfrm>
          <a:prstGeom prst="roundRect">
            <a:avLst>
              <a:gd name="adj" fmla="val 3556"/>
            </a:avLst>
          </a:prstGeom>
          <a:solidFill>
            <a:schemeClr val="bg2"/>
          </a:solidFill>
          <a:ln/>
        </p:spPr>
      </p:sp>
      <p:sp>
        <p:nvSpPr>
          <p:cNvPr id="6" name="icon circle"/>
          <p:cNvSpPr/>
          <p:nvPr/>
        </p:nvSpPr>
        <p:spPr>
          <a:xfrm>
            <a:off x="777240" y="1828800"/>
            <a:ext cx="640080" cy="640080"/>
          </a:xfrm>
          <a:prstGeom prst="ellipse">
            <a:avLst/>
          </a:prstGeom>
          <a:solidFill>
            <a:schemeClr val="tx2"/>
          </a:solidFill>
          <a:ln/>
        </p:spPr>
      </p:sp>
      <p:pic>
        <p:nvPicPr>
          <p:cNvPr id="7" name="icon FaHelmetSafety" descr="HelmetSafety icon">    </p:cNvPr>
          <p:cNvPicPr>
            <a:picLocks noChangeAspect="1"/>
          </p:cNvPicPr>
          <p:nvPr/>
        </p:nvPicPr>
        <p:blipFill>
          <a:blip r:embed="rId1"/>
          <a:stretch>
            <a:fillRect/>
          </a:stretch>
        </p:blipFill>
        <p:spPr>
          <a:xfrm>
            <a:off x="930859" y="1982419"/>
            <a:ext cx="332842" cy="332842"/>
          </a:xfrm>
          <a:prstGeom prst="rect">
            <a:avLst/>
          </a:prstGeom>
        </p:spPr>
      </p:pic>
      <p:sp>
        <p:nvSpPr>
          <p:cNvPr id="8" name="Text 4"/>
          <p:cNvSpPr txBox="1"/>
          <p:nvPr/>
        </p:nvSpPr>
        <p:spPr>
          <a:xfrm>
            <a:off x="155448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DPWH and Implementing Offices</a:t>
            </a:r>
            <a:endParaRPr lang="en-US" sz="1600" dirty="0"/>
          </a:p>
        </p:txBody>
      </p:sp>
      <p:sp>
        <p:nvSpPr>
          <p:cNvPr id="9" name="Text 5"/>
          <p:cNvSpPr txBox="1"/>
          <p:nvPr/>
        </p:nvSpPr>
        <p:spPr>
          <a:xfrm>
            <a:off x="77724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Cross-check programs of works and ABCs with an independent take-off before bidding; catch errors such as wrong VAT rates.</a:t>
            </a:r>
            <a:endParaRPr lang="en-US" sz="1400" dirty="0"/>
          </a:p>
        </p:txBody>
      </p:sp>
      <p:sp>
        <p:nvSpPr>
          <p:cNvPr id="10" name="card"/>
          <p:cNvSpPr/>
          <p:nvPr/>
        </p:nvSpPr>
        <p:spPr>
          <a:xfrm>
            <a:off x="4297680" y="1600200"/>
            <a:ext cx="3520440" cy="2057400"/>
          </a:xfrm>
          <a:prstGeom prst="roundRect">
            <a:avLst>
              <a:gd name="adj" fmla="val 3556"/>
            </a:avLst>
          </a:prstGeom>
          <a:solidFill>
            <a:schemeClr val="bg2"/>
          </a:solidFill>
          <a:ln/>
        </p:spPr>
      </p:sp>
      <p:sp>
        <p:nvSpPr>
          <p:cNvPr id="11" name="icon circle"/>
          <p:cNvSpPr/>
          <p:nvPr/>
        </p:nvSpPr>
        <p:spPr>
          <a:xfrm>
            <a:off x="4526280" y="1828800"/>
            <a:ext cx="640080" cy="640080"/>
          </a:xfrm>
          <a:prstGeom prst="ellipse">
            <a:avLst/>
          </a:prstGeom>
          <a:solidFill>
            <a:schemeClr val="tx2"/>
          </a:solidFill>
          <a:ln/>
        </p:spPr>
      </p:sp>
      <p:pic>
        <p:nvPicPr>
          <p:cNvPr id="12" name="icon FaGavel" descr="Gavel icon">    </p:cNvPr>
          <p:cNvPicPr>
            <a:picLocks noChangeAspect="1"/>
          </p:cNvPicPr>
          <p:nvPr/>
        </p:nvPicPr>
        <p:blipFill>
          <a:blip r:embed="rId2"/>
          <a:stretch>
            <a:fillRect/>
          </a:stretch>
        </p:blipFill>
        <p:spPr>
          <a:xfrm>
            <a:off x="4679899" y="1982419"/>
            <a:ext cx="332842" cy="332842"/>
          </a:xfrm>
          <a:prstGeom prst="rect">
            <a:avLst/>
          </a:prstGeom>
        </p:spPr>
      </p:pic>
      <p:sp>
        <p:nvSpPr>
          <p:cNvPr id="13" name="Text 8"/>
          <p:cNvSpPr txBox="1"/>
          <p:nvPr/>
        </p:nvSpPr>
        <p:spPr>
          <a:xfrm>
            <a:off x="530352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COA, Ombudsman and ICI</a:t>
            </a:r>
            <a:endParaRPr lang="en-US" sz="1600" dirty="0"/>
          </a:p>
        </p:txBody>
      </p:sp>
      <p:sp>
        <p:nvSpPr>
          <p:cNvPr id="14" name="Text 9"/>
          <p:cNvSpPr txBox="1"/>
          <p:nvPr/>
        </p:nvSpPr>
        <p:spPr>
          <a:xfrm>
            <a:off x="452628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Rank contracts by risk and focus field inspections on projects that need them most.</a:t>
            </a:r>
            <a:endParaRPr lang="en-US" sz="1400" dirty="0"/>
          </a:p>
        </p:txBody>
      </p:sp>
      <p:sp>
        <p:nvSpPr>
          <p:cNvPr id="15" name="card"/>
          <p:cNvSpPr/>
          <p:nvPr/>
        </p:nvSpPr>
        <p:spPr>
          <a:xfrm>
            <a:off x="8046720" y="1600200"/>
            <a:ext cx="3520440" cy="2057400"/>
          </a:xfrm>
          <a:prstGeom prst="roundRect">
            <a:avLst>
              <a:gd name="adj" fmla="val 3556"/>
            </a:avLst>
          </a:prstGeom>
          <a:solidFill>
            <a:schemeClr val="bg2"/>
          </a:solidFill>
          <a:ln/>
        </p:spPr>
      </p:sp>
      <p:sp>
        <p:nvSpPr>
          <p:cNvPr id="16" name="icon circle"/>
          <p:cNvSpPr/>
          <p:nvPr/>
        </p:nvSpPr>
        <p:spPr>
          <a:xfrm>
            <a:off x="8275320" y="1828800"/>
            <a:ext cx="640080" cy="640080"/>
          </a:xfrm>
          <a:prstGeom prst="ellipse">
            <a:avLst/>
          </a:prstGeom>
          <a:solidFill>
            <a:schemeClr val="tx2"/>
          </a:solidFill>
          <a:ln/>
        </p:spPr>
      </p:sp>
      <p:pic>
        <p:nvPicPr>
          <p:cNvPr id="17" name="icon FaSchool" descr="School icon">    </p:cNvPr>
          <p:cNvPicPr>
            <a:picLocks noChangeAspect="1"/>
          </p:cNvPicPr>
          <p:nvPr/>
        </p:nvPicPr>
        <p:blipFill>
          <a:blip r:embed="rId3"/>
          <a:stretch>
            <a:fillRect/>
          </a:stretch>
        </p:blipFill>
        <p:spPr>
          <a:xfrm>
            <a:off x="8428939" y="1982419"/>
            <a:ext cx="332842" cy="332842"/>
          </a:xfrm>
          <a:prstGeom prst="rect">
            <a:avLst/>
          </a:prstGeom>
        </p:spPr>
      </p:pic>
      <p:sp>
        <p:nvSpPr>
          <p:cNvPr id="18" name="Text 12"/>
          <p:cNvSpPr txBox="1"/>
          <p:nvPr/>
        </p:nvSpPr>
        <p:spPr>
          <a:xfrm>
            <a:off x="905256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LGUs, DepEd and DOH Offices</a:t>
            </a:r>
            <a:endParaRPr lang="en-US" sz="1600" dirty="0"/>
          </a:p>
        </p:txBody>
      </p:sp>
      <p:sp>
        <p:nvSpPr>
          <p:cNvPr id="19" name="Text 13"/>
          <p:cNvSpPr txBox="1"/>
          <p:nvPr/>
        </p:nvSpPr>
        <p:spPr>
          <a:xfrm>
            <a:off x="827532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Get a design and a starting quotation from just a requirement or a budget.</a:t>
            </a:r>
            <a:endParaRPr lang="en-US" sz="1400" dirty="0"/>
          </a:p>
        </p:txBody>
      </p:sp>
      <p:sp>
        <p:nvSpPr>
          <p:cNvPr id="20" name="card"/>
          <p:cNvSpPr/>
          <p:nvPr/>
        </p:nvSpPr>
        <p:spPr>
          <a:xfrm>
            <a:off x="548640" y="3886200"/>
            <a:ext cx="3520440" cy="2057400"/>
          </a:xfrm>
          <a:prstGeom prst="roundRect">
            <a:avLst>
              <a:gd name="adj" fmla="val 3556"/>
            </a:avLst>
          </a:prstGeom>
          <a:solidFill>
            <a:schemeClr val="bg2"/>
          </a:solidFill>
          <a:ln/>
        </p:spPr>
      </p:sp>
      <p:sp>
        <p:nvSpPr>
          <p:cNvPr id="21" name="icon circle"/>
          <p:cNvSpPr/>
          <p:nvPr/>
        </p:nvSpPr>
        <p:spPr>
          <a:xfrm>
            <a:off x="777240" y="4114800"/>
            <a:ext cx="640080" cy="640080"/>
          </a:xfrm>
          <a:prstGeom prst="ellipse">
            <a:avLst/>
          </a:prstGeom>
          <a:solidFill>
            <a:schemeClr val="tx2"/>
          </a:solidFill>
          <a:ln/>
        </p:spPr>
      </p:sp>
      <p:pic>
        <p:nvPicPr>
          <p:cNvPr id="22" name="icon FaHandshake" descr="Handshake icon">    </p:cNvPr>
          <p:cNvPicPr>
            <a:picLocks noChangeAspect="1"/>
          </p:cNvPicPr>
          <p:nvPr/>
        </p:nvPicPr>
        <p:blipFill>
          <a:blip r:embed="rId4"/>
          <a:stretch>
            <a:fillRect/>
          </a:stretch>
        </p:blipFill>
        <p:spPr>
          <a:xfrm>
            <a:off x="930859" y="4268419"/>
            <a:ext cx="332842" cy="332842"/>
          </a:xfrm>
          <a:prstGeom prst="rect">
            <a:avLst/>
          </a:prstGeom>
        </p:spPr>
      </p:pic>
      <p:sp>
        <p:nvSpPr>
          <p:cNvPr id="23" name="Text 16"/>
          <p:cNvSpPr txBox="1"/>
          <p:nvPr/>
        </p:nvSpPr>
        <p:spPr>
          <a:xfrm>
            <a:off x="155448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Contractors</a:t>
            </a:r>
            <a:endParaRPr lang="en-US" sz="1600" dirty="0"/>
          </a:p>
        </p:txBody>
      </p:sp>
      <p:sp>
        <p:nvSpPr>
          <p:cNvPr id="24" name="Text 17"/>
          <p:cNvSpPr txBox="1"/>
          <p:nvPr/>
        </p:nvSpPr>
        <p:spPr>
          <a:xfrm>
            <a:off x="77724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public reference that rewards fair bids and helps honest bidders defend their price.</a:t>
            </a:r>
            <a:endParaRPr lang="en-US" sz="1400" dirty="0"/>
          </a:p>
        </p:txBody>
      </p:sp>
      <p:sp>
        <p:nvSpPr>
          <p:cNvPr id="25" name="card"/>
          <p:cNvSpPr/>
          <p:nvPr/>
        </p:nvSpPr>
        <p:spPr>
          <a:xfrm>
            <a:off x="4297680" y="3886200"/>
            <a:ext cx="3520440" cy="2057400"/>
          </a:xfrm>
          <a:prstGeom prst="roundRect">
            <a:avLst>
              <a:gd name="adj" fmla="val 3556"/>
            </a:avLst>
          </a:prstGeom>
          <a:solidFill>
            <a:schemeClr val="bg2"/>
          </a:solidFill>
          <a:ln/>
        </p:spPr>
      </p:sp>
      <p:sp>
        <p:nvSpPr>
          <p:cNvPr id="26" name="icon circle"/>
          <p:cNvSpPr/>
          <p:nvPr/>
        </p:nvSpPr>
        <p:spPr>
          <a:xfrm>
            <a:off x="4526280" y="4114800"/>
            <a:ext cx="640080" cy="640080"/>
          </a:xfrm>
          <a:prstGeom prst="ellipse">
            <a:avLst/>
          </a:prstGeom>
          <a:solidFill>
            <a:schemeClr val="tx2"/>
          </a:solidFill>
          <a:ln/>
        </p:spPr>
      </p:sp>
      <p:pic>
        <p:nvPicPr>
          <p:cNvPr id="27" name="icon FaPeopleGroup" descr="PeopleGroup icon">    </p:cNvPr>
          <p:cNvPicPr>
            <a:picLocks noChangeAspect="1"/>
          </p:cNvPicPr>
          <p:nvPr/>
        </p:nvPicPr>
        <p:blipFill>
          <a:blip r:embed="rId5"/>
          <a:stretch>
            <a:fillRect/>
          </a:stretch>
        </p:blipFill>
        <p:spPr>
          <a:xfrm>
            <a:off x="4679899" y="4268419"/>
            <a:ext cx="332842" cy="332842"/>
          </a:xfrm>
          <a:prstGeom prst="rect">
            <a:avLst/>
          </a:prstGeom>
        </p:spPr>
      </p:pic>
      <p:sp>
        <p:nvSpPr>
          <p:cNvPr id="28" name="Text 20"/>
          <p:cNvSpPr txBox="1"/>
          <p:nvPr/>
        </p:nvSpPr>
        <p:spPr>
          <a:xfrm>
            <a:off x="530352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Taxpayers, Civil Society, Media</a:t>
            </a:r>
            <a:endParaRPr lang="en-US" sz="1600" dirty="0"/>
          </a:p>
        </p:txBody>
      </p:sp>
      <p:sp>
        <p:nvSpPr>
          <p:cNvPr id="29" name="Text 21"/>
          <p:cNvSpPr txBox="1"/>
          <p:nvPr/>
        </p:nvSpPr>
        <p:spPr>
          <a:xfrm>
            <a:off x="452628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Check a project on a phone and see the bill of quantities behind a price.</a:t>
            </a:r>
            <a:endParaRPr lang="en-US" sz="1400" dirty="0"/>
          </a:p>
        </p:txBody>
      </p:sp>
      <p:sp>
        <p:nvSpPr>
          <p:cNvPr id="30" name="card"/>
          <p:cNvSpPr/>
          <p:nvPr/>
        </p:nvSpPr>
        <p:spPr>
          <a:xfrm>
            <a:off x="8046720" y="3886200"/>
            <a:ext cx="3520440" cy="2057400"/>
          </a:xfrm>
          <a:prstGeom prst="roundRect">
            <a:avLst>
              <a:gd name="adj" fmla="val 3556"/>
            </a:avLst>
          </a:prstGeom>
          <a:solidFill>
            <a:schemeClr val="bg2"/>
          </a:solidFill>
          <a:ln/>
        </p:spPr>
      </p:sp>
      <p:sp>
        <p:nvSpPr>
          <p:cNvPr id="31" name="icon circle"/>
          <p:cNvSpPr/>
          <p:nvPr/>
        </p:nvSpPr>
        <p:spPr>
          <a:xfrm>
            <a:off x="8275320" y="4114800"/>
            <a:ext cx="640080" cy="640080"/>
          </a:xfrm>
          <a:prstGeom prst="ellipse">
            <a:avLst/>
          </a:prstGeom>
          <a:solidFill>
            <a:schemeClr val="tx2"/>
          </a:solidFill>
          <a:ln/>
        </p:spPr>
      </p:sp>
      <p:pic>
        <p:nvPicPr>
          <p:cNvPr id="32" name="icon FaGraduationCap" descr="GraduationCap icon">    </p:cNvPr>
          <p:cNvPicPr>
            <a:picLocks noChangeAspect="1"/>
          </p:cNvPicPr>
          <p:nvPr/>
        </p:nvPicPr>
        <p:blipFill>
          <a:blip r:embed="rId6"/>
          <a:stretch>
            <a:fillRect/>
          </a:stretch>
        </p:blipFill>
        <p:spPr>
          <a:xfrm>
            <a:off x="8428939" y="4268419"/>
            <a:ext cx="332842" cy="332842"/>
          </a:xfrm>
          <a:prstGeom prst="rect">
            <a:avLst/>
          </a:prstGeom>
        </p:spPr>
      </p:pic>
      <p:sp>
        <p:nvSpPr>
          <p:cNvPr id="33" name="Text 24"/>
          <p:cNvSpPr txBox="1"/>
          <p:nvPr/>
        </p:nvSpPr>
        <p:spPr>
          <a:xfrm>
            <a:off x="905256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Academe and Future Researchers</a:t>
            </a:r>
            <a:endParaRPr lang="en-US" sz="1600" dirty="0"/>
          </a:p>
        </p:txBody>
      </p:sp>
      <p:sp>
        <p:nvSpPr>
          <p:cNvPr id="34" name="Text 25"/>
          <p:cNvSpPr txBox="1"/>
          <p:nvPr/>
        </p:nvSpPr>
        <p:spPr>
          <a:xfrm>
            <a:off x="827532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reproducible pipeline, a benchmark with known overpricing and an open price book.</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Alignment with the SDGs</a:t>
            </a:r>
            <a:endParaRPr lang="en-US" sz="3200" dirty="0"/>
          </a:p>
        </p:txBody>
      </p:sp>
      <p:sp>
        <p:nvSpPr>
          <p:cNvPr id="5" name="SDG 16"/>
          <p:cNvSpPr/>
          <p:nvPr/>
        </p:nvSpPr>
        <p:spPr>
          <a:xfrm>
            <a:off x="548640" y="1600200"/>
            <a:ext cx="2057400" cy="4526280"/>
          </a:xfrm>
          <a:prstGeom prst="roundRect">
            <a:avLst>
              <a:gd name="adj" fmla="val 3556"/>
            </a:avLst>
          </a:prstGeom>
          <a:solidFill>
            <a:srgbClr val="B8322A"/>
          </a:solidFill>
          <a:ln/>
        </p:spPr>
      </p:sp>
      <p:sp>
        <p:nvSpPr>
          <p:cNvPr id="6" name="Text 3"/>
          <p:cNvSpPr txBox="1"/>
          <p:nvPr/>
        </p:nvSpPr>
        <p:spPr>
          <a:xfrm>
            <a:off x="749808"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16</a:t>
            </a:r>
            <a:endParaRPr lang="en-US" sz="3400" dirty="0"/>
          </a:p>
        </p:txBody>
      </p:sp>
      <p:sp>
        <p:nvSpPr>
          <p:cNvPr id="7" name="Text 4"/>
          <p:cNvSpPr txBox="1"/>
          <p:nvPr/>
        </p:nvSpPr>
        <p:spPr>
          <a:xfrm>
            <a:off x="749808"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Peace, Justice and Strong Institutions</a:t>
            </a:r>
            <a:endParaRPr lang="en-US" sz="1600" dirty="0"/>
          </a:p>
        </p:txBody>
      </p:sp>
      <p:sp>
        <p:nvSpPr>
          <p:cNvPr id="8" name="Text 5"/>
          <p:cNvSpPr txBox="1"/>
          <p:nvPr/>
        </p:nvSpPr>
        <p:spPr>
          <a:xfrm>
            <a:off x="749808"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16.5 reduce corruption and bribery; 16.6 accountable institutions; 16.10 public access to information</a:t>
            </a:r>
            <a:endParaRPr lang="en-US" sz="1400" dirty="0"/>
          </a:p>
        </p:txBody>
      </p:sp>
      <p:sp>
        <p:nvSpPr>
          <p:cNvPr id="9" name="SDG 9"/>
          <p:cNvSpPr/>
          <p:nvPr/>
        </p:nvSpPr>
        <p:spPr>
          <a:xfrm>
            <a:off x="2807208" y="1600200"/>
            <a:ext cx="2057400" cy="4526280"/>
          </a:xfrm>
          <a:prstGeom prst="roundRect">
            <a:avLst>
              <a:gd name="adj" fmla="val 3556"/>
            </a:avLst>
          </a:prstGeom>
          <a:solidFill>
            <a:srgbClr val="E3A51A"/>
          </a:solidFill>
          <a:ln/>
        </p:spPr>
      </p:sp>
      <p:sp>
        <p:nvSpPr>
          <p:cNvPr id="10" name="Text 7"/>
          <p:cNvSpPr txBox="1"/>
          <p:nvPr/>
        </p:nvSpPr>
        <p:spPr>
          <a:xfrm>
            <a:off x="3008376"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9</a:t>
            </a:r>
            <a:endParaRPr lang="en-US" sz="3400" dirty="0"/>
          </a:p>
        </p:txBody>
      </p:sp>
      <p:sp>
        <p:nvSpPr>
          <p:cNvPr id="11" name="Text 8"/>
          <p:cNvSpPr txBox="1"/>
          <p:nvPr/>
        </p:nvSpPr>
        <p:spPr>
          <a:xfrm>
            <a:off x="3008376"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Industry, Innovation and Infrastructure</a:t>
            </a:r>
            <a:endParaRPr lang="en-US" sz="1600" dirty="0"/>
          </a:p>
        </p:txBody>
      </p:sp>
      <p:sp>
        <p:nvSpPr>
          <p:cNvPr id="12" name="Text 9"/>
          <p:cNvSpPr txBox="1"/>
          <p:nvPr/>
        </p:nvSpPr>
        <p:spPr>
          <a:xfrm>
            <a:off x="3008376"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9.1 quality, reliable and resilient infrastructure</a:t>
            </a:r>
            <a:endParaRPr lang="en-US" sz="1400" dirty="0"/>
          </a:p>
        </p:txBody>
      </p:sp>
      <p:sp>
        <p:nvSpPr>
          <p:cNvPr id="13" name="SDG 11"/>
          <p:cNvSpPr/>
          <p:nvPr/>
        </p:nvSpPr>
        <p:spPr>
          <a:xfrm>
            <a:off x="5065776" y="1600200"/>
            <a:ext cx="2057400" cy="4526280"/>
          </a:xfrm>
          <a:prstGeom prst="roundRect">
            <a:avLst>
              <a:gd name="adj" fmla="val 3556"/>
            </a:avLst>
          </a:prstGeom>
          <a:solidFill>
            <a:srgbClr val="8A5A00"/>
          </a:solidFill>
          <a:ln/>
        </p:spPr>
      </p:sp>
      <p:sp>
        <p:nvSpPr>
          <p:cNvPr id="14" name="Text 11"/>
          <p:cNvSpPr txBox="1"/>
          <p:nvPr/>
        </p:nvSpPr>
        <p:spPr>
          <a:xfrm>
            <a:off x="5266944"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11</a:t>
            </a:r>
            <a:endParaRPr lang="en-US" sz="3400" dirty="0"/>
          </a:p>
        </p:txBody>
      </p:sp>
      <p:sp>
        <p:nvSpPr>
          <p:cNvPr id="15" name="Text 12"/>
          <p:cNvSpPr txBox="1"/>
          <p:nvPr/>
        </p:nvSpPr>
        <p:spPr>
          <a:xfrm>
            <a:off x="5266944"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Sustainable Cities and Communities</a:t>
            </a:r>
            <a:endParaRPr lang="en-US" sz="1600" dirty="0"/>
          </a:p>
        </p:txBody>
      </p:sp>
      <p:sp>
        <p:nvSpPr>
          <p:cNvPr id="16" name="Text 13"/>
          <p:cNvSpPr txBox="1"/>
          <p:nvPr/>
        </p:nvSpPr>
        <p:spPr>
          <a:xfrm>
            <a:off x="5266944"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11.5 reduce losses from disasters</a:t>
            </a:r>
            <a:endParaRPr lang="en-US" sz="1400" dirty="0"/>
          </a:p>
        </p:txBody>
      </p:sp>
      <p:sp>
        <p:nvSpPr>
          <p:cNvPr id="17" name="SDG 12"/>
          <p:cNvSpPr/>
          <p:nvPr/>
        </p:nvSpPr>
        <p:spPr>
          <a:xfrm>
            <a:off x="7324344" y="1600200"/>
            <a:ext cx="2057400" cy="4526280"/>
          </a:xfrm>
          <a:prstGeom prst="roundRect">
            <a:avLst>
              <a:gd name="adj" fmla="val 3556"/>
            </a:avLst>
          </a:prstGeom>
          <a:solidFill>
            <a:srgbClr val="1F7A5A"/>
          </a:solidFill>
          <a:ln/>
        </p:spPr>
      </p:sp>
      <p:sp>
        <p:nvSpPr>
          <p:cNvPr id="18" name="Text 15"/>
          <p:cNvSpPr txBox="1"/>
          <p:nvPr/>
        </p:nvSpPr>
        <p:spPr>
          <a:xfrm>
            <a:off x="7525512"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12</a:t>
            </a:r>
            <a:endParaRPr lang="en-US" sz="3400" dirty="0"/>
          </a:p>
        </p:txBody>
      </p:sp>
      <p:sp>
        <p:nvSpPr>
          <p:cNvPr id="19" name="Text 16"/>
          <p:cNvSpPr txBox="1"/>
          <p:nvPr/>
        </p:nvSpPr>
        <p:spPr>
          <a:xfrm>
            <a:off x="7525512"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Responsible Consumption and Production</a:t>
            </a:r>
            <a:endParaRPr lang="en-US" sz="1600" dirty="0"/>
          </a:p>
        </p:txBody>
      </p:sp>
      <p:sp>
        <p:nvSpPr>
          <p:cNvPr id="20" name="Text 17"/>
          <p:cNvSpPr txBox="1"/>
          <p:nvPr/>
        </p:nvSpPr>
        <p:spPr>
          <a:xfrm>
            <a:off x="7525512"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12.7 sustainable public procurement (RA 12009)</a:t>
            </a:r>
            <a:endParaRPr lang="en-US" sz="1400" dirty="0"/>
          </a:p>
        </p:txBody>
      </p:sp>
      <p:sp>
        <p:nvSpPr>
          <p:cNvPr id="21" name="SDG 4"/>
          <p:cNvSpPr/>
          <p:nvPr/>
        </p:nvSpPr>
        <p:spPr>
          <a:xfrm>
            <a:off x="9582912" y="1600200"/>
            <a:ext cx="2057400" cy="4526280"/>
          </a:xfrm>
          <a:prstGeom prst="roundRect">
            <a:avLst>
              <a:gd name="adj" fmla="val 3556"/>
            </a:avLst>
          </a:prstGeom>
          <a:solidFill>
            <a:srgbClr val="4F7CAC"/>
          </a:solidFill>
          <a:ln/>
        </p:spPr>
      </p:sp>
      <p:sp>
        <p:nvSpPr>
          <p:cNvPr id="22" name="Text 19"/>
          <p:cNvSpPr txBox="1"/>
          <p:nvPr/>
        </p:nvSpPr>
        <p:spPr>
          <a:xfrm>
            <a:off x="9784080"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4</a:t>
            </a:r>
            <a:endParaRPr lang="en-US" sz="3400" dirty="0"/>
          </a:p>
        </p:txBody>
      </p:sp>
      <p:sp>
        <p:nvSpPr>
          <p:cNvPr id="23" name="Text 20"/>
          <p:cNvSpPr txBox="1"/>
          <p:nvPr/>
        </p:nvSpPr>
        <p:spPr>
          <a:xfrm>
            <a:off x="9784080"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Quality Education</a:t>
            </a:r>
            <a:endParaRPr lang="en-US" sz="1600" dirty="0"/>
          </a:p>
        </p:txBody>
      </p:sp>
      <p:sp>
        <p:nvSpPr>
          <p:cNvPr id="24" name="Text 21"/>
          <p:cNvSpPr txBox="1"/>
          <p:nvPr/>
        </p:nvSpPr>
        <p:spPr>
          <a:xfrm>
            <a:off x="9784080"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4.a build and upgrade education facilities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SCOPE AND DELIMITATION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Study Covers</a:t>
            </a:r>
            <a:endParaRPr lang="en-US" sz="3200" dirty="0"/>
          </a:p>
        </p:txBody>
      </p:sp>
      <p:sp>
        <p:nvSpPr>
          <p:cNvPr id="5" name="card"/>
          <p:cNvSpPr/>
          <p:nvPr/>
        </p:nvSpPr>
        <p:spPr>
          <a:xfrm>
            <a:off x="548640" y="1600200"/>
            <a:ext cx="5440680" cy="4526280"/>
          </a:xfrm>
          <a:prstGeom prst="roundRect">
            <a:avLst>
              <a:gd name="adj" fmla="val 1616"/>
            </a:avLst>
          </a:prstGeom>
          <a:solidFill>
            <a:schemeClr val="bg2"/>
          </a:solidFill>
          <a:ln/>
        </p:spPr>
      </p:sp>
      <p:sp>
        <p:nvSpPr>
          <p:cNvPr id="6" name="icon circle"/>
          <p:cNvSpPr/>
          <p:nvPr/>
        </p:nvSpPr>
        <p:spPr>
          <a:xfrm>
            <a:off x="777240" y="1783080"/>
            <a:ext cx="640080" cy="640080"/>
          </a:xfrm>
          <a:prstGeom prst="ellipse">
            <a:avLst/>
          </a:prstGeom>
          <a:solidFill>
            <a:schemeClr val="accent3"/>
          </a:solidFill>
          <a:ln/>
        </p:spPr>
      </p:sp>
      <p:pic>
        <p:nvPicPr>
          <p:cNvPr id="7" name="icon FaCircleCheck" descr="CircleCheck icon">    </p:cNvPr>
          <p:cNvPicPr>
            <a:picLocks noChangeAspect="1"/>
          </p:cNvPicPr>
          <p:nvPr/>
        </p:nvPicPr>
        <p:blipFill>
          <a:blip r:embed="rId1"/>
          <a:stretch>
            <a:fillRect/>
          </a:stretch>
        </p:blipFill>
        <p:spPr>
          <a:xfrm>
            <a:off x="930859" y="1936699"/>
            <a:ext cx="332842" cy="332842"/>
          </a:xfrm>
          <a:prstGeom prst="rect">
            <a:avLst/>
          </a:prstGeom>
        </p:spPr>
      </p:pic>
      <p:sp>
        <p:nvSpPr>
          <p:cNvPr id="8" name="Text 4"/>
          <p:cNvSpPr txBox="1"/>
          <p:nvPr/>
        </p:nvSpPr>
        <p:spPr>
          <a:xfrm>
            <a:off x="1600200"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Covers</a:t>
            </a:r>
            <a:endParaRPr lang="en-US" sz="2200" dirty="0"/>
          </a:p>
        </p:txBody>
      </p:sp>
      <p:sp>
        <p:nvSpPr>
          <p:cNvPr id="9" name="Text 5"/>
          <p:cNvSpPr txBox="1"/>
          <p:nvPr/>
        </p:nvSpPr>
        <p:spPr>
          <a:xfrm>
            <a:off x="777240"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Public buildings: schools, government offices, health facilities, multi-purpose halls and evacuation centers, covered courts, dormitories, public markets</a:t>
            </a:r>
            <a:endParaRPr lang="en-US" sz="1400" dirty="0"/>
          </a:p>
          <a:p>
            <a:pPr marL="342900" indent="-342900">
              <a:spcAft>
                <a:spcPts val="600"/>
              </a:spcAft>
              <a:buSzPct val="100000"/>
              <a:buChar char="•"/>
            </a:pPr>
            <a:r>
              <a:rPr lang="en-US" sz="1400" dirty="0">
                <a:solidFill>
                  <a:schemeClr val="tx1"/>
                </a:solidFill>
              </a:rPr>
              <a:t>Bridges: RC box culverts, RC deck girders (RCDG), prestressed concrete girders (PSCG), steel trusses; spread footings, driven piles, bored piles</a:t>
            </a:r>
            <a:endParaRPr lang="en-US" sz="1400" dirty="0"/>
          </a:p>
          <a:p>
            <a:pPr marL="342900" indent="-342900">
              <a:spcAft>
                <a:spcPts val="600"/>
              </a:spcAft>
              <a:buSzPct val="100000"/>
              <a:buChar char="•"/>
            </a:pPr>
            <a:r>
              <a:rPr lang="en-US" sz="1400" dirty="0">
                <a:solidFill>
                  <a:schemeClr val="tx1"/>
                </a:solidFill>
              </a:rPr>
              <a:t>Six Bicol provinces: Albay, Camarines Norte, Camarines Sur, Catanduanes, Masbate, Sorsogon; price years 2022–2026</a:t>
            </a:r>
            <a:endParaRPr lang="en-US" sz="1400" dirty="0"/>
          </a:p>
          <a:p>
            <a:pPr marL="342900" indent="-342900">
              <a:spcAft>
                <a:spcPts val="600"/>
              </a:spcAft>
              <a:buSzPct val="100000"/>
              <a:buChar char="•"/>
            </a:pPr>
            <a:r>
              <a:rPr lang="en-US" sz="1400" dirty="0">
                <a:solidFill>
                  <a:schemeClr val="tx1"/>
                </a:solidFill>
              </a:rPr>
              <a:t>Plan input by dimensions, reference plans, DXF outlines and generated designs</a:t>
            </a:r>
            <a:endParaRPr lang="en-US" sz="1400" dirty="0"/>
          </a:p>
        </p:txBody>
      </p:sp>
      <p:sp>
        <p:nvSpPr>
          <p:cNvPr id="10" name="card"/>
          <p:cNvSpPr/>
          <p:nvPr/>
        </p:nvSpPr>
        <p:spPr>
          <a:xfrm>
            <a:off x="6199632" y="1600200"/>
            <a:ext cx="5440680" cy="4526280"/>
          </a:xfrm>
          <a:prstGeom prst="roundRect">
            <a:avLst>
              <a:gd name="adj" fmla="val 1616"/>
            </a:avLst>
          </a:prstGeom>
          <a:solidFill>
            <a:schemeClr val="bg2"/>
          </a:solidFill>
          <a:ln/>
        </p:spPr>
      </p:sp>
      <p:sp>
        <p:nvSpPr>
          <p:cNvPr id="11" name="icon circle"/>
          <p:cNvSpPr/>
          <p:nvPr/>
        </p:nvSpPr>
        <p:spPr>
          <a:xfrm>
            <a:off x="6428232" y="1783080"/>
            <a:ext cx="640080" cy="640080"/>
          </a:xfrm>
          <a:prstGeom prst="ellipse">
            <a:avLst/>
          </a:prstGeom>
          <a:solidFill>
            <a:schemeClr val="accent2"/>
          </a:solidFill>
          <a:ln/>
        </p:spPr>
      </p:sp>
      <p:pic>
        <p:nvPicPr>
          <p:cNvPr id="12" name="icon FaCircleXmark" descr="CircleXmark icon">    </p:cNvPr>
          <p:cNvPicPr>
            <a:picLocks noChangeAspect="1"/>
          </p:cNvPicPr>
          <p:nvPr/>
        </p:nvPicPr>
        <p:blipFill>
          <a:blip r:embed="rId2"/>
          <a:stretch>
            <a:fillRect/>
          </a:stretch>
        </p:blipFill>
        <p:spPr>
          <a:xfrm>
            <a:off x="6581851" y="1936699"/>
            <a:ext cx="332842" cy="332842"/>
          </a:xfrm>
          <a:prstGeom prst="rect">
            <a:avLst/>
          </a:prstGeom>
        </p:spPr>
      </p:pic>
      <p:sp>
        <p:nvSpPr>
          <p:cNvPr id="13" name="Text 8"/>
          <p:cNvSpPr txBox="1"/>
          <p:nvPr/>
        </p:nvSpPr>
        <p:spPr>
          <a:xfrm>
            <a:off x="7251192"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Delimitations</a:t>
            </a:r>
            <a:endParaRPr lang="en-US" sz="2200" dirty="0"/>
          </a:p>
        </p:txBody>
      </p:sp>
      <p:sp>
        <p:nvSpPr>
          <p:cNvPr id="14" name="Text 9"/>
          <p:cNvSpPr txBox="1"/>
          <p:nvPr/>
        </p:nvSpPr>
        <p:spPr>
          <a:xfrm>
            <a:off x="6428232"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Roads, flood control, water supply, ports, land acquisition, right-of-way, design and supervision fees, furniture and equipment are excluded</a:t>
            </a:r>
            <a:endParaRPr lang="en-US" sz="1400" dirty="0"/>
          </a:p>
          <a:p>
            <a:pPr marL="342900" indent="-342900">
              <a:spcAft>
                <a:spcPts val="600"/>
              </a:spcAft>
              <a:buSzPct val="100000"/>
              <a:buChar char="•"/>
            </a:pPr>
            <a:r>
              <a:rPr lang="en-US" sz="1400" dirty="0">
                <a:solidFill>
                  <a:schemeClr val="tx1"/>
                </a:solidFill>
              </a:rPr>
              <a:t>Unit costs are indicative 2025 Albay prices with location factors and a yearly index</a:t>
            </a:r>
            <a:endParaRPr lang="en-US" sz="1400" dirty="0"/>
          </a:p>
          <a:p>
            <a:pPr marL="342900" indent="-342900">
              <a:spcAft>
                <a:spcPts val="600"/>
              </a:spcAft>
              <a:buSzPct val="100000"/>
              <a:buChar char="•"/>
            </a:pPr>
            <a:r>
              <a:rPr lang="en-US" sz="1400" dirty="0">
                <a:solidFill>
                  <a:schemeClr val="tx1"/>
                </a:solidFill>
              </a:rPr>
              <a:t>Generated designs are schematic, for estimating only; licensed architects and engineers must develop them</a:t>
            </a:r>
            <a:endParaRPr lang="en-US" sz="1400" dirty="0"/>
          </a:p>
          <a:p>
            <a:pPr marL="342900" indent="-342900">
              <a:spcAft>
                <a:spcPts val="600"/>
              </a:spcAft>
              <a:buSzPct val="100000"/>
              <a:buChar char="•"/>
            </a:pPr>
            <a:r>
              <a:rPr lang="en-US" sz="1400" dirty="0">
                <a:solidFill>
                  <a:schemeClr val="tx1"/>
                </a:solidFill>
              </a:rPr>
              <a:t>Models are trained and validated on a 300-project simulated benchmark (SBD-300); a flag is not evidence of wrongdoing</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DEFINITION OF TERMS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Key Terms</a:t>
            </a:r>
            <a:endParaRPr lang="en-US" sz="3200" dirty="0"/>
          </a:p>
        </p:txBody>
      </p:sp>
      <p:graphicFrame>
        <p:nvGraphicFramePr>
          <p:cNvPr id="13" name="term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108960"/>
                <a:gridCol w="798271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Operational definition</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Approved Budget for the Contract (ABC)</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ceiling price a procuring entity sets; computed as EDC plus OCM, profit and 5% VAT under DPWH D.O. 197 s. 2016 and D.O. 30 s. 2025.</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Lean Start Quotation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lowest code-compliant price of a plan: minimum NSCP reinforcement and basic finishes; the recommended starting price.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ABC at typical DPWH design intensities; the reference for the over-budget ratio.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Ceiling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highest price that can still be defended for a plan; contracts above it are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Over-Budget Ratio (OBR)</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Contract amount divided by the 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BUHAY-AH Risk Index (BRI)</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A 0–100 score combining the OBR, XGBoost residual and anomaly score; 30 or more is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Budget-to-Design Optimization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search for the largest facility whose quotation fits a budget, keeping Pareto-efficient designs.</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Quantity Take-Off (QTO)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Measuring the work quantities of a plan, such as cubic metres of concrete and kilograms of steel.</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SHAP</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Shapley additive explanations; splits a prediction into each feature’s contribution.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02</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Framework</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Review of related literature, theoretical framework, conceptual framework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REVIEW OF RELATED LITERATURE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Earlier Studies Found</a:t>
            </a:r>
            <a:endParaRPr lang="en-US" sz="3200" dirty="0"/>
          </a:p>
        </p:txBody>
      </p:sp>
      <p:graphicFrame>
        <p:nvGraphicFramePr>
          <p:cNvPr id="15" name="literature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2926080"/>
                <a:gridCol w="3108960"/>
                <a:gridCol w="240487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Gap for this 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Mahamid (2011)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Multiple regression, road projects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Early cost estimates from a few variables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Elmousalami (2020)</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Review of AI and parametric cost models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Tree ensembles lead in accuracy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Learns from past prices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Coffie &amp; Cudjoe (2024)</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XGBoost + SHAP</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Predicts cost overruns with explanations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reference price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Larocque et al. (2025)</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Explainable ML, 11,646 road contracts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Accurate, explainable road cost estimates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Liu et al. (2008)</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Isolation Forest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Unsupervised anomaly detection by short paths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Misses ordinary-looking padding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Buban (2026), CORA</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MLR, XGBoost, Isolation Forest, Bicol roads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R² 0.8723, MAPE 29.20%; three flags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Recall unknown, 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GAO (2020); Flyvbjerg et al. (2002)</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Should-cost estimating; cost underestimation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Bottom-up estimates expose misrepresentation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open tool</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THEORETICAL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Theories Behind BUHAY-AH</a:t>
            </a:r>
            <a:endParaRPr lang="en-US" sz="3200" dirty="0"/>
          </a:p>
        </p:txBody>
      </p:sp>
      <p:pic>
        <p:nvPicPr>
          <p:cNvPr id="5" name="diagram_theoretical.png" descr="Theoretical paradigm: five theories feeding BUHAY-AH">    </p:cNvPr>
          <p:cNvPicPr>
            <a:picLocks noChangeAspect="1"/>
          </p:cNvPicPr>
          <p:nvPr/>
        </p:nvPicPr>
        <p:blipFill>
          <a:blip r:embed="rId1"/>
          <a:stretch>
            <a:fillRect/>
          </a:stretch>
        </p:blipFill>
        <p:spPr>
          <a:xfrm>
            <a:off x="548640" y="1473864"/>
            <a:ext cx="11091672" cy="4093152"/>
          </a:xfrm>
          <a:prstGeom prst="rect">
            <a:avLst/>
          </a:prstGeom>
        </p:spPr>
      </p:pic>
      <p:sp>
        <p:nvSpPr>
          <p:cNvPr id="6" name="Text 2"/>
          <p:cNvSpPr txBox="1"/>
          <p:nvPr/>
        </p:nvSpPr>
        <p:spPr>
          <a:xfrm>
            <a:off x="548640" y="5715000"/>
            <a:ext cx="11091672" cy="502920"/>
          </a:xfrm>
          <a:prstGeom prst="rect">
            <a:avLst/>
          </a:prstGeom>
          <a:noFill/>
          <a:ln/>
        </p:spPr>
        <p:txBody>
          <a:bodyPr wrap="square" lIns="0" tIns="0" rIns="0" bIns="0" rtlCol="0" anchor="ctr"/>
          <a:lstStyle/>
          <a:p>
            <a:pPr algn="ctr" indent="0" marL="0">
              <a:buNone/>
            </a:pPr>
            <a:r>
              <a:rPr lang="en-US" sz="1300" b="1" dirty="0">
                <a:solidFill>
                  <a:srgbClr val="44505E"/>
                </a:solidFill>
              </a:rPr>
              <a:t>Agency (Jensen &amp; Meckling, 1976) · Should-Cost (GAO, 2020) · Optimization (Pareto, 1906; Nemhauser &amp; Wolsey, 1988) · Statistical Learning (Vapnik, 1998) · Cooperative Games (Shapley, 1953)</a:t>
            </a:r>
            <a:endParaRPr lang="en-US" sz="13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CONCEPTUAL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Input–Process–Output–Feedback</a:t>
            </a:r>
            <a:endParaRPr lang="en-US" sz="3200" dirty="0"/>
          </a:p>
        </p:txBody>
      </p:sp>
      <p:pic>
        <p:nvPicPr>
          <p:cNvPr id="5" name="diagram_conceptual.png" descr="Conceptual paradigm: input, process, output, feedback">    </p:cNvPr>
          <p:cNvPicPr>
            <a:picLocks noChangeAspect="1"/>
          </p:cNvPicPr>
          <p:nvPr/>
        </p:nvPicPr>
        <p:blipFill>
          <a:blip r:embed="rId1"/>
          <a:stretch>
            <a:fillRect/>
          </a:stretch>
        </p:blipFill>
        <p:spPr>
          <a:xfrm>
            <a:off x="548640" y="1473355"/>
            <a:ext cx="11091672" cy="473425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03</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Methodology</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Research design, locale and data, instruments, procedure, models, validation and ethical considerations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DESIGN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Quantitative Developmental Design</a:t>
            </a:r>
            <a:endParaRPr lang="en-US" sz="3200" dirty="0"/>
          </a:p>
        </p:txBody>
      </p:sp>
      <p:sp>
        <p:nvSpPr>
          <p:cNvPr id="5" name="Text 2"/>
          <p:cNvSpPr txBox="1"/>
          <p:nvPr/>
        </p:nvSpPr>
        <p:spPr>
          <a:xfrm>
            <a:off x="548640" y="1417320"/>
            <a:ext cx="11091672" cy="685800"/>
          </a:xfrm>
          <a:prstGeom prst="rect">
            <a:avLst/>
          </a:prstGeom>
          <a:noFill/>
          <a:ln/>
        </p:spPr>
        <p:txBody>
          <a:bodyPr wrap="square" lIns="0" tIns="0" rIns="0" bIns="0" rtlCol="0" anchor="t"/>
          <a:lstStyle/>
          <a:p>
            <a:pPr indent="0" marL="0">
              <a:buNone/>
            </a:pPr>
            <a:r>
              <a:rPr lang="en-US" sz="1600" dirty="0">
                <a:solidFill>
                  <a:schemeClr val="tx1"/>
                </a:solidFill>
              </a:rPr>
              <a:t>A quantitative developmental design with a simulation-based computational experiment: the problem is expressed as mathematical models, solved as algorithms and validated with statistics.</a:t>
            </a:r>
            <a:endParaRPr lang="en-US" sz="1600" dirty="0"/>
          </a:p>
        </p:txBody>
      </p:sp>
      <p:sp>
        <p:nvSpPr>
          <p:cNvPr id="6" name="card"/>
          <p:cNvSpPr/>
          <p:nvPr/>
        </p:nvSpPr>
        <p:spPr>
          <a:xfrm>
            <a:off x="548640" y="2240280"/>
            <a:ext cx="2606040" cy="1828800"/>
          </a:xfrm>
          <a:prstGeom prst="roundRect">
            <a:avLst>
              <a:gd name="adj" fmla="val 4000"/>
            </a:avLst>
          </a:prstGeom>
          <a:solidFill>
            <a:schemeClr val="bg2"/>
          </a:solidFill>
          <a:ln/>
        </p:spPr>
      </p:sp>
      <p:sp>
        <p:nvSpPr>
          <p:cNvPr id="7" name="icon circle"/>
          <p:cNvSpPr/>
          <p:nvPr/>
        </p:nvSpPr>
        <p:spPr>
          <a:xfrm>
            <a:off x="749808" y="2423160"/>
            <a:ext cx="594360" cy="594360"/>
          </a:xfrm>
          <a:prstGeom prst="ellipse">
            <a:avLst/>
          </a:prstGeom>
          <a:solidFill>
            <a:schemeClr val="tx2"/>
          </a:solidFill>
          <a:ln/>
        </p:spPr>
      </p:sp>
      <p:pic>
        <p:nvPicPr>
          <p:cNvPr id="8" name="icon FaCalculator" descr="Calculator icon">    </p:cNvPr>
          <p:cNvPicPr>
            <a:picLocks noChangeAspect="1"/>
          </p:cNvPicPr>
          <p:nvPr/>
        </p:nvPicPr>
        <p:blipFill>
          <a:blip r:embed="rId1"/>
          <a:stretch>
            <a:fillRect/>
          </a:stretch>
        </p:blipFill>
        <p:spPr>
          <a:xfrm>
            <a:off x="892454" y="2565806"/>
            <a:ext cx="309067" cy="309067"/>
          </a:xfrm>
          <a:prstGeom prst="rect">
            <a:avLst/>
          </a:prstGeom>
        </p:spPr>
      </p:pic>
      <p:sp>
        <p:nvSpPr>
          <p:cNvPr id="9" name="Text 5"/>
          <p:cNvSpPr txBox="1"/>
          <p:nvPr/>
        </p:nvSpPr>
        <p:spPr>
          <a:xfrm>
            <a:off x="146304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Deterministic modeling</a:t>
            </a:r>
            <a:endParaRPr lang="en-US" sz="1500" dirty="0"/>
          </a:p>
        </p:txBody>
      </p:sp>
      <p:sp>
        <p:nvSpPr>
          <p:cNvPr id="10" name="Text 6"/>
          <p:cNvSpPr txBox="1"/>
          <p:nvPr/>
        </p:nvSpPr>
        <p:spPr>
          <a:xfrm>
            <a:off x="74980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Quantity take-off and ABC from NSCP, DPWH and AASHTO</a:t>
            </a:r>
            <a:endParaRPr lang="en-US" sz="1350" dirty="0"/>
          </a:p>
        </p:txBody>
      </p:sp>
      <p:sp>
        <p:nvSpPr>
          <p:cNvPr id="11" name="card"/>
          <p:cNvSpPr/>
          <p:nvPr/>
        </p:nvSpPr>
        <p:spPr>
          <a:xfrm>
            <a:off x="3383280" y="2240280"/>
            <a:ext cx="2606040" cy="1828800"/>
          </a:xfrm>
          <a:prstGeom prst="roundRect">
            <a:avLst>
              <a:gd name="adj" fmla="val 4000"/>
            </a:avLst>
          </a:prstGeom>
          <a:solidFill>
            <a:schemeClr val="bg2"/>
          </a:solidFill>
          <a:ln/>
        </p:spPr>
      </p:sp>
      <p:sp>
        <p:nvSpPr>
          <p:cNvPr id="12" name="icon circle"/>
          <p:cNvSpPr/>
          <p:nvPr/>
        </p:nvSpPr>
        <p:spPr>
          <a:xfrm>
            <a:off x="3584448" y="2423160"/>
            <a:ext cx="594360" cy="594360"/>
          </a:xfrm>
          <a:prstGeom prst="ellipse">
            <a:avLst/>
          </a:prstGeom>
          <a:solidFill>
            <a:schemeClr val="tx2"/>
          </a:solidFill>
          <a:ln/>
        </p:spPr>
      </p:sp>
      <p:pic>
        <p:nvPicPr>
          <p:cNvPr id="13" name="icon FaPuzzlePiece" descr="PuzzlePiece icon">    </p:cNvPr>
          <p:cNvPicPr>
            <a:picLocks noChangeAspect="1"/>
          </p:cNvPicPr>
          <p:nvPr/>
        </p:nvPicPr>
        <p:blipFill>
          <a:blip r:embed="rId2"/>
          <a:stretch>
            <a:fillRect/>
          </a:stretch>
        </p:blipFill>
        <p:spPr>
          <a:xfrm>
            <a:off x="3727094" y="2565806"/>
            <a:ext cx="309067" cy="309067"/>
          </a:xfrm>
          <a:prstGeom prst="rect">
            <a:avLst/>
          </a:prstGeom>
        </p:spPr>
      </p:pic>
      <p:sp>
        <p:nvSpPr>
          <p:cNvPr id="14" name="Text 9"/>
          <p:cNvSpPr txBox="1"/>
          <p:nvPr/>
        </p:nvSpPr>
        <p:spPr>
          <a:xfrm>
            <a:off x="429768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Combinatorial optimization</a:t>
            </a:r>
            <a:endParaRPr lang="en-US" sz="1500" dirty="0"/>
          </a:p>
        </p:txBody>
      </p:sp>
      <p:sp>
        <p:nvSpPr>
          <p:cNvPr id="15" name="Text 10"/>
          <p:cNvSpPr txBox="1"/>
          <p:nvPr/>
        </p:nvSpPr>
        <p:spPr>
          <a:xfrm>
            <a:off x="358444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Budget-to-design integer program and Pareto filter</a:t>
            </a:r>
            <a:endParaRPr lang="en-US" sz="1350" dirty="0"/>
          </a:p>
        </p:txBody>
      </p:sp>
      <p:sp>
        <p:nvSpPr>
          <p:cNvPr id="16" name="card"/>
          <p:cNvSpPr/>
          <p:nvPr/>
        </p:nvSpPr>
        <p:spPr>
          <a:xfrm>
            <a:off x="6217920" y="2240280"/>
            <a:ext cx="2606040" cy="1828800"/>
          </a:xfrm>
          <a:prstGeom prst="roundRect">
            <a:avLst>
              <a:gd name="adj" fmla="val 4000"/>
            </a:avLst>
          </a:prstGeom>
          <a:solidFill>
            <a:schemeClr val="bg2"/>
          </a:solidFill>
          <a:ln/>
        </p:spPr>
      </p:sp>
      <p:sp>
        <p:nvSpPr>
          <p:cNvPr id="17" name="icon circle"/>
          <p:cNvSpPr/>
          <p:nvPr/>
        </p:nvSpPr>
        <p:spPr>
          <a:xfrm>
            <a:off x="6419088" y="2423160"/>
            <a:ext cx="594360" cy="594360"/>
          </a:xfrm>
          <a:prstGeom prst="ellipse">
            <a:avLst/>
          </a:prstGeom>
          <a:solidFill>
            <a:schemeClr val="tx2"/>
          </a:solidFill>
          <a:ln/>
        </p:spPr>
      </p:sp>
      <p:pic>
        <p:nvPicPr>
          <p:cNvPr id="18" name="icon FaChartLine" descr="ChartLine icon">    </p:cNvPr>
          <p:cNvPicPr>
            <a:picLocks noChangeAspect="1"/>
          </p:cNvPicPr>
          <p:nvPr/>
        </p:nvPicPr>
        <p:blipFill>
          <a:blip r:embed="rId3"/>
          <a:stretch>
            <a:fillRect/>
          </a:stretch>
        </p:blipFill>
        <p:spPr>
          <a:xfrm>
            <a:off x="6561734" y="2565806"/>
            <a:ext cx="309067" cy="309067"/>
          </a:xfrm>
          <a:prstGeom prst="rect">
            <a:avLst/>
          </a:prstGeom>
        </p:spPr>
      </p:pic>
      <p:sp>
        <p:nvSpPr>
          <p:cNvPr id="19" name="Text 13"/>
          <p:cNvSpPr txBox="1"/>
          <p:nvPr/>
        </p:nvSpPr>
        <p:spPr>
          <a:xfrm>
            <a:off x="713232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Statistical and machine learning</a:t>
            </a:r>
            <a:endParaRPr lang="en-US" sz="1500" dirty="0"/>
          </a:p>
        </p:txBody>
      </p:sp>
      <p:sp>
        <p:nvSpPr>
          <p:cNvPr id="20" name="Text 14"/>
          <p:cNvSpPr txBox="1"/>
          <p:nvPr/>
        </p:nvSpPr>
        <p:spPr>
          <a:xfrm>
            <a:off x="641908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MLR, XGBoost, Isolation Forest, SHAP</a:t>
            </a:r>
            <a:endParaRPr lang="en-US" sz="1350" dirty="0"/>
          </a:p>
        </p:txBody>
      </p:sp>
      <p:sp>
        <p:nvSpPr>
          <p:cNvPr id="21" name="card"/>
          <p:cNvSpPr/>
          <p:nvPr/>
        </p:nvSpPr>
        <p:spPr>
          <a:xfrm>
            <a:off x="9052560" y="2240280"/>
            <a:ext cx="2606040" cy="1828800"/>
          </a:xfrm>
          <a:prstGeom prst="roundRect">
            <a:avLst>
              <a:gd name="adj" fmla="val 4000"/>
            </a:avLst>
          </a:prstGeom>
          <a:solidFill>
            <a:schemeClr val="bg2"/>
          </a:solidFill>
          <a:ln/>
        </p:spPr>
      </p:sp>
      <p:sp>
        <p:nvSpPr>
          <p:cNvPr id="22" name="icon circle"/>
          <p:cNvSpPr/>
          <p:nvPr/>
        </p:nvSpPr>
        <p:spPr>
          <a:xfrm>
            <a:off x="9253728" y="2423160"/>
            <a:ext cx="594360" cy="594360"/>
          </a:xfrm>
          <a:prstGeom prst="ellipse">
            <a:avLst/>
          </a:prstGeom>
          <a:solidFill>
            <a:schemeClr val="tx2"/>
          </a:solidFill>
          <a:ln/>
        </p:spPr>
      </p:sp>
      <p:pic>
        <p:nvPicPr>
          <p:cNvPr id="23" name="icon FaDice" descr="Dice icon">    </p:cNvPr>
          <p:cNvPicPr>
            <a:picLocks noChangeAspect="1"/>
          </p:cNvPicPr>
          <p:nvPr/>
        </p:nvPicPr>
        <p:blipFill>
          <a:blip r:embed="rId4"/>
          <a:stretch>
            <a:fillRect/>
          </a:stretch>
        </p:blipFill>
        <p:spPr>
          <a:xfrm>
            <a:off x="9396374" y="2565806"/>
            <a:ext cx="309067" cy="309067"/>
          </a:xfrm>
          <a:prstGeom prst="rect">
            <a:avLst/>
          </a:prstGeom>
        </p:spPr>
      </p:pic>
      <p:sp>
        <p:nvSpPr>
          <p:cNvPr id="24" name="Text 17"/>
          <p:cNvSpPr txBox="1"/>
          <p:nvPr/>
        </p:nvSpPr>
        <p:spPr>
          <a:xfrm>
            <a:off x="996696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Monte Carlo simulation</a:t>
            </a:r>
            <a:endParaRPr lang="en-US" sz="1500" dirty="0"/>
          </a:p>
        </p:txBody>
      </p:sp>
      <p:sp>
        <p:nvSpPr>
          <p:cNvPr id="25" name="Text 18"/>
          <p:cNvSpPr txBox="1"/>
          <p:nvPr/>
        </p:nvSpPr>
        <p:spPr>
          <a:xfrm>
            <a:off x="925372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SBD-300 benchmark with known overpricing</a:t>
            </a:r>
            <a:endParaRPr lang="en-US" sz="1350" dirty="0"/>
          </a:p>
        </p:txBody>
      </p:sp>
      <p:pic>
        <p:nvPicPr>
          <p:cNvPr id="26" name="diagram_method.png" descr="Methodological paradigm">    </p:cNvPr>
          <p:cNvPicPr>
            <a:picLocks noChangeAspect="1"/>
          </p:cNvPicPr>
          <p:nvPr/>
        </p:nvPicPr>
        <p:blipFill>
          <a:blip r:embed="rId5"/>
          <a:stretch>
            <a:fillRect/>
          </a:stretch>
        </p:blipFill>
        <p:spPr>
          <a:xfrm>
            <a:off x="2166910" y="4251960"/>
            <a:ext cx="7855131" cy="201168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LOCALE AND DATA SOURCES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Bicol Region V, Standards and Prices</a:t>
            </a:r>
            <a:endParaRPr lang="en-US" sz="3200" dirty="0"/>
          </a:p>
        </p:txBody>
      </p:sp>
      <p:graphicFrame>
        <p:nvGraphicFramePr>
          <p:cNvPr id="20" name="locale table"/>
          <p:cNvGraphicFramePr>
            <a:graphicFrameLocks noGrp="1"/>
          </p:cNvGraphicFramePr>
          <p:nvPr>
            <p:extLst>
              <p:ext uri="{D42A27DB-BD31-4B8C-83A1-F6EECF244321}">
                <p14:modId xmlns:p14="http://schemas.microsoft.com/office/powerpoint/2010/main" val="1579011935"/>
              </p:ext>
            </p:extLst>
          </p:nvPr>
        </p:nvGraphicFramePr>
        <p:xfrm>
          <a:off x="548640" y="1508760"/>
          <a:ext cx="5120640" cy="914400"/>
        </p:xfrm>
        <a:graphic>
          <a:graphicData uri="http://schemas.openxmlformats.org/drawingml/2006/table">
            <a:tbl>
              <a:tblPr/>
              <a:tblGrid>
                <a:gridCol w="2194560"/>
                <a:gridCol w="1371600"/>
                <a:gridCol w="155448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Province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Location factor</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 index</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Albay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0.90 (2022)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Sur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0.94 (2023)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Norte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0.97 (2024)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Sorsogon</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 (2025)</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Masbate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 (2026)</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Catanduanes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6" name="Text 2"/>
          <p:cNvSpPr txBox="1"/>
          <p:nvPr/>
        </p:nvSpPr>
        <p:spPr>
          <a:xfrm>
            <a:off x="548640" y="4754880"/>
            <a:ext cx="5120640" cy="548640"/>
          </a:xfrm>
          <a:prstGeom prst="rect">
            <a:avLst/>
          </a:prstGeom>
          <a:noFill/>
          <a:ln/>
        </p:spPr>
        <p:txBody>
          <a:bodyPr wrap="square" lIns="0" tIns="0" rIns="0" bIns="0" rtlCol="0" anchor="t"/>
          <a:lstStyle/>
          <a:p>
            <a:pPr indent="0" marL="0">
              <a:buNone/>
            </a:pPr>
            <a:r>
              <a:rPr lang="en-US" sz="1300" i="1" dirty="0">
                <a:solidFill>
                  <a:srgbClr val="6B7A8C"/>
                </a:solidFill>
              </a:rPr>
              <a:t>Location factors and yearly cost index bring each price to 2025 Albay levels.</a:t>
            </a:r>
            <a:endParaRPr lang="en-US" sz="1300" dirty="0"/>
          </a:p>
        </p:txBody>
      </p:sp>
      <p:sp>
        <p:nvSpPr>
          <p:cNvPr id="7" name="card"/>
          <p:cNvSpPr/>
          <p:nvPr/>
        </p:nvSpPr>
        <p:spPr>
          <a:xfrm>
            <a:off x="5943600" y="1508760"/>
            <a:ext cx="5696712" cy="4709160"/>
          </a:xfrm>
          <a:prstGeom prst="roundRect">
            <a:avLst>
              <a:gd name="adj" fmla="val 1553"/>
            </a:avLst>
          </a:prstGeom>
          <a:solidFill>
            <a:schemeClr val="bg2"/>
          </a:solidFill>
          <a:ln/>
        </p:spPr>
      </p:sp>
      <p:sp>
        <p:nvSpPr>
          <p:cNvPr id="8" name="icon circle"/>
          <p:cNvSpPr/>
          <p:nvPr/>
        </p:nvSpPr>
        <p:spPr>
          <a:xfrm>
            <a:off x="6172200" y="1691640"/>
            <a:ext cx="594360" cy="594360"/>
          </a:xfrm>
          <a:prstGeom prst="ellipse">
            <a:avLst/>
          </a:prstGeom>
          <a:solidFill>
            <a:schemeClr val="tx2"/>
          </a:solidFill>
          <a:ln/>
        </p:spPr>
      </p:sp>
      <p:pic>
        <p:nvPicPr>
          <p:cNvPr id="9" name="icon FaBookBookmark" descr="BookBookmark icon">    </p:cNvPr>
          <p:cNvPicPr>
            <a:picLocks noChangeAspect="1"/>
          </p:cNvPicPr>
          <p:nvPr/>
        </p:nvPicPr>
        <p:blipFill>
          <a:blip r:embed="rId1"/>
          <a:stretch>
            <a:fillRect/>
          </a:stretch>
        </p:blipFill>
        <p:spPr>
          <a:xfrm>
            <a:off x="6314846" y="1834286"/>
            <a:ext cx="309067" cy="309067"/>
          </a:xfrm>
          <a:prstGeom prst="rect">
            <a:avLst/>
          </a:prstGeom>
        </p:spPr>
      </p:pic>
      <p:sp>
        <p:nvSpPr>
          <p:cNvPr id="10" name="Text 5"/>
          <p:cNvSpPr txBox="1"/>
          <p:nvPr/>
        </p:nvSpPr>
        <p:spPr>
          <a:xfrm>
            <a:off x="6949440" y="1691640"/>
            <a:ext cx="4480560" cy="594360"/>
          </a:xfrm>
          <a:prstGeom prst="rect">
            <a:avLst/>
          </a:prstGeom>
          <a:noFill/>
          <a:ln/>
        </p:spPr>
        <p:txBody>
          <a:bodyPr wrap="square" lIns="0" tIns="0" rIns="0" bIns="0" rtlCol="0" anchor="ctr"/>
          <a:lstStyle/>
          <a:p>
            <a:pPr indent="0" marL="0">
              <a:buNone/>
            </a:pPr>
            <a:r>
              <a:rPr lang="en-US" sz="1800" b="1" dirty="0">
                <a:solidFill>
                  <a:schemeClr val="tx2"/>
                </a:solidFill>
              </a:rPr>
              <a:t>Standards codified</a:t>
            </a:r>
            <a:endParaRPr lang="en-US" sz="1800" dirty="0"/>
          </a:p>
        </p:txBody>
      </p:sp>
      <p:sp>
        <p:nvSpPr>
          <p:cNvPr id="11" name="Text 6"/>
          <p:cNvSpPr txBox="1"/>
          <p:nvPr/>
        </p:nvSpPr>
        <p:spPr>
          <a:xfrm>
            <a:off x="6172200" y="2423160"/>
            <a:ext cx="530352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NSCP 2015 Vol. I (buildings); AASHTO LRFD 9th ed. (bridges)</a:t>
            </a:r>
            <a:endParaRPr lang="en-US" sz="1400" dirty="0"/>
          </a:p>
          <a:p>
            <a:pPr marL="342900" indent="-342900">
              <a:spcAft>
                <a:spcPts val="600"/>
              </a:spcAft>
              <a:buSzPct val="100000"/>
              <a:buChar char="•"/>
            </a:pPr>
            <a:r>
              <a:rPr lang="en-US" sz="1400" dirty="0">
                <a:solidFill>
                  <a:schemeClr val="tx1"/>
                </a:solidFill>
              </a:rPr>
              <a:t>DPWH Standard Specifications Vol. II (2013) and Vol. III (2019)</a:t>
            </a:r>
            <a:endParaRPr lang="en-US" sz="1400" dirty="0"/>
          </a:p>
          <a:p>
            <a:pPr marL="342900" indent="-342900">
              <a:spcAft>
                <a:spcPts val="600"/>
              </a:spcAft>
              <a:buSzPct val="100000"/>
              <a:buChar char="•"/>
            </a:pPr>
            <a:r>
              <a:rPr lang="en-US" sz="1400" dirty="0">
                <a:solidFill>
                  <a:schemeClr val="tx1"/>
                </a:solidFill>
              </a:rPr>
              <a:t>DPWH D.O. 197 s. 2016 and D.O. 30 s. 2025 (indirect costs)</a:t>
            </a:r>
            <a:endParaRPr lang="en-US" sz="1400" dirty="0"/>
          </a:p>
          <a:p>
            <a:pPr marL="342900" indent="-342900">
              <a:spcAft>
                <a:spcPts val="600"/>
              </a:spcAft>
              <a:buSzPct val="100000"/>
              <a:buChar char="•"/>
            </a:pPr>
            <a:r>
              <a:rPr lang="en-US" sz="1400" dirty="0">
                <a:solidFill>
                  <a:schemeClr val="tx1"/>
                </a:solidFill>
              </a:rPr>
              <a:t>PD 1096, BP 344 accessibility, RA 9514 fire code</a:t>
            </a:r>
            <a:endParaRPr lang="en-US" sz="1400" dirty="0"/>
          </a:p>
          <a:p>
            <a:pPr marL="342900" indent="-342900">
              <a:spcAft>
                <a:spcPts val="600"/>
              </a:spcAft>
              <a:buSzPct val="100000"/>
              <a:buChar char="•"/>
            </a:pPr>
            <a:r>
              <a:rPr lang="en-US" sz="1400" dirty="0">
                <a:solidFill>
                  <a:schemeClr val="tx1"/>
                </a:solidFill>
              </a:rPr>
              <a:t>DepEd Educational Facilities Manual; DOH AO 2016-0042; Sphere</a:t>
            </a:r>
            <a:endParaRPr lang="en-US" sz="1400" dirty="0"/>
          </a:p>
          <a:p>
            <a:pPr marL="342900" indent="-342900">
              <a:spcAft>
                <a:spcPts val="600"/>
              </a:spcAft>
              <a:buSzPct val="100000"/>
              <a:buChar char="•"/>
            </a:pPr>
            <a:r>
              <a:rPr lang="en-US" sz="1400" dirty="0">
                <a:solidFill>
                  <a:schemeClr val="tx1"/>
                </a:solidFill>
              </a:rPr>
              <a:t>BUHAY-AH price book: DPWH pay items and 2025 unit costs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INSTRUMENTS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Plan Variables Extracted</a:t>
            </a:r>
            <a:endParaRPr lang="en-US" sz="3200" dirty="0"/>
          </a:p>
        </p:txBody>
      </p:sp>
      <p:graphicFrame>
        <p:nvGraphicFramePr>
          <p:cNvPr id="21" name="building variables"/>
          <p:cNvGraphicFramePr>
            <a:graphicFrameLocks noGrp="1"/>
          </p:cNvGraphicFramePr>
          <p:nvPr>
            <p:extLst>
              <p:ext uri="{D42A27DB-BD31-4B8C-83A1-F6EECF244321}">
                <p14:modId xmlns:p14="http://schemas.microsoft.com/office/powerpoint/2010/main" val="1579011935"/>
              </p:ext>
            </p:extLst>
          </p:nvPr>
        </p:nvGraphicFramePr>
        <p:xfrm>
          <a:off x="548640"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Building variables (9)</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Gross floor area, footprint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Number of storeys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Structural span (bay)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Floor-to-floor height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Facility type, roof system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1" name="bridge variables"/>
          <p:cNvGraphicFramePr>
            <a:graphicFrameLocks noGrp="1"/>
          </p:cNvGraphicFramePr>
          <p:nvPr>
            <p:extLst>
              <p:ext uri="{D42A27DB-BD31-4B8C-83A1-F6EECF244321}">
                <p14:modId xmlns:p14="http://schemas.microsoft.com/office/powerpoint/2010/main" val="1579011935"/>
              </p:ext>
            </p:extLst>
          </p:nvPr>
        </p:nvGraphicFramePr>
        <p:xfrm>
          <a:off x="6245352"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Bridge variables (11)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Total length, span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Deck width, deck area</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 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Pier and abutment heights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Superstructure type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Foundation type, pile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 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7" name="card"/>
          <p:cNvSpPr/>
          <p:nvPr/>
        </p:nvSpPr>
        <p:spPr>
          <a:xfrm>
            <a:off x="548640" y="4709160"/>
            <a:ext cx="11091672" cy="1463040"/>
          </a:xfrm>
          <a:prstGeom prst="roundRect">
            <a:avLst>
              <a:gd name="adj" fmla="val 5000"/>
            </a:avLst>
          </a:prstGeom>
          <a:solidFill>
            <a:schemeClr val="bg2"/>
          </a:solidFill>
          <a:ln/>
        </p:spPr>
      </p:sp>
      <p:sp>
        <p:nvSpPr>
          <p:cNvPr id="8" name="icon circle"/>
          <p:cNvSpPr/>
          <p:nvPr/>
        </p:nvSpPr>
        <p:spPr>
          <a:xfrm>
            <a:off x="777240" y="4983480"/>
            <a:ext cx="731520" cy="731520"/>
          </a:xfrm>
          <a:prstGeom prst="ellipse">
            <a:avLst/>
          </a:prstGeom>
          <a:solidFill>
            <a:schemeClr val="accent1"/>
          </a:solidFill>
          <a:ln/>
        </p:spPr>
      </p:sp>
      <p:pic>
        <p:nvPicPr>
          <p:cNvPr id="9" name="icon FaFileImport" descr="FileImport icon">    </p:cNvPr>
          <p:cNvPicPr>
            <a:picLocks noChangeAspect="1"/>
          </p:cNvPicPr>
          <p:nvPr/>
        </p:nvPicPr>
        <p:blipFill>
          <a:blip r:embed="rId1"/>
          <a:stretch>
            <a:fillRect/>
          </a:stretch>
        </p:blipFill>
        <p:spPr>
          <a:xfrm>
            <a:off x="952805" y="5159045"/>
            <a:ext cx="380390" cy="380390"/>
          </a:xfrm>
          <a:prstGeom prst="rect">
            <a:avLst/>
          </a:prstGeom>
        </p:spPr>
      </p:pic>
      <p:sp>
        <p:nvSpPr>
          <p:cNvPr id="10" name="Text 4"/>
          <p:cNvSpPr txBox="1"/>
          <p:nvPr/>
        </p:nvSpPr>
        <p:spPr>
          <a:xfrm>
            <a:off x="1737360" y="4846320"/>
            <a:ext cx="9692640" cy="1188720"/>
          </a:xfrm>
          <a:prstGeom prst="rect">
            <a:avLst/>
          </a:prstGeom>
          <a:noFill/>
          <a:ln/>
        </p:spPr>
        <p:txBody>
          <a:bodyPr wrap="square" lIns="0" tIns="0" rIns="0" bIns="0" rtlCol="0" anchor="ctr"/>
          <a:lstStyle/>
          <a:p>
            <a:pPr indent="0" marL="0">
              <a:buNone/>
            </a:pPr>
            <a:r>
              <a:rPr lang="en-US" sz="1500" b="1" dirty="0">
                <a:solidFill>
                  <a:schemeClr val="tx1"/>
                </a:solidFill>
              </a:rPr>
              <a:t>Plan sources: </a:t>
            </a:r>
            <a:pPr indent="0" marL="0">
              <a:buNone/>
            </a:pPr>
            <a:r>
              <a:rPr lang="en-US" sz="1500" dirty="0">
                <a:solidFill>
                  <a:schemeClr val="tx1"/>
                </a:solidFill>
              </a:rPr>
              <a:t>dimensions typed in, 19 reference plans, generated designs, or a DXF file. The largest closed polyline is the outline; area and perimeter come from the shoelace formula; walls on WALL or PARTITION layers are measured, and $INSUNITS sets the scale.</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 Generation from a Budget</a:t>
            </a:r>
            <a:endParaRPr lang="en-US" sz="3200" dirty="0"/>
          </a:p>
        </p:txBody>
      </p:sp>
      <p:sp>
        <p:nvSpPr>
          <p:cNvPr id="5" name="Text 2"/>
          <p:cNvSpPr txBox="1"/>
          <p:nvPr/>
        </p:nvSpPr>
        <p:spPr>
          <a:xfrm>
            <a:off x="548640" y="1463040"/>
            <a:ext cx="5120640" cy="31089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55 space modules </a:t>
            </a:r>
            <a:pPr indent="0" marL="0">
              <a:buNone/>
            </a:pPr>
            <a:r>
              <a:rPr lang="en-US" sz="1500" dirty="0">
                <a:solidFill>
                  <a:schemeClr val="tx1"/>
                </a:solidFill>
              </a:rPr>
              <a:t>(7 × 9 m DepEd classroom, 6-bed ward, 20-person evacuation bay…) laid out in rows and floors</a:t>
            </a:r>
            <a:endParaRPr lang="en-US" sz="1500" dirty="0"/>
          </a:p>
          <a:p>
            <a:pPr marL="342900" indent="-342900">
              <a:spcAft>
                <a:spcPts val="800"/>
              </a:spcAft>
              <a:buSzPct val="100000"/>
              <a:buChar char="•"/>
            </a:pPr>
            <a:r>
              <a:rPr lang="en-US" sz="1500" b="1" dirty="0">
                <a:solidFill>
                  <a:schemeClr val="tx1"/>
                </a:solidFill>
              </a:rPr>
              <a:t>41 building + 13 bridge templates, </a:t>
            </a:r>
            <a:pPr indent="0" marL="0">
              <a:buNone/>
            </a:pPr>
            <a:r>
              <a:rPr lang="en-US" sz="1500" dirty="0">
                <a:solidFill>
                  <a:schemeClr val="tx1"/>
                </a:solidFill>
              </a:rPr>
              <a:t>customizable and combinable as wings</a:t>
            </a:r>
            <a:endParaRPr lang="en-US" sz="1500" dirty="0"/>
          </a:p>
          <a:p>
            <a:pPr marL="342900" indent="-342900">
              <a:spcAft>
                <a:spcPts val="800"/>
              </a:spcAft>
              <a:buSzPct val="100000"/>
              <a:buChar char="•"/>
            </a:pPr>
            <a:r>
              <a:rPr lang="en-US" sz="1500" b="1" dirty="0">
                <a:solidFill>
                  <a:schemeClr val="tx1"/>
                </a:solidFill>
              </a:rPr>
              <a:t>Budget-to-design: </a:t>
            </a:r>
            <a:pPr indent="0" marL="0">
              <a:buNone/>
            </a:pPr>
            <a:r>
              <a:rPr lang="en-US" sz="1500" dirty="0">
                <a:solidFill>
                  <a:schemeClr val="tx1"/>
                </a:solidFill>
              </a:rPr>
              <a:t>maximize capacity κ subject to ABC ≤ budget, length ≤ lot, storeys ≤ limit</a:t>
            </a:r>
            <a:endParaRPr lang="en-US" sz="1500" dirty="0"/>
          </a:p>
          <a:p>
            <a:pPr marL="342900" indent="-342900">
              <a:spcAft>
                <a:spcPts val="800"/>
              </a:spcAft>
              <a:buSzPct val="100000"/>
              <a:buChar char="•"/>
            </a:pPr>
            <a:r>
              <a:rPr lang="en-US" sz="1500" b="1" dirty="0">
                <a:solidFill>
                  <a:schemeClr val="tx1"/>
                </a:solidFill>
              </a:rPr>
              <a:t>Exhaustive enumeration + Pareto filter, </a:t>
            </a:r>
            <a:pPr indent="0" marL="0">
              <a:buNone/>
            </a:pPr>
            <a:r>
              <a:rPr lang="en-US" sz="1500" dirty="0">
                <a:solidFill>
                  <a:schemeClr val="tx1"/>
                </a:solidFill>
              </a:rPr>
              <a:t>because cost jumps with new stairs, floors and footings</a:t>
            </a:r>
            <a:endParaRPr lang="en-US" sz="1500" dirty="0"/>
          </a:p>
        </p:txBody>
      </p:sp>
      <p:sp>
        <p:nvSpPr>
          <p:cNvPr id="6" name="card"/>
          <p:cNvSpPr/>
          <p:nvPr/>
        </p:nvSpPr>
        <p:spPr>
          <a:xfrm>
            <a:off x="548640" y="4617720"/>
            <a:ext cx="5120640" cy="1600200"/>
          </a:xfrm>
          <a:prstGeom prst="roundRect">
            <a:avLst>
              <a:gd name="adj" fmla="val 4571"/>
            </a:avLst>
          </a:prstGeom>
          <a:solidFill>
            <a:schemeClr val="bg2"/>
          </a:solidFill>
          <a:ln/>
        </p:spPr>
      </p:sp>
      <p:pic>
        <p:nvPicPr>
          <p:cNvPr id="7" name="equation opt.png" descr="Budget-to-design integer program">    </p:cNvPr>
          <p:cNvPicPr>
            <a:picLocks noChangeAspect="1"/>
          </p:cNvPicPr>
          <p:nvPr/>
        </p:nvPicPr>
        <p:blipFill>
          <a:blip r:embed="rId1"/>
          <a:stretch>
            <a:fillRect/>
          </a:stretch>
        </p:blipFill>
        <p:spPr>
          <a:xfrm>
            <a:off x="685800" y="4859668"/>
            <a:ext cx="4846320" cy="339064"/>
          </a:xfrm>
          <a:prstGeom prst="rect">
            <a:avLst/>
          </a:prstGeom>
        </p:spPr>
      </p:pic>
      <p:pic>
        <p:nvPicPr>
          <p:cNvPr id="8" name="equation pareto.png" descr="Pareto dominance">    </p:cNvPr>
          <p:cNvPicPr>
            <a:picLocks noChangeAspect="1"/>
          </p:cNvPicPr>
          <p:nvPr/>
        </p:nvPicPr>
        <p:blipFill>
          <a:blip r:embed="rId2"/>
          <a:stretch>
            <a:fillRect/>
          </a:stretch>
        </p:blipFill>
        <p:spPr>
          <a:xfrm>
            <a:off x="685800" y="5565720"/>
            <a:ext cx="4846320" cy="298560"/>
          </a:xfrm>
          <a:prstGeom prst="rect">
            <a:avLst/>
          </a:prstGeom>
        </p:spPr>
      </p:pic>
      <p:pic>
        <p:nvPicPr>
          <p:cNvPr id="9" name="plan_school_gf.png" descr="Generated ground floor plan of a 2-storey 6-classroom school">    </p:cNvPr>
          <p:cNvPicPr>
            <a:picLocks noChangeAspect="1"/>
          </p:cNvPicPr>
          <p:nvPr/>
        </p:nvPicPr>
        <p:blipFill>
          <a:blip r:embed="rId3"/>
          <a:stretch>
            <a:fillRect/>
          </a:stretch>
        </p:blipFill>
        <p:spPr>
          <a:xfrm>
            <a:off x="5943600" y="1523373"/>
            <a:ext cx="5696712" cy="2256774"/>
          </a:xfrm>
          <a:prstGeom prst="rect">
            <a:avLst/>
          </a:prstGeom>
        </p:spPr>
      </p:pic>
      <p:pic>
        <p:nvPicPr>
          <p:cNvPr id="10" name="plan_evac.png" descr="Generated plan of an evacuation center for 200 persons">    </p:cNvPr>
          <p:cNvPicPr>
            <a:picLocks noChangeAspect="1"/>
          </p:cNvPicPr>
          <p:nvPr/>
        </p:nvPicPr>
        <p:blipFill>
          <a:blip r:embed="rId4"/>
          <a:stretch>
            <a:fillRect/>
          </a:stretch>
        </p:blipFill>
        <p:spPr>
          <a:xfrm>
            <a:off x="7033494" y="3931920"/>
            <a:ext cx="3516923" cy="228600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Quantity Take-Off and Quotation</a:t>
            </a:r>
            <a:endParaRPr lang="en-US" sz="3200" dirty="0"/>
          </a:p>
        </p:txBody>
      </p:sp>
      <p:sp>
        <p:nvSpPr>
          <p:cNvPr id="5" name="card"/>
          <p:cNvSpPr/>
          <p:nvPr/>
        </p:nvSpPr>
        <p:spPr>
          <a:xfrm>
            <a:off x="548640" y="1508760"/>
            <a:ext cx="5486400" cy="2423160"/>
          </a:xfrm>
          <a:prstGeom prst="roundRect">
            <a:avLst>
              <a:gd name="adj" fmla="val 3019"/>
            </a:avLst>
          </a:prstGeom>
          <a:solidFill>
            <a:schemeClr val="bg2"/>
          </a:solidFill>
          <a:ln/>
        </p:spPr>
      </p:sp>
      <p:sp>
        <p:nvSpPr>
          <p:cNvPr id="6" name="Text 3"/>
          <p:cNvSpPr txBox="1"/>
          <p:nvPr/>
        </p:nvSpPr>
        <p:spPr>
          <a:xfrm>
            <a:off x="777240" y="1645920"/>
            <a:ext cx="5029200" cy="365760"/>
          </a:xfrm>
          <a:prstGeom prst="rect">
            <a:avLst/>
          </a:prstGeom>
          <a:noFill/>
          <a:ln/>
        </p:spPr>
        <p:txBody>
          <a:bodyPr wrap="square" lIns="0" tIns="0" rIns="0" bIns="0" rtlCol="0" anchor="t"/>
          <a:lstStyle/>
          <a:p>
            <a:pPr indent="0" marL="0">
              <a:buNone/>
            </a:pPr>
            <a:r>
              <a:rPr lang="en-US" sz="1600" b="1" dirty="0">
                <a:solidFill>
                  <a:schemeClr val="tx2"/>
                </a:solidFill>
              </a:rPr>
              <a:t>Estimated direct cost and ABC</a:t>
            </a:r>
            <a:endParaRPr lang="en-US" sz="1600" dirty="0"/>
          </a:p>
        </p:txBody>
      </p:sp>
      <p:pic>
        <p:nvPicPr>
          <p:cNvPr id="7" name="equation edc.png" descr="EDC equation">    </p:cNvPr>
          <p:cNvPicPr>
            <a:picLocks noChangeAspect="1"/>
          </p:cNvPicPr>
          <p:nvPr/>
        </p:nvPicPr>
        <p:blipFill>
          <a:blip r:embed="rId1"/>
          <a:stretch>
            <a:fillRect/>
          </a:stretch>
        </p:blipFill>
        <p:spPr>
          <a:xfrm>
            <a:off x="777240" y="2141113"/>
            <a:ext cx="2190811" cy="609813"/>
          </a:xfrm>
          <a:prstGeom prst="rect">
            <a:avLst/>
          </a:prstGeom>
        </p:spPr>
      </p:pic>
      <p:pic>
        <p:nvPicPr>
          <p:cNvPr id="8" name="equation abc.png" descr="ABC equation">    </p:cNvPr>
          <p:cNvPicPr>
            <a:picLocks noChangeAspect="1"/>
          </p:cNvPicPr>
          <p:nvPr/>
        </p:nvPicPr>
        <p:blipFill>
          <a:blip r:embed="rId2"/>
          <a:stretch>
            <a:fillRect/>
          </a:stretch>
        </p:blipFill>
        <p:spPr>
          <a:xfrm>
            <a:off x="777240" y="3128368"/>
            <a:ext cx="3034010" cy="372664"/>
          </a:xfrm>
          <a:prstGeom prst="rect">
            <a:avLst/>
          </a:prstGeom>
        </p:spPr>
      </p:pic>
      <p:sp>
        <p:nvSpPr>
          <p:cNvPr id="9" name="card"/>
          <p:cNvSpPr/>
          <p:nvPr/>
        </p:nvSpPr>
        <p:spPr>
          <a:xfrm>
            <a:off x="548640" y="4114800"/>
            <a:ext cx="5486400" cy="2103120"/>
          </a:xfrm>
          <a:prstGeom prst="roundRect">
            <a:avLst>
              <a:gd name="adj" fmla="val 3478"/>
            </a:avLst>
          </a:prstGeom>
          <a:solidFill>
            <a:schemeClr val="bg2"/>
          </a:solidFill>
          <a:ln/>
        </p:spPr>
      </p:sp>
      <p:sp>
        <p:nvSpPr>
          <p:cNvPr id="10" name="Text 5"/>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600" b="1" dirty="0">
                <a:solidFill>
                  <a:schemeClr val="tx2"/>
                </a:solidFill>
              </a:rPr>
              <a:t>Structural quantities from engineering formulas</a:t>
            </a:r>
            <a:endParaRPr lang="en-US" sz="1600" dirty="0"/>
          </a:p>
        </p:txBody>
      </p:sp>
      <p:pic>
        <p:nvPicPr>
          <p:cNvPr id="11" name="equation footing.png" descr="Footing width">    </p:cNvPr>
          <p:cNvPicPr>
            <a:picLocks noChangeAspect="1"/>
          </p:cNvPicPr>
          <p:nvPr/>
        </p:nvPicPr>
        <p:blipFill>
          <a:blip r:embed="rId3"/>
          <a:stretch>
            <a:fillRect/>
          </a:stretch>
        </p:blipFill>
        <p:spPr>
          <a:xfrm>
            <a:off x="777240" y="4681278"/>
            <a:ext cx="1750390" cy="741563"/>
          </a:xfrm>
          <a:prstGeom prst="rect">
            <a:avLst/>
          </a:prstGeom>
        </p:spPr>
      </p:pic>
      <p:pic>
        <p:nvPicPr>
          <p:cNvPr id="12" name="equation rebar.png" descr="Reinforcing steel">    </p:cNvPr>
          <p:cNvPicPr>
            <a:picLocks noChangeAspect="1"/>
          </p:cNvPicPr>
          <p:nvPr/>
        </p:nvPicPr>
        <p:blipFill>
          <a:blip r:embed="rId4"/>
          <a:stretch>
            <a:fillRect/>
          </a:stretch>
        </p:blipFill>
        <p:spPr>
          <a:xfrm>
            <a:off x="3291840" y="4803618"/>
            <a:ext cx="1554648" cy="496885"/>
          </a:xfrm>
          <a:prstGeom prst="rect">
            <a:avLst/>
          </a:prstGeom>
        </p:spPr>
      </p:pic>
      <p:sp>
        <p:nvSpPr>
          <p:cNvPr id="13" name="Text 6"/>
          <p:cNvSpPr txBox="1"/>
          <p:nvPr/>
        </p:nvSpPr>
        <p:spPr>
          <a:xfrm>
            <a:off x="777240" y="5577840"/>
            <a:ext cx="5029200" cy="502920"/>
          </a:xfrm>
          <a:prstGeom prst="rect">
            <a:avLst/>
          </a:prstGeom>
          <a:noFill/>
          <a:ln/>
        </p:spPr>
        <p:txBody>
          <a:bodyPr wrap="square" lIns="0" tIns="0" rIns="0" bIns="0" rtlCol="0" anchor="t"/>
          <a:lstStyle/>
          <a:p>
            <a:pPr indent="0" marL="0">
              <a:buNone/>
            </a:pPr>
            <a:r>
              <a:rPr lang="en-US" sz="1300" dirty="0">
                <a:solidFill>
                  <a:srgbClr val="44505E"/>
                </a:solidFill>
              </a:rPr>
              <a:t>Footing width from load and soil bearing; steel from volume × intensity.</a:t>
            </a:r>
            <a:endParaRPr lang="en-US" sz="1300" dirty="0"/>
          </a:p>
        </p:txBody>
      </p:sp>
      <p:graphicFrame>
        <p:nvGraphicFramePr>
          <p:cNvPr id="23" name="tier table"/>
          <p:cNvGraphicFramePr>
            <a:graphicFrameLocks noGrp="1"/>
          </p:cNvGraphicFramePr>
          <p:nvPr>
            <p:extLst>
              <p:ext uri="{D42A27DB-BD31-4B8C-83A1-F6EECF244321}">
                <p14:modId xmlns:p14="http://schemas.microsoft.com/office/powerpoint/2010/main" val="1579011935"/>
              </p:ext>
            </p:extLst>
          </p:nvPr>
        </p:nvGraphicFramePr>
        <p:xfrm>
          <a:off x="6263640" y="1508760"/>
          <a:ext cx="5376672" cy="914400"/>
        </p:xfrm>
        <a:graphic>
          <a:graphicData uri="http://schemas.openxmlformats.org/drawingml/2006/table">
            <a:tbl>
              <a:tblPr/>
              <a:tblGrid>
                <a:gridCol w="1920240"/>
                <a:gridCol w="1188720"/>
                <a:gridCol w="1097280"/>
                <a:gridCol w="11704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Lean (start)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Ceiling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Reinforcement factor τ</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Structural steel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Floor finish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Cement topping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Ceramic tiles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Porcelain / granite</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MEPF allowance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Mobilization / OSH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 / 1.0%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 / 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1.5% / 2.0%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Scope contingency</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8% of works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5" name="indirect cost table"/>
          <p:cNvGraphicFramePr>
            <a:graphicFrameLocks noGrp="1"/>
          </p:cNvGraphicFramePr>
          <p:nvPr>
            <p:extLst>
              <p:ext uri="{D42A27DB-BD31-4B8C-83A1-F6EECF244321}">
                <p14:modId xmlns:p14="http://schemas.microsoft.com/office/powerpoint/2010/main" val="1579011935"/>
              </p:ext>
            </p:extLst>
          </p:nvPr>
        </p:nvGraphicFramePr>
        <p:xfrm>
          <a:off x="6263640" y="4892040"/>
          <a:ext cx="5376672" cy="914400"/>
        </p:xfrm>
        <a:graphic>
          <a:graphicData uri="http://schemas.openxmlformats.org/drawingml/2006/table">
            <a:tbl>
              <a:tblPr/>
              <a:tblGrid>
                <a:gridCol w="2651760"/>
                <a:gridCol w="1371600"/>
                <a:gridCol w="1353312"/>
              </a:tblGrid>
              <a:tr h="2651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EDC bracket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OCM</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Profit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Up to ₱5 million</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₱5M – ₱50M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₱50M –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Above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Simulated Benchmark SBD-300</a:t>
            </a:r>
            <a:endParaRPr lang="en-US" sz="3200" dirty="0"/>
          </a:p>
        </p:txBody>
      </p:sp>
      <p:sp>
        <p:nvSpPr>
          <p:cNvPr id="5" name="card"/>
          <p:cNvSpPr/>
          <p:nvPr/>
        </p:nvSpPr>
        <p:spPr>
          <a:xfrm>
            <a:off x="548640" y="1508760"/>
            <a:ext cx="2606040" cy="1417320"/>
          </a:xfrm>
          <a:prstGeom prst="roundRect">
            <a:avLst>
              <a:gd name="adj" fmla="val 5161"/>
            </a:avLst>
          </a:prstGeom>
          <a:solidFill>
            <a:schemeClr val="bg2"/>
          </a:solidFill>
          <a:ln/>
        </p:spPr>
      </p:sp>
      <p:sp>
        <p:nvSpPr>
          <p:cNvPr id="6" name="Text 3"/>
          <p:cNvSpPr txBox="1"/>
          <p:nvPr/>
        </p:nvSpPr>
        <p:spPr>
          <a:xfrm>
            <a:off x="77724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300</a:t>
            </a:r>
            <a:endParaRPr lang="en-US" sz="4000" dirty="0"/>
          </a:p>
        </p:txBody>
      </p:sp>
      <p:sp>
        <p:nvSpPr>
          <p:cNvPr id="7" name="Text 4"/>
          <p:cNvSpPr txBox="1"/>
          <p:nvPr/>
        </p:nvSpPr>
        <p:spPr>
          <a:xfrm>
            <a:off x="77724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simulated projects</a:t>
            </a:r>
            <a:endParaRPr lang="en-US" sz="1500" dirty="0"/>
          </a:p>
        </p:txBody>
      </p:sp>
      <p:sp>
        <p:nvSpPr>
          <p:cNvPr id="8" name="card"/>
          <p:cNvSpPr/>
          <p:nvPr/>
        </p:nvSpPr>
        <p:spPr>
          <a:xfrm>
            <a:off x="3383280" y="1508760"/>
            <a:ext cx="2606040" cy="1417320"/>
          </a:xfrm>
          <a:prstGeom prst="roundRect">
            <a:avLst>
              <a:gd name="adj" fmla="val 5161"/>
            </a:avLst>
          </a:prstGeom>
          <a:solidFill>
            <a:schemeClr val="bg2"/>
          </a:solidFill>
          <a:ln/>
        </p:spPr>
      </p:sp>
      <p:sp>
        <p:nvSpPr>
          <p:cNvPr id="9" name="Text 6"/>
          <p:cNvSpPr txBox="1"/>
          <p:nvPr/>
        </p:nvSpPr>
        <p:spPr>
          <a:xfrm>
            <a:off x="361188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160</a:t>
            </a:r>
            <a:endParaRPr lang="en-US" sz="4000" dirty="0"/>
          </a:p>
        </p:txBody>
      </p:sp>
      <p:sp>
        <p:nvSpPr>
          <p:cNvPr id="10" name="Text 7"/>
          <p:cNvSpPr txBox="1"/>
          <p:nvPr/>
        </p:nvSpPr>
        <p:spPr>
          <a:xfrm>
            <a:off x="361188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buildings</a:t>
            </a:r>
            <a:endParaRPr lang="en-US" sz="1500" dirty="0"/>
          </a:p>
        </p:txBody>
      </p:sp>
      <p:sp>
        <p:nvSpPr>
          <p:cNvPr id="11" name="card"/>
          <p:cNvSpPr/>
          <p:nvPr/>
        </p:nvSpPr>
        <p:spPr>
          <a:xfrm>
            <a:off x="6217920" y="1508760"/>
            <a:ext cx="2606040" cy="1417320"/>
          </a:xfrm>
          <a:prstGeom prst="roundRect">
            <a:avLst>
              <a:gd name="adj" fmla="val 5161"/>
            </a:avLst>
          </a:prstGeom>
          <a:solidFill>
            <a:schemeClr val="bg2"/>
          </a:solidFill>
          <a:ln/>
        </p:spPr>
      </p:sp>
      <p:sp>
        <p:nvSpPr>
          <p:cNvPr id="12" name="Text 9"/>
          <p:cNvSpPr txBox="1"/>
          <p:nvPr/>
        </p:nvSpPr>
        <p:spPr>
          <a:xfrm>
            <a:off x="644652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140</a:t>
            </a:r>
            <a:endParaRPr lang="en-US" sz="4000" dirty="0"/>
          </a:p>
        </p:txBody>
      </p:sp>
      <p:sp>
        <p:nvSpPr>
          <p:cNvPr id="13" name="Text 10"/>
          <p:cNvSpPr txBox="1"/>
          <p:nvPr/>
        </p:nvSpPr>
        <p:spPr>
          <a:xfrm>
            <a:off x="644652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bridges</a:t>
            </a:r>
            <a:endParaRPr lang="en-US" sz="1500" dirty="0"/>
          </a:p>
        </p:txBody>
      </p:sp>
      <p:sp>
        <p:nvSpPr>
          <p:cNvPr id="14" name="card"/>
          <p:cNvSpPr/>
          <p:nvPr/>
        </p:nvSpPr>
        <p:spPr>
          <a:xfrm>
            <a:off x="9052560" y="1508760"/>
            <a:ext cx="2606040" cy="1417320"/>
          </a:xfrm>
          <a:prstGeom prst="roundRect">
            <a:avLst>
              <a:gd name="adj" fmla="val 5161"/>
            </a:avLst>
          </a:prstGeom>
          <a:solidFill>
            <a:schemeClr val="tx2"/>
          </a:solidFill>
          <a:ln/>
        </p:spPr>
      </p:sp>
      <p:sp>
        <p:nvSpPr>
          <p:cNvPr id="15" name="Text 12"/>
          <p:cNvSpPr txBox="1"/>
          <p:nvPr/>
        </p:nvSpPr>
        <p:spPr>
          <a:xfrm>
            <a:off x="9281160" y="1572768"/>
            <a:ext cx="219456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36</a:t>
            </a:r>
            <a:endParaRPr lang="en-US" sz="4000" dirty="0"/>
          </a:p>
        </p:txBody>
      </p:sp>
      <p:sp>
        <p:nvSpPr>
          <p:cNvPr id="16" name="Text 13"/>
          <p:cNvSpPr txBox="1"/>
          <p:nvPr/>
        </p:nvSpPr>
        <p:spPr>
          <a:xfrm>
            <a:off x="9281160" y="2377440"/>
            <a:ext cx="2194560" cy="411480"/>
          </a:xfrm>
          <a:prstGeom prst="rect">
            <a:avLst/>
          </a:prstGeom>
          <a:noFill/>
          <a:ln/>
        </p:spPr>
        <p:txBody>
          <a:bodyPr wrap="square" lIns="0" tIns="0" rIns="0" bIns="0" rtlCol="0" anchor="t"/>
          <a:lstStyle/>
          <a:p>
            <a:pPr indent="0" marL="0">
              <a:buNone/>
            </a:pPr>
            <a:r>
              <a:rPr lang="en-US" sz="1500" dirty="0">
                <a:solidFill>
                  <a:schemeClr val="bg1"/>
                </a:solidFill>
              </a:rPr>
              <a:t>injected overpricing</a:t>
            </a:r>
            <a:endParaRPr lang="en-US" sz="1500" dirty="0"/>
          </a:p>
        </p:txBody>
      </p:sp>
      <p:sp>
        <p:nvSpPr>
          <p:cNvPr id="17" name="card"/>
          <p:cNvSpPr/>
          <p:nvPr/>
        </p:nvSpPr>
        <p:spPr>
          <a:xfrm>
            <a:off x="548640" y="3154680"/>
            <a:ext cx="5486400" cy="3063240"/>
          </a:xfrm>
          <a:prstGeom prst="roundRect">
            <a:avLst>
              <a:gd name="adj" fmla="val 2388"/>
            </a:avLst>
          </a:prstGeom>
          <a:solidFill>
            <a:schemeClr val="bg2"/>
          </a:solidFill>
          <a:ln/>
        </p:spPr>
      </p:sp>
      <p:sp>
        <p:nvSpPr>
          <p:cNvPr id="18" name="Text 15"/>
          <p:cNvSpPr txBox="1"/>
          <p:nvPr/>
        </p:nvSpPr>
        <p:spPr>
          <a:xfrm>
            <a:off x="777240" y="3291840"/>
            <a:ext cx="5029200" cy="365760"/>
          </a:xfrm>
          <a:prstGeom prst="rect">
            <a:avLst/>
          </a:prstGeom>
          <a:noFill/>
          <a:ln/>
        </p:spPr>
        <p:txBody>
          <a:bodyPr wrap="square" lIns="0" tIns="0" rIns="0" bIns="0" rtlCol="0" anchor="t"/>
          <a:lstStyle/>
          <a:p>
            <a:pPr indent="0" marL="0">
              <a:buNone/>
            </a:pPr>
            <a:r>
              <a:rPr lang="en-US" sz="1600" b="1" dirty="0">
                <a:solidFill>
                  <a:schemeClr val="tx2"/>
                </a:solidFill>
              </a:rPr>
              <a:t>Awarded cost</a:t>
            </a:r>
            <a:endParaRPr lang="en-US" sz="1600" dirty="0"/>
          </a:p>
        </p:txBody>
      </p:sp>
      <p:pic>
        <p:nvPicPr>
          <p:cNvPr id="19" name="equation sim.png" descr="Simulated awarded cost">    </p:cNvPr>
          <p:cNvPicPr>
            <a:picLocks noChangeAspect="1"/>
          </p:cNvPicPr>
          <p:nvPr/>
        </p:nvPicPr>
        <p:blipFill>
          <a:blip r:embed="rId1"/>
          <a:stretch>
            <a:fillRect/>
          </a:stretch>
        </p:blipFill>
        <p:spPr>
          <a:xfrm>
            <a:off x="777240" y="3882748"/>
            <a:ext cx="4791928" cy="372664"/>
          </a:xfrm>
          <a:prstGeom prst="rect">
            <a:avLst/>
          </a:prstGeom>
        </p:spPr>
      </p:pic>
      <p:sp>
        <p:nvSpPr>
          <p:cNvPr id="20" name="Text 16"/>
          <p:cNvSpPr txBox="1"/>
          <p:nvPr/>
        </p:nvSpPr>
        <p:spPr>
          <a:xfrm>
            <a:off x="777240" y="4572000"/>
            <a:ext cx="507492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η: lognormal bid competition (fair bids slightly below standard)</a:t>
            </a:r>
            <a:endParaRPr lang="en-US" sz="1400" dirty="0"/>
          </a:p>
          <a:p>
            <a:pPr marL="342900" indent="-342900">
              <a:spcAft>
                <a:spcPts val="600"/>
              </a:spcAft>
              <a:buSzPct val="100000"/>
              <a:buChar char="•"/>
            </a:pPr>
            <a:r>
              <a:rPr lang="en-US" sz="1400" dirty="0">
                <a:solidFill>
                  <a:schemeClr val="tx1"/>
                </a:solidFill>
              </a:rPr>
              <a:t>μ = 1 for fair projects; 1.20–1.40 moderate, 1.40–2.10 severe padding</a:t>
            </a:r>
            <a:endParaRPr lang="en-US" sz="1400" dirty="0"/>
          </a:p>
        </p:txBody>
      </p:sp>
      <p:sp>
        <p:nvSpPr>
          <p:cNvPr id="21" name="card"/>
          <p:cNvSpPr/>
          <p:nvPr/>
        </p:nvSpPr>
        <p:spPr>
          <a:xfrm>
            <a:off x="6263640" y="3154680"/>
            <a:ext cx="5376672" cy="3063240"/>
          </a:xfrm>
          <a:prstGeom prst="roundRect">
            <a:avLst>
              <a:gd name="adj" fmla="val 2388"/>
            </a:avLst>
          </a:prstGeom>
          <a:solidFill>
            <a:schemeClr val="bg2"/>
          </a:solidFill>
          <a:ln/>
        </p:spPr>
      </p:sp>
      <p:sp>
        <p:nvSpPr>
          <p:cNvPr id="22" name="Text 18"/>
          <p:cNvSpPr txBox="1"/>
          <p:nvPr/>
        </p:nvSpPr>
        <p:spPr>
          <a:xfrm>
            <a:off x="6492240" y="3291840"/>
            <a:ext cx="4937760" cy="365760"/>
          </a:xfrm>
          <a:prstGeom prst="rect">
            <a:avLst/>
          </a:prstGeom>
          <a:noFill/>
          <a:ln/>
        </p:spPr>
        <p:txBody>
          <a:bodyPr wrap="square" lIns="0" tIns="0" rIns="0" bIns="0" rtlCol="0" anchor="t"/>
          <a:lstStyle/>
          <a:p>
            <a:pPr indent="0" marL="0">
              <a:buNone/>
            </a:pPr>
            <a:r>
              <a:rPr lang="en-US" sz="1600" b="1" dirty="0">
                <a:solidFill>
                  <a:schemeClr val="tx2"/>
                </a:solidFill>
              </a:rPr>
              <a:t>Hidden variation the plan cannot see</a:t>
            </a:r>
            <a:endParaRPr lang="en-US" sz="1600" dirty="0"/>
          </a:p>
        </p:txBody>
      </p:sp>
      <p:sp>
        <p:nvSpPr>
          <p:cNvPr id="23" name="Text 19"/>
          <p:cNvSpPr txBox="1"/>
          <p:nvPr/>
        </p:nvSpPr>
        <p:spPr>
          <a:xfrm>
            <a:off x="6492240" y="3749040"/>
            <a:ext cx="493776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Unit prices ±7% per project</a:t>
            </a:r>
            <a:endParaRPr lang="en-US" sz="1400" dirty="0"/>
          </a:p>
          <a:p>
            <a:pPr marL="342900" indent="-342900">
              <a:spcAft>
                <a:spcPts val="600"/>
              </a:spcAft>
              <a:buSzPct val="100000"/>
              <a:buChar char="•"/>
            </a:pPr>
            <a:r>
              <a:rPr lang="en-US" sz="1400" dirty="0">
                <a:solidFill>
                  <a:schemeClr val="tx1"/>
                </a:solidFill>
              </a:rPr>
              <a:t>Reinforcement ±10%, concrete ±6%</a:t>
            </a:r>
            <a:endParaRPr lang="en-US" sz="1400" dirty="0"/>
          </a:p>
          <a:p>
            <a:pPr marL="342900" indent="-342900">
              <a:spcAft>
                <a:spcPts val="600"/>
              </a:spcAft>
              <a:buSzPct val="100000"/>
              <a:buChar char="•"/>
            </a:pPr>
            <a:r>
              <a:rPr lang="en-US" sz="1400" dirty="0">
                <a:solidFill>
                  <a:schemeClr val="tx1"/>
                </a:solidFill>
              </a:rPr>
              <a:t>MEPF ±8%, earthworks +5–15%</a:t>
            </a:r>
            <a:endParaRPr lang="en-US" sz="1400" dirty="0"/>
          </a:p>
          <a:p>
            <a:pPr marL="342900" indent="-342900">
              <a:spcAft>
                <a:spcPts val="600"/>
              </a:spcAft>
              <a:buSzPct val="100000"/>
              <a:buChar char="•"/>
            </a:pPr>
            <a:r>
              <a:rPr lang="en-US" sz="1400" dirty="0">
                <a:solidFill>
                  <a:schemeClr val="tx1"/>
                </a:solidFill>
              </a:rPr>
              <a:t>Pile lengths 0.95–1.35 × planned</a:t>
            </a:r>
            <a:endParaRPr lang="en-US" sz="1400" dirty="0"/>
          </a:p>
          <a:p>
            <a:pPr marL="342900" indent="-342900">
              <a:spcAft>
                <a:spcPts val="600"/>
              </a:spcAft>
              <a:buSzPct val="100000"/>
              <a:buChar char="•"/>
            </a:pPr>
            <a:r>
              <a:rPr lang="en-US" sz="1400" dirty="0">
                <a:solidFill>
                  <a:schemeClr val="tx1"/>
                </a:solidFill>
              </a:rPr>
              <a:t>Provinces weighted by size; award years 2022–2025</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Model Development</a:t>
            </a:r>
            <a:endParaRPr lang="en-US" sz="3200" dirty="0"/>
          </a:p>
        </p:txBody>
      </p:sp>
      <p:sp>
        <p:nvSpPr>
          <p:cNvPr id="5" name="card"/>
          <p:cNvSpPr/>
          <p:nvPr/>
        </p:nvSpPr>
        <p:spPr>
          <a:xfrm>
            <a:off x="548640" y="1508760"/>
            <a:ext cx="5422392" cy="2194560"/>
          </a:xfrm>
          <a:prstGeom prst="roundRect">
            <a:avLst>
              <a:gd name="adj" fmla="val 3333"/>
            </a:avLst>
          </a:prstGeom>
          <a:solidFill>
            <a:schemeClr val="bg2"/>
          </a:solidFill>
          <a:ln/>
        </p:spPr>
      </p:sp>
      <p:sp>
        <p:nvSpPr>
          <p:cNvPr id="6" name="Text 3"/>
          <p:cNvSpPr txBox="1"/>
          <p:nvPr/>
        </p:nvSpPr>
        <p:spPr>
          <a:xfrm>
            <a:off x="77724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Multiple Linear Regression</a:t>
            </a:r>
            <a:endParaRPr lang="en-US" sz="1800" dirty="0"/>
          </a:p>
        </p:txBody>
      </p:sp>
      <p:pic>
        <p:nvPicPr>
          <p:cNvPr id="7" name="equation mlr.png" descr="equation">    </p:cNvPr>
          <p:cNvPicPr>
            <a:picLocks noChangeAspect="1"/>
          </p:cNvPicPr>
          <p:nvPr/>
        </p:nvPicPr>
        <p:blipFill>
          <a:blip r:embed="rId1"/>
          <a:stretch>
            <a:fillRect/>
          </a:stretch>
        </p:blipFill>
        <p:spPr>
          <a:xfrm>
            <a:off x="777240" y="2188182"/>
            <a:ext cx="2202104" cy="643692"/>
          </a:xfrm>
          <a:prstGeom prst="rect">
            <a:avLst/>
          </a:prstGeom>
        </p:spPr>
      </p:pic>
      <p:pic>
        <p:nvPicPr>
          <p:cNvPr id="8" name="equation vif.png" descr="equation">    </p:cNvPr>
          <p:cNvPicPr>
            <a:picLocks noChangeAspect="1"/>
          </p:cNvPicPr>
          <p:nvPr/>
        </p:nvPicPr>
        <p:blipFill>
          <a:blip r:embed="rId2"/>
          <a:stretch>
            <a:fillRect/>
          </a:stretch>
        </p:blipFill>
        <p:spPr>
          <a:xfrm>
            <a:off x="3749040" y="2143011"/>
            <a:ext cx="1449248" cy="734035"/>
          </a:xfrm>
          <a:prstGeom prst="rect">
            <a:avLst/>
          </a:prstGeom>
        </p:spPr>
      </p:pic>
      <p:sp>
        <p:nvSpPr>
          <p:cNvPr id="9" name="Text 4"/>
          <p:cNvSpPr txBox="1"/>
          <p:nvPr/>
        </p:nvSpPr>
        <p:spPr>
          <a:xfrm>
            <a:off x="77724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Interpretable baseline; VIF &gt; 10 removed</a:t>
            </a:r>
            <a:endParaRPr lang="en-US" sz="1400" dirty="0"/>
          </a:p>
        </p:txBody>
      </p:sp>
      <p:sp>
        <p:nvSpPr>
          <p:cNvPr id="10" name="card"/>
          <p:cNvSpPr/>
          <p:nvPr/>
        </p:nvSpPr>
        <p:spPr>
          <a:xfrm>
            <a:off x="6217920" y="1508760"/>
            <a:ext cx="5422392" cy="2194560"/>
          </a:xfrm>
          <a:prstGeom prst="roundRect">
            <a:avLst>
              <a:gd name="adj" fmla="val 3333"/>
            </a:avLst>
          </a:prstGeom>
          <a:solidFill>
            <a:schemeClr val="bg2"/>
          </a:solidFill>
          <a:ln/>
        </p:spPr>
      </p:sp>
      <p:sp>
        <p:nvSpPr>
          <p:cNvPr id="11" name="Text 6"/>
          <p:cNvSpPr txBox="1"/>
          <p:nvPr/>
        </p:nvSpPr>
        <p:spPr>
          <a:xfrm>
            <a:off x="644652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XGBoost</a:t>
            </a:r>
            <a:endParaRPr lang="en-US" sz="1800" dirty="0"/>
          </a:p>
        </p:txBody>
      </p:sp>
      <p:pic>
        <p:nvPicPr>
          <p:cNvPr id="12" name="equation xgb.png" descr="equation">    </p:cNvPr>
          <p:cNvPicPr>
            <a:picLocks noChangeAspect="1"/>
          </p:cNvPicPr>
          <p:nvPr/>
        </p:nvPicPr>
        <p:blipFill>
          <a:blip r:embed="rId3"/>
          <a:stretch>
            <a:fillRect/>
          </a:stretch>
        </p:blipFill>
        <p:spPr>
          <a:xfrm>
            <a:off x="6446520" y="2240438"/>
            <a:ext cx="4937760" cy="539181"/>
          </a:xfrm>
          <a:prstGeom prst="rect">
            <a:avLst/>
          </a:prstGeom>
        </p:spPr>
      </p:pic>
      <p:sp>
        <p:nvSpPr>
          <p:cNvPr id="13" name="Text 7"/>
          <p:cNvSpPr txBox="1"/>
          <p:nvPr/>
        </p:nvSpPr>
        <p:spPr>
          <a:xfrm>
            <a:off x="644652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Regularized trees on log cost; randomized search, 5-fold CV</a:t>
            </a:r>
            <a:endParaRPr lang="en-US" sz="1400" dirty="0"/>
          </a:p>
        </p:txBody>
      </p:sp>
      <p:sp>
        <p:nvSpPr>
          <p:cNvPr id="14" name="card"/>
          <p:cNvSpPr/>
          <p:nvPr/>
        </p:nvSpPr>
        <p:spPr>
          <a:xfrm>
            <a:off x="548640" y="3904488"/>
            <a:ext cx="5422392" cy="2194560"/>
          </a:xfrm>
          <a:prstGeom prst="roundRect">
            <a:avLst>
              <a:gd name="adj" fmla="val 3333"/>
            </a:avLst>
          </a:prstGeom>
          <a:solidFill>
            <a:schemeClr val="bg2"/>
          </a:solidFill>
          <a:ln/>
        </p:spPr>
      </p:sp>
      <p:sp>
        <p:nvSpPr>
          <p:cNvPr id="15" name="Text 9"/>
          <p:cNvSpPr txBox="1"/>
          <p:nvPr/>
        </p:nvSpPr>
        <p:spPr>
          <a:xfrm>
            <a:off x="77724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Isolation Forest</a:t>
            </a:r>
            <a:endParaRPr lang="en-US" sz="1800" dirty="0"/>
          </a:p>
        </p:txBody>
      </p:sp>
      <p:pic>
        <p:nvPicPr>
          <p:cNvPr id="16" name="equation iforest.png" descr="equation">    </p:cNvPr>
          <p:cNvPicPr>
            <a:picLocks noChangeAspect="1"/>
          </p:cNvPicPr>
          <p:nvPr/>
        </p:nvPicPr>
        <p:blipFill>
          <a:blip r:embed="rId4"/>
          <a:stretch>
            <a:fillRect/>
          </a:stretch>
        </p:blipFill>
        <p:spPr>
          <a:xfrm>
            <a:off x="777240" y="4615193"/>
            <a:ext cx="4937760" cy="581125"/>
          </a:xfrm>
          <a:prstGeom prst="rect">
            <a:avLst/>
          </a:prstGeom>
        </p:spPr>
      </p:pic>
      <p:sp>
        <p:nvSpPr>
          <p:cNvPr id="17" name="Text 10"/>
          <p:cNvSpPr txBox="1"/>
          <p:nvPr/>
        </p:nvSpPr>
        <p:spPr>
          <a:xfrm>
            <a:off x="77724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Short average path → unusual contract</a:t>
            </a:r>
            <a:endParaRPr lang="en-US" sz="1400" dirty="0"/>
          </a:p>
        </p:txBody>
      </p:sp>
      <p:sp>
        <p:nvSpPr>
          <p:cNvPr id="18" name="card"/>
          <p:cNvSpPr/>
          <p:nvPr/>
        </p:nvSpPr>
        <p:spPr>
          <a:xfrm>
            <a:off x="6217920" y="3904488"/>
            <a:ext cx="5422392" cy="2194560"/>
          </a:xfrm>
          <a:prstGeom prst="roundRect">
            <a:avLst>
              <a:gd name="adj" fmla="val 3333"/>
            </a:avLst>
          </a:prstGeom>
          <a:solidFill>
            <a:schemeClr val="bg2"/>
          </a:solidFill>
          <a:ln/>
        </p:spPr>
      </p:sp>
      <p:sp>
        <p:nvSpPr>
          <p:cNvPr id="19" name="Text 12"/>
          <p:cNvSpPr txBox="1"/>
          <p:nvPr/>
        </p:nvSpPr>
        <p:spPr>
          <a:xfrm>
            <a:off x="644652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SHAP (Shapley values)</a:t>
            </a:r>
            <a:endParaRPr lang="en-US" sz="1800" dirty="0"/>
          </a:p>
        </p:txBody>
      </p:sp>
      <p:pic>
        <p:nvPicPr>
          <p:cNvPr id="20" name="equation shap.png" descr="equation">    </p:cNvPr>
          <p:cNvPicPr>
            <a:picLocks noChangeAspect="1"/>
          </p:cNvPicPr>
          <p:nvPr/>
        </p:nvPicPr>
        <p:blipFill>
          <a:blip r:embed="rId5"/>
          <a:stretch>
            <a:fillRect/>
          </a:stretch>
        </p:blipFill>
        <p:spPr>
          <a:xfrm>
            <a:off x="6446520" y="4568853"/>
            <a:ext cx="1836969" cy="673806"/>
          </a:xfrm>
          <a:prstGeom prst="rect">
            <a:avLst/>
          </a:prstGeom>
        </p:spPr>
      </p:pic>
      <p:sp>
        <p:nvSpPr>
          <p:cNvPr id="21" name="Text 13"/>
          <p:cNvSpPr txBox="1"/>
          <p:nvPr/>
        </p:nvSpPr>
        <p:spPr>
          <a:xfrm>
            <a:off x="644652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Exact TreeSHAP, also run on the phone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BUHAY-AH Risk Index</a:t>
            </a:r>
            <a:endParaRPr lang="en-US" sz="3200" dirty="0"/>
          </a:p>
        </p:txBody>
      </p:sp>
      <p:sp>
        <p:nvSpPr>
          <p:cNvPr id="5" name="card"/>
          <p:cNvSpPr/>
          <p:nvPr/>
        </p:nvSpPr>
        <p:spPr>
          <a:xfrm>
            <a:off x="548640" y="1508760"/>
            <a:ext cx="6766560" cy="4709160"/>
          </a:xfrm>
          <a:prstGeom prst="roundRect">
            <a:avLst>
              <a:gd name="adj" fmla="val 1553"/>
            </a:avLst>
          </a:prstGeom>
          <a:solidFill>
            <a:schemeClr val="bg2"/>
          </a:solidFill>
          <a:ln/>
        </p:spPr>
      </p:sp>
      <p:sp>
        <p:nvSpPr>
          <p:cNvPr id="6" name="Text 3"/>
          <p:cNvSpPr txBox="1"/>
          <p:nvPr/>
        </p:nvSpPr>
        <p:spPr>
          <a:xfrm>
            <a:off x="777240" y="1645920"/>
            <a:ext cx="6309360" cy="365760"/>
          </a:xfrm>
          <a:prstGeom prst="rect">
            <a:avLst/>
          </a:prstGeom>
          <a:noFill/>
          <a:ln/>
        </p:spPr>
        <p:txBody>
          <a:bodyPr wrap="square" lIns="0" tIns="0" rIns="0" bIns="0" rtlCol="0" anchor="t"/>
          <a:lstStyle/>
          <a:p>
            <a:pPr indent="0" marL="0">
              <a:buNone/>
            </a:pPr>
            <a:r>
              <a:rPr lang="en-US" sz="1600" b="1" dirty="0">
                <a:solidFill>
                  <a:schemeClr val="tx2"/>
                </a:solidFill>
              </a:rPr>
              <a:t>Over-budget ratio</a:t>
            </a:r>
            <a:endParaRPr lang="en-US" sz="1600" dirty="0"/>
          </a:p>
        </p:txBody>
      </p:sp>
      <p:pic>
        <p:nvPicPr>
          <p:cNvPr id="7" name="equation obr.png" descr="equation">    </p:cNvPr>
          <p:cNvPicPr>
            <a:picLocks noChangeAspect="1"/>
          </p:cNvPicPr>
          <p:nvPr/>
        </p:nvPicPr>
        <p:blipFill>
          <a:blip r:embed="rId1"/>
          <a:stretch>
            <a:fillRect/>
          </a:stretch>
        </p:blipFill>
        <p:spPr>
          <a:xfrm>
            <a:off x="777240" y="2101314"/>
            <a:ext cx="1558412" cy="643692"/>
          </a:xfrm>
          <a:prstGeom prst="rect">
            <a:avLst/>
          </a:prstGeom>
        </p:spPr>
      </p:pic>
      <p:sp>
        <p:nvSpPr>
          <p:cNvPr id="8" name="Text 4"/>
          <p:cNvSpPr txBox="1"/>
          <p:nvPr/>
        </p:nvSpPr>
        <p:spPr>
          <a:xfrm>
            <a:off x="777240" y="2971800"/>
            <a:ext cx="6309360" cy="365760"/>
          </a:xfrm>
          <a:prstGeom prst="rect">
            <a:avLst/>
          </a:prstGeom>
          <a:noFill/>
          <a:ln/>
        </p:spPr>
        <p:txBody>
          <a:bodyPr wrap="square" lIns="0" tIns="0" rIns="0" bIns="0" rtlCol="0" anchor="t"/>
          <a:lstStyle/>
          <a:p>
            <a:pPr indent="0" marL="0">
              <a:buNone/>
            </a:pPr>
            <a:r>
              <a:rPr lang="en-US" sz="1600" b="1" dirty="0">
                <a:solidFill>
                  <a:schemeClr val="tx2"/>
                </a:solidFill>
              </a:rPr>
              <a:t>Risk index and signal scaling</a:t>
            </a:r>
            <a:endParaRPr lang="en-US" sz="1600" dirty="0"/>
          </a:p>
        </p:txBody>
      </p:sp>
      <p:pic>
        <p:nvPicPr>
          <p:cNvPr id="9" name="equation bri.png" descr="equation">    </p:cNvPr>
          <p:cNvPicPr>
            <a:picLocks noChangeAspect="1"/>
          </p:cNvPicPr>
          <p:nvPr/>
        </p:nvPicPr>
        <p:blipFill>
          <a:blip r:embed="rId2"/>
          <a:stretch>
            <a:fillRect/>
          </a:stretch>
        </p:blipFill>
        <p:spPr>
          <a:xfrm>
            <a:off x="777240" y="3562708"/>
            <a:ext cx="4114358" cy="372664"/>
          </a:xfrm>
          <a:prstGeom prst="rect">
            <a:avLst/>
          </a:prstGeom>
        </p:spPr>
      </p:pic>
      <p:pic>
        <p:nvPicPr>
          <p:cNvPr id="10" name="equation bri_s.png" descr="equation">    </p:cNvPr>
          <p:cNvPicPr>
            <a:picLocks noChangeAspect="1"/>
          </p:cNvPicPr>
          <p:nvPr/>
        </p:nvPicPr>
        <p:blipFill>
          <a:blip r:embed="rId3"/>
          <a:stretch>
            <a:fillRect/>
          </a:stretch>
        </p:blipFill>
        <p:spPr>
          <a:xfrm>
            <a:off x="777240" y="4250703"/>
            <a:ext cx="6188476" cy="734035"/>
          </a:xfrm>
          <a:prstGeom prst="rect">
            <a:avLst/>
          </a:prstGeom>
        </p:spPr>
      </p:pic>
      <p:sp>
        <p:nvSpPr>
          <p:cNvPr id="11" name="Text 5"/>
          <p:cNvSpPr txBox="1"/>
          <p:nvPr/>
        </p:nvSpPr>
        <p:spPr>
          <a:xfrm>
            <a:off x="777240" y="5257800"/>
            <a:ext cx="6309360" cy="731520"/>
          </a:xfrm>
          <a:prstGeom prst="rect">
            <a:avLst/>
          </a:prstGeom>
          <a:noFill/>
          <a:ln/>
        </p:spPr>
        <p:txBody>
          <a:bodyPr wrap="square" lIns="0" tIns="0" rIns="0" bIns="0" rtlCol="0" anchor="t"/>
          <a:lstStyle/>
          <a:p>
            <a:pPr indent="0" marL="0">
              <a:buNone/>
            </a:pPr>
            <a:r>
              <a:rPr lang="en-US" sz="1400" dirty="0">
                <a:solidFill>
                  <a:srgbClr val="44505E"/>
                </a:solidFill>
              </a:rPr>
              <a:t>Each signal is clipped to [0, 1]; the over-budget signal does not inherit padding from past prices.</a:t>
            </a:r>
            <a:endParaRPr lang="en-US" sz="1400" dirty="0"/>
          </a:p>
        </p:txBody>
      </p:sp>
      <p:sp>
        <p:nvSpPr>
          <p:cNvPr id="12" name="BRI band Fair"/>
          <p:cNvSpPr/>
          <p:nvPr/>
        </p:nvSpPr>
        <p:spPr>
          <a:xfrm>
            <a:off x="7543800" y="1508760"/>
            <a:ext cx="4096512" cy="1371600"/>
          </a:xfrm>
          <a:prstGeom prst="roundRect">
            <a:avLst>
              <a:gd name="adj" fmla="val 5333"/>
            </a:avLst>
          </a:prstGeom>
          <a:solidFill>
            <a:schemeClr val="accent3"/>
          </a:solidFill>
          <a:ln/>
        </p:spPr>
      </p:sp>
      <p:sp>
        <p:nvSpPr>
          <p:cNvPr id="13" name="Text 7"/>
          <p:cNvSpPr txBox="1"/>
          <p:nvPr/>
        </p:nvSpPr>
        <p:spPr>
          <a:xfrm>
            <a:off x="7772400" y="16459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0 – 20</a:t>
            </a:r>
            <a:endParaRPr lang="en-US" sz="2400" dirty="0"/>
          </a:p>
        </p:txBody>
      </p:sp>
      <p:sp>
        <p:nvSpPr>
          <p:cNvPr id="14" name="Text 8"/>
          <p:cNvSpPr txBox="1"/>
          <p:nvPr/>
        </p:nvSpPr>
        <p:spPr>
          <a:xfrm>
            <a:off x="7772400" y="2221992"/>
            <a:ext cx="3657600" cy="548640"/>
          </a:xfrm>
          <a:prstGeom prst="rect">
            <a:avLst/>
          </a:prstGeom>
          <a:noFill/>
          <a:ln/>
        </p:spPr>
        <p:txBody>
          <a:bodyPr wrap="square" lIns="0" tIns="0" rIns="0" bIns="0" rtlCol="0" anchor="t"/>
          <a:lstStyle/>
          <a:p>
            <a:pPr indent="0" marL="0">
              <a:buNone/>
            </a:pPr>
            <a:r>
              <a:rPr lang="en-US" sz="1500" dirty="0">
                <a:solidFill>
                  <a:srgbClr val="FFFFFF"/>
                </a:solidFill>
              </a:rPr>
              <a:t>Fair</a:t>
            </a:r>
            <a:endParaRPr lang="en-US" sz="1500" dirty="0"/>
          </a:p>
        </p:txBody>
      </p:sp>
      <p:sp>
        <p:nvSpPr>
          <p:cNvPr id="15" name="BRI band Review"/>
          <p:cNvSpPr/>
          <p:nvPr/>
        </p:nvSpPr>
        <p:spPr>
          <a:xfrm>
            <a:off x="7543800" y="3108960"/>
            <a:ext cx="4096512" cy="1371600"/>
          </a:xfrm>
          <a:prstGeom prst="roundRect">
            <a:avLst>
              <a:gd name="adj" fmla="val 5333"/>
            </a:avLst>
          </a:prstGeom>
          <a:solidFill>
            <a:schemeClr val="accent1"/>
          </a:solidFill>
          <a:ln/>
        </p:spPr>
      </p:sp>
      <p:sp>
        <p:nvSpPr>
          <p:cNvPr id="16" name="Text 10"/>
          <p:cNvSpPr txBox="1"/>
          <p:nvPr/>
        </p:nvSpPr>
        <p:spPr>
          <a:xfrm>
            <a:off x="7772400" y="3246120"/>
            <a:ext cx="3657600" cy="548640"/>
          </a:xfrm>
          <a:prstGeom prst="rect">
            <a:avLst/>
          </a:prstGeom>
          <a:noFill/>
          <a:ln/>
        </p:spPr>
        <p:txBody>
          <a:bodyPr wrap="square" lIns="0" tIns="0" rIns="0" bIns="0" rtlCol="0" anchor="t"/>
          <a:lstStyle/>
          <a:p>
            <a:pPr indent="0" marL="0">
              <a:buNone/>
            </a:pPr>
            <a:r>
              <a:rPr lang="en-US" sz="2400" b="1" dirty="0">
                <a:solidFill>
                  <a:srgbClr val="14202E"/>
                </a:solidFill>
                <a:latin typeface="Cambria" pitchFamily="34" charset="0"/>
                <a:ea typeface="Cambria" pitchFamily="34" charset="-122"/>
                <a:cs typeface="Cambria" pitchFamily="34" charset="-120"/>
              </a:rPr>
              <a:t>BRI 20 – 30</a:t>
            </a:r>
            <a:endParaRPr lang="en-US" sz="2400" dirty="0"/>
          </a:p>
        </p:txBody>
      </p:sp>
      <p:sp>
        <p:nvSpPr>
          <p:cNvPr id="17" name="Text 11"/>
          <p:cNvSpPr txBox="1"/>
          <p:nvPr/>
        </p:nvSpPr>
        <p:spPr>
          <a:xfrm>
            <a:off x="7772400" y="3822192"/>
            <a:ext cx="3657600" cy="548640"/>
          </a:xfrm>
          <a:prstGeom prst="rect">
            <a:avLst/>
          </a:prstGeom>
          <a:noFill/>
          <a:ln/>
        </p:spPr>
        <p:txBody>
          <a:bodyPr wrap="square" lIns="0" tIns="0" rIns="0" bIns="0" rtlCol="0" anchor="t"/>
          <a:lstStyle/>
          <a:p>
            <a:pPr indent="0" marL="0">
              <a:buNone/>
            </a:pPr>
            <a:r>
              <a:rPr lang="en-US" sz="1500" dirty="0">
                <a:solidFill>
                  <a:srgbClr val="14202E"/>
                </a:solidFill>
              </a:rPr>
              <a:t>Review</a:t>
            </a:r>
            <a:endParaRPr lang="en-US" sz="1500" dirty="0"/>
          </a:p>
        </p:txBody>
      </p:sp>
      <p:sp>
        <p:nvSpPr>
          <p:cNvPr id="18" name="BRI band Flag for review by COA, Ombudsman, ICI"/>
          <p:cNvSpPr/>
          <p:nvPr/>
        </p:nvSpPr>
        <p:spPr>
          <a:xfrm>
            <a:off x="7543800" y="4709160"/>
            <a:ext cx="4096512" cy="1371600"/>
          </a:xfrm>
          <a:prstGeom prst="roundRect">
            <a:avLst>
              <a:gd name="adj" fmla="val 5333"/>
            </a:avLst>
          </a:prstGeom>
          <a:solidFill>
            <a:schemeClr val="accent2"/>
          </a:solidFill>
          <a:ln/>
        </p:spPr>
      </p:sp>
      <p:sp>
        <p:nvSpPr>
          <p:cNvPr id="19" name="Text 13"/>
          <p:cNvSpPr txBox="1"/>
          <p:nvPr/>
        </p:nvSpPr>
        <p:spPr>
          <a:xfrm>
            <a:off x="7772400" y="48463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30 – 100</a:t>
            </a:r>
            <a:endParaRPr lang="en-US" sz="2400" dirty="0"/>
          </a:p>
        </p:txBody>
      </p:sp>
      <p:sp>
        <p:nvSpPr>
          <p:cNvPr id="20" name="Text 14"/>
          <p:cNvSpPr txBox="1"/>
          <p:nvPr/>
        </p:nvSpPr>
        <p:spPr>
          <a:xfrm>
            <a:off x="7772400" y="5422392"/>
            <a:ext cx="3657600" cy="548640"/>
          </a:xfrm>
          <a:prstGeom prst="rect">
            <a:avLst/>
          </a:prstGeom>
          <a:noFill/>
          <a:ln/>
        </p:spPr>
        <p:txBody>
          <a:bodyPr wrap="square" lIns="0" tIns="0" rIns="0" bIns="0" rtlCol="0" anchor="t"/>
          <a:lstStyle/>
          <a:p>
            <a:pPr indent="0" marL="0">
              <a:buNone/>
            </a:pPr>
            <a:r>
              <a:rPr lang="en-US" sz="1500" dirty="0">
                <a:solidFill>
                  <a:srgbClr val="FFFFFF"/>
                </a:solidFill>
              </a:rPr>
              <a:t>Flag for review by COA, Ombudsman, ICI</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 AND STATISTICAL TREATMENT</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Validation and Metrics</a:t>
            </a:r>
            <a:endParaRPr lang="en-US" sz="3200" dirty="0"/>
          </a:p>
        </p:txBody>
      </p:sp>
      <p:sp>
        <p:nvSpPr>
          <p:cNvPr id="5" name="card"/>
          <p:cNvSpPr/>
          <p:nvPr/>
        </p:nvSpPr>
        <p:spPr>
          <a:xfrm>
            <a:off x="548640" y="1508760"/>
            <a:ext cx="11091672" cy="914400"/>
          </a:xfrm>
          <a:prstGeom prst="roundRect">
            <a:avLst>
              <a:gd name="adj" fmla="val 8000"/>
            </a:avLst>
          </a:prstGeom>
          <a:solidFill>
            <a:schemeClr val="bg2"/>
          </a:solidFill>
          <a:ln/>
        </p:spPr>
      </p:sp>
      <p:sp>
        <p:nvSpPr>
          <p:cNvPr id="6" name="icon circle"/>
          <p:cNvSpPr/>
          <p:nvPr/>
        </p:nvSpPr>
        <p:spPr>
          <a:xfrm>
            <a:off x="731520" y="1645920"/>
            <a:ext cx="640080" cy="640080"/>
          </a:xfrm>
          <a:prstGeom prst="ellipse">
            <a:avLst/>
          </a:prstGeom>
          <a:solidFill>
            <a:schemeClr val="tx2"/>
          </a:solidFill>
          <a:ln/>
        </p:spPr>
      </p:sp>
      <p:pic>
        <p:nvPicPr>
          <p:cNvPr id="7" name="icon FaArrowsRotate" descr="ArrowsRotate icon">    </p:cNvPr>
          <p:cNvPicPr>
            <a:picLocks noChangeAspect="1"/>
          </p:cNvPicPr>
          <p:nvPr/>
        </p:nvPicPr>
        <p:blipFill>
          <a:blip r:embed="rId1"/>
          <a:stretch>
            <a:fillRect/>
          </a:stretch>
        </p:blipFill>
        <p:spPr>
          <a:xfrm>
            <a:off x="885139" y="1799539"/>
            <a:ext cx="332842" cy="332842"/>
          </a:xfrm>
          <a:prstGeom prst="rect">
            <a:avLst/>
          </a:prstGeom>
        </p:spPr>
      </p:pic>
      <p:sp>
        <p:nvSpPr>
          <p:cNvPr id="8" name="Text 4"/>
          <p:cNvSpPr txBox="1"/>
          <p:nvPr/>
        </p:nvSpPr>
        <p:spPr>
          <a:xfrm>
            <a:off x="1554480" y="1508760"/>
            <a:ext cx="9966960" cy="914400"/>
          </a:xfrm>
          <a:prstGeom prst="rect">
            <a:avLst/>
          </a:prstGeom>
          <a:noFill/>
          <a:ln/>
        </p:spPr>
        <p:txBody>
          <a:bodyPr wrap="square" lIns="0" tIns="0" rIns="0" bIns="0" rtlCol="0" anchor="ctr"/>
          <a:lstStyle/>
          <a:p>
            <a:pPr indent="0" marL="0">
              <a:buNone/>
            </a:pPr>
            <a:r>
              <a:rPr lang="en-US" sz="1500" b="1" dirty="0">
                <a:solidFill>
                  <a:schemeClr val="tx1"/>
                </a:solidFill>
              </a:rPr>
              <a:t>Leave-one-out cross-validation: </a:t>
            </a:r>
            <a:pPr indent="0" marL="0">
              <a:buNone/>
            </a:pPr>
            <a:r>
              <a:rPr lang="en-US" sz="1500" dirty="0">
                <a:solidFill>
                  <a:schemeClr val="tx1"/>
                </a:solidFill>
              </a:rPr>
              <a:t>Each of the 300 projects is predicted by a model that never saw it; honest error on a small sample.</a:t>
            </a:r>
            <a:endParaRPr lang="en-US" sz="1500" dirty="0"/>
          </a:p>
        </p:txBody>
      </p:sp>
      <p:sp>
        <p:nvSpPr>
          <p:cNvPr id="9" name="card"/>
          <p:cNvSpPr/>
          <p:nvPr/>
        </p:nvSpPr>
        <p:spPr>
          <a:xfrm>
            <a:off x="548640" y="2606040"/>
            <a:ext cx="11091672" cy="1691640"/>
          </a:xfrm>
          <a:prstGeom prst="roundRect">
            <a:avLst>
              <a:gd name="adj" fmla="val 4324"/>
            </a:avLst>
          </a:prstGeom>
          <a:solidFill>
            <a:schemeClr val="bg2"/>
          </a:solidFill>
          <a:ln/>
        </p:spPr>
      </p:sp>
      <p:sp>
        <p:nvSpPr>
          <p:cNvPr id="10" name="Text 6"/>
          <p:cNvSpPr txBox="1"/>
          <p:nvPr/>
        </p:nvSpPr>
        <p:spPr>
          <a:xfrm>
            <a:off x="777240" y="2697480"/>
            <a:ext cx="10607040" cy="411480"/>
          </a:xfrm>
          <a:prstGeom prst="rect">
            <a:avLst/>
          </a:prstGeom>
          <a:noFill/>
          <a:ln/>
        </p:spPr>
        <p:txBody>
          <a:bodyPr wrap="square" lIns="0" tIns="0" rIns="0" bIns="0" rtlCol="0" anchor="t"/>
          <a:lstStyle/>
          <a:p>
            <a:pPr indent="0" marL="0">
              <a:buNone/>
            </a:pPr>
            <a:r>
              <a:rPr lang="en-US" sz="1500" b="1" dirty="0">
                <a:solidFill>
                  <a:schemeClr val="tx1"/>
                </a:solidFill>
              </a:rPr>
              <a:t>Cost prediction: </a:t>
            </a:r>
            <a:pPr indent="0" marL="0">
              <a:buNone/>
            </a:pPr>
            <a:r>
              <a:rPr lang="en-US" sz="1500" dirty="0">
                <a:solidFill>
                  <a:schemeClr val="tx1"/>
                </a:solidFill>
              </a:rPr>
              <a:t>Typical error in pesos, share of variance explained, and error as a percentage of each project’s cost.</a:t>
            </a:r>
            <a:endParaRPr lang="en-US" sz="1500" dirty="0"/>
          </a:p>
        </p:txBody>
      </p:sp>
      <p:pic>
        <p:nvPicPr>
          <p:cNvPr id="11" name="equation rmse.png" descr="equation">    </p:cNvPr>
          <p:cNvPicPr>
            <a:picLocks noChangeAspect="1"/>
          </p:cNvPicPr>
          <p:nvPr/>
        </p:nvPicPr>
        <p:blipFill>
          <a:blip r:embed="rId2"/>
          <a:stretch>
            <a:fillRect/>
          </a:stretch>
        </p:blipFill>
        <p:spPr>
          <a:xfrm>
            <a:off x="777240" y="3290583"/>
            <a:ext cx="2552182" cy="734035"/>
          </a:xfrm>
          <a:prstGeom prst="rect">
            <a:avLst/>
          </a:prstGeom>
        </p:spPr>
      </p:pic>
      <p:pic>
        <p:nvPicPr>
          <p:cNvPr id="12" name="equation r2.png" descr="equation">    </p:cNvPr>
          <p:cNvPicPr>
            <a:picLocks noChangeAspect="1"/>
          </p:cNvPicPr>
          <p:nvPr/>
        </p:nvPicPr>
        <p:blipFill>
          <a:blip r:embed="rId3"/>
          <a:stretch>
            <a:fillRect/>
          </a:stretch>
        </p:blipFill>
        <p:spPr>
          <a:xfrm>
            <a:off x="4434840" y="3154680"/>
            <a:ext cx="2032711" cy="1042706"/>
          </a:xfrm>
          <a:prstGeom prst="rect">
            <a:avLst/>
          </a:prstGeom>
        </p:spPr>
      </p:pic>
      <p:pic>
        <p:nvPicPr>
          <p:cNvPr id="13" name="equation mape.png" descr="equation">    </p:cNvPr>
          <p:cNvPicPr>
            <a:picLocks noChangeAspect="1"/>
          </p:cNvPicPr>
          <p:nvPr/>
        </p:nvPicPr>
        <p:blipFill>
          <a:blip r:embed="rId4"/>
          <a:stretch>
            <a:fillRect/>
          </a:stretch>
        </p:blipFill>
        <p:spPr>
          <a:xfrm>
            <a:off x="7726680" y="3322579"/>
            <a:ext cx="2808153" cy="670042"/>
          </a:xfrm>
          <a:prstGeom prst="rect">
            <a:avLst/>
          </a:prstGeom>
        </p:spPr>
      </p:pic>
      <p:sp>
        <p:nvSpPr>
          <p:cNvPr id="14" name="card"/>
          <p:cNvSpPr/>
          <p:nvPr/>
        </p:nvSpPr>
        <p:spPr>
          <a:xfrm>
            <a:off x="548640" y="4480560"/>
            <a:ext cx="6583680" cy="1737360"/>
          </a:xfrm>
          <a:prstGeom prst="roundRect">
            <a:avLst>
              <a:gd name="adj" fmla="val 4211"/>
            </a:avLst>
          </a:prstGeom>
          <a:solidFill>
            <a:schemeClr val="bg2"/>
          </a:solidFill>
          <a:ln/>
        </p:spPr>
      </p:sp>
      <p:sp>
        <p:nvSpPr>
          <p:cNvPr id="15" name="Text 8"/>
          <p:cNvSpPr txBox="1"/>
          <p:nvPr/>
        </p:nvSpPr>
        <p:spPr>
          <a:xfrm>
            <a:off x="777240" y="4572000"/>
            <a:ext cx="6217920" cy="457200"/>
          </a:xfrm>
          <a:prstGeom prst="rect">
            <a:avLst/>
          </a:prstGeom>
          <a:noFill/>
          <a:ln/>
        </p:spPr>
        <p:txBody>
          <a:bodyPr wrap="square" lIns="0" tIns="0" rIns="0" bIns="0" rtlCol="0" anchor="t"/>
          <a:lstStyle/>
          <a:p>
            <a:pPr indent="0" marL="0">
              <a:buNone/>
            </a:pPr>
            <a:r>
              <a:rPr lang="en-US" sz="1500" b="1" dirty="0">
                <a:solidFill>
                  <a:schemeClr val="tx1"/>
                </a:solidFill>
              </a:rPr>
              <a:t>Detection: </a:t>
            </a:r>
            <a:pPr indent="0" marL="0">
              <a:buNone/>
            </a:pPr>
            <a:r>
              <a:rPr lang="en-US" sz="1500" dirty="0">
                <a:solidFill>
                  <a:schemeClr val="tx1"/>
                </a:solidFill>
              </a:rPr>
              <a:t>Against the 36 injected cases; threshold-free ROC AUC.</a:t>
            </a:r>
            <a:endParaRPr lang="en-US" sz="1500" dirty="0"/>
          </a:p>
        </p:txBody>
      </p:sp>
      <p:pic>
        <p:nvPicPr>
          <p:cNvPr id="16" name="equation prf.png" descr="equation">    </p:cNvPr>
          <p:cNvPicPr>
            <a:picLocks noChangeAspect="1"/>
          </p:cNvPicPr>
          <p:nvPr/>
        </p:nvPicPr>
        <p:blipFill>
          <a:blip r:embed="rId5"/>
          <a:stretch>
            <a:fillRect/>
          </a:stretch>
        </p:blipFill>
        <p:spPr>
          <a:xfrm>
            <a:off x="777240" y="5248191"/>
            <a:ext cx="4814514" cy="613578"/>
          </a:xfrm>
          <a:prstGeom prst="rect">
            <a:avLst/>
          </a:prstGeom>
        </p:spPr>
      </p:pic>
      <p:sp>
        <p:nvSpPr>
          <p:cNvPr id="17" name="card"/>
          <p:cNvSpPr/>
          <p:nvPr/>
        </p:nvSpPr>
        <p:spPr>
          <a:xfrm>
            <a:off x="7360920" y="4480560"/>
            <a:ext cx="4279392" cy="1737360"/>
          </a:xfrm>
          <a:prstGeom prst="roundRect">
            <a:avLst>
              <a:gd name="adj" fmla="val 4211"/>
            </a:avLst>
          </a:prstGeom>
          <a:solidFill>
            <a:schemeClr val="bg2"/>
          </a:solidFill>
          <a:ln/>
        </p:spPr>
      </p:sp>
      <p:sp>
        <p:nvSpPr>
          <p:cNvPr id="18" name="Text 10"/>
          <p:cNvSpPr txBox="1"/>
          <p:nvPr/>
        </p:nvSpPr>
        <p:spPr>
          <a:xfrm>
            <a:off x="7589520" y="4572000"/>
            <a:ext cx="3840480" cy="1554480"/>
          </a:xfrm>
          <a:prstGeom prst="rect">
            <a:avLst/>
          </a:prstGeom>
          <a:noFill/>
          <a:ln/>
        </p:spPr>
        <p:txBody>
          <a:bodyPr wrap="square" lIns="0" tIns="0" rIns="0" bIns="0" rtlCol="0" anchor="t"/>
          <a:lstStyle/>
          <a:p>
            <a:pPr indent="0" marL="0">
              <a:buNone/>
            </a:pPr>
            <a:r>
              <a:rPr lang="en-US" sz="1500" b="1" dirty="0">
                <a:solidFill>
                  <a:schemeClr val="tx1"/>
                </a:solidFill>
              </a:rPr>
              <a:t>Design generation: </a:t>
            </a:r>
            <a:pPr indent="0" marL="0">
              <a:buNone/>
            </a:pPr>
            <a:r>
              <a:rPr lang="en-US" sz="1500" dirty="0">
                <a:solidFill>
                  <a:schemeClr val="tx1"/>
                </a:solidFill>
              </a:rPr>
              <a:t>Space-standard checks passed; budget used; search time in milliseconds.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App and Website Development</a:t>
            </a:r>
            <a:endParaRPr lang="en-US" sz="3200" dirty="0"/>
          </a:p>
        </p:txBody>
      </p:sp>
      <p:pic>
        <p:nvPicPr>
          <p:cNvPr id="5" name="diagram_architecture.png" descr="System architecture">    </p:cNvPr>
          <p:cNvPicPr>
            <a:picLocks noChangeAspect="1"/>
          </p:cNvPicPr>
          <p:nvPr/>
        </p:nvPicPr>
        <p:blipFill>
          <a:blip r:embed="rId1"/>
          <a:stretch>
            <a:fillRect/>
          </a:stretch>
        </p:blipFill>
        <p:spPr>
          <a:xfrm>
            <a:off x="548640" y="1483291"/>
            <a:ext cx="11091672" cy="2656977"/>
          </a:xfrm>
          <a:prstGeom prst="rect">
            <a:avLst/>
          </a:prstGeom>
        </p:spPr>
      </p:pic>
      <p:sp>
        <p:nvSpPr>
          <p:cNvPr id="6" name="card"/>
          <p:cNvSpPr/>
          <p:nvPr/>
        </p:nvSpPr>
        <p:spPr>
          <a:xfrm>
            <a:off x="548640" y="4343400"/>
            <a:ext cx="2606040" cy="1874520"/>
          </a:xfrm>
          <a:prstGeom prst="roundRect">
            <a:avLst>
              <a:gd name="adj" fmla="val 3902"/>
            </a:avLst>
          </a:prstGeom>
          <a:solidFill>
            <a:schemeClr val="bg2"/>
          </a:solidFill>
          <a:ln/>
        </p:spPr>
      </p:sp>
      <p:sp>
        <p:nvSpPr>
          <p:cNvPr id="7" name="icon circle"/>
          <p:cNvSpPr/>
          <p:nvPr/>
        </p:nvSpPr>
        <p:spPr>
          <a:xfrm>
            <a:off x="749808" y="4526280"/>
            <a:ext cx="594360" cy="594360"/>
          </a:xfrm>
          <a:prstGeom prst="ellipse">
            <a:avLst/>
          </a:prstGeom>
          <a:solidFill>
            <a:schemeClr val="tx2"/>
          </a:solidFill>
          <a:ln/>
        </p:spPr>
      </p:sp>
      <p:pic>
        <p:nvPicPr>
          <p:cNvPr id="8" name="icon FaPython" descr="Python icon">    </p:cNvPr>
          <p:cNvPicPr>
            <a:picLocks noChangeAspect="1"/>
          </p:cNvPicPr>
          <p:nvPr/>
        </p:nvPicPr>
        <p:blipFill>
          <a:blip r:embed="rId2"/>
          <a:stretch>
            <a:fillRect/>
          </a:stretch>
        </p:blipFill>
        <p:spPr>
          <a:xfrm>
            <a:off x="892454" y="4668926"/>
            <a:ext cx="309067" cy="309067"/>
          </a:xfrm>
          <a:prstGeom prst="rect">
            <a:avLst/>
          </a:prstGeom>
        </p:spPr>
      </p:pic>
      <p:sp>
        <p:nvSpPr>
          <p:cNvPr id="9" name="Text 4"/>
          <p:cNvSpPr txBox="1"/>
          <p:nvPr/>
        </p:nvSpPr>
        <p:spPr>
          <a:xfrm>
            <a:off x="146304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Python research pipeline</a:t>
            </a:r>
            <a:endParaRPr lang="en-US" sz="1500" dirty="0"/>
          </a:p>
        </p:txBody>
      </p:sp>
      <p:sp>
        <p:nvSpPr>
          <p:cNvPr id="10" name="Text 5"/>
          <p:cNvSpPr txBox="1"/>
          <p:nvPr/>
        </p:nvSpPr>
        <p:spPr>
          <a:xfrm>
            <a:off x="74980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NumPy, scikit-learn, statsmodels, XGBoost, SHAP</a:t>
            </a:r>
            <a:endParaRPr lang="en-US" sz="1350" dirty="0"/>
          </a:p>
        </p:txBody>
      </p:sp>
      <p:sp>
        <p:nvSpPr>
          <p:cNvPr id="11" name="card"/>
          <p:cNvSpPr/>
          <p:nvPr/>
        </p:nvSpPr>
        <p:spPr>
          <a:xfrm>
            <a:off x="3383280" y="4343400"/>
            <a:ext cx="2606040" cy="1874520"/>
          </a:xfrm>
          <a:prstGeom prst="roundRect">
            <a:avLst>
              <a:gd name="adj" fmla="val 3902"/>
            </a:avLst>
          </a:prstGeom>
          <a:solidFill>
            <a:schemeClr val="bg2"/>
          </a:solidFill>
          <a:ln/>
        </p:spPr>
      </p:sp>
      <p:sp>
        <p:nvSpPr>
          <p:cNvPr id="12" name="icon circle"/>
          <p:cNvSpPr/>
          <p:nvPr/>
        </p:nvSpPr>
        <p:spPr>
          <a:xfrm>
            <a:off x="3584448" y="4526280"/>
            <a:ext cx="594360" cy="594360"/>
          </a:xfrm>
          <a:prstGeom prst="ellipse">
            <a:avLst/>
          </a:prstGeom>
          <a:solidFill>
            <a:schemeClr val="tx2"/>
          </a:solidFill>
          <a:ln/>
        </p:spPr>
      </p:sp>
      <p:pic>
        <p:nvPicPr>
          <p:cNvPr id="13" name="icon FaJs" descr="Js icon">    </p:cNvPr>
          <p:cNvPicPr>
            <a:picLocks noChangeAspect="1"/>
          </p:cNvPicPr>
          <p:nvPr/>
        </p:nvPicPr>
        <p:blipFill>
          <a:blip r:embed="rId3"/>
          <a:stretch>
            <a:fillRect/>
          </a:stretch>
        </p:blipFill>
        <p:spPr>
          <a:xfrm>
            <a:off x="3727094" y="4668926"/>
            <a:ext cx="309067" cy="309067"/>
          </a:xfrm>
          <a:prstGeom prst="rect">
            <a:avLst/>
          </a:prstGeom>
        </p:spPr>
      </p:pic>
      <p:sp>
        <p:nvSpPr>
          <p:cNvPr id="14" name="Text 8"/>
          <p:cNvSpPr txBox="1"/>
          <p:nvPr/>
        </p:nvSpPr>
        <p:spPr>
          <a:xfrm>
            <a:off x="429768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One JavaScript engine</a:t>
            </a:r>
            <a:endParaRPr lang="en-US" sz="1500" dirty="0"/>
          </a:p>
        </p:txBody>
      </p:sp>
      <p:sp>
        <p:nvSpPr>
          <p:cNvPr id="15" name="Text 9"/>
          <p:cNvSpPr txBox="1"/>
          <p:nvPr/>
        </p:nvSpPr>
        <p:spPr>
          <a:xfrm>
            <a:off x="358444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Same take-off and models in app, site and paper</a:t>
            </a:r>
            <a:endParaRPr lang="en-US" sz="1350" dirty="0"/>
          </a:p>
        </p:txBody>
      </p:sp>
      <p:sp>
        <p:nvSpPr>
          <p:cNvPr id="16" name="card"/>
          <p:cNvSpPr/>
          <p:nvPr/>
        </p:nvSpPr>
        <p:spPr>
          <a:xfrm>
            <a:off x="6217920" y="4343400"/>
            <a:ext cx="2606040" cy="1874520"/>
          </a:xfrm>
          <a:prstGeom prst="roundRect">
            <a:avLst>
              <a:gd name="adj" fmla="val 3902"/>
            </a:avLst>
          </a:prstGeom>
          <a:solidFill>
            <a:schemeClr val="bg2"/>
          </a:solidFill>
          <a:ln/>
        </p:spPr>
      </p:sp>
      <p:sp>
        <p:nvSpPr>
          <p:cNvPr id="17" name="icon circle"/>
          <p:cNvSpPr/>
          <p:nvPr/>
        </p:nvSpPr>
        <p:spPr>
          <a:xfrm>
            <a:off x="6419088" y="4526280"/>
            <a:ext cx="594360" cy="594360"/>
          </a:xfrm>
          <a:prstGeom prst="ellipse">
            <a:avLst/>
          </a:prstGeom>
          <a:solidFill>
            <a:schemeClr val="tx2"/>
          </a:solidFill>
          <a:ln/>
        </p:spPr>
      </p:sp>
      <p:pic>
        <p:nvPicPr>
          <p:cNvPr id="18" name="icon FaAndroid" descr="Android icon">    </p:cNvPr>
          <p:cNvPicPr>
            <a:picLocks noChangeAspect="1"/>
          </p:cNvPicPr>
          <p:nvPr/>
        </p:nvPicPr>
        <p:blipFill>
          <a:blip r:embed="rId4"/>
          <a:stretch>
            <a:fillRect/>
          </a:stretch>
        </p:blipFill>
        <p:spPr>
          <a:xfrm>
            <a:off x="6561734" y="4668926"/>
            <a:ext cx="309067" cy="309067"/>
          </a:xfrm>
          <a:prstGeom prst="rect">
            <a:avLst/>
          </a:prstGeom>
        </p:spPr>
      </p:pic>
      <p:sp>
        <p:nvSpPr>
          <p:cNvPr id="19" name="Text 12"/>
          <p:cNvSpPr txBox="1"/>
          <p:nvPr/>
        </p:nvSpPr>
        <p:spPr>
          <a:xfrm>
            <a:off x="713232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Android + offline</a:t>
            </a:r>
            <a:endParaRPr lang="en-US" sz="1500" dirty="0"/>
          </a:p>
        </p:txBody>
      </p:sp>
      <p:sp>
        <p:nvSpPr>
          <p:cNvPr id="20" name="Text 13"/>
          <p:cNvSpPr txBox="1"/>
          <p:nvPr/>
        </p:nvSpPr>
        <p:spPr>
          <a:xfrm>
            <a:off x="641908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PWA, Capacitor APK, offline ZIP</a:t>
            </a:r>
            <a:endParaRPr lang="en-US" sz="1350" dirty="0"/>
          </a:p>
        </p:txBody>
      </p:sp>
      <p:sp>
        <p:nvSpPr>
          <p:cNvPr id="21" name="card"/>
          <p:cNvSpPr/>
          <p:nvPr/>
        </p:nvSpPr>
        <p:spPr>
          <a:xfrm>
            <a:off x="9052560" y="4343400"/>
            <a:ext cx="2606040" cy="1874520"/>
          </a:xfrm>
          <a:prstGeom prst="roundRect">
            <a:avLst>
              <a:gd name="adj" fmla="val 3902"/>
            </a:avLst>
          </a:prstGeom>
          <a:solidFill>
            <a:schemeClr val="bg2"/>
          </a:solidFill>
          <a:ln/>
        </p:spPr>
      </p:sp>
      <p:sp>
        <p:nvSpPr>
          <p:cNvPr id="22" name="icon circle"/>
          <p:cNvSpPr/>
          <p:nvPr/>
        </p:nvSpPr>
        <p:spPr>
          <a:xfrm>
            <a:off x="9253728" y="4526280"/>
            <a:ext cx="594360" cy="594360"/>
          </a:xfrm>
          <a:prstGeom prst="ellipse">
            <a:avLst/>
          </a:prstGeom>
          <a:solidFill>
            <a:schemeClr val="tx2"/>
          </a:solidFill>
          <a:ln/>
        </p:spPr>
      </p:sp>
      <p:pic>
        <p:nvPicPr>
          <p:cNvPr id="23" name="icon FaCode" descr="Code icon">    </p:cNvPr>
          <p:cNvPicPr>
            <a:picLocks noChangeAspect="1"/>
          </p:cNvPicPr>
          <p:nvPr/>
        </p:nvPicPr>
        <p:blipFill>
          <a:blip r:embed="rId5"/>
          <a:stretch>
            <a:fillRect/>
          </a:stretch>
        </p:blipFill>
        <p:spPr>
          <a:xfrm>
            <a:off x="9396374" y="4668926"/>
            <a:ext cx="309067" cy="309067"/>
          </a:xfrm>
          <a:prstGeom prst="rect">
            <a:avLst/>
          </a:prstGeom>
        </p:spPr>
      </p:pic>
      <p:sp>
        <p:nvSpPr>
          <p:cNvPr id="24" name="Text 16"/>
          <p:cNvSpPr txBox="1"/>
          <p:nvPr/>
        </p:nvSpPr>
        <p:spPr>
          <a:xfrm>
            <a:off x="996696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Float32 parity</a:t>
            </a:r>
            <a:endParaRPr lang="en-US" sz="1500" dirty="0"/>
          </a:p>
        </p:txBody>
      </p:sp>
      <p:sp>
        <p:nvSpPr>
          <p:cNvPr id="25" name="Text 17"/>
          <p:cNvSpPr txBox="1"/>
          <p:nvPr/>
        </p:nvSpPr>
        <p:spPr>
          <a:xfrm>
            <a:off x="925372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Math.fround thresholds; SHAP within 1e-5</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ETHICAL CONSIDERATIONS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Risk, Safety and Responsible Use</a:t>
            </a:r>
            <a:endParaRPr lang="en-US" sz="3200" dirty="0"/>
          </a:p>
        </p:txBody>
      </p:sp>
      <p:sp>
        <p:nvSpPr>
          <p:cNvPr id="5" name="card"/>
          <p:cNvSpPr/>
          <p:nvPr/>
        </p:nvSpPr>
        <p:spPr>
          <a:xfrm>
            <a:off x="548640" y="1554480"/>
            <a:ext cx="5422392" cy="2148840"/>
          </a:xfrm>
          <a:prstGeom prst="roundRect">
            <a:avLst>
              <a:gd name="adj" fmla="val 3404"/>
            </a:avLst>
          </a:prstGeom>
          <a:solidFill>
            <a:schemeClr val="bg2"/>
          </a:solidFill>
          <a:ln/>
        </p:spPr>
      </p:sp>
      <p:sp>
        <p:nvSpPr>
          <p:cNvPr id="6" name="icon circle"/>
          <p:cNvSpPr/>
          <p:nvPr/>
        </p:nvSpPr>
        <p:spPr>
          <a:xfrm>
            <a:off x="822960" y="1828800"/>
            <a:ext cx="777240" cy="777240"/>
          </a:xfrm>
          <a:prstGeom prst="ellipse">
            <a:avLst/>
          </a:prstGeom>
          <a:solidFill>
            <a:schemeClr val="tx2"/>
          </a:solidFill>
          <a:ln/>
        </p:spPr>
      </p:sp>
      <p:pic>
        <p:nvPicPr>
          <p:cNvPr id="7" name="icon FaUserShield" descr="UserShield icon">    </p:cNvPr>
          <p:cNvPicPr>
            <a:picLocks noChangeAspect="1"/>
          </p:cNvPicPr>
          <p:nvPr/>
        </p:nvPicPr>
        <p:blipFill>
          <a:blip r:embed="rId1"/>
          <a:stretch>
            <a:fillRect/>
          </a:stretch>
        </p:blipFill>
        <p:spPr>
          <a:xfrm>
            <a:off x="1009498" y="2015338"/>
            <a:ext cx="404165" cy="404165"/>
          </a:xfrm>
          <a:prstGeom prst="rect">
            <a:avLst/>
          </a:prstGeom>
        </p:spPr>
      </p:pic>
      <p:sp>
        <p:nvSpPr>
          <p:cNvPr id="8" name="Text 4"/>
          <p:cNvSpPr txBox="1"/>
          <p:nvPr/>
        </p:nvSpPr>
        <p:spPr>
          <a:xfrm>
            <a:off x="182880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No human participants</a:t>
            </a:r>
            <a:endParaRPr lang="en-US" sz="1900" dirty="0"/>
          </a:p>
        </p:txBody>
      </p:sp>
      <p:sp>
        <p:nvSpPr>
          <p:cNvPr id="9" name="Text 5"/>
          <p:cNvSpPr txBox="1"/>
          <p:nvPr/>
        </p:nvSpPr>
        <p:spPr>
          <a:xfrm>
            <a:off x="182880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No surveys, interviews or personal data; a purely computational study.</a:t>
            </a:r>
            <a:endParaRPr lang="en-US" sz="1500" dirty="0"/>
          </a:p>
        </p:txBody>
      </p:sp>
      <p:sp>
        <p:nvSpPr>
          <p:cNvPr id="10" name="card"/>
          <p:cNvSpPr/>
          <p:nvPr/>
        </p:nvSpPr>
        <p:spPr>
          <a:xfrm>
            <a:off x="6217920" y="1554480"/>
            <a:ext cx="5422392" cy="2148840"/>
          </a:xfrm>
          <a:prstGeom prst="roundRect">
            <a:avLst>
              <a:gd name="adj" fmla="val 3404"/>
            </a:avLst>
          </a:prstGeom>
          <a:solidFill>
            <a:schemeClr val="bg2"/>
          </a:solidFill>
          <a:ln/>
        </p:spPr>
      </p:sp>
      <p:sp>
        <p:nvSpPr>
          <p:cNvPr id="11" name="icon circle"/>
          <p:cNvSpPr/>
          <p:nvPr/>
        </p:nvSpPr>
        <p:spPr>
          <a:xfrm>
            <a:off x="6492240" y="1828800"/>
            <a:ext cx="777240" cy="777240"/>
          </a:xfrm>
          <a:prstGeom prst="ellipse">
            <a:avLst/>
          </a:prstGeom>
          <a:solidFill>
            <a:schemeClr val="tx2"/>
          </a:solidFill>
          <a:ln/>
        </p:spPr>
      </p:sp>
      <p:pic>
        <p:nvPicPr>
          <p:cNvPr id="12" name="icon FaDatabase" descr="Database icon">    </p:cNvPr>
          <p:cNvPicPr>
            <a:picLocks noChangeAspect="1"/>
          </p:cNvPicPr>
          <p:nvPr/>
        </p:nvPicPr>
        <p:blipFill>
          <a:blip r:embed="rId2"/>
          <a:stretch>
            <a:fillRect/>
          </a:stretch>
        </p:blipFill>
        <p:spPr>
          <a:xfrm>
            <a:off x="6678778" y="2015338"/>
            <a:ext cx="404165" cy="404165"/>
          </a:xfrm>
          <a:prstGeom prst="rect">
            <a:avLst/>
          </a:prstGeom>
        </p:spPr>
      </p:pic>
      <p:sp>
        <p:nvSpPr>
          <p:cNvPr id="13" name="Text 8"/>
          <p:cNvSpPr txBox="1"/>
          <p:nvPr/>
        </p:nvSpPr>
        <p:spPr>
          <a:xfrm>
            <a:off x="749808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Public and simulated data</a:t>
            </a:r>
            <a:endParaRPr lang="en-US" sz="1900" dirty="0"/>
          </a:p>
        </p:txBody>
      </p:sp>
      <p:sp>
        <p:nvSpPr>
          <p:cNvPr id="14" name="Text 9"/>
          <p:cNvSpPr txBox="1"/>
          <p:nvPr/>
        </p:nvSpPr>
        <p:spPr>
          <a:xfrm>
            <a:off x="749808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Standards, price items and news reports are public; the benchmark is simulated.</a:t>
            </a:r>
            <a:endParaRPr lang="en-US" sz="1500" dirty="0"/>
          </a:p>
        </p:txBody>
      </p:sp>
      <p:sp>
        <p:nvSpPr>
          <p:cNvPr id="15" name="card"/>
          <p:cNvSpPr/>
          <p:nvPr/>
        </p:nvSpPr>
        <p:spPr>
          <a:xfrm>
            <a:off x="548640" y="3931920"/>
            <a:ext cx="5422392" cy="2148840"/>
          </a:xfrm>
          <a:prstGeom prst="roundRect">
            <a:avLst>
              <a:gd name="adj" fmla="val 3404"/>
            </a:avLst>
          </a:prstGeom>
          <a:solidFill>
            <a:schemeClr val="bg2"/>
          </a:solidFill>
          <a:ln/>
        </p:spPr>
      </p:sp>
      <p:sp>
        <p:nvSpPr>
          <p:cNvPr id="16" name="icon circle"/>
          <p:cNvSpPr/>
          <p:nvPr/>
        </p:nvSpPr>
        <p:spPr>
          <a:xfrm>
            <a:off x="822960" y="4206240"/>
            <a:ext cx="777240" cy="777240"/>
          </a:xfrm>
          <a:prstGeom prst="ellipse">
            <a:avLst/>
          </a:prstGeom>
          <a:solidFill>
            <a:schemeClr val="tx2"/>
          </a:solidFill>
          <a:ln/>
        </p:spPr>
      </p:sp>
      <p:pic>
        <p:nvPicPr>
          <p:cNvPr id="17" name="icon FaScaleBalanced" descr="ScaleBalanced icon">    </p:cNvPr>
          <p:cNvPicPr>
            <a:picLocks noChangeAspect="1"/>
          </p:cNvPicPr>
          <p:nvPr/>
        </p:nvPicPr>
        <p:blipFill>
          <a:blip r:embed="rId3"/>
          <a:stretch>
            <a:fillRect/>
          </a:stretch>
        </p:blipFill>
        <p:spPr>
          <a:xfrm>
            <a:off x="1009498" y="4392778"/>
            <a:ext cx="404165" cy="404165"/>
          </a:xfrm>
          <a:prstGeom prst="rect">
            <a:avLst/>
          </a:prstGeom>
        </p:spPr>
      </p:pic>
      <p:sp>
        <p:nvSpPr>
          <p:cNvPr id="18" name="Text 12"/>
          <p:cNvSpPr txBox="1"/>
          <p:nvPr/>
        </p:nvSpPr>
        <p:spPr>
          <a:xfrm>
            <a:off x="182880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Flags are not verdicts</a:t>
            </a:r>
            <a:endParaRPr lang="en-US" sz="1900" dirty="0"/>
          </a:p>
        </p:txBody>
      </p:sp>
      <p:sp>
        <p:nvSpPr>
          <p:cNvPr id="19" name="Text 13"/>
          <p:cNvSpPr txBox="1"/>
          <p:nvPr/>
        </p:nvSpPr>
        <p:spPr>
          <a:xfrm>
            <a:off x="182880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A high BRI calls for review by the implementing office, COA, Ombudsman or ICI.</a:t>
            </a:r>
            <a:endParaRPr lang="en-US" sz="1500" dirty="0"/>
          </a:p>
        </p:txBody>
      </p:sp>
      <p:sp>
        <p:nvSpPr>
          <p:cNvPr id="20" name="card"/>
          <p:cNvSpPr/>
          <p:nvPr/>
        </p:nvSpPr>
        <p:spPr>
          <a:xfrm>
            <a:off x="6217920" y="3931920"/>
            <a:ext cx="5422392" cy="2148840"/>
          </a:xfrm>
          <a:prstGeom prst="roundRect">
            <a:avLst>
              <a:gd name="adj" fmla="val 3404"/>
            </a:avLst>
          </a:prstGeom>
          <a:solidFill>
            <a:schemeClr val="bg2"/>
          </a:solidFill>
          <a:ln/>
        </p:spPr>
      </p:sp>
      <p:sp>
        <p:nvSpPr>
          <p:cNvPr id="21" name="icon circle"/>
          <p:cNvSpPr/>
          <p:nvPr/>
        </p:nvSpPr>
        <p:spPr>
          <a:xfrm>
            <a:off x="6492240" y="4206240"/>
            <a:ext cx="777240" cy="77724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6678778" y="4392778"/>
            <a:ext cx="404165" cy="404165"/>
          </a:xfrm>
          <a:prstGeom prst="rect">
            <a:avLst/>
          </a:prstGeom>
        </p:spPr>
      </p:pic>
      <p:sp>
        <p:nvSpPr>
          <p:cNvPr id="23" name="Text 16"/>
          <p:cNvSpPr txBox="1"/>
          <p:nvPr/>
        </p:nvSpPr>
        <p:spPr>
          <a:xfrm>
            <a:off x="749808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Schematic designs</a:t>
            </a:r>
            <a:endParaRPr lang="en-US" sz="1900" dirty="0"/>
          </a:p>
        </p:txBody>
      </p:sp>
      <p:sp>
        <p:nvSpPr>
          <p:cNvPr id="24" name="Text 17"/>
          <p:cNvSpPr txBox="1"/>
          <p:nvPr/>
        </p:nvSpPr>
        <p:spPr>
          <a:xfrm>
            <a:off x="749808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Designs are for estimating; licensed architects and engineers must develop them.</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04</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Results and Discussion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Findings for the six research questions, on the simulated benchmark SBD-300</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RQ1 · PLAN VARIABLES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Benchmark Contains</a:t>
            </a:r>
            <a:endParaRPr lang="en-US" sz="3200" dirty="0"/>
          </a:p>
        </p:txBody>
      </p:sp>
      <p:graphicFrame>
        <p:nvGraphicFramePr>
          <p:cNvPr id="5" name="buildings by type chart" descr="Bar chart of buildings by type"/>
          <p:cNvGraphicFramePr/>
          <p:nvPr/>
        </p:nvGraphicFramePr>
        <p:xfrm>
          <a:off x="548640" y="146304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bridges by type chart" descr="Bar chart of bridges by superstructure"/>
          <p:cNvGraphicFramePr/>
          <p:nvPr/>
        </p:nvGraphicFramePr>
        <p:xfrm>
          <a:off x="6263640" y="1463040"/>
          <a:ext cx="5376672" cy="3291840"/>
        </p:xfrm>
        <a:graphic xmlns:a="http://schemas.openxmlformats.org/drawingml/2006/main">
          <a:graphicData uri="http://schemas.openxmlformats.org/drawingml/2006/chart">
            <c:chart xmlns:c="http://schemas.openxmlformats.org/drawingml/2006/chart" r:id="rId2"/>
          </a:graphicData>
        </a:graphic>
      </p:graphicFrame>
      <p:sp>
        <p:nvSpPr>
          <p:cNvPr id="7" name="card"/>
          <p:cNvSpPr/>
          <p:nvPr/>
        </p:nvSpPr>
        <p:spPr>
          <a:xfrm>
            <a:off x="548640" y="4937760"/>
            <a:ext cx="2606040" cy="1280160"/>
          </a:xfrm>
          <a:prstGeom prst="roundRect">
            <a:avLst>
              <a:gd name="adj" fmla="val 5714"/>
            </a:avLst>
          </a:prstGeom>
          <a:solidFill>
            <a:schemeClr val="bg2"/>
          </a:solidFill>
          <a:ln/>
        </p:spPr>
      </p:sp>
      <p:sp>
        <p:nvSpPr>
          <p:cNvPr id="8" name="Text 3"/>
          <p:cNvSpPr txBox="1"/>
          <p:nvPr/>
        </p:nvSpPr>
        <p:spPr>
          <a:xfrm>
            <a:off x="73152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₱5.37M – ₱56.77M</a:t>
            </a:r>
            <a:endParaRPr lang="en-US" sz="2000" dirty="0"/>
          </a:p>
        </p:txBody>
      </p:sp>
      <p:sp>
        <p:nvSpPr>
          <p:cNvPr id="9" name="Text 4"/>
          <p:cNvSpPr txBox="1"/>
          <p:nvPr/>
        </p:nvSpPr>
        <p:spPr>
          <a:xfrm>
            <a:off x="73152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building contract range</a:t>
            </a:r>
            <a:endParaRPr lang="en-US" sz="1400" dirty="0"/>
          </a:p>
        </p:txBody>
      </p:sp>
      <p:sp>
        <p:nvSpPr>
          <p:cNvPr id="10" name="card"/>
          <p:cNvSpPr/>
          <p:nvPr/>
        </p:nvSpPr>
        <p:spPr>
          <a:xfrm>
            <a:off x="3383280" y="4937760"/>
            <a:ext cx="2606040" cy="1280160"/>
          </a:xfrm>
          <a:prstGeom prst="roundRect">
            <a:avLst>
              <a:gd name="adj" fmla="val 5714"/>
            </a:avLst>
          </a:prstGeom>
          <a:solidFill>
            <a:schemeClr val="bg2"/>
          </a:solidFill>
          <a:ln/>
        </p:spPr>
      </p:sp>
      <p:sp>
        <p:nvSpPr>
          <p:cNvPr id="11" name="Text 6"/>
          <p:cNvSpPr txBox="1"/>
          <p:nvPr/>
        </p:nvSpPr>
        <p:spPr>
          <a:xfrm>
            <a:off x="356616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672.3 m²</a:t>
            </a:r>
            <a:endParaRPr lang="en-US" sz="2000" dirty="0"/>
          </a:p>
        </p:txBody>
      </p:sp>
      <p:sp>
        <p:nvSpPr>
          <p:cNvPr id="12" name="Text 7"/>
          <p:cNvSpPr txBox="1"/>
          <p:nvPr/>
        </p:nvSpPr>
        <p:spPr>
          <a:xfrm>
            <a:off x="356616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mean building GFA</a:t>
            </a:r>
            <a:endParaRPr lang="en-US" sz="1400" dirty="0"/>
          </a:p>
        </p:txBody>
      </p:sp>
      <p:sp>
        <p:nvSpPr>
          <p:cNvPr id="13" name="card"/>
          <p:cNvSpPr/>
          <p:nvPr/>
        </p:nvSpPr>
        <p:spPr>
          <a:xfrm>
            <a:off x="6217920" y="4937760"/>
            <a:ext cx="2606040" cy="1280160"/>
          </a:xfrm>
          <a:prstGeom prst="roundRect">
            <a:avLst>
              <a:gd name="adj" fmla="val 5714"/>
            </a:avLst>
          </a:prstGeom>
          <a:solidFill>
            <a:schemeClr val="bg2"/>
          </a:solidFill>
          <a:ln/>
        </p:spPr>
      </p:sp>
      <p:sp>
        <p:nvSpPr>
          <p:cNvPr id="14" name="Text 9"/>
          <p:cNvSpPr txBox="1"/>
          <p:nvPr/>
        </p:nvSpPr>
        <p:spPr>
          <a:xfrm>
            <a:off x="640080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₱1.00M – ₱179.23M</a:t>
            </a:r>
            <a:endParaRPr lang="en-US" sz="2000" dirty="0"/>
          </a:p>
        </p:txBody>
      </p:sp>
      <p:sp>
        <p:nvSpPr>
          <p:cNvPr id="15" name="Text 10"/>
          <p:cNvSpPr txBox="1"/>
          <p:nvPr/>
        </p:nvSpPr>
        <p:spPr>
          <a:xfrm>
            <a:off x="640080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bridge contract range</a:t>
            </a:r>
            <a:endParaRPr lang="en-US" sz="1400" dirty="0"/>
          </a:p>
        </p:txBody>
      </p:sp>
      <p:sp>
        <p:nvSpPr>
          <p:cNvPr id="16" name="card"/>
          <p:cNvSpPr/>
          <p:nvPr/>
        </p:nvSpPr>
        <p:spPr>
          <a:xfrm>
            <a:off x="9052560" y="4937760"/>
            <a:ext cx="2606040" cy="1280160"/>
          </a:xfrm>
          <a:prstGeom prst="roundRect">
            <a:avLst>
              <a:gd name="adj" fmla="val 5714"/>
            </a:avLst>
          </a:prstGeom>
          <a:solidFill>
            <a:schemeClr val="bg2"/>
          </a:solidFill>
          <a:ln/>
        </p:spPr>
      </p:sp>
      <p:sp>
        <p:nvSpPr>
          <p:cNvPr id="17" name="Text 12"/>
          <p:cNvSpPr txBox="1"/>
          <p:nvPr/>
        </p:nvSpPr>
        <p:spPr>
          <a:xfrm>
            <a:off x="9235440" y="5029200"/>
            <a:ext cx="2286000" cy="5943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40.9 m</a:t>
            </a:r>
            <a:endParaRPr lang="en-US" sz="2000" dirty="0"/>
          </a:p>
        </p:txBody>
      </p:sp>
      <p:sp>
        <p:nvSpPr>
          <p:cNvPr id="18" name="Text 13"/>
          <p:cNvSpPr txBox="1"/>
          <p:nvPr/>
        </p:nvSpPr>
        <p:spPr>
          <a:xfrm>
            <a:off x="9235440" y="5623560"/>
            <a:ext cx="2286000" cy="457200"/>
          </a:xfrm>
          <a:prstGeom prst="rect">
            <a:avLst/>
          </a:prstGeom>
          <a:noFill/>
          <a:ln/>
        </p:spPr>
        <p:txBody>
          <a:bodyPr wrap="square" lIns="0" tIns="0" rIns="0" bIns="0" rtlCol="0" anchor="t"/>
          <a:lstStyle/>
          <a:p>
            <a:pPr indent="0" marL="0">
              <a:buNone/>
            </a:pPr>
            <a:r>
              <a:rPr lang="en-US" sz="1400" dirty="0">
                <a:solidFill>
                  <a:schemeClr val="tx1"/>
                </a:solidFill>
              </a:rPr>
              <a:t>mean bridge length</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RQ2A · MODULAR DESIGN LIBRARY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Designs Without a Blueprint</a:t>
            </a:r>
            <a:endParaRPr lang="en-US" sz="3200" dirty="0"/>
          </a:p>
        </p:txBody>
      </p:sp>
      <p:pic>
        <p:nvPicPr>
          <p:cNvPr id="5" name="app_design_templates.png" descr="Design studio with the template library">    </p:cNvPr>
          <p:cNvPicPr>
            <a:picLocks noChangeAspect="1"/>
          </p:cNvPicPr>
          <p:nvPr/>
        </p:nvPicPr>
        <p:blipFill>
          <a:blip r:embed="rId1"/>
          <a:stretch>
            <a:fillRect/>
          </a:stretch>
        </p:blipFill>
        <p:spPr>
          <a:xfrm>
            <a:off x="548640" y="1652882"/>
            <a:ext cx="6949440" cy="4375196"/>
          </a:xfrm>
          <a:prstGeom prst="rect">
            <a:avLst/>
          </a:prstGeom>
        </p:spPr>
      </p:pic>
      <p:sp>
        <p:nvSpPr>
          <p:cNvPr id="6" name="card"/>
          <p:cNvSpPr/>
          <p:nvPr/>
        </p:nvSpPr>
        <p:spPr>
          <a:xfrm>
            <a:off x="7726680" y="1463040"/>
            <a:ext cx="3913632" cy="1078992"/>
          </a:xfrm>
          <a:prstGeom prst="roundRect">
            <a:avLst>
              <a:gd name="adj" fmla="val 6780"/>
            </a:avLst>
          </a:prstGeom>
          <a:solidFill>
            <a:schemeClr val="bg2"/>
          </a:solidFill>
          <a:ln/>
        </p:spPr>
      </p:sp>
      <p:sp>
        <p:nvSpPr>
          <p:cNvPr id="7" name="Text 3"/>
          <p:cNvSpPr txBox="1"/>
          <p:nvPr/>
        </p:nvSpPr>
        <p:spPr>
          <a:xfrm>
            <a:off x="7909560" y="1554480"/>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55</a:t>
            </a:r>
            <a:endParaRPr lang="en-US" sz="2800" dirty="0"/>
          </a:p>
        </p:txBody>
      </p:sp>
      <p:sp>
        <p:nvSpPr>
          <p:cNvPr id="8" name="Text 4"/>
          <p:cNvSpPr txBox="1"/>
          <p:nvPr/>
        </p:nvSpPr>
        <p:spPr>
          <a:xfrm>
            <a:off x="9646920" y="1554480"/>
            <a:ext cx="1874520" cy="868680"/>
          </a:xfrm>
          <a:prstGeom prst="rect">
            <a:avLst/>
          </a:prstGeom>
          <a:noFill/>
          <a:ln/>
        </p:spPr>
        <p:txBody>
          <a:bodyPr wrap="square" lIns="0" tIns="0" rIns="0" bIns="0" rtlCol="0" anchor="ctr"/>
          <a:lstStyle/>
          <a:p>
            <a:pPr indent="0" marL="0">
              <a:buNone/>
            </a:pPr>
            <a:r>
              <a:rPr lang="en-US" sz="1350" dirty="0">
                <a:solidFill>
                  <a:schemeClr val="tx1"/>
                </a:solidFill>
              </a:rPr>
              <a:t>reusable space modules</a:t>
            </a:r>
            <a:endParaRPr lang="en-US" sz="1350" dirty="0"/>
          </a:p>
        </p:txBody>
      </p:sp>
      <p:sp>
        <p:nvSpPr>
          <p:cNvPr id="9" name="card"/>
          <p:cNvSpPr/>
          <p:nvPr/>
        </p:nvSpPr>
        <p:spPr>
          <a:xfrm>
            <a:off x="7726680" y="2670048"/>
            <a:ext cx="3913632" cy="1078992"/>
          </a:xfrm>
          <a:prstGeom prst="roundRect">
            <a:avLst>
              <a:gd name="adj" fmla="val 6780"/>
            </a:avLst>
          </a:prstGeom>
          <a:solidFill>
            <a:schemeClr val="bg2"/>
          </a:solidFill>
          <a:ln/>
        </p:spPr>
      </p:sp>
      <p:sp>
        <p:nvSpPr>
          <p:cNvPr id="10" name="Text 6"/>
          <p:cNvSpPr txBox="1"/>
          <p:nvPr/>
        </p:nvSpPr>
        <p:spPr>
          <a:xfrm>
            <a:off x="7909560" y="2761488"/>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41 + 13</a:t>
            </a:r>
            <a:endParaRPr lang="en-US" sz="2800" dirty="0"/>
          </a:p>
        </p:txBody>
      </p:sp>
      <p:sp>
        <p:nvSpPr>
          <p:cNvPr id="11" name="Text 7"/>
          <p:cNvSpPr txBox="1"/>
          <p:nvPr/>
        </p:nvSpPr>
        <p:spPr>
          <a:xfrm>
            <a:off x="9646920" y="2761488"/>
            <a:ext cx="1874520" cy="868680"/>
          </a:xfrm>
          <a:prstGeom prst="rect">
            <a:avLst/>
          </a:prstGeom>
          <a:noFill/>
          <a:ln/>
        </p:spPr>
        <p:txBody>
          <a:bodyPr wrap="square" lIns="0" tIns="0" rIns="0" bIns="0" rtlCol="0" anchor="ctr"/>
          <a:lstStyle/>
          <a:p>
            <a:pPr indent="0" marL="0">
              <a:buNone/>
            </a:pPr>
            <a:r>
              <a:rPr lang="en-US" sz="1350" dirty="0">
                <a:solidFill>
                  <a:schemeClr val="tx1"/>
                </a:solidFill>
              </a:rPr>
              <a:t>building and bridge templates</a:t>
            </a:r>
            <a:endParaRPr lang="en-US" sz="1350" dirty="0"/>
          </a:p>
        </p:txBody>
      </p:sp>
      <p:sp>
        <p:nvSpPr>
          <p:cNvPr id="12" name="card"/>
          <p:cNvSpPr/>
          <p:nvPr/>
        </p:nvSpPr>
        <p:spPr>
          <a:xfrm>
            <a:off x="7726680" y="3877056"/>
            <a:ext cx="3913632" cy="1078992"/>
          </a:xfrm>
          <a:prstGeom prst="roundRect">
            <a:avLst>
              <a:gd name="adj" fmla="val 6780"/>
            </a:avLst>
          </a:prstGeom>
          <a:solidFill>
            <a:schemeClr val="bg2"/>
          </a:solidFill>
          <a:ln/>
        </p:spPr>
      </p:sp>
      <p:sp>
        <p:nvSpPr>
          <p:cNvPr id="13" name="Text 9"/>
          <p:cNvSpPr txBox="1"/>
          <p:nvPr/>
        </p:nvSpPr>
        <p:spPr>
          <a:xfrm>
            <a:off x="7909560" y="3968496"/>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152 / 152</a:t>
            </a:r>
            <a:endParaRPr lang="en-US" sz="2800" dirty="0"/>
          </a:p>
        </p:txBody>
      </p:sp>
      <p:sp>
        <p:nvSpPr>
          <p:cNvPr id="14" name="Text 10"/>
          <p:cNvSpPr txBox="1"/>
          <p:nvPr/>
        </p:nvSpPr>
        <p:spPr>
          <a:xfrm>
            <a:off x="9646920" y="3968496"/>
            <a:ext cx="1874520" cy="868680"/>
          </a:xfrm>
          <a:prstGeom prst="rect">
            <a:avLst/>
          </a:prstGeom>
          <a:noFill/>
          <a:ln/>
        </p:spPr>
        <p:txBody>
          <a:bodyPr wrap="square" lIns="0" tIns="0" rIns="0" bIns="0" rtlCol="0" anchor="ctr"/>
          <a:lstStyle/>
          <a:p>
            <a:pPr indent="0" marL="0">
              <a:buNone/>
            </a:pPr>
            <a:r>
              <a:rPr lang="en-US" sz="1350" dirty="0">
                <a:solidFill>
                  <a:schemeClr val="tx1"/>
                </a:solidFill>
              </a:rPr>
              <a:t>space-standard checks passed</a:t>
            </a:r>
            <a:endParaRPr lang="en-US" sz="1350" dirty="0"/>
          </a:p>
        </p:txBody>
      </p:sp>
      <p:sp>
        <p:nvSpPr>
          <p:cNvPr id="15" name="card"/>
          <p:cNvSpPr/>
          <p:nvPr/>
        </p:nvSpPr>
        <p:spPr>
          <a:xfrm>
            <a:off x="7726680" y="5084064"/>
            <a:ext cx="3913632" cy="1078992"/>
          </a:xfrm>
          <a:prstGeom prst="roundRect">
            <a:avLst>
              <a:gd name="adj" fmla="val 6780"/>
            </a:avLst>
          </a:prstGeom>
          <a:solidFill>
            <a:schemeClr val="bg2"/>
          </a:solidFill>
          <a:ln/>
        </p:spPr>
      </p:sp>
      <p:sp>
        <p:nvSpPr>
          <p:cNvPr id="16" name="Text 12"/>
          <p:cNvSpPr txBox="1"/>
          <p:nvPr/>
        </p:nvSpPr>
        <p:spPr>
          <a:xfrm>
            <a:off x="7909560" y="5175504"/>
            <a:ext cx="173736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7</a:t>
            </a:r>
            <a:endParaRPr lang="en-US" sz="2800" dirty="0"/>
          </a:p>
        </p:txBody>
      </p:sp>
      <p:sp>
        <p:nvSpPr>
          <p:cNvPr id="17" name="Text 13"/>
          <p:cNvSpPr txBox="1"/>
          <p:nvPr/>
        </p:nvSpPr>
        <p:spPr>
          <a:xfrm>
            <a:off x="9646920" y="5175504"/>
            <a:ext cx="1874520" cy="868680"/>
          </a:xfrm>
          <a:prstGeom prst="rect">
            <a:avLst/>
          </a:prstGeom>
          <a:noFill/>
          <a:ln/>
        </p:spPr>
        <p:txBody>
          <a:bodyPr wrap="square" lIns="0" tIns="0" rIns="0" bIns="0" rtlCol="0" anchor="ctr"/>
          <a:lstStyle/>
          <a:p>
            <a:pPr indent="0" marL="0">
              <a:buNone/>
            </a:pPr>
            <a:r>
              <a:rPr lang="en-US" sz="1350" dirty="0">
                <a:solidFill>
                  <a:schemeClr val="tx1"/>
                </a:solidFill>
              </a:rPr>
              <a:t>facility uses: school, health, office, evacuation, market, dorm, court</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RQ2A · GENERATED PLANS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Schematic Floor Plans</a:t>
            </a:r>
            <a:endParaRPr lang="en-US" sz="3200" dirty="0"/>
          </a:p>
        </p:txBody>
      </p:sp>
      <p:pic>
        <p:nvPicPr>
          <p:cNvPr id="5" name="plan_school_gf.png" descr="2-storey 6-classroom school ground floor">    </p:cNvPr>
          <p:cNvPicPr>
            <a:picLocks noChangeAspect="1"/>
          </p:cNvPicPr>
          <p:nvPr/>
        </p:nvPicPr>
        <p:blipFill>
          <a:blip r:embed="rId1"/>
          <a:stretch>
            <a:fillRect/>
          </a:stretch>
        </p:blipFill>
        <p:spPr>
          <a:xfrm>
            <a:off x="548640" y="1496451"/>
            <a:ext cx="5486400" cy="2173458"/>
          </a:xfrm>
          <a:prstGeom prst="rect">
            <a:avLst/>
          </a:prstGeom>
        </p:spPr>
      </p:pic>
      <p:pic>
        <p:nvPicPr>
          <p:cNvPr id="6" name="plan_hospital_gf.png" descr="25-bed hospital ground floor">    </p:cNvPr>
          <p:cNvPicPr>
            <a:picLocks noChangeAspect="1"/>
          </p:cNvPicPr>
          <p:nvPr/>
        </p:nvPicPr>
        <p:blipFill>
          <a:blip r:embed="rId2"/>
          <a:stretch>
            <a:fillRect/>
          </a:stretch>
        </p:blipFill>
        <p:spPr>
          <a:xfrm>
            <a:off x="6915912" y="1463040"/>
            <a:ext cx="3962400" cy="2240280"/>
          </a:xfrm>
          <a:prstGeom prst="rect">
            <a:avLst/>
          </a:prstGeom>
        </p:spPr>
      </p:pic>
      <p:sp>
        <p:nvSpPr>
          <p:cNvPr id="7" name="Text 2"/>
          <p:cNvSpPr txBox="1"/>
          <p:nvPr/>
        </p:nvSpPr>
        <p:spPr>
          <a:xfrm>
            <a:off x="548640" y="3749040"/>
            <a:ext cx="5486400" cy="457200"/>
          </a:xfrm>
          <a:prstGeom prst="rect">
            <a:avLst/>
          </a:prstGeom>
          <a:noFill/>
          <a:ln/>
        </p:spPr>
        <p:txBody>
          <a:bodyPr wrap="square" lIns="0" tIns="0" rIns="0" bIns="0" rtlCol="0" anchor="t"/>
          <a:lstStyle/>
          <a:p>
            <a:pPr algn="ctr" indent="0" marL="0">
              <a:buNone/>
            </a:pPr>
            <a:r>
              <a:rPr lang="en-US" sz="1200" dirty="0">
                <a:solidFill>
                  <a:srgbClr val="44505E"/>
                </a:solidFill>
              </a:rPr>
              <a:t>2-storey 6-classroom school · 38.5 × 9.5 m · 732 m² · start ₱16.25M · standard ₱18.77M</a:t>
            </a:r>
            <a:endParaRPr lang="en-US" sz="1200" dirty="0"/>
          </a:p>
        </p:txBody>
      </p:sp>
      <p:sp>
        <p:nvSpPr>
          <p:cNvPr id="8" name="Text 3"/>
          <p:cNvSpPr txBox="1"/>
          <p:nvPr/>
        </p:nvSpPr>
        <p:spPr>
          <a:xfrm>
            <a:off x="6153912" y="3749040"/>
            <a:ext cx="5486400" cy="457200"/>
          </a:xfrm>
          <a:prstGeom prst="rect">
            <a:avLst/>
          </a:prstGeom>
          <a:noFill/>
          <a:ln/>
        </p:spPr>
        <p:txBody>
          <a:bodyPr wrap="square" lIns="0" tIns="0" rIns="0" bIns="0" rtlCol="0" anchor="t"/>
          <a:lstStyle/>
          <a:p>
            <a:pPr algn="ctr" indent="0" marL="0">
              <a:buNone/>
            </a:pPr>
            <a:r>
              <a:rPr lang="en-US" sz="1200" dirty="0">
                <a:solidFill>
                  <a:srgbClr val="44505E"/>
                </a:solidFill>
              </a:rPr>
              <a:t>25-bed community hospital (2-storey) · 30 × 12.4 m · 744 m² · start ₱19.52M</a:t>
            </a:r>
            <a:endParaRPr lang="en-US" sz="1200" dirty="0"/>
          </a:p>
        </p:txBody>
      </p:sp>
      <p:pic>
        <p:nvPicPr>
          <p:cNvPr id="9" name="plan_market.png" descr="Public market plan">    </p:cNvPr>
          <p:cNvPicPr>
            <a:picLocks noChangeAspect="1"/>
          </p:cNvPicPr>
          <p:nvPr/>
        </p:nvPicPr>
        <p:blipFill>
          <a:blip r:embed="rId3"/>
          <a:stretch>
            <a:fillRect/>
          </a:stretch>
        </p:blipFill>
        <p:spPr>
          <a:xfrm>
            <a:off x="1811105" y="4251960"/>
            <a:ext cx="2961469" cy="1965960"/>
          </a:xfrm>
          <a:prstGeom prst="rect">
            <a:avLst/>
          </a:prstGeom>
        </p:spPr>
      </p:pic>
      <p:pic>
        <p:nvPicPr>
          <p:cNvPr id="10" name="plan_court.png" descr="Covered court plan">    </p:cNvPr>
          <p:cNvPicPr>
            <a:picLocks noChangeAspect="1"/>
          </p:cNvPicPr>
          <p:nvPr/>
        </p:nvPicPr>
        <p:blipFill>
          <a:blip r:embed="rId4"/>
          <a:stretch>
            <a:fillRect/>
          </a:stretch>
        </p:blipFill>
        <p:spPr>
          <a:xfrm>
            <a:off x="6829355" y="4251960"/>
            <a:ext cx="4135515" cy="196596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RQ2B · BUDGET-TO-DESIGN OPTIMIZATION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a Budget Can Build</a:t>
            </a:r>
            <a:endParaRPr lang="en-US" sz="3200" dirty="0"/>
          </a:p>
        </p:txBody>
      </p:sp>
      <p:graphicFrame>
        <p:nvGraphicFramePr>
          <p:cNvPr id="5" name="frontier chart" descr="Line chart of classrooms against budget by storey limit"/>
          <p:cNvGraphicFramePr/>
          <p:nvPr/>
        </p:nvGraphicFramePr>
        <p:xfrm>
          <a:off x="548640" y="146304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726680" y="1463040"/>
            <a:ext cx="3913632" cy="1078992"/>
          </a:xfrm>
          <a:prstGeom prst="roundRect">
            <a:avLst>
              <a:gd name="adj" fmla="val 6780"/>
            </a:avLst>
          </a:prstGeom>
          <a:solidFill>
            <a:schemeClr val="bg2"/>
          </a:solidFill>
          <a:ln/>
        </p:spPr>
      </p:sp>
      <p:sp>
        <p:nvSpPr>
          <p:cNvPr id="7" name="Text 3"/>
          <p:cNvSpPr txBox="1"/>
          <p:nvPr/>
        </p:nvSpPr>
        <p:spPr>
          <a:xfrm>
            <a:off x="7909560" y="1554480"/>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4</a:t>
            </a:r>
            <a:endParaRPr lang="en-US" sz="2800" dirty="0"/>
          </a:p>
        </p:txBody>
      </p:sp>
      <p:sp>
        <p:nvSpPr>
          <p:cNvPr id="8" name="Text 4"/>
          <p:cNvSpPr txBox="1"/>
          <p:nvPr/>
        </p:nvSpPr>
        <p:spPr>
          <a:xfrm>
            <a:off x="9372600" y="1554480"/>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₱10M (1 storey)</a:t>
            </a:r>
            <a:endParaRPr lang="en-US" sz="1350" dirty="0"/>
          </a:p>
        </p:txBody>
      </p:sp>
      <p:sp>
        <p:nvSpPr>
          <p:cNvPr id="9" name="card"/>
          <p:cNvSpPr/>
          <p:nvPr/>
        </p:nvSpPr>
        <p:spPr>
          <a:xfrm>
            <a:off x="7726680" y="2670048"/>
            <a:ext cx="3913632" cy="1078992"/>
          </a:xfrm>
          <a:prstGeom prst="roundRect">
            <a:avLst>
              <a:gd name="adj" fmla="val 6780"/>
            </a:avLst>
          </a:prstGeom>
          <a:solidFill>
            <a:schemeClr val="bg2"/>
          </a:solidFill>
          <a:ln/>
        </p:spPr>
      </p:sp>
      <p:sp>
        <p:nvSpPr>
          <p:cNvPr id="10" name="Text 6"/>
          <p:cNvSpPr txBox="1"/>
          <p:nvPr/>
        </p:nvSpPr>
        <p:spPr>
          <a:xfrm>
            <a:off x="7909560" y="2761488"/>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9</a:t>
            </a:r>
            <a:endParaRPr lang="en-US" sz="2800" dirty="0"/>
          </a:p>
        </p:txBody>
      </p:sp>
      <p:sp>
        <p:nvSpPr>
          <p:cNvPr id="11" name="Text 7"/>
          <p:cNvSpPr txBox="1"/>
          <p:nvPr/>
        </p:nvSpPr>
        <p:spPr>
          <a:xfrm>
            <a:off x="9372600" y="2761488"/>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₱25M (2 storeys)</a:t>
            </a:r>
            <a:endParaRPr lang="en-US" sz="1350" dirty="0"/>
          </a:p>
        </p:txBody>
      </p:sp>
      <p:sp>
        <p:nvSpPr>
          <p:cNvPr id="12" name="card"/>
          <p:cNvSpPr/>
          <p:nvPr/>
        </p:nvSpPr>
        <p:spPr>
          <a:xfrm>
            <a:off x="7726680" y="3877056"/>
            <a:ext cx="3913632" cy="1078992"/>
          </a:xfrm>
          <a:prstGeom prst="roundRect">
            <a:avLst>
              <a:gd name="adj" fmla="val 6780"/>
            </a:avLst>
          </a:prstGeom>
          <a:solidFill>
            <a:schemeClr val="bg2"/>
          </a:solidFill>
          <a:ln/>
        </p:spPr>
      </p:sp>
      <p:sp>
        <p:nvSpPr>
          <p:cNvPr id="13" name="Text 9"/>
          <p:cNvSpPr txBox="1"/>
          <p:nvPr/>
        </p:nvSpPr>
        <p:spPr>
          <a:xfrm>
            <a:off x="7909560" y="3968496"/>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15</a:t>
            </a:r>
            <a:endParaRPr lang="en-US" sz="2800" dirty="0"/>
          </a:p>
        </p:txBody>
      </p:sp>
      <p:sp>
        <p:nvSpPr>
          <p:cNvPr id="14" name="Text 10"/>
          <p:cNvSpPr txBox="1"/>
          <p:nvPr/>
        </p:nvSpPr>
        <p:spPr>
          <a:xfrm>
            <a:off x="9372600" y="3968496"/>
            <a:ext cx="2148840" cy="868680"/>
          </a:xfrm>
          <a:prstGeom prst="rect">
            <a:avLst/>
          </a:prstGeom>
          <a:noFill/>
          <a:ln/>
        </p:spPr>
        <p:txBody>
          <a:bodyPr wrap="square" lIns="0" tIns="0" rIns="0" bIns="0" rtlCol="0" anchor="ctr"/>
          <a:lstStyle/>
          <a:p>
            <a:pPr indent="0" marL="0">
              <a:buNone/>
            </a:pPr>
            <a:r>
              <a:rPr lang="en-US" sz="1350" dirty="0">
                <a:solidFill>
                  <a:schemeClr val="tx1"/>
                </a:solidFill>
              </a:rPr>
              <a:t>classrooms for ₱50M (4 storeys)</a:t>
            </a:r>
            <a:endParaRPr lang="en-US" sz="1350" dirty="0"/>
          </a:p>
        </p:txBody>
      </p:sp>
      <p:sp>
        <p:nvSpPr>
          <p:cNvPr id="15" name="card"/>
          <p:cNvSpPr/>
          <p:nvPr/>
        </p:nvSpPr>
        <p:spPr>
          <a:xfrm>
            <a:off x="7726680" y="5084064"/>
            <a:ext cx="3913632" cy="1078992"/>
          </a:xfrm>
          <a:prstGeom prst="roundRect">
            <a:avLst>
              <a:gd name="adj" fmla="val 6780"/>
            </a:avLst>
          </a:prstGeom>
          <a:solidFill>
            <a:schemeClr val="bg2"/>
          </a:solidFill>
          <a:ln/>
        </p:spPr>
      </p:sp>
      <p:sp>
        <p:nvSpPr>
          <p:cNvPr id="16" name="Text 12"/>
          <p:cNvSpPr txBox="1"/>
          <p:nvPr/>
        </p:nvSpPr>
        <p:spPr>
          <a:xfrm>
            <a:off x="7909560" y="5175504"/>
            <a:ext cx="1417320" cy="8686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3.6 ms</a:t>
            </a:r>
            <a:endParaRPr lang="en-US" sz="2800" dirty="0"/>
          </a:p>
        </p:txBody>
      </p:sp>
      <p:sp>
        <p:nvSpPr>
          <p:cNvPr id="17" name="Text 13"/>
          <p:cNvSpPr txBox="1"/>
          <p:nvPr/>
        </p:nvSpPr>
        <p:spPr>
          <a:xfrm>
            <a:off x="9372600" y="5175504"/>
            <a:ext cx="2148840" cy="868680"/>
          </a:xfrm>
          <a:prstGeom prst="rect">
            <a:avLst/>
          </a:prstGeom>
          <a:noFill/>
          <a:ln/>
        </p:spPr>
        <p:txBody>
          <a:bodyPr wrap="square" lIns="0" tIns="0" rIns="0" bIns="0" rtlCol="0" anchor="ctr"/>
          <a:lstStyle/>
          <a:p>
            <a:pPr indent="0" marL="0">
              <a:buNone/>
            </a:pPr>
            <a:r>
              <a:rPr lang="en-US" sz="1350" dirty="0">
                <a:solidFill>
                  <a:schemeClr val="tx1"/>
                </a:solidFill>
              </a:rPr>
              <a:t>median search time; +6.4 classrooms on average with multi-storey</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RQ2C · BRIDGE TYPE SELECTION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Cheapest Bridge for Each Gap</a:t>
            </a:r>
            <a:endParaRPr lang="en-US" sz="3200" dirty="0"/>
          </a:p>
        </p:txBody>
      </p:sp>
      <p:graphicFrame>
        <p:nvGraphicFramePr>
          <p:cNvPr id="35" name="bridge selection table"/>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822960"/>
                <a:gridCol w="2286000"/>
                <a:gridCol w="1097280"/>
                <a:gridCol w="1005840"/>
                <a:gridCol w="822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Gap</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Lowest-cost design</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Spans</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6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box culvert</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₱3.33M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₱555k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box culvert</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 × 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₱5.60M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₱467k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 × 20.0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₱21.79M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₱1,089k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15.0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₱27.82M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₱927k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22.5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₱33.70M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₱749k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60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20.0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₱41.43M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₱690k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90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4 × 22.5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₱55.43M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₱616k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RC deck girder (RCDG)</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5 × 24.0 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₱68.28M</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₱569k</a:t>
                      </a:r>
                      <a:endParaRPr lang="en-US" sz="1300" dirty="0">
                        <a:latin typeface="Calibri" charset="0"/>
                        <a:ea typeface="Calibri" charset="0"/>
                        <a:cs typeface="Calibri" charset="0"/>
                      </a:endParaRPr>
                    </a:p>
                  </a:txBody>
                  <a:tcPr marL="73152" marR="73152"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pic>
        <p:nvPicPr>
          <p:cNvPr id="6" name="elev_rcdg60.png" descr="Three-span RCDG elevation">    </p:cNvPr>
          <p:cNvPicPr>
            <a:picLocks noChangeAspect="1"/>
          </p:cNvPicPr>
          <p:nvPr/>
        </p:nvPicPr>
        <p:blipFill>
          <a:blip r:embed="rId1"/>
          <a:stretch>
            <a:fillRect/>
          </a:stretch>
        </p:blipFill>
        <p:spPr>
          <a:xfrm>
            <a:off x="6812280" y="1539062"/>
            <a:ext cx="4828032" cy="1310996"/>
          </a:xfrm>
          <a:prstGeom prst="rect">
            <a:avLst/>
          </a:prstGeom>
        </p:spPr>
      </p:pic>
      <p:pic>
        <p:nvPicPr>
          <p:cNvPr id="7" name="elev_truss45.png" descr="Steel truss elevation">    </p:cNvPr>
          <p:cNvPicPr>
            <a:picLocks noChangeAspect="1"/>
          </p:cNvPicPr>
          <p:nvPr/>
        </p:nvPicPr>
        <p:blipFill>
          <a:blip r:embed="rId2"/>
          <a:stretch>
            <a:fillRect/>
          </a:stretch>
        </p:blipFill>
        <p:spPr>
          <a:xfrm>
            <a:off x="6887379" y="3063240"/>
            <a:ext cx="4677833" cy="1554480"/>
          </a:xfrm>
          <a:prstGeom prst="rect">
            <a:avLst/>
          </a:prstGeom>
        </p:spPr>
      </p:pic>
      <p:pic>
        <p:nvPicPr>
          <p:cNvPr id="8" name="elev_bc3.png" descr="Box culvert elevation">    </p:cNvPr>
          <p:cNvPicPr>
            <a:picLocks noChangeAspect="1"/>
          </p:cNvPicPr>
          <p:nvPr/>
        </p:nvPicPr>
        <p:blipFill>
          <a:blip r:embed="rId3"/>
          <a:stretch>
            <a:fillRect/>
          </a:stretch>
        </p:blipFill>
        <p:spPr>
          <a:xfrm>
            <a:off x="7651832" y="4754880"/>
            <a:ext cx="3148927" cy="146304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RQ3 · STANDARDS-BASED ENGINE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Accuracy of the Quantity Take-Off</a:t>
            </a:r>
            <a:endParaRPr lang="en-US" sz="3200" dirty="0"/>
          </a:p>
        </p:txBody>
      </p:sp>
      <p:sp>
        <p:nvSpPr>
          <p:cNvPr id="5" name="card"/>
          <p:cNvSpPr/>
          <p:nvPr/>
        </p:nvSpPr>
        <p:spPr>
          <a:xfrm>
            <a:off x="548640" y="1463040"/>
            <a:ext cx="3291840" cy="1417320"/>
          </a:xfrm>
          <a:prstGeom prst="roundRect">
            <a:avLst>
              <a:gd name="adj" fmla="val 5161"/>
            </a:avLst>
          </a:prstGeom>
          <a:solidFill>
            <a:schemeClr val="bg2"/>
          </a:solidFill>
          <a:ln/>
        </p:spPr>
      </p:sp>
      <p:sp>
        <p:nvSpPr>
          <p:cNvPr id="6" name="Text 3"/>
          <p:cNvSpPr txBox="1"/>
          <p:nvPr/>
        </p:nvSpPr>
        <p:spPr>
          <a:xfrm>
            <a:off x="777240" y="15727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5.21%</a:t>
            </a:r>
            <a:endParaRPr lang="en-US" sz="4000" dirty="0"/>
          </a:p>
        </p:txBody>
      </p:sp>
      <p:sp>
        <p:nvSpPr>
          <p:cNvPr id="7" name="Text 4"/>
          <p:cNvSpPr txBox="1"/>
          <p:nvPr/>
        </p:nvSpPr>
        <p:spPr>
          <a:xfrm>
            <a:off x="777240" y="2359152"/>
            <a:ext cx="2926080" cy="411480"/>
          </a:xfrm>
          <a:prstGeom prst="rect">
            <a:avLst/>
          </a:prstGeom>
          <a:noFill/>
          <a:ln/>
        </p:spPr>
        <p:txBody>
          <a:bodyPr wrap="square" lIns="0" tIns="0" rIns="0" bIns="0" rtlCol="0" anchor="t"/>
          <a:lstStyle/>
          <a:p>
            <a:pPr indent="0" marL="0">
              <a:buNone/>
            </a:pPr>
            <a:r>
              <a:rPr lang="en-US" sz="1500" dirty="0">
                <a:solidFill>
                  <a:schemeClr val="tx1"/>
                </a:solidFill>
              </a:rPr>
              <a:t>MAPE, buildings</a:t>
            </a:r>
            <a:endParaRPr lang="en-US" sz="1500" dirty="0"/>
          </a:p>
        </p:txBody>
      </p:sp>
      <p:sp>
        <p:nvSpPr>
          <p:cNvPr id="8" name="card"/>
          <p:cNvSpPr/>
          <p:nvPr/>
        </p:nvSpPr>
        <p:spPr>
          <a:xfrm>
            <a:off x="548640" y="3063240"/>
            <a:ext cx="3291840" cy="1417320"/>
          </a:xfrm>
          <a:prstGeom prst="roundRect">
            <a:avLst>
              <a:gd name="adj" fmla="val 5161"/>
            </a:avLst>
          </a:prstGeom>
          <a:solidFill>
            <a:schemeClr val="bg2"/>
          </a:solidFill>
          <a:ln/>
        </p:spPr>
      </p:sp>
      <p:sp>
        <p:nvSpPr>
          <p:cNvPr id="9" name="Text 6"/>
          <p:cNvSpPr txBox="1"/>
          <p:nvPr/>
        </p:nvSpPr>
        <p:spPr>
          <a:xfrm>
            <a:off x="777240" y="31729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7.67%</a:t>
            </a:r>
            <a:endParaRPr lang="en-US" sz="4000" dirty="0"/>
          </a:p>
        </p:txBody>
      </p:sp>
      <p:sp>
        <p:nvSpPr>
          <p:cNvPr id="10" name="Text 7"/>
          <p:cNvSpPr txBox="1"/>
          <p:nvPr/>
        </p:nvSpPr>
        <p:spPr>
          <a:xfrm>
            <a:off x="777240" y="3959352"/>
            <a:ext cx="2926080" cy="411480"/>
          </a:xfrm>
          <a:prstGeom prst="rect">
            <a:avLst/>
          </a:prstGeom>
          <a:noFill/>
          <a:ln/>
        </p:spPr>
        <p:txBody>
          <a:bodyPr wrap="square" lIns="0" tIns="0" rIns="0" bIns="0" rtlCol="0" anchor="t"/>
          <a:lstStyle/>
          <a:p>
            <a:pPr indent="0" marL="0">
              <a:buNone/>
            </a:pPr>
            <a:r>
              <a:rPr lang="en-US" sz="1500" dirty="0">
                <a:solidFill>
                  <a:schemeClr val="tx1"/>
                </a:solidFill>
              </a:rPr>
              <a:t>MAPE, bridges</a:t>
            </a:r>
            <a:endParaRPr lang="en-US" sz="1500" dirty="0"/>
          </a:p>
        </p:txBody>
      </p:sp>
      <p:sp>
        <p:nvSpPr>
          <p:cNvPr id="11" name="card"/>
          <p:cNvSpPr/>
          <p:nvPr/>
        </p:nvSpPr>
        <p:spPr>
          <a:xfrm>
            <a:off x="548640" y="4663440"/>
            <a:ext cx="3291840" cy="1417320"/>
          </a:xfrm>
          <a:prstGeom prst="roundRect">
            <a:avLst>
              <a:gd name="adj" fmla="val 5161"/>
            </a:avLst>
          </a:prstGeom>
          <a:solidFill>
            <a:schemeClr val="bg2"/>
          </a:solidFill>
          <a:ln/>
        </p:spPr>
      </p:sp>
      <p:sp>
        <p:nvSpPr>
          <p:cNvPr id="12" name="Text 9"/>
          <p:cNvSpPr txBox="1"/>
          <p:nvPr/>
        </p:nvSpPr>
        <p:spPr>
          <a:xfrm>
            <a:off x="777240" y="4773168"/>
            <a:ext cx="292608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0.98</a:t>
            </a:r>
            <a:endParaRPr lang="en-US" sz="4000" dirty="0"/>
          </a:p>
        </p:txBody>
      </p:sp>
      <p:sp>
        <p:nvSpPr>
          <p:cNvPr id="13" name="Text 10"/>
          <p:cNvSpPr txBox="1"/>
          <p:nvPr/>
        </p:nvSpPr>
        <p:spPr>
          <a:xfrm>
            <a:off x="777240" y="5559552"/>
            <a:ext cx="2926080" cy="411480"/>
          </a:xfrm>
          <a:prstGeom prst="rect">
            <a:avLst/>
          </a:prstGeom>
          <a:noFill/>
          <a:ln/>
        </p:spPr>
        <p:txBody>
          <a:bodyPr wrap="square" lIns="0" tIns="0" rIns="0" bIns="0" rtlCol="0" anchor="t"/>
          <a:lstStyle/>
          <a:p>
            <a:pPr indent="0" marL="0">
              <a:buNone/>
            </a:pPr>
            <a:r>
              <a:rPr lang="en-US" sz="1500" dirty="0">
                <a:solidFill>
                  <a:schemeClr val="tx1"/>
                </a:solidFill>
              </a:rPr>
              <a:t>R², both asset classes</a:t>
            </a:r>
            <a:endParaRPr lang="en-US" sz="1500" dirty="0"/>
          </a:p>
        </p:txBody>
      </p:sp>
      <p:graphicFrame>
        <p:nvGraphicFramePr>
          <p:cNvPr id="14" name="tier accuracy chart" descr="Clustered column chart of tier coverage"/>
          <p:cNvGraphicFramePr/>
          <p:nvPr/>
        </p:nvGraphicFramePr>
        <p:xfrm>
          <a:off x="4114800" y="1463040"/>
          <a:ext cx="7525512"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RQ3 · REFERENCE PLANS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Quotations for the 19 Reference Plans</a:t>
            </a:r>
            <a:endParaRPr lang="en-US" sz="3200" dirty="0"/>
          </a:p>
        </p:txBody>
      </p:sp>
      <p:graphicFrame>
        <p:nvGraphicFramePr>
          <p:cNvPr id="37" name="reference quotation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5605272"/>
                <a:gridCol w="1463040"/>
                <a:gridCol w="1371600"/>
                <a:gridCol w="1371600"/>
                <a:gridCol w="1280160"/>
              </a:tblGrid>
              <a:tr h="3383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Reference plan</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Lean (start)</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Ceiling</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Saving</a:t>
                      </a:r>
                      <a:endParaRPr lang="en-US" sz="130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1-storey 2-classroom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₱4.63M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₱5.31M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₱6.41M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12.9%</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4-classroom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₱7.88M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₱9.10M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₱11.49M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13.5%</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3-storey 9-classroom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₱17.28M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₱20.03M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₱25.37M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4-storey 12-classroom school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₱29.08M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₱33.80M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₱42.89M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14.0%</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Barangay health station</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₱3.07M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₱3.66M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₱4.63M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16.0%</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rural health unit / birthing facility</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₱12.83M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₱15.66M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₱20.08M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18.1%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Multi-purpose evacuation center, 600 m²</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₱14.00M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₱16.13M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₱20.34M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13.2%</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2-storey municipal office building</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₱15.03M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₱18.20M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₱23.21M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Public market, 1-storey</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₱23.49M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₱27.13M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₱34.42M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13.4%</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Single-lane farm-to-market RCDG bridge 1 × 12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₱5.78M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₱6.22M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RCDG bridge 3 × 20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₱39.07M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₱42.04M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₱50.12M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7.1%</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PSCG bridge 2 × 30 m (AASHTO Type IV)</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₱56.28M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₱59.00M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₱67.09M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38328">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Two-lane steel truss bridge 1 × 50 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b="1" dirty="0">
                          <a:solidFill>
                            <a:srgbClr val="12345A"/>
                          </a:solidFill>
                          <a:latin typeface="Calibri" pitchFamily="34" charset="0"/>
                          <a:ea typeface="Calibri" pitchFamily="34" charset="-122"/>
                          <a:cs typeface="Calibri" pitchFamily="34" charset="-120"/>
                        </a:rPr>
                        <a:t>₱62.19M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₱65.79M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₱79.88M</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250" dirty="0">
                          <a:solidFill>
                            <a:srgbClr val="14202E"/>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RQ4 · MACHINE-LEARNING MODELS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Regression and XGBoost under LOOCV</a:t>
            </a:r>
            <a:endParaRPr lang="en-US" sz="3200" dirty="0"/>
          </a:p>
        </p:txBody>
      </p:sp>
      <p:graphicFrame>
        <p:nvGraphicFramePr>
          <p:cNvPr id="5" name="MAPE chart" descr="MAPE of MLR and XGBoost by asset class"/>
          <p:cNvGraphicFramePr/>
          <p:nvPr/>
        </p:nvGraphicFramePr>
        <p:xfrm>
          <a:off x="548640" y="1463040"/>
          <a:ext cx="603504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8" name="LOOCV table"/>
          <p:cNvGraphicFramePr>
            <a:graphicFrameLocks noGrp="1"/>
          </p:cNvGraphicFramePr>
          <p:nvPr>
            <p:extLst>
              <p:ext uri="{D42A27DB-BD31-4B8C-83A1-F6EECF244321}">
                <p14:modId xmlns:p14="http://schemas.microsoft.com/office/powerpoint/2010/main" val="1579011935"/>
              </p:ext>
            </p:extLst>
          </p:nvPr>
        </p:nvGraphicFramePr>
        <p:xfrm>
          <a:off x="6812280" y="1463040"/>
          <a:ext cx="4828032" cy="914400"/>
        </p:xfrm>
        <a:graphic>
          <a:graphicData uri="http://schemas.openxmlformats.org/drawingml/2006/table">
            <a:tbl>
              <a:tblPr/>
              <a:tblGrid>
                <a:gridCol w="1920240"/>
                <a:gridCol w="1453896"/>
                <a:gridCol w="1453896"/>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LOOCV</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Buildings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Bridges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MLR R²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0.8112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0.8640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MLR MAPE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13.43%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65.65%</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XGBoost R²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0.7874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0.8630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algn="ctr" indent="0" marL="0">
                        <a:buNone/>
                      </a:pPr>
                      <a:r>
                        <a:rPr lang="en-US" sz="1400" b="1" dirty="0">
                          <a:solidFill>
                            <a:srgbClr val="14202E"/>
                          </a:solidFill>
                          <a:latin typeface="Calibri" pitchFamily="34" charset="0"/>
                          <a:ea typeface="Calibri" pitchFamily="34" charset="-122"/>
                          <a:cs typeface="Calibri" pitchFamily="34" charset="-120"/>
                        </a:rPr>
                        <a:t>XGBoost MAPE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13.94%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b="1" dirty="0">
                          <a:solidFill>
                            <a:srgbClr val="1F7A5A"/>
                          </a:solidFill>
                          <a:latin typeface="Calibri" pitchFamily="34" charset="0"/>
                          <a:ea typeface="Calibri" pitchFamily="34" charset="-122"/>
                          <a:cs typeface="Calibri" pitchFamily="34" charset="-120"/>
                        </a:rPr>
                        <a:t>19.18%</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7" name="card"/>
          <p:cNvSpPr/>
          <p:nvPr/>
        </p:nvSpPr>
        <p:spPr>
          <a:xfrm>
            <a:off x="6812280" y="3886200"/>
            <a:ext cx="4828032" cy="2331720"/>
          </a:xfrm>
          <a:prstGeom prst="roundRect">
            <a:avLst>
              <a:gd name="adj" fmla="val 3137"/>
            </a:avLst>
          </a:prstGeom>
          <a:solidFill>
            <a:schemeClr val="bg2"/>
          </a:solidFill>
          <a:ln/>
        </p:spPr>
      </p:sp>
      <p:sp>
        <p:nvSpPr>
          <p:cNvPr id="8" name="Text 3"/>
          <p:cNvSpPr txBox="1"/>
          <p:nvPr/>
        </p:nvSpPr>
        <p:spPr>
          <a:xfrm>
            <a:off x="7040880" y="4023360"/>
            <a:ext cx="4434840" cy="210312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Buildings: </a:t>
            </a:r>
            <a:pPr indent="0" marL="0">
              <a:buNone/>
            </a:pPr>
            <a:r>
              <a:rPr lang="en-US" sz="1400" dirty="0">
                <a:solidFill>
                  <a:schemeClr val="tx1"/>
                </a:solidFill>
              </a:rPr>
              <a:t>each m² of GFA adds about ₱20,379 (t = 8.68); regression as good as XGBoost</a:t>
            </a:r>
            <a:endParaRPr lang="en-US" sz="1400" dirty="0"/>
          </a:p>
          <a:p>
            <a:pPr marL="342900" indent="-342900">
              <a:spcAft>
                <a:spcPts val="800"/>
              </a:spcAft>
              <a:buSzPct val="100000"/>
              <a:buChar char="•"/>
            </a:pPr>
            <a:r>
              <a:rPr lang="en-US" sz="1400" b="1" dirty="0">
                <a:solidFill>
                  <a:schemeClr val="tx1"/>
                </a:solidFill>
              </a:rPr>
              <a:t>Bridges: </a:t>
            </a:r>
            <a:pPr indent="0" marL="0">
              <a:buNone/>
            </a:pPr>
            <a:r>
              <a:rPr lang="en-US" sz="1400" dirty="0">
                <a:solidFill>
                  <a:schemeClr val="tx1"/>
                </a:solidFill>
              </a:rPr>
              <a:t>deck area (VIF 44.40) removed; XGBoost cuts MAPE from 65.65% to 19.18%</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RQ4 · EXPLANATIONS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Drives Cost: SHAP</a:t>
            </a:r>
            <a:endParaRPr lang="en-US" sz="3200" dirty="0"/>
          </a:p>
        </p:txBody>
      </p:sp>
      <p:pic>
        <p:nvPicPr>
          <p:cNvPr id="5" name="shap_building.png" descr="SHAP values, buildings">    </p:cNvPr>
          <p:cNvPicPr>
            <a:picLocks noChangeAspect="1"/>
          </p:cNvPicPr>
          <p:nvPr/>
        </p:nvPicPr>
        <p:blipFill>
          <a:blip r:embed="rId1"/>
          <a:stretch>
            <a:fillRect/>
          </a:stretch>
        </p:blipFill>
        <p:spPr>
          <a:xfrm>
            <a:off x="548640" y="1813560"/>
            <a:ext cx="5486400" cy="3505200"/>
          </a:xfrm>
          <a:prstGeom prst="rect">
            <a:avLst/>
          </a:prstGeom>
        </p:spPr>
      </p:pic>
      <p:pic>
        <p:nvPicPr>
          <p:cNvPr id="6" name="shap_bridge.png" descr="SHAP values, bridges">    </p:cNvPr>
          <p:cNvPicPr>
            <a:picLocks noChangeAspect="1"/>
          </p:cNvPicPr>
          <p:nvPr/>
        </p:nvPicPr>
        <p:blipFill>
          <a:blip r:embed="rId2"/>
          <a:stretch>
            <a:fillRect/>
          </a:stretch>
        </p:blipFill>
        <p:spPr>
          <a:xfrm>
            <a:off x="6153912" y="1813560"/>
            <a:ext cx="5486400" cy="3505200"/>
          </a:xfrm>
          <a:prstGeom prst="rect">
            <a:avLst/>
          </a:prstGeom>
        </p:spPr>
      </p:pic>
      <p:sp>
        <p:nvSpPr>
          <p:cNvPr id="7" name="Text 2"/>
          <p:cNvSpPr txBox="1"/>
          <p:nvPr/>
        </p:nvSpPr>
        <p:spPr>
          <a:xfrm>
            <a:off x="548640"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Buildings: GFA dominates (mean |SHAP| = 0.343)</a:t>
            </a:r>
            <a:endParaRPr lang="en-US" sz="1400" dirty="0"/>
          </a:p>
        </p:txBody>
      </p:sp>
      <p:sp>
        <p:nvSpPr>
          <p:cNvPr id="8" name="Text 3"/>
          <p:cNvSpPr txBox="1"/>
          <p:nvPr/>
        </p:nvSpPr>
        <p:spPr>
          <a:xfrm>
            <a:off x="6153912"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Bridges: deck area, pile length, total length, foundation</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RQ5 · DETECTION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Catching Over-Budgeted Contracts</a:t>
            </a:r>
            <a:endParaRPr lang="en-US" sz="3200" dirty="0"/>
          </a:p>
        </p:txBody>
      </p:sp>
      <p:graphicFrame>
        <p:nvGraphicFramePr>
          <p:cNvPr id="5" name="detection chart" descr="Recall, F1 and AUC by detection signal"/>
          <p:cNvGraphicFramePr/>
          <p:nvPr/>
        </p:nvGraphicFramePr>
        <p:xfrm>
          <a:off x="548640" y="146304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726680" y="1463040"/>
            <a:ext cx="3913632" cy="1417320"/>
          </a:xfrm>
          <a:prstGeom prst="roundRect">
            <a:avLst>
              <a:gd name="adj" fmla="val 5161"/>
            </a:avLst>
          </a:prstGeom>
          <a:solidFill>
            <a:schemeClr val="tx2"/>
          </a:solidFill>
          <a:ln/>
        </p:spPr>
      </p:sp>
      <p:sp>
        <p:nvSpPr>
          <p:cNvPr id="7" name="Text 3"/>
          <p:cNvSpPr txBox="1"/>
          <p:nvPr/>
        </p:nvSpPr>
        <p:spPr>
          <a:xfrm>
            <a:off x="7955280" y="1572768"/>
            <a:ext cx="347472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34 / 36</a:t>
            </a:r>
            <a:endParaRPr lang="en-US" sz="3400" dirty="0"/>
          </a:p>
        </p:txBody>
      </p:sp>
      <p:sp>
        <p:nvSpPr>
          <p:cNvPr id="8" name="Text 4"/>
          <p:cNvSpPr txBox="1"/>
          <p:nvPr/>
        </p:nvSpPr>
        <p:spPr>
          <a:xfrm>
            <a:off x="7955280" y="2331720"/>
            <a:ext cx="3474720" cy="457200"/>
          </a:xfrm>
          <a:prstGeom prst="rect">
            <a:avLst/>
          </a:prstGeom>
          <a:noFill/>
          <a:ln/>
        </p:spPr>
        <p:txBody>
          <a:bodyPr wrap="square" lIns="0" tIns="0" rIns="0" bIns="0" rtlCol="0" anchor="t"/>
          <a:lstStyle/>
          <a:p>
            <a:pPr indent="0" marL="0">
              <a:buNone/>
            </a:pPr>
            <a:r>
              <a:rPr lang="en-US" sz="1400" dirty="0">
                <a:solidFill>
                  <a:schemeClr val="bg1"/>
                </a:solidFill>
              </a:rPr>
              <a:t>padded contracts caught by the Risk Index</a:t>
            </a:r>
            <a:endParaRPr lang="en-US" sz="1400" dirty="0"/>
          </a:p>
        </p:txBody>
      </p:sp>
      <p:sp>
        <p:nvSpPr>
          <p:cNvPr id="9" name="card"/>
          <p:cNvSpPr/>
          <p:nvPr/>
        </p:nvSpPr>
        <p:spPr>
          <a:xfrm>
            <a:off x="7726680" y="3063240"/>
            <a:ext cx="3913632" cy="1417320"/>
          </a:xfrm>
          <a:prstGeom prst="roundRect">
            <a:avLst>
              <a:gd name="adj" fmla="val 5161"/>
            </a:avLst>
          </a:prstGeom>
          <a:solidFill>
            <a:schemeClr val="bg2"/>
          </a:solidFill>
          <a:ln/>
        </p:spPr>
      </p:sp>
      <p:sp>
        <p:nvSpPr>
          <p:cNvPr id="10" name="Text 6"/>
          <p:cNvSpPr txBox="1"/>
          <p:nvPr/>
        </p:nvSpPr>
        <p:spPr>
          <a:xfrm>
            <a:off x="7955280" y="3172968"/>
            <a:ext cx="3474720" cy="73152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0.927</a:t>
            </a:r>
            <a:endParaRPr lang="en-US" sz="3400" dirty="0"/>
          </a:p>
        </p:txBody>
      </p:sp>
      <p:sp>
        <p:nvSpPr>
          <p:cNvPr id="11" name="Text 7"/>
          <p:cNvSpPr txBox="1"/>
          <p:nvPr/>
        </p:nvSpPr>
        <p:spPr>
          <a:xfrm>
            <a:off x="7955280" y="3931920"/>
            <a:ext cx="3474720" cy="457200"/>
          </a:xfrm>
          <a:prstGeom prst="rect">
            <a:avLst/>
          </a:prstGeom>
          <a:noFill/>
          <a:ln/>
        </p:spPr>
        <p:txBody>
          <a:bodyPr wrap="square" lIns="0" tIns="0" rIns="0" bIns="0" rtlCol="0" anchor="t"/>
          <a:lstStyle/>
          <a:p>
            <a:pPr indent="0" marL="0">
              <a:buNone/>
            </a:pPr>
            <a:r>
              <a:rPr lang="en-US" sz="1400" dirty="0">
                <a:solidFill>
                  <a:schemeClr val="tx1"/>
                </a:solidFill>
              </a:rPr>
              <a:t>F1-score for buildings</a:t>
            </a:r>
            <a:endParaRPr lang="en-US" sz="1400" dirty="0"/>
          </a:p>
        </p:txBody>
      </p:sp>
      <p:sp>
        <p:nvSpPr>
          <p:cNvPr id="12" name="card"/>
          <p:cNvSpPr/>
          <p:nvPr/>
        </p:nvSpPr>
        <p:spPr>
          <a:xfrm>
            <a:off x="7726680" y="4663440"/>
            <a:ext cx="3913632" cy="1417320"/>
          </a:xfrm>
          <a:prstGeom prst="roundRect">
            <a:avLst>
              <a:gd name="adj" fmla="val 5161"/>
            </a:avLst>
          </a:prstGeom>
          <a:solidFill>
            <a:schemeClr val="bg2"/>
          </a:solidFill>
          <a:ln/>
        </p:spPr>
      </p:sp>
      <p:sp>
        <p:nvSpPr>
          <p:cNvPr id="13" name="Text 9"/>
          <p:cNvSpPr txBox="1"/>
          <p:nvPr/>
        </p:nvSpPr>
        <p:spPr>
          <a:xfrm>
            <a:off x="7955280" y="4773168"/>
            <a:ext cx="347472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27.8%</a:t>
            </a:r>
            <a:endParaRPr lang="en-US" sz="3400" dirty="0"/>
          </a:p>
        </p:txBody>
      </p:sp>
      <p:sp>
        <p:nvSpPr>
          <p:cNvPr id="14" name="Text 10"/>
          <p:cNvSpPr txBox="1"/>
          <p:nvPr/>
        </p:nvSpPr>
        <p:spPr>
          <a:xfrm>
            <a:off x="7955280" y="5532120"/>
            <a:ext cx="3474720" cy="457200"/>
          </a:xfrm>
          <a:prstGeom prst="rect">
            <a:avLst/>
          </a:prstGeom>
          <a:noFill/>
          <a:ln/>
        </p:spPr>
        <p:txBody>
          <a:bodyPr wrap="square" lIns="0" tIns="0" rIns="0" bIns="0" rtlCol="0" anchor="t"/>
          <a:lstStyle/>
          <a:p>
            <a:pPr indent="0" marL="0">
              <a:buNone/>
            </a:pPr>
            <a:r>
              <a:rPr lang="en-US" sz="1400" dirty="0">
                <a:solidFill>
                  <a:schemeClr val="tx1"/>
                </a:solidFill>
              </a:rPr>
              <a:t>recall of Isolation Forest alone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RQ5 · DETECTION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a Reference Price Matters</a:t>
            </a:r>
            <a:endParaRPr lang="en-US" sz="3200" dirty="0"/>
          </a:p>
        </p:txBody>
      </p:sp>
      <p:pic>
        <p:nvPicPr>
          <p:cNvPr id="5" name="obr_hist.png" descr="Distribution of the over-budget ratio">    </p:cNvPr>
          <p:cNvPicPr>
            <a:picLocks noChangeAspect="1"/>
          </p:cNvPicPr>
          <p:nvPr/>
        </p:nvPicPr>
        <p:blipFill>
          <a:blip r:embed="rId1"/>
          <a:stretch>
            <a:fillRect/>
          </a:stretch>
        </p:blipFill>
        <p:spPr>
          <a:xfrm>
            <a:off x="548640" y="1796354"/>
            <a:ext cx="5486400" cy="3539613"/>
          </a:xfrm>
          <a:prstGeom prst="rect">
            <a:avLst/>
          </a:prstGeom>
        </p:spPr>
      </p:pic>
      <p:pic>
        <p:nvPicPr>
          <p:cNvPr id="6" name="roc_pooled.png" descr="ROC curves of the screening signals">    </p:cNvPr>
          <p:cNvPicPr>
            <a:picLocks noChangeAspect="1"/>
          </p:cNvPicPr>
          <p:nvPr/>
        </p:nvPicPr>
        <p:blipFill>
          <a:blip r:embed="rId2"/>
          <a:stretch>
            <a:fillRect/>
          </a:stretch>
        </p:blipFill>
        <p:spPr>
          <a:xfrm>
            <a:off x="6355842" y="1463040"/>
            <a:ext cx="5082540" cy="4206240"/>
          </a:xfrm>
          <a:prstGeom prst="rect">
            <a:avLst/>
          </a:prstGeom>
        </p:spPr>
      </p:pic>
      <p:sp>
        <p:nvSpPr>
          <p:cNvPr id="7" name="Text 2"/>
          <p:cNvSpPr txBox="1"/>
          <p:nvPr/>
        </p:nvSpPr>
        <p:spPr>
          <a:xfrm>
            <a:off x="548640"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Over-budget ratio: injected vs. non-injected</a:t>
            </a:r>
            <a:endParaRPr lang="en-US" sz="1400" dirty="0"/>
          </a:p>
        </p:txBody>
      </p:sp>
      <p:sp>
        <p:nvSpPr>
          <p:cNvPr id="8" name="Text 3"/>
          <p:cNvSpPr txBox="1"/>
          <p:nvPr/>
        </p:nvSpPr>
        <p:spPr>
          <a:xfrm>
            <a:off x="6153912" y="5760720"/>
            <a:ext cx="5486400" cy="411480"/>
          </a:xfrm>
          <a:prstGeom prst="rect">
            <a:avLst/>
          </a:prstGeom>
          <a:noFill/>
          <a:ln/>
        </p:spPr>
        <p:txBody>
          <a:bodyPr wrap="square" lIns="0" tIns="0" rIns="0" bIns="0" rtlCol="0" anchor="t"/>
          <a:lstStyle/>
          <a:p>
            <a:pPr algn="ctr" indent="0" marL="0">
              <a:buNone/>
            </a:pPr>
            <a:r>
              <a:rPr lang="en-US" sz="1400" dirty="0">
                <a:solidFill>
                  <a:srgbClr val="44505E"/>
                </a:solidFill>
              </a:rPr>
              <a:t>ROC curves: Risk Index AUC 0.987 vs. Isolation Forest 0.731</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RQ6 · DEPLOYMENT</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BUHAY-AH as an App and Website</a:t>
            </a:r>
            <a:endParaRPr lang="en-US" sz="3200" dirty="0"/>
          </a:p>
        </p:txBody>
      </p:sp>
      <p:pic>
        <p:nvPicPr>
          <p:cNvPr id="5" name="app_design_budget.png" descr="Design from a budget">    </p:cNvPr>
          <p:cNvPicPr>
            <a:picLocks noChangeAspect="1"/>
          </p:cNvPicPr>
          <p:nvPr/>
        </p:nvPicPr>
        <p:blipFill>
          <a:blip r:embed="rId1"/>
          <a:stretch>
            <a:fillRect/>
          </a:stretch>
        </p:blipFill>
        <p:spPr>
          <a:xfrm>
            <a:off x="1662188" y="1417320"/>
            <a:ext cx="3195296" cy="2011680"/>
          </a:xfrm>
          <a:prstGeom prst="rect">
            <a:avLst/>
          </a:prstGeom>
        </p:spPr>
      </p:pic>
      <p:sp>
        <p:nvSpPr>
          <p:cNvPr id="6" name="Text 2"/>
          <p:cNvSpPr txBox="1"/>
          <p:nvPr/>
        </p:nvSpPr>
        <p:spPr>
          <a:xfrm>
            <a:off x="548640" y="3429000"/>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Design from a budget</a:t>
            </a:r>
            <a:endParaRPr lang="en-US" sz="1300" dirty="0"/>
          </a:p>
        </p:txBody>
      </p:sp>
      <p:pic>
        <p:nvPicPr>
          <p:cNvPr id="7" name="app_quote.png" descr="Quote: three tiers and ABC">    </p:cNvPr>
          <p:cNvPicPr>
            <a:picLocks noChangeAspect="1"/>
          </p:cNvPicPr>
          <p:nvPr/>
        </p:nvPicPr>
        <p:blipFill>
          <a:blip r:embed="rId2"/>
          <a:stretch>
            <a:fillRect/>
          </a:stretch>
        </p:blipFill>
        <p:spPr>
          <a:xfrm>
            <a:off x="7331468" y="1417320"/>
            <a:ext cx="3195296" cy="2011680"/>
          </a:xfrm>
          <a:prstGeom prst="rect">
            <a:avLst/>
          </a:prstGeom>
        </p:spPr>
      </p:pic>
      <p:sp>
        <p:nvSpPr>
          <p:cNvPr id="8" name="Text 3"/>
          <p:cNvSpPr txBox="1"/>
          <p:nvPr/>
        </p:nvSpPr>
        <p:spPr>
          <a:xfrm>
            <a:off x="6217920" y="3429000"/>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Quote: three tiers and ABC</a:t>
            </a:r>
            <a:endParaRPr lang="en-US" sz="1300" dirty="0"/>
          </a:p>
        </p:txBody>
      </p:sp>
      <p:pic>
        <p:nvPicPr>
          <p:cNvPr id="9" name="app_check.png" descr="Check: risk index and SHAP">    </p:cNvPr>
          <p:cNvPicPr>
            <a:picLocks noChangeAspect="1"/>
          </p:cNvPicPr>
          <p:nvPr/>
        </p:nvPicPr>
        <p:blipFill>
          <a:blip r:embed="rId3"/>
          <a:stretch>
            <a:fillRect/>
          </a:stretch>
        </p:blipFill>
        <p:spPr>
          <a:xfrm>
            <a:off x="1662188" y="3867912"/>
            <a:ext cx="3195296" cy="2011680"/>
          </a:xfrm>
          <a:prstGeom prst="rect">
            <a:avLst/>
          </a:prstGeom>
        </p:spPr>
      </p:pic>
      <p:sp>
        <p:nvSpPr>
          <p:cNvPr id="10" name="Text 4"/>
          <p:cNvSpPr txBox="1"/>
          <p:nvPr/>
        </p:nvSpPr>
        <p:spPr>
          <a:xfrm>
            <a:off x="548640" y="5879592"/>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Check: risk index and SHAP</a:t>
            </a:r>
            <a:endParaRPr lang="en-US" sz="1300" dirty="0"/>
          </a:p>
        </p:txBody>
      </p:sp>
      <p:pic>
        <p:nvPicPr>
          <p:cNvPr id="11" name="site_home.png" descr="Download website">    </p:cNvPr>
          <p:cNvPicPr>
            <a:picLocks noChangeAspect="1"/>
          </p:cNvPicPr>
          <p:nvPr/>
        </p:nvPicPr>
        <p:blipFill>
          <a:blip r:embed="rId4"/>
          <a:stretch>
            <a:fillRect/>
          </a:stretch>
        </p:blipFill>
        <p:spPr>
          <a:xfrm>
            <a:off x="7331468" y="3867912"/>
            <a:ext cx="3195296" cy="2011680"/>
          </a:xfrm>
          <a:prstGeom prst="rect">
            <a:avLst/>
          </a:prstGeom>
        </p:spPr>
      </p:pic>
      <p:sp>
        <p:nvSpPr>
          <p:cNvPr id="12" name="Text 5"/>
          <p:cNvSpPr txBox="1"/>
          <p:nvPr/>
        </p:nvSpPr>
        <p:spPr>
          <a:xfrm>
            <a:off x="6217920" y="5879592"/>
            <a:ext cx="5422392" cy="320040"/>
          </a:xfrm>
          <a:prstGeom prst="rect">
            <a:avLst/>
          </a:prstGeom>
          <a:noFill/>
          <a:ln/>
        </p:spPr>
        <p:txBody>
          <a:bodyPr wrap="square" lIns="0" tIns="0" rIns="0" bIns="0" rtlCol="0" anchor="t"/>
          <a:lstStyle/>
          <a:p>
            <a:pPr algn="ctr" indent="0" marL="0">
              <a:buNone/>
            </a:pPr>
            <a:r>
              <a:rPr lang="en-US" sz="1300" dirty="0">
                <a:solidFill>
                  <a:srgbClr val="44505E"/>
                </a:solidFill>
              </a:rPr>
              <a:t>Download website</a:t>
            </a:r>
            <a:endParaRPr lang="en-US" sz="13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05</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Conclusion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What the study found</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CONCLUSION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Study Found</a:t>
            </a:r>
            <a:endParaRPr lang="en-US" sz="3200" dirty="0"/>
          </a:p>
        </p:txBody>
      </p:sp>
      <p:sp>
        <p:nvSpPr>
          <p:cNvPr id="5" name="card"/>
          <p:cNvSpPr/>
          <p:nvPr/>
        </p:nvSpPr>
        <p:spPr>
          <a:xfrm>
            <a:off x="548640" y="1554480"/>
            <a:ext cx="3520440" cy="2148840"/>
          </a:xfrm>
          <a:prstGeom prst="roundRect">
            <a:avLst>
              <a:gd name="adj" fmla="val 3404"/>
            </a:avLst>
          </a:prstGeom>
          <a:solidFill>
            <a:schemeClr val="bg2"/>
          </a:solidFill>
          <a:ln/>
        </p:spPr>
      </p:sp>
      <p:sp>
        <p:nvSpPr>
          <p:cNvPr id="6" name="icon circle"/>
          <p:cNvSpPr/>
          <p:nvPr/>
        </p:nvSpPr>
        <p:spPr>
          <a:xfrm>
            <a:off x="777240" y="1783080"/>
            <a:ext cx="640080" cy="640080"/>
          </a:xfrm>
          <a:prstGeom prst="ellipse">
            <a:avLst/>
          </a:prstGeom>
          <a:solidFill>
            <a:schemeClr val="tx2"/>
          </a:solidFill>
          <a:ln/>
        </p:spPr>
      </p:sp>
      <p:pic>
        <p:nvPicPr>
          <p:cNvPr id="7" name="icon FaRulerCombined" descr="RulerCombined icon">    </p:cNvPr>
          <p:cNvPicPr>
            <a:picLocks noChangeAspect="1"/>
          </p:cNvPicPr>
          <p:nvPr/>
        </p:nvPicPr>
        <p:blipFill>
          <a:blip r:embed="rId1"/>
          <a:stretch>
            <a:fillRect/>
          </a:stretch>
        </p:blipFill>
        <p:spPr>
          <a:xfrm>
            <a:off x="930859" y="1936699"/>
            <a:ext cx="332842" cy="332842"/>
          </a:xfrm>
          <a:prstGeom prst="rect">
            <a:avLst/>
          </a:prstGeom>
        </p:spPr>
      </p:pic>
      <p:sp>
        <p:nvSpPr>
          <p:cNvPr id="8" name="Text 4"/>
          <p:cNvSpPr txBox="1"/>
          <p:nvPr/>
        </p:nvSpPr>
        <p:spPr>
          <a:xfrm>
            <a:off x="155448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1. Plan variables</a:t>
            </a:r>
            <a:endParaRPr lang="en-US" sz="1700" dirty="0"/>
          </a:p>
        </p:txBody>
      </p:sp>
      <p:sp>
        <p:nvSpPr>
          <p:cNvPr id="9" name="Text 5"/>
          <p:cNvSpPr txBox="1"/>
          <p:nvPr/>
        </p:nvSpPr>
        <p:spPr>
          <a:xfrm>
            <a:off x="77724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9 building and 11 bridge variables from plans and standards are enough to estimate cost.</a:t>
            </a:r>
            <a:endParaRPr lang="en-US" sz="1400" dirty="0"/>
          </a:p>
        </p:txBody>
      </p:sp>
      <p:sp>
        <p:nvSpPr>
          <p:cNvPr id="10" name="card"/>
          <p:cNvSpPr/>
          <p:nvPr/>
        </p:nvSpPr>
        <p:spPr>
          <a:xfrm>
            <a:off x="4297680" y="1554480"/>
            <a:ext cx="3520440" cy="2148840"/>
          </a:xfrm>
          <a:prstGeom prst="roundRect">
            <a:avLst>
              <a:gd name="adj" fmla="val 3404"/>
            </a:avLst>
          </a:prstGeom>
          <a:solidFill>
            <a:schemeClr val="bg2"/>
          </a:solidFill>
          <a:ln/>
        </p:spPr>
      </p:sp>
      <p:sp>
        <p:nvSpPr>
          <p:cNvPr id="11" name="icon circle"/>
          <p:cNvSpPr/>
          <p:nvPr/>
        </p:nvSpPr>
        <p:spPr>
          <a:xfrm>
            <a:off x="4526280" y="1783080"/>
            <a:ext cx="640080" cy="640080"/>
          </a:xfrm>
          <a:prstGeom prst="ellipse">
            <a:avLst/>
          </a:prstGeom>
          <a:solidFill>
            <a:schemeClr val="tx2"/>
          </a:solidFill>
          <a:ln/>
        </p:spPr>
      </p:sp>
      <p:pic>
        <p:nvPicPr>
          <p:cNvPr id="12" name="icon FaCompassDrafting" descr="CompassDrafting icon">    </p:cNvPr>
          <p:cNvPicPr>
            <a:picLocks noChangeAspect="1"/>
          </p:cNvPicPr>
          <p:nvPr/>
        </p:nvPicPr>
        <p:blipFill>
          <a:blip r:embed="rId2"/>
          <a:stretch>
            <a:fillRect/>
          </a:stretch>
        </p:blipFill>
        <p:spPr>
          <a:xfrm>
            <a:off x="4679899" y="1936699"/>
            <a:ext cx="332842" cy="332842"/>
          </a:xfrm>
          <a:prstGeom prst="rect">
            <a:avLst/>
          </a:prstGeom>
        </p:spPr>
      </p:pic>
      <p:sp>
        <p:nvSpPr>
          <p:cNvPr id="13" name="Text 8"/>
          <p:cNvSpPr txBox="1"/>
          <p:nvPr/>
        </p:nvSpPr>
        <p:spPr>
          <a:xfrm>
            <a:off x="530352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2. Design generation</a:t>
            </a:r>
            <a:endParaRPr lang="en-US" sz="1700" dirty="0"/>
          </a:p>
        </p:txBody>
      </p:sp>
      <p:sp>
        <p:nvSpPr>
          <p:cNvPr id="14" name="Text 9"/>
          <p:cNvSpPr txBox="1"/>
          <p:nvPr/>
        </p:nvSpPr>
        <p:spPr>
          <a:xfrm>
            <a:off x="452628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55 modules → 54 templates; 152/152 checks; up to 10 more classrooms per budget with multi-storey.</a:t>
            </a:r>
            <a:endParaRPr lang="en-US" sz="1400" dirty="0"/>
          </a:p>
        </p:txBody>
      </p:sp>
      <p:sp>
        <p:nvSpPr>
          <p:cNvPr id="15" name="card"/>
          <p:cNvSpPr/>
          <p:nvPr/>
        </p:nvSpPr>
        <p:spPr>
          <a:xfrm>
            <a:off x="8046720" y="1554480"/>
            <a:ext cx="3520440" cy="2148840"/>
          </a:xfrm>
          <a:prstGeom prst="roundRect">
            <a:avLst>
              <a:gd name="adj" fmla="val 3404"/>
            </a:avLst>
          </a:prstGeom>
          <a:solidFill>
            <a:schemeClr val="bg2"/>
          </a:solidFill>
          <a:ln/>
        </p:spPr>
      </p:sp>
      <p:sp>
        <p:nvSpPr>
          <p:cNvPr id="16" name="icon circle"/>
          <p:cNvSpPr/>
          <p:nvPr/>
        </p:nvSpPr>
        <p:spPr>
          <a:xfrm>
            <a:off x="8275320" y="1783080"/>
            <a:ext cx="640080" cy="640080"/>
          </a:xfrm>
          <a:prstGeom prst="ellipse">
            <a:avLst/>
          </a:prstGeom>
          <a:solidFill>
            <a:schemeClr val="tx2"/>
          </a:solidFill>
          <a:ln/>
        </p:spPr>
      </p:sp>
      <p:pic>
        <p:nvPicPr>
          <p:cNvPr id="17" name="icon FaCalculator" descr="Calculator icon">    </p:cNvPr>
          <p:cNvPicPr>
            <a:picLocks noChangeAspect="1"/>
          </p:cNvPicPr>
          <p:nvPr/>
        </p:nvPicPr>
        <p:blipFill>
          <a:blip r:embed="rId3"/>
          <a:stretch>
            <a:fillRect/>
          </a:stretch>
        </p:blipFill>
        <p:spPr>
          <a:xfrm>
            <a:off x="8428939" y="1936699"/>
            <a:ext cx="332842" cy="332842"/>
          </a:xfrm>
          <a:prstGeom prst="rect">
            <a:avLst/>
          </a:prstGeom>
        </p:spPr>
      </p:pic>
      <p:sp>
        <p:nvSpPr>
          <p:cNvPr id="18" name="Text 12"/>
          <p:cNvSpPr txBox="1"/>
          <p:nvPr/>
        </p:nvSpPr>
        <p:spPr>
          <a:xfrm>
            <a:off x="9052560" y="178308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3. Standards engine</a:t>
            </a:r>
            <a:endParaRPr lang="en-US" sz="1700" dirty="0"/>
          </a:p>
        </p:txBody>
      </p:sp>
      <p:sp>
        <p:nvSpPr>
          <p:cNvPr id="19" name="Text 13"/>
          <p:cNvSpPr txBox="1"/>
          <p:nvPr/>
        </p:nvSpPr>
        <p:spPr>
          <a:xfrm>
            <a:off x="8275320" y="2560320"/>
            <a:ext cx="3108960" cy="1051560"/>
          </a:xfrm>
          <a:prstGeom prst="rect">
            <a:avLst/>
          </a:prstGeom>
          <a:noFill/>
          <a:ln/>
        </p:spPr>
        <p:txBody>
          <a:bodyPr wrap="square" lIns="0" tIns="0" rIns="0" bIns="0" rtlCol="0" anchor="t"/>
          <a:lstStyle/>
          <a:p>
            <a:pPr indent="0" marL="0">
              <a:buNone/>
            </a:pPr>
            <a:r>
              <a:rPr lang="en-US" sz="1400" dirty="0">
                <a:solidFill>
                  <a:schemeClr val="tx1"/>
                </a:solidFill>
              </a:rPr>
              <a:t>MAPE 5.21% (buildings) and 7.67% (bridges): less than half the ML error.</a:t>
            </a:r>
            <a:endParaRPr lang="en-US" sz="1400" dirty="0"/>
          </a:p>
        </p:txBody>
      </p:sp>
      <p:sp>
        <p:nvSpPr>
          <p:cNvPr id="20" name="card"/>
          <p:cNvSpPr/>
          <p:nvPr/>
        </p:nvSpPr>
        <p:spPr>
          <a:xfrm>
            <a:off x="548640" y="3931920"/>
            <a:ext cx="3520440" cy="2148840"/>
          </a:xfrm>
          <a:prstGeom prst="roundRect">
            <a:avLst>
              <a:gd name="adj" fmla="val 3404"/>
            </a:avLst>
          </a:prstGeom>
          <a:solidFill>
            <a:schemeClr val="bg2"/>
          </a:solidFill>
          <a:ln/>
        </p:spPr>
      </p:sp>
      <p:sp>
        <p:nvSpPr>
          <p:cNvPr id="21" name="icon circle"/>
          <p:cNvSpPr/>
          <p:nvPr/>
        </p:nvSpPr>
        <p:spPr>
          <a:xfrm>
            <a:off x="777240" y="4160520"/>
            <a:ext cx="640080" cy="640080"/>
          </a:xfrm>
          <a:prstGeom prst="ellipse">
            <a:avLst/>
          </a:prstGeom>
          <a:solidFill>
            <a:schemeClr val="tx2"/>
          </a:solidFill>
          <a:ln/>
        </p:spPr>
      </p:sp>
      <p:pic>
        <p:nvPicPr>
          <p:cNvPr id="22" name="icon FaChartLine" descr="ChartLine icon">    </p:cNvPr>
          <p:cNvPicPr>
            <a:picLocks noChangeAspect="1"/>
          </p:cNvPicPr>
          <p:nvPr/>
        </p:nvPicPr>
        <p:blipFill>
          <a:blip r:embed="rId4"/>
          <a:stretch>
            <a:fillRect/>
          </a:stretch>
        </p:blipFill>
        <p:spPr>
          <a:xfrm>
            <a:off x="930859" y="4314139"/>
            <a:ext cx="332842" cy="332842"/>
          </a:xfrm>
          <a:prstGeom prst="rect">
            <a:avLst/>
          </a:prstGeom>
        </p:spPr>
      </p:pic>
      <p:sp>
        <p:nvSpPr>
          <p:cNvPr id="23" name="Text 16"/>
          <p:cNvSpPr txBox="1"/>
          <p:nvPr/>
        </p:nvSpPr>
        <p:spPr>
          <a:xfrm>
            <a:off x="155448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4. ML models</a:t>
            </a:r>
            <a:endParaRPr lang="en-US" sz="1700" dirty="0"/>
          </a:p>
        </p:txBody>
      </p:sp>
      <p:sp>
        <p:nvSpPr>
          <p:cNvPr id="24" name="Text 17"/>
          <p:cNvSpPr txBox="1"/>
          <p:nvPr/>
        </p:nvSpPr>
        <p:spPr>
          <a:xfrm>
            <a:off x="77724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MLR suffices for buildings (13.43%); XGBoost needed for bridges (19.18% vs. 65.65%).</a:t>
            </a:r>
            <a:endParaRPr lang="en-US" sz="1400" dirty="0"/>
          </a:p>
        </p:txBody>
      </p:sp>
      <p:sp>
        <p:nvSpPr>
          <p:cNvPr id="25" name="card"/>
          <p:cNvSpPr/>
          <p:nvPr/>
        </p:nvSpPr>
        <p:spPr>
          <a:xfrm>
            <a:off x="4297680" y="3931920"/>
            <a:ext cx="3520440" cy="2148840"/>
          </a:xfrm>
          <a:prstGeom prst="roundRect">
            <a:avLst>
              <a:gd name="adj" fmla="val 3404"/>
            </a:avLst>
          </a:prstGeom>
          <a:solidFill>
            <a:schemeClr val="bg2"/>
          </a:solidFill>
          <a:ln/>
        </p:spPr>
      </p:sp>
      <p:sp>
        <p:nvSpPr>
          <p:cNvPr id="26" name="icon circle"/>
          <p:cNvSpPr/>
          <p:nvPr/>
        </p:nvSpPr>
        <p:spPr>
          <a:xfrm>
            <a:off x="4526280" y="4160520"/>
            <a:ext cx="640080" cy="640080"/>
          </a:xfrm>
          <a:prstGeom prst="ellipse">
            <a:avLst/>
          </a:prstGeom>
          <a:solidFill>
            <a:schemeClr val="tx2"/>
          </a:solidFill>
          <a:ln/>
        </p:spPr>
      </p:sp>
      <p:pic>
        <p:nvPicPr>
          <p:cNvPr id="27" name="icon FaMagnifyingGlassDollar" descr="MagnifyingGlassDollar icon">    </p:cNvPr>
          <p:cNvPicPr>
            <a:picLocks noChangeAspect="1"/>
          </p:cNvPicPr>
          <p:nvPr/>
        </p:nvPicPr>
        <p:blipFill>
          <a:blip r:embed="rId5"/>
          <a:stretch>
            <a:fillRect/>
          </a:stretch>
        </p:blipFill>
        <p:spPr>
          <a:xfrm>
            <a:off x="4679899" y="4314139"/>
            <a:ext cx="332842" cy="332842"/>
          </a:xfrm>
          <a:prstGeom prst="rect">
            <a:avLst/>
          </a:prstGeom>
        </p:spPr>
      </p:pic>
      <p:sp>
        <p:nvSpPr>
          <p:cNvPr id="28" name="Text 20"/>
          <p:cNvSpPr txBox="1"/>
          <p:nvPr/>
        </p:nvSpPr>
        <p:spPr>
          <a:xfrm>
            <a:off x="530352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5. Detection</a:t>
            </a:r>
            <a:endParaRPr lang="en-US" sz="1700" dirty="0"/>
          </a:p>
        </p:txBody>
      </p:sp>
      <p:sp>
        <p:nvSpPr>
          <p:cNvPr id="29" name="Text 21"/>
          <p:cNvSpPr txBox="1"/>
          <p:nvPr/>
        </p:nvSpPr>
        <p:spPr>
          <a:xfrm>
            <a:off x="452628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Risk Index recall 94.4%, AUC 0.987 vs. 27.8% for Isolation Forest alone.</a:t>
            </a:r>
            <a:endParaRPr lang="en-US" sz="1400" dirty="0"/>
          </a:p>
        </p:txBody>
      </p:sp>
      <p:sp>
        <p:nvSpPr>
          <p:cNvPr id="30" name="card"/>
          <p:cNvSpPr/>
          <p:nvPr/>
        </p:nvSpPr>
        <p:spPr>
          <a:xfrm>
            <a:off x="8046720" y="3931920"/>
            <a:ext cx="3520440" cy="2148840"/>
          </a:xfrm>
          <a:prstGeom prst="roundRect">
            <a:avLst>
              <a:gd name="adj" fmla="val 3404"/>
            </a:avLst>
          </a:prstGeom>
          <a:solidFill>
            <a:schemeClr val="bg2"/>
          </a:solidFill>
          <a:ln/>
        </p:spPr>
      </p:sp>
      <p:sp>
        <p:nvSpPr>
          <p:cNvPr id="31" name="icon circle"/>
          <p:cNvSpPr/>
          <p:nvPr/>
        </p:nvSpPr>
        <p:spPr>
          <a:xfrm>
            <a:off x="8275320" y="4160520"/>
            <a:ext cx="640080" cy="640080"/>
          </a:xfrm>
          <a:prstGeom prst="ellipse">
            <a:avLst/>
          </a:prstGeom>
          <a:solidFill>
            <a:schemeClr val="tx2"/>
          </a:solidFill>
          <a:ln/>
        </p:spPr>
      </p:sp>
      <p:pic>
        <p:nvPicPr>
          <p:cNvPr id="32" name="icon FaMobileScreen" descr="MobileScreen icon">    </p:cNvPr>
          <p:cNvPicPr>
            <a:picLocks noChangeAspect="1"/>
          </p:cNvPicPr>
          <p:nvPr/>
        </p:nvPicPr>
        <p:blipFill>
          <a:blip r:embed="rId6"/>
          <a:stretch>
            <a:fillRect/>
          </a:stretch>
        </p:blipFill>
        <p:spPr>
          <a:xfrm>
            <a:off x="8428939" y="4314139"/>
            <a:ext cx="332842" cy="332842"/>
          </a:xfrm>
          <a:prstGeom prst="rect">
            <a:avLst/>
          </a:prstGeom>
        </p:spPr>
      </p:pic>
      <p:sp>
        <p:nvSpPr>
          <p:cNvPr id="33" name="Text 24"/>
          <p:cNvSpPr txBox="1"/>
          <p:nvPr/>
        </p:nvSpPr>
        <p:spPr>
          <a:xfrm>
            <a:off x="9052560" y="4160520"/>
            <a:ext cx="2377440" cy="640080"/>
          </a:xfrm>
          <a:prstGeom prst="rect">
            <a:avLst/>
          </a:prstGeom>
          <a:noFill/>
          <a:ln/>
        </p:spPr>
        <p:txBody>
          <a:bodyPr wrap="square" lIns="0" tIns="0" rIns="0" bIns="0" rtlCol="0" anchor="ctr"/>
          <a:lstStyle/>
          <a:p>
            <a:pPr indent="0" marL="0">
              <a:buNone/>
            </a:pPr>
            <a:r>
              <a:rPr lang="en-US" sz="1700" b="1" dirty="0">
                <a:solidFill>
                  <a:schemeClr val="tx2"/>
                </a:solidFill>
              </a:rPr>
              <a:t>6. Deployment</a:t>
            </a:r>
            <a:endParaRPr lang="en-US" sz="1700" dirty="0"/>
          </a:p>
        </p:txBody>
      </p:sp>
      <p:sp>
        <p:nvSpPr>
          <p:cNvPr id="34" name="Text 25"/>
          <p:cNvSpPr txBox="1"/>
          <p:nvPr/>
        </p:nvSpPr>
        <p:spPr>
          <a:xfrm>
            <a:off x="8275320" y="4937760"/>
            <a:ext cx="3108960" cy="1051560"/>
          </a:xfrm>
          <a:prstGeom prst="rect">
            <a:avLst/>
          </a:prstGeom>
          <a:noFill/>
          <a:ln/>
        </p:spPr>
        <p:txBody>
          <a:bodyPr wrap="square" lIns="0" tIns="0" rIns="0" bIns="0" rtlCol="0" anchor="t"/>
          <a:lstStyle/>
          <a:p>
            <a:pPr indent="0" marL="0">
              <a:buNone/>
            </a:pPr>
            <a:r>
              <a:rPr lang="en-US" sz="1400" dirty="0">
                <a:solidFill>
                  <a:schemeClr val="tx1"/>
                </a:solidFill>
              </a:rPr>
              <a:t>Offline app with design studio, Android package and download website.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RECOMMENDATIONS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to Do Next</a:t>
            </a:r>
            <a:endParaRPr lang="en-US" sz="3200" dirty="0"/>
          </a:p>
        </p:txBody>
      </p:sp>
      <p:sp>
        <p:nvSpPr>
          <p:cNvPr id="5" name="card"/>
          <p:cNvSpPr/>
          <p:nvPr/>
        </p:nvSpPr>
        <p:spPr>
          <a:xfrm>
            <a:off x="548640" y="1508760"/>
            <a:ext cx="5422392" cy="1051560"/>
          </a:xfrm>
          <a:prstGeom prst="roundRect">
            <a:avLst>
              <a:gd name="adj" fmla="val 6957"/>
            </a:avLst>
          </a:prstGeom>
          <a:solidFill>
            <a:schemeClr val="bg2"/>
          </a:solidFill>
          <a:ln/>
        </p:spPr>
      </p:sp>
      <p:sp>
        <p:nvSpPr>
          <p:cNvPr id="6" name="Text 3"/>
          <p:cNvSpPr txBox="1"/>
          <p:nvPr/>
        </p:nvSpPr>
        <p:spPr>
          <a:xfrm>
            <a:off x="731520" y="160020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7" name="Text 4"/>
          <p:cNvSpPr txBox="1"/>
          <p:nvPr/>
        </p:nvSpPr>
        <p:spPr>
          <a:xfrm>
            <a:off x="1371600" y="1618488"/>
            <a:ext cx="4434840" cy="411480"/>
          </a:xfrm>
          <a:prstGeom prst="rect">
            <a:avLst/>
          </a:prstGeom>
          <a:noFill/>
          <a:ln/>
        </p:spPr>
        <p:txBody>
          <a:bodyPr wrap="square" lIns="0" tIns="0" rIns="0" bIns="0" rtlCol="0" anchor="t"/>
          <a:lstStyle/>
          <a:p>
            <a:pPr indent="0" marL="0">
              <a:buNone/>
            </a:pPr>
            <a:r>
              <a:rPr lang="en-US" sz="1600" b="1" dirty="0">
                <a:solidFill>
                  <a:schemeClr val="tx2"/>
                </a:solidFill>
              </a:rPr>
              <a:t>Validate on actual contracts</a:t>
            </a:r>
            <a:endParaRPr lang="en-US" sz="1600" dirty="0"/>
          </a:p>
        </p:txBody>
      </p:sp>
      <p:sp>
        <p:nvSpPr>
          <p:cNvPr id="8" name="Text 5"/>
          <p:cNvSpPr txBox="1"/>
          <p:nvPr/>
        </p:nvSpPr>
        <p:spPr>
          <a:xfrm>
            <a:off x="1371600" y="2029968"/>
            <a:ext cx="4434840" cy="411480"/>
          </a:xfrm>
          <a:prstGeom prst="rect">
            <a:avLst/>
          </a:prstGeom>
          <a:noFill/>
          <a:ln/>
        </p:spPr>
        <p:txBody>
          <a:bodyPr wrap="square" lIns="0" tIns="0" rIns="0" bIns="0" rtlCol="0" anchor="t"/>
          <a:lstStyle/>
          <a:p>
            <a:pPr indent="0" marL="0">
              <a:buNone/>
            </a:pPr>
            <a:r>
              <a:rPr lang="en-US" sz="1400" dirty="0">
                <a:solidFill>
                  <a:schemeClr val="tx1"/>
                </a:solidFill>
              </a:rPr>
              <a:t>Itemized DPWH, PhilGEPS and COA records</a:t>
            </a:r>
            <a:endParaRPr lang="en-US" sz="1400" dirty="0"/>
          </a:p>
        </p:txBody>
      </p:sp>
      <p:sp>
        <p:nvSpPr>
          <p:cNvPr id="9" name="card"/>
          <p:cNvSpPr/>
          <p:nvPr/>
        </p:nvSpPr>
        <p:spPr>
          <a:xfrm>
            <a:off x="6217920" y="1508760"/>
            <a:ext cx="5422392" cy="1051560"/>
          </a:xfrm>
          <a:prstGeom prst="roundRect">
            <a:avLst>
              <a:gd name="adj" fmla="val 6957"/>
            </a:avLst>
          </a:prstGeom>
          <a:solidFill>
            <a:schemeClr val="bg2"/>
          </a:solidFill>
          <a:ln/>
        </p:spPr>
      </p:sp>
      <p:sp>
        <p:nvSpPr>
          <p:cNvPr id="10" name="Text 7"/>
          <p:cNvSpPr txBox="1"/>
          <p:nvPr/>
        </p:nvSpPr>
        <p:spPr>
          <a:xfrm>
            <a:off x="6400800" y="160020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7040880" y="1618488"/>
            <a:ext cx="4434840" cy="411480"/>
          </a:xfrm>
          <a:prstGeom prst="rect">
            <a:avLst/>
          </a:prstGeom>
          <a:noFill/>
          <a:ln/>
        </p:spPr>
        <p:txBody>
          <a:bodyPr wrap="square" lIns="0" tIns="0" rIns="0" bIns="0" rtlCol="0" anchor="t"/>
          <a:lstStyle/>
          <a:p>
            <a:pPr indent="0" marL="0">
              <a:buNone/>
            </a:pPr>
            <a:r>
              <a:rPr lang="en-US" sz="1600" b="1" dirty="0">
                <a:solidFill>
                  <a:schemeClr val="tx2"/>
                </a:solidFill>
              </a:rPr>
              <a:t>Review templates with licensed professionals</a:t>
            </a:r>
            <a:endParaRPr lang="en-US" sz="1600" dirty="0"/>
          </a:p>
        </p:txBody>
      </p:sp>
      <p:sp>
        <p:nvSpPr>
          <p:cNvPr id="12" name="Text 9"/>
          <p:cNvSpPr txBox="1"/>
          <p:nvPr/>
        </p:nvSpPr>
        <p:spPr>
          <a:xfrm>
            <a:off x="7040880" y="2029968"/>
            <a:ext cx="4434840" cy="411480"/>
          </a:xfrm>
          <a:prstGeom prst="rect">
            <a:avLst/>
          </a:prstGeom>
          <a:noFill/>
          <a:ln/>
        </p:spPr>
        <p:txBody>
          <a:bodyPr wrap="square" lIns="0" tIns="0" rIns="0" bIns="0" rtlCol="0" anchor="t"/>
          <a:lstStyle/>
          <a:p>
            <a:pPr indent="0" marL="0">
              <a:buNone/>
            </a:pPr>
            <a:r>
              <a:rPr lang="en-US" sz="1400" dirty="0">
                <a:solidFill>
                  <a:schemeClr val="tx1"/>
                </a:solidFill>
              </a:rPr>
              <a:t>Architects and engineers refine modules and add site inputs</a:t>
            </a:r>
            <a:endParaRPr lang="en-US" sz="1400" dirty="0"/>
          </a:p>
        </p:txBody>
      </p:sp>
      <p:sp>
        <p:nvSpPr>
          <p:cNvPr id="13" name="card"/>
          <p:cNvSpPr/>
          <p:nvPr/>
        </p:nvSpPr>
        <p:spPr>
          <a:xfrm>
            <a:off x="548640" y="2697480"/>
            <a:ext cx="5422392" cy="1051560"/>
          </a:xfrm>
          <a:prstGeom prst="roundRect">
            <a:avLst>
              <a:gd name="adj" fmla="val 6957"/>
            </a:avLst>
          </a:prstGeom>
          <a:solidFill>
            <a:schemeClr val="bg2"/>
          </a:solidFill>
          <a:ln/>
        </p:spPr>
      </p:sp>
      <p:sp>
        <p:nvSpPr>
          <p:cNvPr id="14" name="Text 11"/>
          <p:cNvSpPr txBox="1"/>
          <p:nvPr/>
        </p:nvSpPr>
        <p:spPr>
          <a:xfrm>
            <a:off x="731520" y="278892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5" name="Text 12"/>
          <p:cNvSpPr txBox="1"/>
          <p:nvPr/>
        </p:nvSpPr>
        <p:spPr>
          <a:xfrm>
            <a:off x="1371600" y="2807208"/>
            <a:ext cx="4434840" cy="411480"/>
          </a:xfrm>
          <a:prstGeom prst="rect">
            <a:avLst/>
          </a:prstGeom>
          <a:noFill/>
          <a:ln/>
        </p:spPr>
        <p:txBody>
          <a:bodyPr wrap="square" lIns="0" tIns="0" rIns="0" bIns="0" rtlCol="0" anchor="t"/>
          <a:lstStyle/>
          <a:p>
            <a:pPr indent="0" marL="0">
              <a:buNone/>
            </a:pPr>
            <a:r>
              <a:rPr lang="en-US" sz="1600" b="1" dirty="0">
                <a:solidFill>
                  <a:schemeClr val="tx2"/>
                </a:solidFill>
              </a:rPr>
              <a:t>Add geotechnical data for bridges</a:t>
            </a:r>
            <a:endParaRPr lang="en-US" sz="1600" dirty="0"/>
          </a:p>
        </p:txBody>
      </p:sp>
      <p:sp>
        <p:nvSpPr>
          <p:cNvPr id="16" name="Text 13"/>
          <p:cNvSpPr txBox="1"/>
          <p:nvPr/>
        </p:nvSpPr>
        <p:spPr>
          <a:xfrm>
            <a:off x="1371600" y="3218688"/>
            <a:ext cx="4434840" cy="411480"/>
          </a:xfrm>
          <a:prstGeom prst="rect">
            <a:avLst/>
          </a:prstGeom>
          <a:noFill/>
          <a:ln/>
        </p:spPr>
        <p:txBody>
          <a:bodyPr wrap="square" lIns="0" tIns="0" rIns="0" bIns="0" rtlCol="0" anchor="t"/>
          <a:lstStyle/>
          <a:p>
            <a:pPr indent="0" marL="0">
              <a:buNone/>
            </a:pPr>
            <a:r>
              <a:rPr lang="en-US" sz="1400" dirty="0">
                <a:solidFill>
                  <a:schemeClr val="tx1"/>
                </a:solidFill>
              </a:rPr>
              <a:t>Boring logs to cut false alarms from pile lengths</a:t>
            </a:r>
            <a:endParaRPr lang="en-US" sz="1400" dirty="0"/>
          </a:p>
        </p:txBody>
      </p:sp>
      <p:sp>
        <p:nvSpPr>
          <p:cNvPr id="17" name="card"/>
          <p:cNvSpPr/>
          <p:nvPr/>
        </p:nvSpPr>
        <p:spPr>
          <a:xfrm>
            <a:off x="6217920" y="2697480"/>
            <a:ext cx="5422392" cy="1051560"/>
          </a:xfrm>
          <a:prstGeom prst="roundRect">
            <a:avLst>
              <a:gd name="adj" fmla="val 6957"/>
            </a:avLst>
          </a:prstGeom>
          <a:solidFill>
            <a:schemeClr val="bg2"/>
          </a:solidFill>
          <a:ln/>
        </p:spPr>
      </p:sp>
      <p:sp>
        <p:nvSpPr>
          <p:cNvPr id="18" name="Text 15"/>
          <p:cNvSpPr txBox="1"/>
          <p:nvPr/>
        </p:nvSpPr>
        <p:spPr>
          <a:xfrm>
            <a:off x="6400800" y="278892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19" name="Text 16"/>
          <p:cNvSpPr txBox="1"/>
          <p:nvPr/>
        </p:nvSpPr>
        <p:spPr>
          <a:xfrm>
            <a:off x="7040880" y="2807208"/>
            <a:ext cx="4434840" cy="411480"/>
          </a:xfrm>
          <a:prstGeom prst="rect">
            <a:avLst/>
          </a:prstGeom>
          <a:noFill/>
          <a:ln/>
        </p:spPr>
        <p:txBody>
          <a:bodyPr wrap="square" lIns="0" tIns="0" rIns="0" bIns="0" rtlCol="0" anchor="t"/>
          <a:lstStyle/>
          <a:p>
            <a:pPr indent="0" marL="0">
              <a:buNone/>
            </a:pPr>
            <a:r>
              <a:rPr lang="en-US" sz="1600" b="1" dirty="0">
                <a:solidFill>
                  <a:schemeClr val="tx2"/>
                </a:solidFill>
              </a:rPr>
              <a:t>Connect current price data</a:t>
            </a:r>
            <a:endParaRPr lang="en-US" sz="1600" dirty="0"/>
          </a:p>
        </p:txBody>
      </p:sp>
      <p:sp>
        <p:nvSpPr>
          <p:cNvPr id="20" name="Text 17"/>
          <p:cNvSpPr txBox="1"/>
          <p:nvPr/>
        </p:nvSpPr>
        <p:spPr>
          <a:xfrm>
            <a:off x="7040880" y="3218688"/>
            <a:ext cx="4434840" cy="411480"/>
          </a:xfrm>
          <a:prstGeom prst="rect">
            <a:avLst/>
          </a:prstGeom>
          <a:noFill/>
          <a:ln/>
        </p:spPr>
        <p:txBody>
          <a:bodyPr wrap="square" lIns="0" tIns="0" rIns="0" bIns="0" rtlCol="0" anchor="t"/>
          <a:lstStyle/>
          <a:p>
            <a:pPr indent="0" marL="0">
              <a:buNone/>
            </a:pPr>
            <a:r>
              <a:rPr lang="en-US" sz="1400" dirty="0">
                <a:solidFill>
                  <a:schemeClr val="tx1"/>
                </a:solidFill>
              </a:rPr>
              <a:t>DPWH unit costs and PSA construction indices</a:t>
            </a:r>
            <a:endParaRPr lang="en-US" sz="1400" dirty="0"/>
          </a:p>
        </p:txBody>
      </p:sp>
      <p:sp>
        <p:nvSpPr>
          <p:cNvPr id="21" name="card"/>
          <p:cNvSpPr/>
          <p:nvPr/>
        </p:nvSpPr>
        <p:spPr>
          <a:xfrm>
            <a:off x="548640" y="3886200"/>
            <a:ext cx="5422392" cy="1051560"/>
          </a:xfrm>
          <a:prstGeom prst="roundRect">
            <a:avLst>
              <a:gd name="adj" fmla="val 6957"/>
            </a:avLst>
          </a:prstGeom>
          <a:solidFill>
            <a:schemeClr val="bg2"/>
          </a:solidFill>
          <a:ln/>
        </p:spPr>
      </p:sp>
      <p:sp>
        <p:nvSpPr>
          <p:cNvPr id="22" name="Text 19"/>
          <p:cNvSpPr txBox="1"/>
          <p:nvPr/>
        </p:nvSpPr>
        <p:spPr>
          <a:xfrm>
            <a:off x="731520" y="397764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5</a:t>
            </a:r>
            <a:endParaRPr lang="en-US" sz="3000" dirty="0"/>
          </a:p>
        </p:txBody>
      </p:sp>
      <p:sp>
        <p:nvSpPr>
          <p:cNvPr id="23" name="Text 20"/>
          <p:cNvSpPr txBox="1"/>
          <p:nvPr/>
        </p:nvSpPr>
        <p:spPr>
          <a:xfrm>
            <a:off x="1371600" y="3995928"/>
            <a:ext cx="4434840" cy="411480"/>
          </a:xfrm>
          <a:prstGeom prst="rect">
            <a:avLst/>
          </a:prstGeom>
          <a:noFill/>
          <a:ln/>
        </p:spPr>
        <p:txBody>
          <a:bodyPr wrap="square" lIns="0" tIns="0" rIns="0" bIns="0" rtlCol="0" anchor="t"/>
          <a:lstStyle/>
          <a:p>
            <a:pPr indent="0" marL="0">
              <a:buNone/>
            </a:pPr>
            <a:r>
              <a:rPr lang="en-US" sz="1600" b="1" dirty="0">
                <a:solidFill>
                  <a:schemeClr val="tx2"/>
                </a:solidFill>
              </a:rPr>
              <a:t>Calibrate thresholds by asset class</a:t>
            </a:r>
            <a:endParaRPr lang="en-US" sz="1600" dirty="0"/>
          </a:p>
        </p:txBody>
      </p:sp>
      <p:sp>
        <p:nvSpPr>
          <p:cNvPr id="24" name="Text 21"/>
          <p:cNvSpPr txBox="1"/>
          <p:nvPr/>
        </p:nvSpPr>
        <p:spPr>
          <a:xfrm>
            <a:off x="1371600" y="4407408"/>
            <a:ext cx="4434840" cy="411480"/>
          </a:xfrm>
          <a:prstGeom prst="rect">
            <a:avLst/>
          </a:prstGeom>
          <a:noFill/>
          <a:ln/>
        </p:spPr>
        <p:txBody>
          <a:bodyPr wrap="square" lIns="0" tIns="0" rIns="0" bIns="0" rtlCol="0" anchor="t"/>
          <a:lstStyle/>
          <a:p>
            <a:pPr indent="0" marL="0">
              <a:buNone/>
            </a:pPr>
            <a:r>
              <a:rPr lang="en-US" sz="1400" dirty="0">
                <a:solidFill>
                  <a:schemeClr val="tx1"/>
                </a:solidFill>
              </a:rPr>
              <a:t>Separate BRI cut-offs for buildings and bridges</a:t>
            </a:r>
            <a:endParaRPr lang="en-US" sz="1400" dirty="0"/>
          </a:p>
        </p:txBody>
      </p:sp>
      <p:sp>
        <p:nvSpPr>
          <p:cNvPr id="25" name="card"/>
          <p:cNvSpPr/>
          <p:nvPr/>
        </p:nvSpPr>
        <p:spPr>
          <a:xfrm>
            <a:off x="6217920" y="3886200"/>
            <a:ext cx="5422392" cy="1051560"/>
          </a:xfrm>
          <a:prstGeom prst="roundRect">
            <a:avLst>
              <a:gd name="adj" fmla="val 6957"/>
            </a:avLst>
          </a:prstGeom>
          <a:solidFill>
            <a:schemeClr val="bg2"/>
          </a:solidFill>
          <a:ln/>
        </p:spPr>
      </p:sp>
      <p:sp>
        <p:nvSpPr>
          <p:cNvPr id="26" name="Text 23"/>
          <p:cNvSpPr txBox="1"/>
          <p:nvPr/>
        </p:nvSpPr>
        <p:spPr>
          <a:xfrm>
            <a:off x="6400800" y="397764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6</a:t>
            </a:r>
            <a:endParaRPr lang="en-US" sz="3000" dirty="0"/>
          </a:p>
        </p:txBody>
      </p:sp>
      <p:sp>
        <p:nvSpPr>
          <p:cNvPr id="27" name="Text 24"/>
          <p:cNvSpPr txBox="1"/>
          <p:nvPr/>
        </p:nvSpPr>
        <p:spPr>
          <a:xfrm>
            <a:off x="7040880" y="3995928"/>
            <a:ext cx="4434840" cy="411480"/>
          </a:xfrm>
          <a:prstGeom prst="rect">
            <a:avLst/>
          </a:prstGeom>
          <a:noFill/>
          <a:ln/>
        </p:spPr>
        <p:txBody>
          <a:bodyPr wrap="square" lIns="0" tIns="0" rIns="0" bIns="0" rtlCol="0" anchor="t"/>
          <a:lstStyle/>
          <a:p>
            <a:pPr indent="0" marL="0">
              <a:buNone/>
            </a:pPr>
            <a:r>
              <a:rPr lang="en-US" sz="1600" b="1" dirty="0">
                <a:solidFill>
                  <a:schemeClr val="tx2"/>
                </a:solidFill>
              </a:rPr>
              <a:t>Extend plan import and design</a:t>
            </a:r>
            <a:endParaRPr lang="en-US" sz="1600" dirty="0"/>
          </a:p>
        </p:txBody>
      </p:sp>
      <p:sp>
        <p:nvSpPr>
          <p:cNvPr id="28" name="Text 25"/>
          <p:cNvSpPr txBox="1"/>
          <p:nvPr/>
        </p:nvSpPr>
        <p:spPr>
          <a:xfrm>
            <a:off x="7040880" y="4407408"/>
            <a:ext cx="4434840" cy="411480"/>
          </a:xfrm>
          <a:prstGeom prst="rect">
            <a:avLst/>
          </a:prstGeom>
          <a:noFill/>
          <a:ln/>
        </p:spPr>
        <p:txBody>
          <a:bodyPr wrap="square" lIns="0" tIns="0" rIns="0" bIns="0" rtlCol="0" anchor="t"/>
          <a:lstStyle/>
          <a:p>
            <a:pPr indent="0" marL="0">
              <a:buNone/>
            </a:pPr>
            <a:r>
              <a:rPr lang="en-US" sz="1400" dirty="0">
                <a:solidFill>
                  <a:schemeClr val="tx1"/>
                </a:solidFill>
              </a:rPr>
              <a:t>IFC models, scanned PDFs, hydraulic checks</a:t>
            </a:r>
            <a:endParaRPr lang="en-US" sz="1400" dirty="0"/>
          </a:p>
        </p:txBody>
      </p:sp>
      <p:sp>
        <p:nvSpPr>
          <p:cNvPr id="29" name="card"/>
          <p:cNvSpPr/>
          <p:nvPr/>
        </p:nvSpPr>
        <p:spPr>
          <a:xfrm>
            <a:off x="548640" y="5074920"/>
            <a:ext cx="5422392" cy="1051560"/>
          </a:xfrm>
          <a:prstGeom prst="roundRect">
            <a:avLst>
              <a:gd name="adj" fmla="val 6957"/>
            </a:avLst>
          </a:prstGeom>
          <a:solidFill>
            <a:schemeClr val="bg2"/>
          </a:solidFill>
          <a:ln/>
        </p:spPr>
      </p:sp>
      <p:sp>
        <p:nvSpPr>
          <p:cNvPr id="30" name="Text 27"/>
          <p:cNvSpPr txBox="1"/>
          <p:nvPr/>
        </p:nvSpPr>
        <p:spPr>
          <a:xfrm>
            <a:off x="731520" y="516636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a:t>
            </a:r>
            <a:endParaRPr lang="en-US" sz="3000" dirty="0"/>
          </a:p>
        </p:txBody>
      </p:sp>
      <p:sp>
        <p:nvSpPr>
          <p:cNvPr id="31" name="Text 28"/>
          <p:cNvSpPr txBox="1"/>
          <p:nvPr/>
        </p:nvSpPr>
        <p:spPr>
          <a:xfrm>
            <a:off x="1371600" y="5184648"/>
            <a:ext cx="4434840" cy="411480"/>
          </a:xfrm>
          <a:prstGeom prst="rect">
            <a:avLst/>
          </a:prstGeom>
          <a:noFill/>
          <a:ln/>
        </p:spPr>
        <p:txBody>
          <a:bodyPr wrap="square" lIns="0" tIns="0" rIns="0" bIns="0" rtlCol="0" anchor="t"/>
          <a:lstStyle/>
          <a:p>
            <a:pPr indent="0" marL="0">
              <a:buNone/>
            </a:pPr>
            <a:r>
              <a:rPr lang="en-US" sz="1600" b="1" dirty="0">
                <a:solidFill>
                  <a:schemeClr val="tx2"/>
                </a:solidFill>
              </a:rPr>
              <a:t>Extend to other project types</a:t>
            </a:r>
            <a:endParaRPr lang="en-US" sz="1600" dirty="0"/>
          </a:p>
        </p:txBody>
      </p:sp>
      <p:sp>
        <p:nvSpPr>
          <p:cNvPr id="32" name="Text 29"/>
          <p:cNvSpPr txBox="1"/>
          <p:nvPr/>
        </p:nvSpPr>
        <p:spPr>
          <a:xfrm>
            <a:off x="1371600" y="5596128"/>
            <a:ext cx="4434840" cy="411480"/>
          </a:xfrm>
          <a:prstGeom prst="rect">
            <a:avLst/>
          </a:prstGeom>
          <a:noFill/>
          <a:ln/>
        </p:spPr>
        <p:txBody>
          <a:bodyPr wrap="square" lIns="0" tIns="0" rIns="0" bIns="0" rtlCol="0" anchor="t"/>
          <a:lstStyle/>
          <a:p>
            <a:pPr indent="0" marL="0">
              <a:buNone/>
            </a:pPr>
            <a:r>
              <a:rPr lang="en-US" sz="1400" dirty="0">
                <a:solidFill>
                  <a:schemeClr val="tx1"/>
                </a:solidFill>
              </a:rPr>
              <a:t>Flood control, water systems and roads with CORA</a:t>
            </a:r>
            <a:endParaRPr lang="en-US" sz="1400" dirty="0"/>
          </a:p>
        </p:txBody>
      </p:sp>
      <p:sp>
        <p:nvSpPr>
          <p:cNvPr id="33" name="card"/>
          <p:cNvSpPr/>
          <p:nvPr/>
        </p:nvSpPr>
        <p:spPr>
          <a:xfrm>
            <a:off x="6217920" y="5074920"/>
            <a:ext cx="5422392" cy="1051560"/>
          </a:xfrm>
          <a:prstGeom prst="roundRect">
            <a:avLst>
              <a:gd name="adj" fmla="val 6957"/>
            </a:avLst>
          </a:prstGeom>
          <a:solidFill>
            <a:schemeClr val="bg2"/>
          </a:solidFill>
          <a:ln/>
        </p:spPr>
      </p:sp>
      <p:sp>
        <p:nvSpPr>
          <p:cNvPr id="34" name="Text 31"/>
          <p:cNvSpPr txBox="1"/>
          <p:nvPr/>
        </p:nvSpPr>
        <p:spPr>
          <a:xfrm>
            <a:off x="6400800" y="5166360"/>
            <a:ext cx="548640" cy="8686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8</a:t>
            </a:r>
            <a:endParaRPr lang="en-US" sz="3000" dirty="0"/>
          </a:p>
        </p:txBody>
      </p:sp>
      <p:sp>
        <p:nvSpPr>
          <p:cNvPr id="35" name="Text 32"/>
          <p:cNvSpPr txBox="1"/>
          <p:nvPr/>
        </p:nvSpPr>
        <p:spPr>
          <a:xfrm>
            <a:off x="7040880" y="5184648"/>
            <a:ext cx="4434840" cy="411480"/>
          </a:xfrm>
          <a:prstGeom prst="rect">
            <a:avLst/>
          </a:prstGeom>
          <a:noFill/>
          <a:ln/>
        </p:spPr>
        <p:txBody>
          <a:bodyPr wrap="square" lIns="0" tIns="0" rIns="0" bIns="0" rtlCol="0" anchor="t"/>
          <a:lstStyle/>
          <a:p>
            <a:pPr indent="0" marL="0">
              <a:buNone/>
            </a:pPr>
            <a:r>
              <a:rPr lang="en-US" sz="1600" b="1" dirty="0">
                <a:solidFill>
                  <a:schemeClr val="tx2"/>
                </a:solidFill>
              </a:rPr>
              <a:t>Pilot with oversight bodies</a:t>
            </a:r>
            <a:endParaRPr lang="en-US" sz="1600" dirty="0"/>
          </a:p>
        </p:txBody>
      </p:sp>
      <p:sp>
        <p:nvSpPr>
          <p:cNvPr id="36" name="Text 33"/>
          <p:cNvSpPr txBox="1"/>
          <p:nvPr/>
        </p:nvSpPr>
        <p:spPr>
          <a:xfrm>
            <a:off x="7040880" y="5596128"/>
            <a:ext cx="4434840" cy="411480"/>
          </a:xfrm>
          <a:prstGeom prst="rect">
            <a:avLst/>
          </a:prstGeom>
          <a:noFill/>
          <a:ln/>
        </p:spPr>
        <p:txBody>
          <a:bodyPr wrap="square" lIns="0" tIns="0" rIns="0" bIns="0" rtlCol="0" anchor="t"/>
          <a:lstStyle/>
          <a:p>
            <a:pPr indent="0" marL="0">
              <a:buNone/>
            </a:pPr>
            <a:r>
              <a:rPr lang="en-US" sz="1400" dirty="0">
                <a:solidFill>
                  <a:schemeClr val="tx1"/>
                </a:solidFill>
              </a:rPr>
              <a:t>District office, COA auditors and a local government</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(1 of 3)</a:t>
            </a:r>
            <a:endParaRPr lang="en-US" sz="3200" dirty="0"/>
          </a:p>
        </p:txBody>
      </p:sp>
      <p:sp>
        <p:nvSpPr>
          <p:cNvPr id="5"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American Association of State Highway and Transportation Officials. (2020). </a:t>
            </a:r>
            <a:pPr indent="0" marL="0">
              <a:buNone/>
            </a:pPr>
            <a:r>
              <a:rPr lang="en-US" sz="1050" i="1" dirty="0">
                <a:solidFill>
                  <a:srgbClr val="14202E"/>
                </a:solidFill>
              </a:rPr>
              <a:t>AASHTO LRFD bridge design specifications</a:t>
            </a:r>
            <a:pPr indent="0" marL="0">
              <a:buNone/>
            </a:pPr>
            <a:r>
              <a:rPr lang="en-US" sz="1050" dirty="0">
                <a:solidFill>
                  <a:srgbClr val="14202E"/>
                </a:solidFill>
              </a:rPr>
              <a:t> (9th ed.).</a:t>
            </a:r>
            <a:endParaRPr lang="en-US" sz="1050" dirty="0"/>
          </a:p>
          <a:p>
            <a:pPr indent="0" marL="0">
              <a:spcAft>
                <a:spcPts val="500"/>
              </a:spcAft>
              <a:buNone/>
            </a:pPr>
            <a:r>
              <a:rPr lang="en-US" sz="1050" dirty="0">
                <a:solidFill>
                  <a:srgbClr val="14202E"/>
                </a:solidFill>
              </a:rPr>
              <a:t>Association of Structural Engineers of the Philippines. (2016). </a:t>
            </a:r>
            <a:pPr indent="0" marL="0">
              <a:buNone/>
            </a:pPr>
            <a:r>
              <a:rPr lang="en-US" sz="1050" i="1" dirty="0">
                <a:solidFill>
                  <a:srgbClr val="14202E"/>
                </a:solidFill>
              </a:rPr>
              <a:t>National structural code of the Philippines 2015: Volume I, buildings, towers and other vertical structures</a:t>
            </a:r>
            <a:pPr indent="0" marL="0">
              <a:buNone/>
            </a:pPr>
            <a:r>
              <a:rPr lang="en-US" sz="1050" dirty="0">
                <a:solidFill>
                  <a:srgbClr val="14202E"/>
                </a:solidFill>
              </a:rPr>
              <a:t> (7th ed.).</a:t>
            </a:r>
            <a:endParaRPr lang="en-US" sz="1050" dirty="0"/>
          </a:p>
          <a:p>
            <a:pPr indent="0" marL="0">
              <a:spcAft>
                <a:spcPts val="500"/>
              </a:spcAft>
              <a:buNone/>
            </a:pPr>
            <a:r>
              <a:rPr lang="en-US" sz="1050" dirty="0">
                <a:solidFill>
                  <a:srgbClr val="14202E"/>
                </a:solidFill>
              </a:rPr>
              <a:t>Batas Pambansa Blg. 344. (1983). </a:t>
            </a:r>
            <a:pPr indent="0" marL="0">
              <a:buNone/>
            </a:pPr>
            <a:r>
              <a:rPr lang="en-US" sz="1050" i="1" dirty="0">
                <a:solidFill>
                  <a:srgbClr val="14202E"/>
                </a:solidFill>
              </a:rPr>
              <a:t>Accessibility law</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Buban, E. M. C. (2026). </a:t>
            </a:r>
            <a:pPr indent="0" marL="0">
              <a:buNone/>
            </a:pPr>
            <a:r>
              <a:rPr lang="en-US" sz="1050" i="1" dirty="0">
                <a:solidFill>
                  <a:srgbClr val="14202E"/>
                </a:solidFill>
              </a:rPr>
              <a:t>CORA: Computational outlier recognition and analytics for road construction cost prediction and potential anomaly detection via a hybrid machine learning system</a:t>
            </a:r>
            <a:pPr indent="0" marL="0">
              <a:buNone/>
            </a:pPr>
            <a:r>
              <a:rPr lang="en-US" sz="1050" dirty="0">
                <a:solidFill>
                  <a:srgbClr val="14202E"/>
                </a:solidFill>
              </a:rPr>
              <a:t> [Unpublished research paper].</a:t>
            </a:r>
            <a:endParaRPr lang="en-US" sz="1050" dirty="0"/>
          </a:p>
          <a:p>
            <a:pPr indent="0" marL="0">
              <a:spcAft>
                <a:spcPts val="500"/>
              </a:spcAft>
              <a:buNone/>
            </a:pPr>
            <a:r>
              <a:rPr lang="en-US" sz="1050" dirty="0">
                <a:solidFill>
                  <a:srgbClr val="14202E"/>
                </a:solidFill>
              </a:rPr>
              <a:t>Cebu Daily News. (2023, July 21). </a:t>
            </a:r>
            <a:pPr indent="0" marL="0">
              <a:buNone/>
            </a:pPr>
            <a:r>
              <a:rPr lang="en-US" sz="1050" i="1" dirty="0">
                <a:solidFill>
                  <a:srgbClr val="14202E"/>
                </a:solidFill>
              </a:rPr>
              <a:t>COA: CCMC project contract price was bloated by P62M</a:t>
            </a:r>
            <a:pPr indent="0" marL="0">
              <a:buNone/>
            </a:pPr>
            <a:r>
              <a:rPr lang="en-US" sz="1050" dirty="0">
                <a:solidFill>
                  <a:srgbClr val="14202E"/>
                </a:solidFill>
              </a:rPr>
              <a:t>. https://cebudailynews.inquirer.net/517377/coa-ccmc-project-contract-price-was-bloated-by-p62m</a:t>
            </a:r>
            <a:endParaRPr lang="en-US" sz="1050" dirty="0"/>
          </a:p>
          <a:p>
            <a:pPr indent="0" marL="0">
              <a:spcAft>
                <a:spcPts val="500"/>
              </a:spcAft>
              <a:buNone/>
            </a:pPr>
            <a:r>
              <a:rPr lang="en-US" sz="1050" dirty="0">
                <a:solidFill>
                  <a:srgbClr val="14202E"/>
                </a:solidFill>
              </a:rPr>
              <a:t>Chen, T., &amp; Guestrin, C. (2016). XGBoost: A scalable tree boosting system. In </a:t>
            </a:r>
            <a:pPr indent="0" marL="0">
              <a:buNone/>
            </a:pPr>
            <a:r>
              <a:rPr lang="en-US" sz="1050" i="1" dirty="0">
                <a:solidFill>
                  <a:srgbClr val="14202E"/>
                </a:solidFill>
              </a:rPr>
              <a:t>Proceedings of the 22nd ACM SIGKDD International Conference on Knowledge Discovery and Data Mining</a:t>
            </a:r>
            <a:pPr indent="0" marL="0">
              <a:buNone/>
            </a:pPr>
            <a:r>
              <a:rPr lang="en-US" sz="1050" dirty="0">
                <a:solidFill>
                  <a:srgbClr val="14202E"/>
                </a:solidFill>
              </a:rPr>
              <a:t> (pp. 785–794). https://doi.org/10.1145/2939672.2939785</a:t>
            </a:r>
            <a:endParaRPr lang="en-US" sz="1050" dirty="0"/>
          </a:p>
          <a:p>
            <a:pPr indent="0" marL="0">
              <a:spcAft>
                <a:spcPts val="500"/>
              </a:spcAft>
              <a:buNone/>
            </a:pPr>
            <a:r>
              <a:rPr lang="en-US" sz="1050" dirty="0">
                <a:solidFill>
                  <a:srgbClr val="14202E"/>
                </a:solidFill>
              </a:rPr>
              <a:t>Coffie, G. H., &amp; Cudjoe, S. K. F. (2024). Using extreme gradient boosting (XGBoost) machine learning to predict construction cost overruns. </a:t>
            </a:r>
            <a:pPr indent="0" marL="0">
              <a:buNone/>
            </a:pPr>
            <a:r>
              <a:rPr lang="en-US" sz="1050" i="1" dirty="0">
                <a:solidFill>
                  <a:srgbClr val="14202E"/>
                </a:solidFill>
              </a:rPr>
              <a:t>International Journal of Construction Management, 24</a:t>
            </a:r>
            <a:pPr indent="0" marL="0">
              <a:buNone/>
            </a:pPr>
            <a:r>
              <a:rPr lang="en-US" sz="1050" dirty="0">
                <a:solidFill>
                  <a:srgbClr val="14202E"/>
                </a:solidFill>
              </a:rPr>
              <a:t>(16), 1742–1750. https://doi.org/10.1080/15623599.2023.2289754</a:t>
            </a:r>
            <a:endParaRPr lang="en-US" sz="1050" dirty="0"/>
          </a:p>
          <a:p>
            <a:pPr indent="0" marL="0">
              <a:spcAft>
                <a:spcPts val="500"/>
              </a:spcAft>
              <a:buNone/>
            </a:pPr>
            <a:r>
              <a:rPr lang="en-US" sz="1050" dirty="0">
                <a:solidFill>
                  <a:srgbClr val="14202E"/>
                </a:solidFill>
              </a:rPr>
              <a:t>CoST – The Infrastructure Transparency Initiative. (n.d.). </a:t>
            </a:r>
            <a:pPr indent="0" marL="0">
              <a:buNone/>
            </a:pPr>
            <a:r>
              <a:rPr lang="en-US" sz="1050" i="1" dirty="0">
                <a:solidFill>
                  <a:srgbClr val="14202E"/>
                </a:solidFill>
              </a:rPr>
              <a:t>Why infrastructure transparency matters</a:t>
            </a:r>
            <a:pPr indent="0" marL="0">
              <a:buNone/>
            </a:pPr>
            <a:r>
              <a:rPr lang="en-US" sz="1050" dirty="0">
                <a:solidFill>
                  <a:srgbClr val="14202E"/>
                </a:solidFill>
              </a:rPr>
              <a:t>. https://infrastructuretransparency.org/</a:t>
            </a:r>
            <a:endParaRPr lang="en-US" sz="1050" dirty="0"/>
          </a:p>
        </p:txBody>
      </p:sp>
      <p:sp>
        <p:nvSpPr>
          <p:cNvPr id="6"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Department of Education. (2010). </a:t>
            </a:r>
            <a:pPr indent="0" marL="0">
              <a:buNone/>
            </a:pPr>
            <a:r>
              <a:rPr lang="en-US" sz="1050" i="1" dirty="0">
                <a:solidFill>
                  <a:srgbClr val="14202E"/>
                </a:solidFill>
              </a:rPr>
              <a:t>Educational facilities manual</a:t>
            </a:r>
            <a:pPr indent="0" marL="0">
              <a:buNone/>
            </a:pPr>
            <a:r>
              <a:rPr lang="en-US" sz="1050" dirty="0">
                <a:solidFill>
                  <a:srgbClr val="14202E"/>
                </a:solidFill>
              </a:rPr>
              <a:t> (Rev. ed.).</a:t>
            </a:r>
            <a:endParaRPr lang="en-US" sz="1050" dirty="0"/>
          </a:p>
          <a:p>
            <a:pPr indent="0" marL="0">
              <a:spcAft>
                <a:spcPts val="500"/>
              </a:spcAft>
              <a:buNone/>
            </a:pPr>
            <a:r>
              <a:rPr lang="en-US" sz="1050" dirty="0">
                <a:solidFill>
                  <a:srgbClr val="14202E"/>
                </a:solidFill>
              </a:rPr>
              <a:t>Department of Health. (2016). </a:t>
            </a:r>
            <a:pPr indent="0" marL="0">
              <a:buNone/>
            </a:pPr>
            <a:r>
              <a:rPr lang="en-US" sz="1050" i="1" dirty="0">
                <a:solidFill>
                  <a:srgbClr val="14202E"/>
                </a:solidFill>
              </a:rPr>
              <a:t>Guidelines in the planning and design of hospitals and other health facilities</a:t>
            </a:r>
            <a:pPr indent="0" marL="0">
              <a:buNone/>
            </a:pPr>
            <a:r>
              <a:rPr lang="en-US" sz="1050" dirty="0">
                <a:solidFill>
                  <a:srgbClr val="14202E"/>
                </a:solidFill>
              </a:rPr>
              <a:t> (Administrative Order No. 2016-0042).</a:t>
            </a:r>
            <a:endParaRPr lang="en-US" sz="1050" dirty="0"/>
          </a:p>
          <a:p>
            <a:pPr indent="0" marL="0">
              <a:spcAft>
                <a:spcPts val="500"/>
              </a:spcAft>
              <a:buNone/>
            </a:pPr>
            <a:r>
              <a:rPr lang="en-US" sz="1050" dirty="0">
                <a:solidFill>
                  <a:srgbClr val="14202E"/>
                </a:solidFill>
              </a:rPr>
              <a:t>Department of Public Works and Highways. (2013). </a:t>
            </a:r>
            <a:pPr indent="0" marL="0">
              <a:buNone/>
            </a:pPr>
            <a:r>
              <a:rPr lang="en-US" sz="1050" i="1" dirty="0">
                <a:solidFill>
                  <a:srgbClr val="14202E"/>
                </a:solidFill>
              </a:rPr>
              <a:t>DPWH standard specifications for highways, bridges and airports</a:t>
            </a:r>
            <a:pPr indent="0" marL="0">
              <a:buNone/>
            </a:pPr>
            <a:r>
              <a:rPr lang="en-US" sz="1050" dirty="0">
                <a:solidFill>
                  <a:srgbClr val="14202E"/>
                </a:solidFill>
              </a:rPr>
              <a:t> (Vol. II).</a:t>
            </a:r>
            <a:endParaRPr lang="en-US" sz="1050" dirty="0"/>
          </a:p>
          <a:p>
            <a:pPr indent="0" marL="0">
              <a:spcAft>
                <a:spcPts val="500"/>
              </a:spcAft>
              <a:buNone/>
            </a:pPr>
            <a:r>
              <a:rPr lang="en-US" sz="1050" dirty="0">
                <a:solidFill>
                  <a:srgbClr val="14202E"/>
                </a:solidFill>
              </a:rPr>
              <a:t>Department of Public Works and Highways. (2016). </a:t>
            </a:r>
            <a:pPr indent="0" marL="0">
              <a:buNone/>
            </a:pPr>
            <a:r>
              <a:rPr lang="en-US" sz="1050" i="1" dirty="0">
                <a:solidFill>
                  <a:srgbClr val="14202E"/>
                </a:solidFill>
              </a:rPr>
              <a:t>Department Order No. 197, series of 2016: Guidelines on the preparation of the approved budget for the contract</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Department of Public Works and Highways. (2021). </a:t>
            </a:r>
            <a:pPr indent="0" marL="0">
              <a:buNone/>
            </a:pPr>
            <a:r>
              <a:rPr lang="en-US" sz="1050" i="1" dirty="0">
                <a:solidFill>
                  <a:srgbClr val="14202E"/>
                </a:solidFill>
              </a:rPr>
              <a:t>Department Order No. 42, series of 2021: Adoption of the DPWH standard specifications for public works structures, Volume III, 2019 edition</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Department of Public Works and Highways. (2025). </a:t>
            </a:r>
            <a:pPr indent="0" marL="0">
              <a:buNone/>
            </a:pPr>
            <a:r>
              <a:rPr lang="en-US" sz="1050" i="1" dirty="0">
                <a:solidFill>
                  <a:srgbClr val="14202E"/>
                </a:solidFill>
              </a:rPr>
              <a:t>Department Order No. 30, series of 2025</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DZRH News. (2025, August 11). </a:t>
            </a:r>
            <a:pPr indent="0" marL="0">
              <a:buNone/>
            </a:pPr>
            <a:r>
              <a:rPr lang="en-US" sz="1050" i="1" dirty="0">
                <a:solidFill>
                  <a:srgbClr val="14202E"/>
                </a:solidFill>
              </a:rPr>
              <a:t>20 percent of the entire P545-B flood control project went to 15 contractors — Pres. Marcos</a:t>
            </a:r>
            <a:pPr indent="0" marL="0">
              <a:buNone/>
            </a:pPr>
            <a:r>
              <a:rPr lang="en-US" sz="1050" dirty="0">
                <a:solidFill>
                  <a:srgbClr val="14202E"/>
                </a:solidFill>
              </a:rPr>
              <a:t>. https://dzrh.com.ph/</a:t>
            </a:r>
            <a:endParaRPr lang="en-US" sz="1050" dirty="0"/>
          </a:p>
          <a:p>
            <a:pPr indent="0" marL="0">
              <a:spcAft>
                <a:spcPts val="500"/>
              </a:spcAft>
              <a:buNone/>
            </a:pPr>
            <a:r>
              <a:rPr lang="en-US" sz="1050" dirty="0">
                <a:solidFill>
                  <a:srgbClr val="14202E"/>
                </a:solidFill>
              </a:rPr>
              <a:t>Elmousalami, H. H. (2020). Artificial intelligence and parametric construction cost estimate modeling: State-of-the-art review. </a:t>
            </a:r>
            <a:pPr indent="0" marL="0">
              <a:buNone/>
            </a:pPr>
            <a:r>
              <a:rPr lang="en-US" sz="1050" i="1" dirty="0">
                <a:solidFill>
                  <a:srgbClr val="14202E"/>
                </a:solidFill>
              </a:rPr>
              <a:t>Journal of Construction Engineering and Management, 146</a:t>
            </a:r>
            <a:pPr indent="0" marL="0">
              <a:buNone/>
            </a:pPr>
            <a:r>
              <a:rPr lang="en-US" sz="1050" dirty="0">
                <a:solidFill>
                  <a:srgbClr val="14202E"/>
                </a:solidFill>
              </a:rPr>
              <a:t>(1), 03119008. https://doi.org/10.1061/(ASCE)CO.1943-7862.0001678</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(2 of 3)</a:t>
            </a:r>
            <a:endParaRPr lang="en-US" sz="3200" dirty="0"/>
          </a:p>
        </p:txBody>
      </p:sp>
      <p:sp>
        <p:nvSpPr>
          <p:cNvPr id="4"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Fazekas, M., &amp; Tóth, I. J. (2016). From corruption to state capture: A new analytical framework with empirical applications from Hungary. </a:t>
            </a:r>
            <a:pPr indent="0" marL="0">
              <a:buNone/>
            </a:pPr>
            <a:r>
              <a:rPr lang="en-US" sz="1050" i="1" dirty="0">
                <a:solidFill>
                  <a:srgbClr val="14202E"/>
                </a:solidFill>
              </a:rPr>
              <a:t>Political Research Quarterly, 69</a:t>
            </a:r>
            <a:pPr indent="0" marL="0">
              <a:buNone/>
            </a:pPr>
            <a:r>
              <a:rPr lang="en-US" sz="1050" dirty="0">
                <a:solidFill>
                  <a:srgbClr val="14202E"/>
                </a:solidFill>
              </a:rPr>
              <a:t>(2), 320–334. https://doi.org/10.1177/1065912916639137</a:t>
            </a:r>
            <a:endParaRPr lang="en-US" sz="1050" dirty="0"/>
          </a:p>
          <a:p>
            <a:pPr indent="0" marL="0">
              <a:spcAft>
                <a:spcPts val="500"/>
              </a:spcAft>
              <a:buNone/>
            </a:pPr>
            <a:r>
              <a:rPr lang="en-US" sz="1050" dirty="0">
                <a:solidFill>
                  <a:srgbClr val="14202E"/>
                </a:solidFill>
              </a:rPr>
              <a:t>Flyvbjerg, B., Holm, M. S., &amp; Buhl, S. (2002). Underestimating costs in public works projects: Error or lie? </a:t>
            </a:r>
            <a:pPr indent="0" marL="0">
              <a:buNone/>
            </a:pPr>
            <a:r>
              <a:rPr lang="en-US" sz="1050" i="1" dirty="0">
                <a:solidFill>
                  <a:srgbClr val="14202E"/>
                </a:solidFill>
              </a:rPr>
              <a:t>Journal of the American Planning Association, 68</a:t>
            </a:r>
            <a:pPr indent="0" marL="0">
              <a:buNone/>
            </a:pPr>
            <a:r>
              <a:rPr lang="en-US" sz="1050" dirty="0">
                <a:solidFill>
                  <a:srgbClr val="14202E"/>
                </a:solidFill>
              </a:rPr>
              <a:t>(3), 279–295. https://doi.org/10.1080/01944360208976273</a:t>
            </a:r>
            <a:endParaRPr lang="en-US" sz="1050" dirty="0"/>
          </a:p>
          <a:p>
            <a:pPr indent="0" marL="0">
              <a:spcAft>
                <a:spcPts val="500"/>
              </a:spcAft>
              <a:buNone/>
            </a:pPr>
            <a:r>
              <a:rPr lang="en-US" sz="1050" dirty="0">
                <a:solidFill>
                  <a:srgbClr val="14202E"/>
                </a:solidFill>
              </a:rPr>
              <a:t>Interaksyon. (2025, September 11). </a:t>
            </a:r>
            <a:pPr indent="0" marL="0">
              <a:buNone/>
            </a:pPr>
            <a:r>
              <a:rPr lang="en-US" sz="1050" i="1" dirty="0">
                <a:solidFill>
                  <a:srgbClr val="14202E"/>
                </a:solidFill>
              </a:rPr>
              <a:t>Philippines forms independent body to probe anomalies in infrastructure projects</a:t>
            </a:r>
            <a:pPr indent="0" marL="0">
              <a:buNone/>
            </a:pPr>
            <a:r>
              <a:rPr lang="en-US" sz="1050" dirty="0">
                <a:solidFill>
                  <a:srgbClr val="14202E"/>
                </a:solidFill>
              </a:rPr>
              <a:t>. https://interaksyon.philstar.com/politics-issues/2025/09/11/302050/</a:t>
            </a:r>
            <a:endParaRPr lang="en-US" sz="1050" dirty="0"/>
          </a:p>
          <a:p>
            <a:pPr indent="0" marL="0">
              <a:spcAft>
                <a:spcPts val="500"/>
              </a:spcAft>
              <a:buNone/>
            </a:pPr>
            <a:r>
              <a:rPr lang="en-US" sz="1050" dirty="0">
                <a:solidFill>
                  <a:srgbClr val="14202E"/>
                </a:solidFill>
              </a:rPr>
              <a:t>Jensen, M. C., &amp; Meckling, W. H. (1976). Theory of the firm: Managerial behavior, agency costs and ownership structure. </a:t>
            </a:r>
            <a:pPr indent="0" marL="0">
              <a:buNone/>
            </a:pPr>
            <a:r>
              <a:rPr lang="en-US" sz="1050" i="1" dirty="0">
                <a:solidFill>
                  <a:srgbClr val="14202E"/>
                </a:solidFill>
              </a:rPr>
              <a:t>Journal of Financial Economics, 3</a:t>
            </a:r>
            <a:pPr indent="0" marL="0">
              <a:buNone/>
            </a:pPr>
            <a:r>
              <a:rPr lang="en-US" sz="1050" dirty="0">
                <a:solidFill>
                  <a:srgbClr val="14202E"/>
                </a:solidFill>
              </a:rPr>
              <a:t>(4), 305–360. https://doi.org/10.1016/0304-405X(76)90026-X</a:t>
            </a:r>
            <a:endParaRPr lang="en-US" sz="1050" dirty="0"/>
          </a:p>
          <a:p>
            <a:pPr indent="0" marL="0">
              <a:spcAft>
                <a:spcPts val="500"/>
              </a:spcAft>
              <a:buNone/>
            </a:pPr>
            <a:r>
              <a:rPr lang="en-US" sz="1050" dirty="0">
                <a:solidFill>
                  <a:srgbClr val="14202E"/>
                </a:solidFill>
              </a:rPr>
              <a:t>Kenny, C. (2007). </a:t>
            </a:r>
            <a:pPr indent="0" marL="0">
              <a:buNone/>
            </a:pPr>
            <a:r>
              <a:rPr lang="en-US" sz="1050" i="1" dirty="0">
                <a:solidFill>
                  <a:srgbClr val="14202E"/>
                </a:solidFill>
              </a:rPr>
              <a:t>Construction, corruption, and developing countries</a:t>
            </a:r>
            <a:pPr indent="0" marL="0">
              <a:buNone/>
            </a:pPr>
            <a:r>
              <a:rPr lang="en-US" sz="1050" dirty="0">
                <a:solidFill>
                  <a:srgbClr val="14202E"/>
                </a:solidFill>
              </a:rPr>
              <a:t> (Policy Research Working Paper No. 4271). World Bank.</a:t>
            </a:r>
            <a:endParaRPr lang="en-US" sz="1050" dirty="0"/>
          </a:p>
          <a:p>
            <a:pPr indent="0" marL="0">
              <a:spcAft>
                <a:spcPts val="500"/>
              </a:spcAft>
              <a:buNone/>
            </a:pPr>
            <a:r>
              <a:rPr lang="en-US" sz="1050" dirty="0">
                <a:solidFill>
                  <a:srgbClr val="14202E"/>
                </a:solidFill>
              </a:rPr>
              <a:t>Kutner, M. H., Nachtsheim, C. J., &amp; Neter, J. (2004). </a:t>
            </a:r>
            <a:pPr indent="0" marL="0">
              <a:buNone/>
            </a:pPr>
            <a:r>
              <a:rPr lang="en-US" sz="1050" i="1" dirty="0">
                <a:solidFill>
                  <a:srgbClr val="14202E"/>
                </a:solidFill>
              </a:rPr>
              <a:t>Applied linear regression models</a:t>
            </a:r>
            <a:pPr indent="0" marL="0">
              <a:buNone/>
            </a:pPr>
            <a:r>
              <a:rPr lang="en-US" sz="1050" dirty="0">
                <a:solidFill>
                  <a:srgbClr val="14202E"/>
                </a:solidFill>
              </a:rPr>
              <a:t> (4th ed.). McGraw-Hill/Irwin.</a:t>
            </a:r>
            <a:endParaRPr lang="en-US" sz="1050" dirty="0"/>
          </a:p>
          <a:p>
            <a:pPr indent="0" marL="0">
              <a:spcAft>
                <a:spcPts val="500"/>
              </a:spcAft>
              <a:buNone/>
            </a:pPr>
            <a:r>
              <a:rPr lang="en-US" sz="1050" dirty="0">
                <a:solidFill>
                  <a:srgbClr val="14202E"/>
                </a:solidFill>
              </a:rPr>
              <a:t>Larocque, R., Boulé, A.-M., &amp; Cappart, Q. (2025). Estimating road construction costs with explainable machine learning. </a:t>
            </a:r>
            <a:pPr indent="0" marL="0">
              <a:buNone/>
            </a:pPr>
            <a:r>
              <a:rPr lang="en-US" sz="1050" i="1" dirty="0">
                <a:solidFill>
                  <a:srgbClr val="14202E"/>
                </a:solidFill>
              </a:rPr>
              <a:t>INFORMS Journal on Applied Analytics, 55</a:t>
            </a:r>
            <a:pPr indent="0" marL="0">
              <a:buNone/>
            </a:pPr>
            <a:r>
              <a:rPr lang="en-US" sz="1050" dirty="0">
                <a:solidFill>
                  <a:srgbClr val="14202E"/>
                </a:solidFill>
              </a:rPr>
              <a:t>(2), 137–153. https://doi.org/10.1287/inte.2023.0027</a:t>
            </a:r>
            <a:endParaRPr lang="en-US" sz="1050" dirty="0"/>
          </a:p>
          <a:p>
            <a:pPr indent="0" marL="0">
              <a:spcAft>
                <a:spcPts val="500"/>
              </a:spcAft>
              <a:buNone/>
            </a:pPr>
            <a:r>
              <a:rPr lang="en-US" sz="1050" dirty="0">
                <a:solidFill>
                  <a:srgbClr val="14202E"/>
                </a:solidFill>
              </a:rPr>
              <a:t>Liu, F. T., Ting, K. M., &amp; Zhou, Z.-H. (2008). Isolation forest. In </a:t>
            </a:r>
            <a:pPr indent="0" marL="0">
              <a:buNone/>
            </a:pPr>
            <a:r>
              <a:rPr lang="en-US" sz="1050" i="1" dirty="0">
                <a:solidFill>
                  <a:srgbClr val="14202E"/>
                </a:solidFill>
              </a:rPr>
              <a:t>2008 Eighth IEEE International Conference on Data Mining</a:t>
            </a:r>
            <a:pPr indent="0" marL="0">
              <a:buNone/>
            </a:pPr>
            <a:r>
              <a:rPr lang="en-US" sz="1050" dirty="0">
                <a:solidFill>
                  <a:srgbClr val="14202E"/>
                </a:solidFill>
              </a:rPr>
              <a:t> (pp. 413–422). IEEE. https://doi.org/10.1109/ICDM.2008.17</a:t>
            </a:r>
            <a:endParaRPr lang="en-US" sz="1050" dirty="0"/>
          </a:p>
        </p:txBody>
      </p:sp>
      <p:sp>
        <p:nvSpPr>
          <p:cNvPr id="5"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Locatelli, G., Mariani, G., Sainati, T., &amp; Greco, M. (2017). Corruption in public projects and megaprojects: There is an elephant in the room! </a:t>
            </a:r>
            <a:pPr indent="0" marL="0">
              <a:buNone/>
            </a:pPr>
            <a:r>
              <a:rPr lang="en-US" sz="1050" i="1" dirty="0">
                <a:solidFill>
                  <a:srgbClr val="14202E"/>
                </a:solidFill>
              </a:rPr>
              <a:t>International Journal of Project Management, 35</a:t>
            </a:r>
            <a:pPr indent="0" marL="0">
              <a:buNone/>
            </a:pPr>
            <a:r>
              <a:rPr lang="en-US" sz="1050" dirty="0">
                <a:solidFill>
                  <a:srgbClr val="14202E"/>
                </a:solidFill>
              </a:rPr>
              <a:t>(3), 252–268. https://doi.org/10.1016/j.ijproman.2016.09.010</a:t>
            </a:r>
            <a:endParaRPr lang="en-US" sz="1050" dirty="0"/>
          </a:p>
          <a:p>
            <a:pPr indent="0" marL="0">
              <a:spcAft>
                <a:spcPts val="500"/>
              </a:spcAft>
              <a:buNone/>
            </a:pPr>
            <a:r>
              <a:rPr lang="en-US" sz="1050" dirty="0">
                <a:solidFill>
                  <a:srgbClr val="14202E"/>
                </a:solidFill>
              </a:rPr>
              <a:t>Lundberg, S. M., Erion, G. G., &amp; Lee, S.-I. (2018). </a:t>
            </a:r>
            <a:pPr indent="0" marL="0">
              <a:buNone/>
            </a:pPr>
            <a:r>
              <a:rPr lang="en-US" sz="1050" i="1" dirty="0">
                <a:solidFill>
                  <a:srgbClr val="14202E"/>
                </a:solidFill>
              </a:rPr>
              <a:t>Consistent individualized feature attribution for tree ensembles</a:t>
            </a:r>
            <a:pPr indent="0" marL="0">
              <a:buNone/>
            </a:pPr>
            <a:r>
              <a:rPr lang="en-US" sz="1050" dirty="0">
                <a:solidFill>
                  <a:srgbClr val="14202E"/>
                </a:solidFill>
              </a:rPr>
              <a:t> (arXiv:1802.03888). https://arxiv.org/abs/1802.03888</a:t>
            </a:r>
            <a:endParaRPr lang="en-US" sz="1050" dirty="0"/>
          </a:p>
          <a:p>
            <a:pPr indent="0" marL="0">
              <a:spcAft>
                <a:spcPts val="500"/>
              </a:spcAft>
              <a:buNone/>
            </a:pPr>
            <a:r>
              <a:rPr lang="en-US" sz="1050" dirty="0">
                <a:solidFill>
                  <a:srgbClr val="14202E"/>
                </a:solidFill>
              </a:rPr>
              <a:t>Lundberg, S. M., &amp; Lee, S.-I. (2017). A unified approach to interpreting model predictions. </a:t>
            </a:r>
            <a:pPr indent="0" marL="0">
              <a:buNone/>
            </a:pPr>
            <a:r>
              <a:rPr lang="en-US" sz="1050" i="1" dirty="0">
                <a:solidFill>
                  <a:srgbClr val="14202E"/>
                </a:solidFill>
              </a:rPr>
              <a:t>Advances in Neural Information Processing Systems, 30</a:t>
            </a:r>
            <a:pPr indent="0" marL="0">
              <a:buNone/>
            </a:pPr>
            <a:r>
              <a:rPr lang="en-US" sz="1050" dirty="0">
                <a:solidFill>
                  <a:srgbClr val="14202E"/>
                </a:solidFill>
              </a:rPr>
              <a:t>. https://arxiv.org/abs/1705.07874</a:t>
            </a:r>
            <a:endParaRPr lang="en-US" sz="1050" dirty="0"/>
          </a:p>
          <a:p>
            <a:pPr indent="0" marL="0">
              <a:spcAft>
                <a:spcPts val="500"/>
              </a:spcAft>
              <a:buNone/>
            </a:pPr>
            <a:r>
              <a:rPr lang="en-US" sz="1050" dirty="0">
                <a:solidFill>
                  <a:srgbClr val="14202E"/>
                </a:solidFill>
              </a:rPr>
              <a:t>Mahamid, I. (2011). Early cost estimating for road construction projects using multiple regression techniques. </a:t>
            </a:r>
            <a:pPr indent="0" marL="0">
              <a:buNone/>
            </a:pPr>
            <a:r>
              <a:rPr lang="en-US" sz="1050" i="1" dirty="0">
                <a:solidFill>
                  <a:srgbClr val="14202E"/>
                </a:solidFill>
              </a:rPr>
              <a:t>Australasian Journal of Construction Economics and Building, 11</a:t>
            </a:r>
            <a:pPr indent="0" marL="0">
              <a:buNone/>
            </a:pPr>
            <a:r>
              <a:rPr lang="en-US" sz="1050" dirty="0">
                <a:solidFill>
                  <a:srgbClr val="14202E"/>
                </a:solidFill>
              </a:rPr>
              <a:t>(4), 87–101. https://doi.org/10.5130/AJCEB.v11i4.2195</a:t>
            </a:r>
            <a:endParaRPr lang="en-US" sz="1050" dirty="0"/>
          </a:p>
          <a:p>
            <a:pPr indent="0" marL="0">
              <a:spcAft>
                <a:spcPts val="500"/>
              </a:spcAft>
              <a:buNone/>
            </a:pPr>
            <a:r>
              <a:rPr lang="en-US" sz="1050" dirty="0">
                <a:solidFill>
                  <a:srgbClr val="14202E"/>
                </a:solidFill>
              </a:rPr>
              <a:t>Molinaro, A. M., Simon, R., &amp; Pfeiffer, R. M. (2005). Prediction error estimation: A comparison of resampling methods. </a:t>
            </a:r>
            <a:pPr indent="0" marL="0">
              <a:buNone/>
            </a:pPr>
            <a:r>
              <a:rPr lang="en-US" sz="1050" i="1" dirty="0">
                <a:solidFill>
                  <a:srgbClr val="14202E"/>
                </a:solidFill>
              </a:rPr>
              <a:t>Bioinformatics, 21</a:t>
            </a:r>
            <a:pPr indent="0" marL="0">
              <a:buNone/>
            </a:pPr>
            <a:r>
              <a:rPr lang="en-US" sz="1050" dirty="0">
                <a:solidFill>
                  <a:srgbClr val="14202E"/>
                </a:solidFill>
              </a:rPr>
              <a:t>(15), 3301–3307. https://doi.org/10.1093/bioinformatics/bti499</a:t>
            </a:r>
            <a:endParaRPr lang="en-US" sz="1050" dirty="0"/>
          </a:p>
          <a:p>
            <a:pPr indent="0" marL="0">
              <a:spcAft>
                <a:spcPts val="500"/>
              </a:spcAft>
              <a:buNone/>
            </a:pPr>
            <a:r>
              <a:rPr lang="en-US" sz="1050" dirty="0">
                <a:solidFill>
                  <a:srgbClr val="14202E"/>
                </a:solidFill>
              </a:rPr>
              <a:t>Nemhauser, G. L., &amp; Wolsey, L. A. (1988). </a:t>
            </a:r>
            <a:pPr indent="0" marL="0">
              <a:buNone/>
            </a:pPr>
            <a:r>
              <a:rPr lang="en-US" sz="1050" i="1" dirty="0">
                <a:solidFill>
                  <a:srgbClr val="14202E"/>
                </a:solidFill>
              </a:rPr>
              <a:t>Integer and combinatorial optimization</a:t>
            </a:r>
            <a:pPr indent="0" marL="0">
              <a:buNone/>
            </a:pPr>
            <a:r>
              <a:rPr lang="en-US" sz="1050" dirty="0">
                <a:solidFill>
                  <a:srgbClr val="14202E"/>
                </a:solidFill>
              </a:rPr>
              <a:t>. Wiley.</a:t>
            </a:r>
            <a:endParaRPr lang="en-US" sz="1050" dirty="0"/>
          </a:p>
          <a:p>
            <a:pPr indent="0" marL="0">
              <a:spcAft>
                <a:spcPts val="500"/>
              </a:spcAft>
              <a:buNone/>
            </a:pPr>
            <a:r>
              <a:rPr lang="en-US" sz="1050" dirty="0">
                <a:solidFill>
                  <a:srgbClr val="14202E"/>
                </a:solidFill>
              </a:rPr>
              <a:t>O'Brien, R. M. (2007). A caution regarding rules of thumb for variance inflation factors. </a:t>
            </a:r>
            <a:pPr indent="0" marL="0">
              <a:buNone/>
            </a:pPr>
            <a:r>
              <a:rPr lang="en-US" sz="1050" i="1" dirty="0">
                <a:solidFill>
                  <a:srgbClr val="14202E"/>
                </a:solidFill>
              </a:rPr>
              <a:t>Quality &amp; Quantity, 41</a:t>
            </a:r>
            <a:pPr indent="0" marL="0">
              <a:buNone/>
            </a:pPr>
            <a:r>
              <a:rPr lang="en-US" sz="1050" dirty="0">
                <a:solidFill>
                  <a:srgbClr val="14202E"/>
                </a:solidFill>
              </a:rPr>
              <a:t>(5), 673–690. https://doi.org/10.1007/s11135-006-9018-6</a:t>
            </a:r>
            <a:endParaRPr lang="en-US" sz="1050" dirty="0"/>
          </a:p>
          <a:p>
            <a:pPr indent="0" marL="0">
              <a:spcAft>
                <a:spcPts val="500"/>
              </a:spcAft>
              <a:buNone/>
            </a:pPr>
            <a:r>
              <a:rPr lang="en-US" sz="1050" dirty="0">
                <a:solidFill>
                  <a:srgbClr val="14202E"/>
                </a:solidFill>
              </a:rPr>
              <a:t>OECD. (2016). </a:t>
            </a:r>
            <a:pPr indent="0" marL="0">
              <a:buNone/>
            </a:pPr>
            <a:r>
              <a:rPr lang="en-US" sz="1050" i="1" dirty="0">
                <a:solidFill>
                  <a:srgbClr val="14202E"/>
                </a:solidFill>
              </a:rPr>
              <a:t>Preventing corruption in public procurement</a:t>
            </a:r>
            <a:pPr indent="0" marL="0">
              <a:buNone/>
            </a:pPr>
            <a:r>
              <a:rPr lang="en-US" sz="1050" dirty="0">
                <a:solidFill>
                  <a:srgbClr val="14202E"/>
                </a:solidFill>
              </a:rPr>
              <a:t>. OECD Publishing.</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REFERENCES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References (3 of 3)</a:t>
            </a:r>
            <a:endParaRPr lang="en-US" sz="3200" dirty="0"/>
          </a:p>
        </p:txBody>
      </p:sp>
      <p:sp>
        <p:nvSpPr>
          <p:cNvPr id="4" name="references column 1"/>
          <p:cNvSpPr txBox="1"/>
          <p:nvPr/>
        </p:nvSpPr>
        <p:spPr>
          <a:xfrm>
            <a:off x="54864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Pareto, V. (1906). </a:t>
            </a:r>
            <a:pPr indent="0" marL="0">
              <a:buNone/>
            </a:pPr>
            <a:r>
              <a:rPr lang="en-US" sz="1050" i="1" dirty="0">
                <a:solidFill>
                  <a:srgbClr val="14202E"/>
                </a:solidFill>
              </a:rPr>
              <a:t>Manuale di economia politica</a:t>
            </a:r>
            <a:pPr indent="0" marL="0">
              <a:buNone/>
            </a:pPr>
            <a:r>
              <a:rPr lang="en-US" sz="1050" dirty="0">
                <a:solidFill>
                  <a:srgbClr val="14202E"/>
                </a:solidFill>
              </a:rPr>
              <a:t>. Società Editrice Libraria.</a:t>
            </a:r>
            <a:endParaRPr lang="en-US" sz="1050" dirty="0"/>
          </a:p>
          <a:p>
            <a:pPr indent="0" marL="0">
              <a:spcAft>
                <a:spcPts val="500"/>
              </a:spcAft>
              <a:buNone/>
            </a:pPr>
            <a:r>
              <a:rPr lang="en-US" sz="1050" dirty="0">
                <a:solidFill>
                  <a:srgbClr val="14202E"/>
                </a:solidFill>
              </a:rPr>
              <a:t>Pedregosa, F., Varoquaux, G., Gramfort, A., Michel, V., Thirion, B., Grisel, O., Blondel, M., Prettenhofer, P., Weiss, R., Dubourg, V., Vanderplas, J., Passos, A., Cournapeau, D., Brucher, M., Perrot, M., &amp; Duchesnay, É. (2011). Scikit-learn: Machine learning in Python. </a:t>
            </a:r>
            <a:pPr indent="0" marL="0">
              <a:buNone/>
            </a:pPr>
            <a:r>
              <a:rPr lang="en-US" sz="1050" i="1" dirty="0">
                <a:solidFill>
                  <a:srgbClr val="14202E"/>
                </a:solidFill>
              </a:rPr>
              <a:t>Journal of Machine Learning Research, 12</a:t>
            </a:r>
            <a:pPr indent="0" marL="0">
              <a:buNone/>
            </a:pPr>
            <a:r>
              <a:rPr lang="en-US" sz="1050" dirty="0">
                <a:solidFill>
                  <a:srgbClr val="14202E"/>
                </a:solidFill>
              </a:rPr>
              <a:t>, 2825–2830.</a:t>
            </a:r>
            <a:endParaRPr lang="en-US" sz="1050" dirty="0"/>
          </a:p>
          <a:p>
            <a:pPr indent="0" marL="0">
              <a:spcAft>
                <a:spcPts val="500"/>
              </a:spcAft>
              <a:buNone/>
            </a:pPr>
            <a:r>
              <a:rPr lang="en-US" sz="1050" dirty="0">
                <a:solidFill>
                  <a:srgbClr val="14202E"/>
                </a:solidFill>
              </a:rPr>
              <a:t>Philippine Center for Investigative Journalism. (2025, August 31). </a:t>
            </a:r>
            <a:pPr indent="0" marL="0">
              <a:buNone/>
            </a:pPr>
            <a:r>
              <a:rPr lang="en-US" sz="1050" i="1" dirty="0">
                <a:solidFill>
                  <a:srgbClr val="14202E"/>
                </a:solidFill>
              </a:rPr>
              <a:t>5 reveals from the flood control data</a:t>
            </a:r>
            <a:pPr indent="0" marL="0">
              <a:buNone/>
            </a:pPr>
            <a:r>
              <a:rPr lang="en-US" sz="1050" dirty="0">
                <a:solidFill>
                  <a:srgbClr val="14202E"/>
                </a:solidFill>
              </a:rPr>
              <a:t>. https://pcij.org/2025/08/31/5-reveals-from-the-flood-control-data/</a:t>
            </a:r>
            <a:endParaRPr lang="en-US" sz="1050" dirty="0"/>
          </a:p>
          <a:p>
            <a:pPr indent="0" marL="0">
              <a:spcAft>
                <a:spcPts val="500"/>
              </a:spcAft>
              <a:buNone/>
            </a:pPr>
            <a:r>
              <a:rPr lang="en-US" sz="1050" dirty="0">
                <a:solidFill>
                  <a:srgbClr val="14202E"/>
                </a:solidFill>
              </a:rPr>
              <a:t>Philstar. (2025, March 1). </a:t>
            </a:r>
            <a:pPr indent="0" marL="0">
              <a:buNone/>
            </a:pPr>
            <a:r>
              <a:rPr lang="en-US" sz="1050" i="1" dirty="0">
                <a:solidFill>
                  <a:srgbClr val="14202E"/>
                </a:solidFill>
              </a:rPr>
              <a:t>Newly opened P1.2 billion Isabela bridge collapses</a:t>
            </a:r>
            <a:pPr indent="0" marL="0">
              <a:buNone/>
            </a:pPr>
            <a:r>
              <a:rPr lang="en-US" sz="1050" dirty="0">
                <a:solidFill>
                  <a:srgbClr val="14202E"/>
                </a:solidFill>
              </a:rPr>
              <a:t>. https://www.philstar.com/headlines/2025/03/01/2425019/newly-opened-p12-billion-isabela-bridge-collapses</a:t>
            </a:r>
            <a:endParaRPr lang="en-US" sz="1050" dirty="0"/>
          </a:p>
          <a:p>
            <a:pPr indent="0" marL="0">
              <a:spcAft>
                <a:spcPts val="500"/>
              </a:spcAft>
              <a:buNone/>
            </a:pPr>
            <a:r>
              <a:rPr lang="en-US" sz="1050" dirty="0">
                <a:solidFill>
                  <a:srgbClr val="14202E"/>
                </a:solidFill>
              </a:rPr>
              <a:t>Philstar. (2026, February 12). </a:t>
            </a:r>
            <a:pPr indent="0" marL="0">
              <a:buNone/>
            </a:pPr>
            <a:r>
              <a:rPr lang="en-US" sz="1050" i="1" dirty="0">
                <a:solidFill>
                  <a:srgbClr val="14202E"/>
                </a:solidFill>
              </a:rPr>
              <a:t>Philippines falls in corruption index, among worst in SEA</a:t>
            </a:r>
            <a:pPr indent="0" marL="0">
              <a:buNone/>
            </a:pPr>
            <a:r>
              <a:rPr lang="en-US" sz="1050" dirty="0">
                <a:solidFill>
                  <a:srgbClr val="14202E"/>
                </a:solidFill>
              </a:rPr>
              <a:t>. https://www.philstar.com/headlines/2026/02/12/2507429/philippines-falls-corruption-index-among-worst-sea</a:t>
            </a:r>
            <a:endParaRPr lang="en-US" sz="1050" dirty="0"/>
          </a:p>
          <a:p>
            <a:pPr indent="0" marL="0">
              <a:spcAft>
                <a:spcPts val="500"/>
              </a:spcAft>
              <a:buNone/>
            </a:pPr>
            <a:r>
              <a:rPr lang="en-US" sz="1050" dirty="0">
                <a:solidFill>
                  <a:srgbClr val="14202E"/>
                </a:solidFill>
              </a:rPr>
              <a:t>Presidential Decree No. 1096. (1977). </a:t>
            </a:r>
            <a:pPr indent="0" marL="0">
              <a:buNone/>
            </a:pPr>
            <a:r>
              <a:rPr lang="en-US" sz="1050" i="1" dirty="0">
                <a:solidFill>
                  <a:srgbClr val="14202E"/>
                </a:solidFill>
              </a:rPr>
              <a:t>National building code of the Philippines</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Republic Act No. 9514. (2008). </a:t>
            </a:r>
            <a:pPr indent="0" marL="0">
              <a:buNone/>
            </a:pPr>
            <a:r>
              <a:rPr lang="en-US" sz="1050" i="1" dirty="0">
                <a:solidFill>
                  <a:srgbClr val="14202E"/>
                </a:solidFill>
              </a:rPr>
              <a:t>Fire code of the Philippines of 2008</a:t>
            </a:r>
            <a:pPr indent="0" marL="0">
              <a:buNone/>
            </a:pPr>
            <a:r>
              <a:rPr lang="en-US" sz="1050" dirty="0">
                <a:solidFill>
                  <a:srgbClr val="14202E"/>
                </a:solidFill>
              </a:rPr>
              <a:t>.</a:t>
            </a:r>
            <a:endParaRPr lang="en-US" sz="1050" dirty="0"/>
          </a:p>
          <a:p>
            <a:pPr indent="0" marL="0">
              <a:spcAft>
                <a:spcPts val="500"/>
              </a:spcAft>
              <a:buNone/>
            </a:pPr>
            <a:r>
              <a:rPr lang="en-US" sz="1050" dirty="0">
                <a:solidFill>
                  <a:srgbClr val="14202E"/>
                </a:solidFill>
              </a:rPr>
              <a:t>Republic Act No. 12009. (2024). </a:t>
            </a:r>
            <a:pPr indent="0" marL="0">
              <a:buNone/>
            </a:pPr>
            <a:r>
              <a:rPr lang="en-US" sz="1050" i="1" dirty="0">
                <a:solidFill>
                  <a:srgbClr val="14202E"/>
                </a:solidFill>
              </a:rPr>
              <a:t>New government procurement act</a:t>
            </a:r>
            <a:pPr indent="0" marL="0">
              <a:buNone/>
            </a:pPr>
            <a:r>
              <a:rPr lang="en-US" sz="1050" dirty="0">
                <a:solidFill>
                  <a:srgbClr val="14202E"/>
                </a:solidFill>
              </a:rPr>
              <a:t>.</a:t>
            </a:r>
            <a:endParaRPr lang="en-US" sz="1050" dirty="0"/>
          </a:p>
        </p:txBody>
      </p:sp>
      <p:sp>
        <p:nvSpPr>
          <p:cNvPr id="5" name="references column 2"/>
          <p:cNvSpPr txBox="1"/>
          <p:nvPr/>
        </p:nvSpPr>
        <p:spPr>
          <a:xfrm>
            <a:off x="6217920" y="1417320"/>
            <a:ext cx="5422392" cy="4846320"/>
          </a:xfrm>
          <a:prstGeom prst="rect">
            <a:avLst/>
          </a:prstGeom>
          <a:noFill/>
          <a:ln/>
        </p:spPr>
        <p:txBody>
          <a:bodyPr wrap="square" lIns="0" tIns="0" rIns="0" bIns="0" rtlCol="0" anchor="t"/>
          <a:lstStyle/>
          <a:p>
            <a:pPr indent="0" marL="0">
              <a:spcAft>
                <a:spcPts val="500"/>
              </a:spcAft>
              <a:buNone/>
            </a:pPr>
            <a:r>
              <a:rPr lang="en-US" sz="1050" dirty="0">
                <a:solidFill>
                  <a:srgbClr val="14202E"/>
                </a:solidFill>
              </a:rPr>
              <a:t>Seabold, S., &amp; Perktold, J. (2010). Statsmodels: Econometric and statistical modeling with Python. In </a:t>
            </a:r>
            <a:pPr indent="0" marL="0">
              <a:buNone/>
            </a:pPr>
            <a:r>
              <a:rPr lang="en-US" sz="1050" i="1" dirty="0">
                <a:solidFill>
                  <a:srgbClr val="14202E"/>
                </a:solidFill>
              </a:rPr>
              <a:t>Proceedings of the 9th Python in Science Conference</a:t>
            </a:r>
            <a:pPr indent="0" marL="0">
              <a:buNone/>
            </a:pPr>
            <a:r>
              <a:rPr lang="en-US" sz="1050" dirty="0">
                <a:solidFill>
                  <a:srgbClr val="14202E"/>
                </a:solidFill>
              </a:rPr>
              <a:t> (pp. 92–96).</a:t>
            </a:r>
            <a:endParaRPr lang="en-US" sz="1050" dirty="0"/>
          </a:p>
          <a:p>
            <a:pPr indent="0" marL="0">
              <a:spcAft>
                <a:spcPts val="500"/>
              </a:spcAft>
              <a:buNone/>
            </a:pPr>
            <a:r>
              <a:rPr lang="en-US" sz="1050" dirty="0">
                <a:solidFill>
                  <a:srgbClr val="14202E"/>
                </a:solidFill>
              </a:rPr>
              <a:t>Shapley, L. S. (1953). A value for n-person games. In H. W. Kuhn &amp; A. W. Tucker (Eds.), </a:t>
            </a:r>
            <a:pPr indent="0" marL="0">
              <a:buNone/>
            </a:pPr>
            <a:r>
              <a:rPr lang="en-US" sz="1050" i="1" dirty="0">
                <a:solidFill>
                  <a:srgbClr val="14202E"/>
                </a:solidFill>
              </a:rPr>
              <a:t>Contributions to the theory of games</a:t>
            </a:r>
            <a:pPr indent="0" marL="0">
              <a:buNone/>
            </a:pPr>
            <a:r>
              <a:rPr lang="en-US" sz="1050" dirty="0">
                <a:solidFill>
                  <a:srgbClr val="14202E"/>
                </a:solidFill>
              </a:rPr>
              <a:t> (Vol. 2, pp. 307–317). Princeton University Press.</a:t>
            </a:r>
            <a:endParaRPr lang="en-US" sz="1050" dirty="0"/>
          </a:p>
          <a:p>
            <a:pPr indent="0" marL="0">
              <a:spcAft>
                <a:spcPts val="500"/>
              </a:spcAft>
              <a:buNone/>
            </a:pPr>
            <a:r>
              <a:rPr lang="en-US" sz="1050" dirty="0">
                <a:solidFill>
                  <a:srgbClr val="14202E"/>
                </a:solidFill>
              </a:rPr>
              <a:t>Sphere Association. (2018). </a:t>
            </a:r>
            <a:pPr indent="0" marL="0">
              <a:buNone/>
            </a:pPr>
            <a:r>
              <a:rPr lang="en-US" sz="1050" i="1" dirty="0">
                <a:solidFill>
                  <a:srgbClr val="14202E"/>
                </a:solidFill>
              </a:rPr>
              <a:t>The Sphere handbook: Humanitarian charter and minimum standards in humanitarian response</a:t>
            </a:r>
            <a:pPr indent="0" marL="0">
              <a:buNone/>
            </a:pPr>
            <a:r>
              <a:rPr lang="en-US" sz="1050" dirty="0">
                <a:solidFill>
                  <a:srgbClr val="14202E"/>
                </a:solidFill>
              </a:rPr>
              <a:t> (4th ed.).</a:t>
            </a:r>
            <a:endParaRPr lang="en-US" sz="1050" dirty="0"/>
          </a:p>
          <a:p>
            <a:pPr indent="0" marL="0">
              <a:spcAft>
                <a:spcPts val="500"/>
              </a:spcAft>
              <a:buNone/>
            </a:pPr>
            <a:r>
              <a:rPr lang="en-US" sz="1050" dirty="0">
                <a:solidFill>
                  <a:srgbClr val="14202E"/>
                </a:solidFill>
              </a:rPr>
              <a:t>Transparency International. (2026). </a:t>
            </a:r>
            <a:pPr indent="0" marL="0">
              <a:buNone/>
            </a:pPr>
            <a:r>
              <a:rPr lang="en-US" sz="1050" i="1" dirty="0">
                <a:solidFill>
                  <a:srgbClr val="14202E"/>
                </a:solidFill>
              </a:rPr>
              <a:t>Corruption perceptions index 2025</a:t>
            </a:r>
            <a:pPr indent="0" marL="0">
              <a:buNone/>
            </a:pPr>
            <a:r>
              <a:rPr lang="en-US" sz="1050" dirty="0">
                <a:solidFill>
                  <a:srgbClr val="14202E"/>
                </a:solidFill>
              </a:rPr>
              <a:t>. https://www.transparency.org/en/cpi/2025</a:t>
            </a:r>
            <a:endParaRPr lang="en-US" sz="1050" dirty="0"/>
          </a:p>
          <a:p>
            <a:pPr indent="0" marL="0">
              <a:spcAft>
                <a:spcPts val="500"/>
              </a:spcAft>
              <a:buNone/>
            </a:pPr>
            <a:r>
              <a:rPr lang="en-US" sz="1050" dirty="0">
                <a:solidFill>
                  <a:srgbClr val="14202E"/>
                </a:solidFill>
              </a:rPr>
              <a:t>United Nations. (2015). </a:t>
            </a:r>
            <a:pPr indent="0" marL="0">
              <a:buNone/>
            </a:pPr>
            <a:r>
              <a:rPr lang="en-US" sz="1050" i="1" dirty="0">
                <a:solidFill>
                  <a:srgbClr val="14202E"/>
                </a:solidFill>
              </a:rPr>
              <a:t>Transforming our world: The 2030 agenda for sustainable development</a:t>
            </a:r>
            <a:pPr indent="0" marL="0">
              <a:buNone/>
            </a:pPr>
            <a:r>
              <a:rPr lang="en-US" sz="1050" dirty="0">
                <a:solidFill>
                  <a:srgbClr val="14202E"/>
                </a:solidFill>
              </a:rPr>
              <a:t> (A/RES/70/1).</a:t>
            </a:r>
            <a:endParaRPr lang="en-US" sz="1050" dirty="0"/>
          </a:p>
          <a:p>
            <a:pPr indent="0" marL="0">
              <a:spcAft>
                <a:spcPts val="500"/>
              </a:spcAft>
              <a:buNone/>
            </a:pPr>
            <a:r>
              <a:rPr lang="en-US" sz="1050" dirty="0">
                <a:solidFill>
                  <a:srgbClr val="14202E"/>
                </a:solidFill>
              </a:rPr>
              <a:t>U.S. Government Accountability Office. (2020). </a:t>
            </a:r>
            <a:pPr indent="0" marL="0">
              <a:buNone/>
            </a:pPr>
            <a:r>
              <a:rPr lang="en-US" sz="1050" i="1" dirty="0">
                <a:solidFill>
                  <a:srgbClr val="14202E"/>
                </a:solidFill>
              </a:rPr>
              <a:t>Cost estimating and assessment guide: Best practices for developing and managing program costs</a:t>
            </a:r>
            <a:pPr indent="0" marL="0">
              <a:buNone/>
            </a:pPr>
            <a:r>
              <a:rPr lang="en-US" sz="1050" dirty="0">
                <a:solidFill>
                  <a:srgbClr val="14202E"/>
                </a:solidFill>
              </a:rPr>
              <a:t> (GAO-20-195G).</a:t>
            </a:r>
            <a:endParaRPr lang="en-US" sz="1050" dirty="0"/>
          </a:p>
          <a:p>
            <a:pPr indent="0" marL="0">
              <a:spcAft>
                <a:spcPts val="500"/>
              </a:spcAft>
              <a:buNone/>
            </a:pPr>
            <a:r>
              <a:rPr lang="en-US" sz="1050" dirty="0">
                <a:solidFill>
                  <a:srgbClr val="14202E"/>
                </a:solidFill>
              </a:rPr>
              <a:t>Vapnik, V. N. (1998). </a:t>
            </a:r>
            <a:pPr indent="0" marL="0">
              <a:buNone/>
            </a:pPr>
            <a:r>
              <a:rPr lang="en-US" sz="1050" i="1" dirty="0">
                <a:solidFill>
                  <a:srgbClr val="14202E"/>
                </a:solidFill>
              </a:rPr>
              <a:t>Statistical learning theory</a:t>
            </a:r>
            <a:pPr indent="0" marL="0">
              <a:buNone/>
            </a:pPr>
            <a:r>
              <a:rPr lang="en-US" sz="1050" dirty="0">
                <a:solidFill>
                  <a:srgbClr val="14202E"/>
                </a:solidFill>
              </a:rPr>
              <a:t>. Wiley.</a:t>
            </a:r>
            <a:endParaRPr lang="en-US" sz="10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BUHAY-AH</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Design it. Price it. Keep it honest. A building should be priced by what it needs, not by who builds it.</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200" dirty="0">
                <a:solidFill>
                  <a:schemeClr val="accent1"/>
                </a:solidFill>
              </a:rPr>
              <a:t>Results are from the simulated benchmark SBD-300; a flag calls for review, not proof of wrongdoing.</a:t>
            </a:r>
            <a:endParaRPr lang="en-US" sz="1600" dirty="0"/>
          </a:p>
        </p:txBody>
      </p:sp>
      <p:sp>
        <p:nvSpPr>
          <p:cNvPr id="6" name="closing frame"/>
          <p:cNvSpPr/>
          <p:nvPr/>
        </p:nvSpPr>
        <p:spPr>
          <a:xfrm>
            <a:off x="8001000" y="822960"/>
            <a:ext cx="3657600" cy="5212080"/>
          </a:xfrm>
          <a:prstGeom prst="roundRect">
            <a:avLst>
              <a:gd name="adj" fmla="val 3000"/>
            </a:avLst>
          </a:prstGeom>
          <a:solidFill>
            <a:schemeClr val="bg1"/>
          </a:solidFill>
          <a:ln/>
        </p:spPr>
      </p:sp>
      <p:pic>
        <p:nvPicPr>
          <p:cNvPr id="7" name="viz_bridge_truss.png" descr="3D steel truss bridge">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pscg.png" descr="3D PSC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theme/theme1.xml><?xml version="1.0" encoding="utf-8"?>
<a:theme xmlns:a="http://schemas.openxmlformats.org/drawingml/2006/main" name="BUHAY-AH">
  <a:themeElements>
    <a:clrScheme name="BUHAY-AH">
      <a:dk1>
        <a:srgbClr val="14202E"/>
      </a:dk1>
      <a:lt1>
        <a:srgbClr val="FFFFFF"/>
      </a:lt1>
      <a:dk2>
        <a:srgbClr val="12345A"/>
      </a:dk2>
      <a:lt2>
        <a:srgbClr val="EEF2F7"/>
      </a:lt2>
      <a:accent1>
        <a:srgbClr val="E3A51A"/>
      </a:accent1>
      <a:accent2>
        <a:srgbClr val="B8322A"/>
      </a:accent2>
      <a:accent3>
        <a:srgbClr val="1F7A5A"/>
      </a:accent3>
      <a:accent4>
        <a:srgbClr val="4F7CAC"/>
      </a:accent4>
      <a:accent5>
        <a:srgbClr val="8A5A00"/>
      </a:accent5>
      <a:accent6>
        <a:srgbClr val="6B7A8C"/>
      </a:accent6>
      <a:hlink>
        <a:srgbClr val="12345A"/>
      </a:hlink>
      <a:folHlink>
        <a:srgbClr val="4F7CAC"/>
      </a:folHlink>
    </a:clrScheme>
    <a:fontScheme name="BUHAY-A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BUHAY-AH — Full Research (PR2)</dc:title>
  <dc:subject>BUHAY-AH: A Budget-to-Blueprint Design Generator, Standards-Based Quantity Take-Off, and Hybrid Machine Learning System for Start Quotations and Over-Budget Detection in Public Buildings and Bridges</dc:subject>
  <dc:creator>Enrique Miguel C. Buban</dc:creator>
  <cp:lastModifiedBy>Enrique Miguel C. Buban</cp:lastModifiedBy>
  <cp:revision>1</cp:revision>
  <dcterms:created xsi:type="dcterms:W3CDTF">2026-10-25T22:42:40Z</dcterms:created>
  <dcterms:modified xsi:type="dcterms:W3CDTF">2026-10-25T22:42:40Z</dcterms:modified>
</cp:coreProperties>
</file>