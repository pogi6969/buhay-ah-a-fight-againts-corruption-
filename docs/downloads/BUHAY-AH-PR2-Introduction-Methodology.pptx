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8288000" cy="10287000"/>
  <p:notesSz cx="6858000" cy="9144000"/>
  <p:embeddedFontLst>
    <p:embeddedFont>
      <p:font typeface="ITC Avant Garde Gothic" charset="1" panose="020B0502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6" Type="http://schemas.openxmlformats.org/officeDocument/2006/relationships/font" Target="fonts/font16.fntdata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3.png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707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true" rot="0">
            <a:off x="-308939" y="-440152"/>
            <a:ext cx="3942365" cy="3942365"/>
          </a:xfrm>
          <a:custGeom>
            <a:avLst/>
            <a:gdLst/>
            <a:ahLst/>
            <a:cxnLst/>
            <a:rect r="r" b="b" t="t" l="l"/>
            <a:pathLst>
              <a:path h="3942365" w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910979" y="7909979"/>
            <a:ext cx="2696641" cy="2696641"/>
          </a:xfrm>
          <a:custGeom>
            <a:avLst/>
            <a:gdLst/>
            <a:ahLst/>
            <a:cxnLst/>
            <a:rect r="r" b="b" t="t" l="l"/>
            <a:pathLst>
              <a:path h="2696641" w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6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9585" y="546888"/>
            <a:ext cx="2392319" cy="2426082"/>
          </a:xfrm>
          <a:custGeom>
            <a:avLst/>
            <a:gdLst/>
            <a:ahLst/>
            <a:cxnLst/>
            <a:rect r="r" b="b" t="t" l="l"/>
            <a:pathLst>
              <a:path h="2426082" w="2392319">
                <a:moveTo>
                  <a:pt x="0" y="0"/>
                </a:moveTo>
                <a:lnTo>
                  <a:pt x="2392319" y="0"/>
                </a:lnTo>
                <a:lnTo>
                  <a:pt x="2392319" y="2426082"/>
                </a:lnTo>
                <a:lnTo>
                  <a:pt x="0" y="24260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62243" y="3462510"/>
            <a:ext cx="15273465" cy="222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64"/>
              </a:lnSpc>
            </a:pPr>
            <a:r>
              <a:rPr lang="en-US" sz="86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BUHAY-AH</a:t>
            </a:r>
          </a:p>
        </p:txBody>
      </p:sp>
      <p:sp>
        <p:nvSpPr>
          <p:cNvPr name="AutoShape 7" id="7"/>
          <p:cNvSpPr/>
          <p:nvPr/>
        </p:nvSpPr>
        <p:spPr>
          <a:xfrm>
            <a:off x="3320720" y="7135730"/>
            <a:ext cx="1164656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3320720" y="8650702"/>
            <a:ext cx="1164656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3319272" y="7269480"/>
            <a:ext cx="11649456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5"/>
              </a:lnSpc>
            </a:pPr>
            <a:r>
              <a:rPr lang="en-US" sz="24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Dave Justin Ll. De Asis · Lead Researcher</a:t>
            </a:r>
          </a:p>
          <a:p>
            <a:pPr algn="ctr">
              <a:lnSpc>
                <a:spcPts val="4315"/>
              </a:lnSpc>
            </a:pPr>
            <a:r>
              <a:rPr lang="en-US" sz="18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Researchers: Peter John A. Brimbuela, Yeaseong Shin  ·  Support group: Uriel Sizouzemihr D. Guianan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603" y="5728930"/>
            <a:ext cx="1637074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sz="1700" b="0">
                <a:solidFill>
                  <a:srgbClr val="FFFFFF"/>
                </a:solidFill>
                <a:latin typeface="ITC Avant Garde Gothic"/>
              </a:rPr>
              <a:t>A Budget-to-Blueprint Design Generator, Standards-Based Quantity Take-Off, and Hybrid Machine Learning System for Start Quotations and Over-Budget Detection in Public Buildings, Bridges, Airports and Seaports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3000" b="1">
                <a:solidFill>
                  <a:srgbClr val="FFFFFF"/>
                </a:solidFill>
                <a:latin typeface="ITC Avant Garde Gothic"/>
              </a:rPr>
              <a:t>10–30% </a:t>
            </a:r>
            <a:r>
              <a:rPr sz="3000" b="0">
                <a:solidFill>
                  <a:srgbClr val="FFFFFF"/>
                </a:solidFill>
                <a:latin typeface="ITC Avant Garde Gothic"/>
              </a:rPr>
              <a:t>of public infrastructure investment is lost to corruption, mismanagement and inefficiency (CoST).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3000" b="1">
                <a:solidFill>
                  <a:srgbClr val="FFFFFF"/>
                </a:solidFill>
                <a:latin typeface="ITC Avant Garde Gothic"/>
              </a:rPr>
              <a:t>32 / 100: </a:t>
            </a:r>
            <a:r>
              <a:rPr sz="3000" b="0">
                <a:solidFill>
                  <a:srgbClr val="FFFFFF"/>
                </a:solidFill>
                <a:latin typeface="ITC Avant Garde Gothic"/>
              </a:rPr>
              <a:t>Philippine score in the 2025 Corruption Perceptions Index, 120th of 182.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3000" b="1">
                <a:solidFill>
                  <a:srgbClr val="FFFFFF"/>
                </a:solidFill>
                <a:latin typeface="ITC Avant Garde Gothic"/>
              </a:rPr>
              <a:t>₱545.64 billion </a:t>
            </a:r>
            <a:r>
              <a:rPr sz="3000" b="0">
                <a:solidFill>
                  <a:srgbClr val="FFFFFF"/>
                </a:solidFill>
                <a:latin typeface="ITC Avant Garde Gothic"/>
              </a:rPr>
              <a:t>in flood-control projects (2022–2025); about 20% went to 15 contractors.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3000" b="1">
                <a:solidFill>
                  <a:srgbClr val="FFFFFF"/>
                </a:solidFill>
                <a:latin typeface="ITC Avant Garde Gothic"/>
              </a:rPr>
              <a:t>₱62.64 million </a:t>
            </a:r>
            <a:r>
              <a:rPr sz="3000" b="0">
                <a:solidFill>
                  <a:srgbClr val="FFFFFF"/>
                </a:solidFill>
                <a:latin typeface="ITC Avant Garde Gothic"/>
              </a:rPr>
              <a:t>overstatement in the Cebu City Medical Center: VAT at 12% instead of 5%.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3000" b="1">
                <a:solidFill>
                  <a:srgbClr val="FFFFFF"/>
                </a:solidFill>
                <a:latin typeface="ITC Avant Garde Gothic"/>
              </a:rPr>
              <a:t>₱1.225 billion </a:t>
            </a:r>
            <a:r>
              <a:rPr sz="3000" b="0">
                <a:solidFill>
                  <a:srgbClr val="FFFFFF"/>
                </a:solidFill>
                <a:latin typeface="ITC Avant Garde Gothic"/>
              </a:rPr>
              <a:t>Cabagan–Santa Maria Bridge collapsed less than a month after completion (2025).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3000" b="0">
                <a:solidFill>
                  <a:srgbClr val="FFFFFF"/>
                </a:solidFill>
                <a:latin typeface="ITC Avant Garde Gothic"/>
              </a:rPr>
              <a:t>Outside reviewers cannot rebuild an estimate from the plans; padding hides in the price.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941832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Schools, hospitals and evacuation centers protect communities in typhoon- and earthquake-prone Bicol.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Airports, seaports, RoRo piers and jeepney, UV Express and bus terminals are the largest facilities a region builds.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Machine learning learns what projects HAVE cost, not what they SHOULD cost.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Communities often have only a need and a budget, not a plan.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97312" y="2239656"/>
            <a:ext cx="3511296" cy="30187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iz_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2349384"/>
            <a:ext cx="3291840" cy="279931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4154912" y="2239656"/>
            <a:ext cx="3511296" cy="30187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iz_bridge_tru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4640" y="2349384"/>
            <a:ext cx="3291840" cy="279931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1211133" y="5742432"/>
            <a:ext cx="5741252" cy="18653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irfield_runw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0861" y="5852160"/>
            <a:ext cx="5521796" cy="16459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1733004" y="7662672"/>
            <a:ext cx="4697510" cy="2231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ort_ro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2732" y="7772400"/>
            <a:ext cx="4478054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RESEARCH GAP AND RATIONALE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Scope gap: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cost screening has focused on roads, not buildings, bridges, airports and ports.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Reference gap: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data-driven models copy past padding; no open standards-based yardstick.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Validation gap: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detectors are never tested where the truly padded contracts are known.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Design gap: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no independent design and price for a community with only a need and a budget.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Access gap: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models stay in notebooks, not on the phones of auditors, officials and citizens.</a:t>
            </a:r>
          </a:p>
          <a:p>
            <a:pPr algn="l">
              <a:spcAft>
                <a:spcPts val="1000"/>
              </a:spcAft>
              <a:buNone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Rationale: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a fair price can be computed from the plan and the standards, then compared with the contract.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RRL/RRS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103120"/>
          <a:ext cx="16824960" cy="6291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206240"/>
                <a:gridCol w="4389120"/>
                <a:gridCol w="4206240"/>
              </a:tblGrid>
              <a:tr h="786384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ITC Avant Garde Gothic"/>
                        </a:rPr>
                        <a:t>Study</a:t>
                      </a:r>
                    </a:p>
                  </a:txBody>
                  <a:tcPr marL="91440" marR="91440">
                    <a:solidFill>
                      <a:srgbClr val="5C03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ITC Avant Garde Gothic"/>
                        </a:rPr>
                        <a:t>Method</a:t>
                      </a:r>
                    </a:p>
                  </a:txBody>
                  <a:tcPr marL="91440" marR="91440">
                    <a:solidFill>
                      <a:srgbClr val="5C03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ITC Avant Garde Gothic"/>
                        </a:rPr>
                        <a:t>Finding</a:t>
                      </a:r>
                    </a:p>
                  </a:txBody>
                  <a:tcPr marL="91440" marR="91440">
                    <a:solidFill>
                      <a:srgbClr val="5C030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ITC Avant Garde Gothic"/>
                        </a:rPr>
                        <a:t>Gap for this study</a:t>
                      </a:r>
                    </a:p>
                  </a:txBody>
                  <a:tcPr marL="91440" marR="91440">
                    <a:solidFill>
                      <a:srgbClr val="5C0303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Mahamid (2011)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Multiple regression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Early cost estimates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Roads only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Elmousalami (2020)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AI cost-model review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Tree ensembles lead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Learns past prices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Coffie &amp; Cudjoe (2024)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XGBoost + SHAP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Explains cost overruns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No reference price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Larocque et al. (2025)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Explainable ML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11,646 road contracts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Roads only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Liu et al. (2008)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Isolation Forest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Label-free anomalies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Misses ordinary padding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GAO (2020)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Should-cost estimating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Bottom-up fair price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No open tool</a:t>
                      </a:r>
                    </a:p>
                  </a:txBody>
                  <a:tcPr marL="91440" marR="91440">
                    <a:solidFill>
                      <a:srgbClr val="6A050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ICAO (2022); OCDI (2009)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Aerodrome / port standards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Runway, pier rules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FFFFFF"/>
                          </a:solidFill>
                          <a:latin typeface="ITC Avant Garde Gothic"/>
                        </a:rPr>
                        <a:t>Not priced</a:t>
                      </a:r>
                    </a:p>
                  </a:txBody>
                  <a:tcPr marL="91440" marR="91440">
                    <a:solidFill>
                      <a:srgbClr val="7A060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THEORETICAL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043620"/>
            <a:ext cx="17044415" cy="642835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_theoret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53348"/>
            <a:ext cx="16824960" cy="62089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8778240"/>
            <a:ext cx="16824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sz="2400" b="0">
                <a:solidFill>
                  <a:srgbClr val="FFFFFF"/>
                </a:solidFill>
                <a:latin typeface="ITC Avant Garde Gothic"/>
              </a:rPr>
              <a:t>Agency · Should-Cost · Optimization · Statistical Learning · Cooperative Game Theory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CONCEPTUAL FRAMEWORK PARADIGM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288899"/>
            <a:ext cx="17044415" cy="740084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_concep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98627"/>
            <a:ext cx="16824960" cy="71813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SIGNIFICANCE OF THE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DPWH, DOH, DOTr, CAAP, PPA: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cross-check programs of works and ABCs before bidding.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COA, Ombudsman, ICI: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rank contracts by risk; focus inspections.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LGUs, schools, hospitals, cooperatives: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a design and price from a need or a budget.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Contractors: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a public reference that rewards fair bids.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Citizens and media: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check any project on a phone.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Academe: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open pipeline, price book and benchmarks with known overpricing.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1">
                <a:solidFill>
                  <a:srgbClr val="FFFFFF"/>
                </a:solidFill>
                <a:latin typeface="ITC Avant Garde Gothic"/>
              </a:rPr>
              <a:t>SDGs: </a:t>
            </a:r>
            <a:r>
              <a:rPr sz="2700" b="0">
                <a:solidFill>
                  <a:srgbClr val="FFFFFF"/>
                </a:solidFill>
                <a:latin typeface="ITC Avant Garde Gothic"/>
              </a:rPr>
              <a:t>16.5, 16.6, 16.10 (anti-corruption) · 9.1, 11.5 (resilient infrastructure) · 12.7 (procurement) · 4.a (schools).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OBJECTIVES OF THE STUDY / SOP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6642080" cy="804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This study aimed to develop BUHAY-AH, a budget-to-blueprint design generator, standards-based quantity take-off and hybrid machine-learning system that produces start quotations and detects over-budgeted public buildings, bridges, airports and seaports in Bicol Region V. Specifically:</a:t>
            </a:r>
          </a:p>
          <a:p>
            <a:pPr algn="l">
              <a:spcAft>
                <a:spcPts val="1000"/>
              </a:spcAft>
              <a:buNone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1. What plan variables can be extracted from plans and standards (physical, structural, location and year)?</a:t>
            </a:r>
          </a:p>
          <a:p>
            <a:pPr algn="l">
              <a:spcAft>
                <a:spcPts val="1000"/>
              </a:spcAft>
              <a:buNone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2. How can designs be generated from a requirement or a budget (module library, optimization, standards)?</a:t>
            </a:r>
          </a:p>
          <a:p>
            <a:pPr algn="l">
              <a:spcAft>
                <a:spcPts val="1000"/>
              </a:spcAft>
              <a:buNone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3. How accurate are the lean, standard and ceiling quotations against fair awarded costs (MAPE, R²)?</a:t>
            </a:r>
          </a:p>
          <a:p>
            <a:pPr algn="l">
              <a:spcAft>
                <a:spcPts val="1000"/>
              </a:spcAft>
              <a:buNone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4. How do MLR and XGBoost predict cost under LOOCV (R², RMSE, MAPE)?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OBJECTIVES OF THE STUDY / SOP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5. How well do the over-budget ratio, XGBoost residual, Isolation Forest and BUHAY-AH Risk Index detect over-budgeted contracts (precision, recall, F1, AUC)?</a:t>
            </a:r>
          </a:p>
          <a:p>
            <a:pPr algn="l">
              <a:spcAft>
                <a:spcPts val="1000"/>
              </a:spcAft>
              <a:buNone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6. How can the generator and engine extend to hospitals, airport, seaport and jeepney, UV Express and bus terminals, airfield pavements and port structures (templates, accuracy, detection)?</a:t>
            </a:r>
          </a:p>
          <a:p>
            <a:pPr algn="l">
              <a:spcAft>
                <a:spcPts val="1000"/>
              </a:spcAft>
              <a:buNone/>
            </a:pPr>
            <a:r>
              <a:rPr sz="2800" b="0">
                <a:solidFill>
                  <a:srgbClr val="FFFFFF"/>
                </a:solidFill>
                <a:latin typeface="ITC Avant Garde Gothic"/>
              </a:rPr>
              <a:t>7. How can the system be deployed as a mobile app, a download website and an explainable interface?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HYPOTHESIS (IF ANY)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664208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900" b="1">
                <a:solidFill>
                  <a:srgbClr val="FFFFFF"/>
                </a:solidFill>
                <a:latin typeface="ITC Avant Garde Gothic"/>
              </a:rPr>
              <a:t>Developmental study: </a:t>
            </a:r>
            <a:r>
              <a:rPr sz="2900" b="0">
                <a:solidFill>
                  <a:srgbClr val="FFFFFF"/>
                </a:solidFill>
                <a:latin typeface="ITC Avant Garde Gothic"/>
              </a:rPr>
              <a:t>expected outcomes instead of statistical hypotheses (DM 058 s. 2026 Research Plan).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0">
                <a:solidFill>
                  <a:srgbClr val="FFFFFF"/>
                </a:solidFill>
                <a:latin typeface="ITC Avant Garde Gothic"/>
              </a:rPr>
              <a:t>The standards-based estimate will be closer to fair awarded costs than the data-driven models.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0">
                <a:solidFill>
                  <a:srgbClr val="FFFFFF"/>
                </a:solidFill>
                <a:latin typeface="ITC Avant Garde Gothic"/>
              </a:rPr>
              <a:t>A hybrid risk index will catch more padded contracts than an Isolation Forest alone.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0">
                <a:solidFill>
                  <a:srgbClr val="FFFFFF"/>
                </a:solidFill>
                <a:latin typeface="ITC Avant Garde Gothic"/>
              </a:rPr>
              <a:t>An exact budget-to-design search will run fast enough for a phone.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900" b="0">
                <a:solidFill>
                  <a:srgbClr val="FFFFFF"/>
                </a:solidFill>
                <a:latin typeface="ITC Avant Garde Gothic"/>
              </a:rPr>
              <a:t>The same take-off will extend to hospitals, terminals, runways and piers.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66420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buNone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Quantitative developmental design with a simulation-based computational experiment (Mathematics and Computational Science): deterministic modeling, combinatorial optimization, statistical and machine learning, and Monte Carlo simulation.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4776736"/>
            <a:ext cx="17044415" cy="452828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agram_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886464"/>
            <a:ext cx="16824960" cy="430883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DESIGN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786384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106 space modules on DepEd, DOH, NBC, DSWD, IATA and AASHTO norms.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Rows and floors by a greedy longest-first rule; stairs and exits per RA 9514.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Budget-to-design: largest capacity whose quotation fits the budget.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Exact enumeration + Pareto filter (cost is not monotonic).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2832" y="2124339"/>
            <a:ext cx="8723376" cy="114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234067"/>
            <a:ext cx="8503920" cy="92682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42832" y="3707591"/>
            <a:ext cx="8723376" cy="81441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3817319"/>
            <a:ext cx="8503920" cy="59496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942832" y="5160447"/>
            <a:ext cx="8723376" cy="7433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are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5270175"/>
            <a:ext cx="8503920" cy="52388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040042" y="6382512"/>
            <a:ext cx="8528955" cy="35112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lan_school_g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9770" y="6492240"/>
            <a:ext cx="8309499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QUANTITY TAKE-OFF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786384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NSCP 2015, DPWH Vol. II/III, AASHTO LRFD, PD 1096, BP 344, RA 9514.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DPWH pay items and 2025 Bicol unit costs (editable price book).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OCM, profit and 5% VAT per D.O. 197 s. 2016 / D.O. 30 s. 2025.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Three tiers: lean start quotation, standard fair estimate, ceiling.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597609" y="1993391"/>
            <a:ext cx="3413821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oo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7337" y="2103120"/>
            <a:ext cx="3194365" cy="13533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1077678" y="3575303"/>
            <a:ext cx="4453682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7406" y="3685031"/>
            <a:ext cx="4234226" cy="135331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763842" y="5157216"/>
            <a:ext cx="5081354" cy="157276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d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3570" y="5266944"/>
            <a:ext cx="4861898" cy="135331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942832" y="6893520"/>
            <a:ext cx="8723376" cy="12639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7003248"/>
            <a:ext cx="8503920" cy="104452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1556572" y="8321040"/>
            <a:ext cx="3495895" cy="157276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ob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66300" y="8430767"/>
            <a:ext cx="3276439" cy="135331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786384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Hospitals (DOH Level 1–3): medical gases, standby power, bed elevators.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Airport and seaport terminals: curtain walls, baggage, curbside.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Jeepney, UV Express and bus terminals: bays, PCCP, canopies.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500" b="0">
                <a:solidFill>
                  <a:srgbClr val="FFFFFF"/>
                </a:solidFill>
                <a:latin typeface="ITC Avant Garde Gothic"/>
              </a:rPr>
              <a:t>Runways, taxiways, aprons (ICAO, FAA); piers and wharves on piles (OCDI, PIANC).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2832" y="2500230"/>
            <a:ext cx="8723376" cy="954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609958"/>
            <a:ext cx="8503920" cy="7351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42832" y="4653925"/>
            <a:ext cx="8723376" cy="60195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rf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4763653"/>
            <a:ext cx="8503920" cy="38250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942832" y="6600594"/>
            <a:ext cx="8723376" cy="66340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i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6710322"/>
            <a:ext cx="8503920" cy="44394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942832" y="8016817"/>
            <a:ext cx="8723376" cy="178573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ri_ex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8126545"/>
            <a:ext cx="8503920" cy="156627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BENCHMARKS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66420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SBD-300: 160 buildings + 140 bridges, 36 injected overpricing cases.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SBD-EXT: 180 hospitals, terminals, airfields and ports, 22 injected cases.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Hidden variation: unit prices ±7%, rebar ±10%, concrete ±6%, MEPF ±10%, piles ×0.95–1.35.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700" b="0">
                <a:solidFill>
                  <a:srgbClr val="FFFFFF"/>
                </a:solidFill>
                <a:latin typeface="ITC Avant Garde Gothic"/>
              </a:rPr>
              <a:t>Overpricing μ = 1.20–1.40 (moderate) and 1.40–2.10 (severe).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33472" y="7347767"/>
            <a:ext cx="13021056" cy="1215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7457495"/>
            <a:ext cx="12801600" cy="99556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786384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MLR with VIF screening (interpretable baseline).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XGBoost on log cost, randomized search, 5-fold CV.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Isolation Forest on features, residual and OBR.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Exact TreeSHAP explanations, also on the phone.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879916" y="1993391"/>
            <a:ext cx="4849207" cy="157276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l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9644" y="2103120"/>
            <a:ext cx="4629751" cy="135331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1858830" y="3575303"/>
            <a:ext cx="2891379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i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8558" y="3685031"/>
            <a:ext cx="2671923" cy="135331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942832" y="5369577"/>
            <a:ext cx="8723376" cy="11480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xg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5479305"/>
            <a:ext cx="8503920" cy="92858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942832" y="6915370"/>
            <a:ext cx="8723376" cy="122028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for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7025098"/>
            <a:ext cx="8503920" cy="100082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1350053" y="8321040"/>
            <a:ext cx="3908932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h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59781" y="8430767"/>
            <a:ext cx="3689476" cy="135331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7863840" cy="7863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Leave-one-out cross-validation for cost models.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RMSE, R² and MAPE for cost prediction.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Precision, recall, F1 and ROC AUC for detection.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BRI ≥ 30 flags; 20–30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2832" y="2482659"/>
            <a:ext cx="8723376" cy="98971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592387"/>
            <a:ext cx="8503920" cy="77025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942832" y="4340838"/>
            <a:ext cx="8723376" cy="12281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ri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4450566"/>
            <a:ext cx="8503920" cy="100867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530192" y="5948172"/>
            <a:ext cx="7548654" cy="196824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920" y="6057900"/>
            <a:ext cx="7329198" cy="174879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942832" y="8258073"/>
            <a:ext cx="8723376" cy="130322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r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8367801"/>
            <a:ext cx="8503920" cy="108376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sp>
        <p:nvSpPr>
          <p:cNvPr id="7" name="Red overlay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8B070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name="Group 3" id="3"/>
          <p:cNvGrpSpPr/>
          <p:nvPr/>
        </p:nvGrpSpPr>
        <p:grpSpPr>
          <a:xfrm rot="0">
            <a:off x="-514350" y="-959494"/>
            <a:ext cx="19524889" cy="2664593"/>
            <a:chOff x="0" y="0"/>
            <a:chExt cx="5142358" cy="7017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42357" cy="701786"/>
            </a:xfrm>
            <a:custGeom>
              <a:avLst/>
              <a:gdLst/>
              <a:ahLst/>
              <a:cxnLst/>
              <a:rect r="r" b="b" t="t" l="l"/>
              <a:pathLst>
                <a:path h="701786" w="5142357">
                  <a:moveTo>
                    <a:pt x="0" y="0"/>
                  </a:moveTo>
                  <a:lnTo>
                    <a:pt x="5142357" y="0"/>
                  </a:lnTo>
                  <a:lnTo>
                    <a:pt x="5142357" y="701786"/>
                  </a:lnTo>
                  <a:lnTo>
                    <a:pt x="0" y="701786"/>
                  </a:lnTo>
                  <a:close/>
                </a:path>
              </a:pathLst>
            </a:custGeom>
            <a:solidFill>
              <a:srgbClr val="8B070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5142358" cy="77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13886" y="324392"/>
            <a:ext cx="17647920" cy="122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1"/>
              </a:lnSpc>
            </a:pPr>
            <a:r>
              <a:rPr lang="en-US" sz="6000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METHODOLOGY: APP &amp; ETHICS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6422" y="1993391"/>
            <a:ext cx="17015155" cy="42428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2103120"/>
            <a:ext cx="16795699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492240"/>
            <a:ext cx="166420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One JavaScript engine for app, website and paper; offline PWA, Android APK, ZIP.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No human participants, animals or hazardous materials; public and simulated data only.</a:t>
            </a:r>
          </a:p>
          <a:p>
            <a:pPr algn="l" marL="411480" indent="-320040">
              <a:spcAft>
                <a:spcPts val="1000"/>
              </a:spcAft>
              <a:buChar char="•"/>
            </a:pPr>
            <a:r>
              <a:rPr sz="2600" b="0">
                <a:solidFill>
                  <a:srgbClr val="FFFFFF"/>
                </a:solidFill>
                <a:latin typeface="ITC Avant Garde Gothic"/>
              </a:rPr>
              <a:t>A flag calls for review by COA, the Ombudsman or the ICI; it is not proof of wrongdoing.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707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true" rot="0">
            <a:off x="-308939" y="-440152"/>
            <a:ext cx="3942365" cy="3942365"/>
          </a:xfrm>
          <a:custGeom>
            <a:avLst/>
            <a:gdLst/>
            <a:ahLst/>
            <a:cxnLst/>
            <a:rect r="r" b="b" t="t" l="l"/>
            <a:pathLst>
              <a:path h="3942365" w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16875" y="3089694"/>
            <a:ext cx="11854250" cy="425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33"/>
              </a:lnSpc>
            </a:pPr>
            <a:r>
              <a:rPr lang="en-US" sz="16481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Q &amp; A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5910979" y="7909979"/>
            <a:ext cx="2696641" cy="2696641"/>
          </a:xfrm>
          <a:custGeom>
            <a:avLst/>
            <a:gdLst/>
            <a:ahLst/>
            <a:cxnLst/>
            <a:rect r="r" b="b" t="t" l="l"/>
            <a:pathLst>
              <a:path h="2696641" w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6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0707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true" rot="0">
            <a:off x="-308939" y="-440152"/>
            <a:ext cx="3942365" cy="3942365"/>
          </a:xfrm>
          <a:custGeom>
            <a:avLst/>
            <a:gdLst/>
            <a:ahLst/>
            <a:cxnLst/>
            <a:rect r="r" b="b" t="t" l="l"/>
            <a:pathLst>
              <a:path h="3942365" w="3942365">
                <a:moveTo>
                  <a:pt x="0" y="3942365"/>
                </a:moveTo>
                <a:lnTo>
                  <a:pt x="3942365" y="3942365"/>
                </a:lnTo>
                <a:lnTo>
                  <a:pt x="3942365" y="0"/>
                </a:lnTo>
                <a:lnTo>
                  <a:pt x="0" y="0"/>
                </a:lnTo>
                <a:lnTo>
                  <a:pt x="0" y="394236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91817" y="4031050"/>
            <a:ext cx="12904366" cy="236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33"/>
              </a:lnSpc>
            </a:pPr>
            <a:r>
              <a:rPr lang="en-US" sz="16481">
                <a:solidFill>
                  <a:srgbClr val="FF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5910979" y="7909979"/>
            <a:ext cx="2696641" cy="2696641"/>
          </a:xfrm>
          <a:custGeom>
            <a:avLst/>
            <a:gdLst/>
            <a:ahLst/>
            <a:cxnLst/>
            <a:rect r="r" b="b" t="t" l="l"/>
            <a:pathLst>
              <a:path h="2696641" w="2696641">
                <a:moveTo>
                  <a:pt x="2696642" y="0"/>
                </a:moveTo>
                <a:lnTo>
                  <a:pt x="0" y="0"/>
                </a:lnTo>
                <a:lnTo>
                  <a:pt x="0" y="2696642"/>
                </a:lnTo>
                <a:lnTo>
                  <a:pt x="2696642" y="2696642"/>
                </a:lnTo>
                <a:lnTo>
                  <a:pt x="269664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486400" y="7677223"/>
            <a:ext cx="7315200" cy="465513"/>
          </a:xfrm>
          <a:custGeom>
            <a:avLst/>
            <a:gdLst/>
            <a:ahLst/>
            <a:cxnLst/>
            <a:rect r="r" b="b" t="t" l="l"/>
            <a:pathLst>
              <a:path h="465513" w="7315200">
                <a:moveTo>
                  <a:pt x="0" y="0"/>
                </a:moveTo>
                <a:lnTo>
                  <a:pt x="7315200" y="0"/>
                </a:lnTo>
                <a:lnTo>
                  <a:pt x="7315200" y="465513"/>
                </a:lnTo>
                <a:lnTo>
                  <a:pt x="0" y="4655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534466" y="-2049686"/>
            <a:ext cx="3219068" cy="3219068"/>
          </a:xfrm>
          <a:custGeom>
            <a:avLst/>
            <a:gdLst/>
            <a:ahLst/>
            <a:cxnLst/>
            <a:rect r="r" b="b" t="t" l="l"/>
            <a:pathLst>
              <a:path h="3219068" w="3219068">
                <a:moveTo>
                  <a:pt x="0" y="0"/>
                </a:moveTo>
                <a:lnTo>
                  <a:pt x="3219068" y="0"/>
                </a:lnTo>
                <a:lnTo>
                  <a:pt x="3219068" y="3219068"/>
                </a:lnTo>
                <a:lnTo>
                  <a:pt x="0" y="32190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37818" y="7909979"/>
            <a:ext cx="3219068" cy="3219068"/>
          </a:xfrm>
          <a:custGeom>
            <a:avLst/>
            <a:gdLst/>
            <a:ahLst/>
            <a:cxnLst/>
            <a:rect r="r" b="b" t="t" l="l"/>
            <a:pathLst>
              <a:path h="3219068" w="3219068">
                <a:moveTo>
                  <a:pt x="0" y="0"/>
                </a:moveTo>
                <a:lnTo>
                  <a:pt x="3219068" y="0"/>
                </a:lnTo>
                <a:lnTo>
                  <a:pt x="3219068" y="3219069"/>
                </a:lnTo>
                <a:lnTo>
                  <a:pt x="0" y="32190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04983" y="0"/>
            <a:ext cx="18497965" cy="10416667"/>
          </a:xfrm>
          <a:custGeom>
            <a:avLst/>
            <a:gdLst/>
            <a:ahLst/>
            <a:cxnLst/>
            <a:rect r="r" b="b" t="t" l="l"/>
            <a:pathLst>
              <a:path h="10416667" w="18497965">
                <a:moveTo>
                  <a:pt x="0" y="0"/>
                </a:moveTo>
                <a:lnTo>
                  <a:pt x="18497966" y="0"/>
                </a:lnTo>
                <a:lnTo>
                  <a:pt x="18497966" y="10416667"/>
                </a:lnTo>
                <a:lnTo>
                  <a:pt x="0" y="104166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DAHXUrdeoSg</dc:identifier>
  <dcterms:modified xsi:type="dcterms:W3CDTF">2011-08-01T06:04:30Z</dcterms:modified>
  <cp:revision>1</cp:revision>
  <dc:title>PR2 TEMPLATE</dc:title>
</cp:coreProperties>
</file>