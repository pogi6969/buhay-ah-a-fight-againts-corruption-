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charts/chart1.xml" ContentType="application/vnd.openxmlformats-officedocument.drawingml.chart+xml"/>
  <Override PartName="/ppt/charts/chart2.xml" ContentType="application/vnd.openxmlformats-officedocument.drawingml.chart+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charts/chart3.xml" ContentType="application/vnd.openxmlformats-officedocument.drawingml.chart+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charts/chart4.xml" ContentType="application/vnd.openxmlformats-officedocument.drawingml.chart+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charts/chart5.xml" ContentType="application/vnd.openxmlformats-officedocument.drawingml.chart+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charts/chart6.xml" ContentType="application/vnd.openxmlformats-officedocument.drawingml.chart+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Lst>
  <p:notesMasterIdLst>
    <p:notesMasterId r:id="rId5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Title" id="{502b3da2-6ceb-a540-c496-0c8e10454f7b}">
          <p14:sldIdLst>
            <p14:sldId id="256"/>
          </p14:sldIdLst>
        </p14:section>
        <p14:section name="Overview" id="{d93a70af-63a7-9ff6-1db0-ad1de88c9b1a}">
          <p14:sldIdLst>
            <p14:sldId id="257"/>
          </p14:sldIdLst>
        </p14:section>
        <p14:section name="Introduction" id="{8c892e17-869d-2c21-cd69-43f818457a5d}">
          <p14:sldIdLst>
            <p14:sldId id="258"/>
            <p14:sldId id="259"/>
            <p14:sldId id="260"/>
            <p14:sldId id="261"/>
            <p14:sldId id="262"/>
            <p14:sldId id="263"/>
            <p14:sldId id="264"/>
            <p14:sldId id="265"/>
            <p14:sldId id="266"/>
            <p14:sldId id="267"/>
          </p14:sldIdLst>
        </p14:section>
        <p14:section name="Framework" id="{18e94c42-aba7-4c78-6ee5-a65d5baf8f5b}">
          <p14:sldIdLst>
            <p14:sldId id="268"/>
            <p14:sldId id="269"/>
            <p14:sldId id="270"/>
            <p14:sldId id="271"/>
          </p14:sldIdLst>
        </p14:section>
        <p14:section name="Methodology" id="{60a133f5-f522-8e42-d78f-3f41036c52fe}">
          <p14:sldIdLst>
            <p14:sldId id="272"/>
            <p14:sldId id="273"/>
            <p14:sldId id="274"/>
            <p14:sldId id="275"/>
            <p14:sldId id="276"/>
            <p14:sldId id="277"/>
            <p14:sldId id="278"/>
            <p14:sldId id="279"/>
            <p14:sldId id="280"/>
            <p14:sldId id="281"/>
            <p14:sldId id="282"/>
            <p14:sldId id="283"/>
          </p14:sldIdLst>
        </p14:section>
        <p14:section name="Results and Discussion" id="{7f017786-0797-93ca-3cb3-6ee03eba005a}">
          <p14:sldIdLst>
            <p14:sldId id="284"/>
            <p14:sldId id="285"/>
            <p14:sldId id="286"/>
            <p14:sldId id="287"/>
            <p14:sldId id="288"/>
            <p14:sldId id="289"/>
            <p14:sldId id="290"/>
            <p14:sldId id="291"/>
            <p14:sldId id="292"/>
            <p14:sldId id="293"/>
            <p14:sldId id="294"/>
            <p14:sldId id="295"/>
            <p14:sldId id="296"/>
          </p14:sldIdLst>
        </p14:section>
        <p14:section name="Conclusion" id="{cfb84c0a-00a3-4d57-2e97-03a2ea4be747}">
          <p14:sldIdLst>
            <p14:sldId id="297"/>
            <p14:sldId id="298"/>
          </p14:sldIdLst>
        </p14:section>
        <p14:section name="Recommendations" id="{6cf60d45-bd7f-8fc9-3210-7b096a374412}">
          <p14:sldIdLst>
            <p14:sldId id="299"/>
          </p14:sldIdLst>
        </p14:section>
        <p14:section name="References" id="{31e4d3f1-e284-7e19-05a3-779ad4b6ecec}">
          <p14:sldIdLst>
            <p14:sldId id="300"/>
            <p14:sldId id="301"/>
            <p14:sldId id="302"/>
            <p14:sldId id="303"/>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notesMaster" Target="notesMasters/notesMaster1.xml"/><Relationship Id="rId51" Type="http://schemas.openxmlformats.org/officeDocument/2006/relationships/presProps" Target="presProps.xml"/><Relationship Id="rId52" Type="http://schemas.openxmlformats.org/officeDocument/2006/relationships/viewProps" Target="viewProps.xml"/><Relationship Id="rId53" Type="http://schemas.openxmlformats.org/officeDocument/2006/relationships/theme" Target="theme/theme1.xml"/><Relationship Id="rId54"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2345A"/>
                </a:solidFill>
                <a:latin typeface="+mn-lt"/>
              </a:defRPr>
            </a:pPr>
            <a:r>
              <a:rPr sz="1400" b="0" i="0" u="none" strike="noStrike">
                <a:solidFill>
                  <a:srgbClr val="12345A"/>
                </a:solidFill>
                <a:latin typeface="+mn-lt"/>
              </a:rPr>
              <a:t>Buildings by type (n = 160)</a:t>
            </a:r>
          </a:p>
        </c:rich>
      </c:tx>
      <c:layout/>
      <c:overlay val="0"/>
    </c:title>
    <c:autoTitleDeleted val="0"/>
    <c:plotArea>
      <c:layout/>
      <c:barChart>
        <c:barDir val="bar"/>
        <c:grouping val="clustered"/>
        <c:varyColors val="0"/>
        <c:ser>
          <c:idx val="0"/>
          <c:order val="0"/>
          <c:tx>
            <c:strRef>
              <c:f>Sheet1!$B$1</c:f>
              <c:strCache>
                <c:ptCount val="1"/>
                <c:pt idx="0">
                  <c:v>Buildings</c:v>
                </c:pt>
              </c:strCache>
            </c:strRef>
          </c:tx>
          <c:spPr>
            <a:solidFill>
              <a:srgbClr val="12345A"/>
            </a:solidFill>
            <a:effectLst/>
          </c:spPr>
          <c:invertIfNegative val="0"/>
          <c:dLbls>
            <c:numFmt formatCode="#,##0" sourceLinked="0"/>
            <c:txPr>
              <a:bodyPr/>
              <a:lstStyle/>
              <a:p>
                <a:pPr>
                  <a:defRPr b="0" i="0" strike="noStrike" sz="1100" u="none">
                    <a:solidFill>
                      <a:srgbClr val="14202E"/>
                    </a:solidFill>
                    <a:latin typeface="+mn-lt"/>
                  </a:defRPr>
                </a:pPr>
              </a:p>
            </c:txPr>
            <c:showLegendKey val="0"/>
            <c:showVal val="1"/>
            <c:showCatName val="0"/>
            <c:showSerName val="0"/>
            <c:showPercent val="0"/>
            <c:showBubbleSize val="0"/>
            <c:showLeaderLines val="0"/>
          </c:dLbls>
          <c:cat>
            <c:multiLvlStrRef>
              <c:f>Sheet1!$A$2:$A$7</c:f>
              <c:multiLvlStrCache>
                <c:ptCount val="6"/>
                <c:lvl>
                  <c:pt idx="0">
                    <c:v>School buildings</c:v>
                  </c:pt>
                  <c:pt idx="1">
                    <c:v>Multi-purpose / evacuation</c:v>
                  </c:pt>
                  <c:pt idx="2">
                    <c:v>Health facilities</c:v>
                  </c:pt>
                  <c:pt idx="3">
                    <c:v>Public markets</c:v>
                  </c:pt>
                  <c:pt idx="4">
                    <c:v>Government offices</c:v>
                  </c:pt>
                  <c:pt idx="5">
                    <c:v>Dormitories</c:v>
                  </c:pt>
                </c:lvl>
              </c:multiLvlStrCache>
            </c:multiLvlStrRef>
          </c:cat>
          <c:val>
            <c:numRef>
              <c:f>Sheet1!$B$2:$B$7</c:f>
              <c:numCache>
                <c:formatCode>General</c:formatCode>
                <c:ptCount val="6"/>
                <c:pt idx="0">
                  <c:v>67</c:v>
                </c:pt>
                <c:pt idx="1">
                  <c:v>22</c:v>
                </c:pt>
                <c:pt idx="2">
                  <c:v>22</c:v>
                </c:pt>
                <c:pt idx="3">
                  <c:v>20</c:v>
                </c:pt>
                <c:pt idx="4">
                  <c:v>19</c:v>
                </c:pt>
                <c:pt idx="5">
                  <c:v>10</c:v>
                </c:pt>
              </c:numCache>
            </c:numRef>
          </c:val>
        </c:ser>
        <c:dLbls>
          <c:numFmt formatCode="#,##0" sourceLinked="0"/>
          <c:txPr>
            <a:bodyPr/>
            <a:lstStyle/>
            <a:p>
              <a:pPr>
                <a:defRPr b="0" i="0" strike="noStrike" sz="1100" u="none">
                  <a:solidFill>
                    <a:srgbClr val="14202E"/>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200" b="0" i="0" u="none" strike="noStrike">
                <a:solidFill>
                  <a:srgbClr val="44505E"/>
                </a:solidFill>
                <a:latin typeface="+mn-lt"/>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44505E"/>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2345A"/>
                </a:solidFill>
                <a:latin typeface="+mn-lt"/>
              </a:defRPr>
            </a:pPr>
            <a:r>
              <a:rPr sz="1400" b="0" i="0" u="none" strike="noStrike">
                <a:solidFill>
                  <a:srgbClr val="12345A"/>
                </a:solidFill>
                <a:latin typeface="+mn-lt"/>
              </a:rPr>
              <a:t>Bridges by superstructure (n = 140)</a:t>
            </a:r>
          </a:p>
        </c:rich>
      </c:tx>
      <c:layout/>
      <c:overlay val="0"/>
    </c:title>
    <c:autoTitleDeleted val="0"/>
    <c:plotArea>
      <c:layout/>
      <c:barChart>
        <c:barDir val="bar"/>
        <c:grouping val="clustered"/>
        <c:varyColors val="0"/>
        <c:ser>
          <c:idx val="0"/>
          <c:order val="0"/>
          <c:tx>
            <c:strRef>
              <c:f>Sheet1!$B$1</c:f>
              <c:strCache>
                <c:ptCount val="1"/>
                <c:pt idx="0">
                  <c:v>Bridges</c:v>
                </c:pt>
              </c:strCache>
            </c:strRef>
          </c:tx>
          <c:spPr>
            <a:solidFill>
              <a:srgbClr val="E3A51A"/>
            </a:solidFill>
            <a:effectLst/>
          </c:spPr>
          <c:invertIfNegative val="0"/>
          <c:dLbls>
            <c:numFmt formatCode="#,##0" sourceLinked="0"/>
            <c:txPr>
              <a:bodyPr/>
              <a:lstStyle/>
              <a:p>
                <a:pPr>
                  <a:defRPr b="0" i="0" strike="noStrike" sz="1100" u="none">
                    <a:solidFill>
                      <a:srgbClr val="14202E"/>
                    </a:solidFill>
                    <a:latin typeface="+mn-lt"/>
                  </a:defRPr>
                </a:pPr>
              </a:p>
            </c:txPr>
            <c:showLegendKey val="0"/>
            <c:showVal val="1"/>
            <c:showCatName val="0"/>
            <c:showSerName val="0"/>
            <c:showPercent val="0"/>
            <c:showBubbleSize val="0"/>
            <c:showLeaderLines val="0"/>
          </c:dLbls>
          <c:cat>
            <c:multiLvlStrRef>
              <c:f>Sheet1!$A$2:$A$5</c:f>
              <c:multiLvlStrCache>
                <c:ptCount val="4"/>
                <c:lvl>
                  <c:pt idx="0">
                    <c:v>RC deck girder</c:v>
                  </c:pt>
                  <c:pt idx="1">
                    <c:v>PSC girder</c:v>
                  </c:pt>
                  <c:pt idx="2">
                    <c:v>RC box culvert</c:v>
                  </c:pt>
                  <c:pt idx="3">
                    <c:v>Steel truss</c:v>
                  </c:pt>
                </c:lvl>
              </c:multiLvlStrCache>
            </c:multiLvlStrRef>
          </c:cat>
          <c:val>
            <c:numRef>
              <c:f>Sheet1!$B$2:$B$5</c:f>
              <c:numCache>
                <c:formatCode>General</c:formatCode>
                <c:ptCount val="4"/>
                <c:pt idx="0">
                  <c:v>70</c:v>
                </c:pt>
                <c:pt idx="1">
                  <c:v>31</c:v>
                </c:pt>
                <c:pt idx="2">
                  <c:v>24</c:v>
                </c:pt>
                <c:pt idx="3">
                  <c:v>15</c:v>
                </c:pt>
              </c:numCache>
            </c:numRef>
          </c:val>
        </c:ser>
        <c:dLbls>
          <c:numFmt formatCode="#,##0" sourceLinked="0"/>
          <c:txPr>
            <a:bodyPr/>
            <a:lstStyle/>
            <a:p>
              <a:pPr>
                <a:defRPr b="0" i="0" strike="noStrike" sz="1100" u="none">
                  <a:solidFill>
                    <a:srgbClr val="14202E"/>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200" b="0" i="0" u="none" strike="noStrike">
                <a:solidFill>
                  <a:srgbClr val="44505E"/>
                </a:solidFill>
                <a:latin typeface="+mn-lt"/>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44505E"/>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2345A"/>
                </a:solidFill>
                <a:latin typeface="+mn-lt"/>
              </a:defRPr>
            </a:pPr>
            <a:r>
              <a:rPr sz="1400" b="0" i="0" u="none" strike="noStrike">
                <a:solidFill>
                  <a:srgbClr val="12345A"/>
                </a:solidFill>
                <a:latin typeface="+mn-lt"/>
              </a:rPr>
              <a:t>Classrooms that fit a budget (PHP million, lot ≤ 60 m)</a:t>
            </a:r>
          </a:p>
        </c:rich>
      </c:tx>
      <c:layout/>
      <c:overlay val="0"/>
    </c:title>
    <c:autoTitleDeleted val="0"/>
    <c:plotArea>
      <c:layout/>
      <c:lineChart>
        <c:varyColors val="0"/>
        <c:ser>
          <c:idx val="0"/>
          <c:order val="0"/>
          <c:tx>
            <c:strRef>
              <c:f>Sheet1!$B$1</c:f>
              <c:strCache>
                <c:ptCount val="1"/>
                <c:pt idx="0">
                  <c:v>Up to 1 storey</c:v>
                </c:pt>
              </c:strCache>
            </c:strRef>
          </c:tx>
          <c:spPr>
            <a:solidFill>
              <a:srgbClr val="6B7A8C"/>
            </a:solidFill>
            <a:ln w="31750" cap="flat">
              <a:solidFill>
                <a:srgbClr val="6B7A8C"/>
              </a:solidFill>
              <a:prstDash val="solid"/>
              <a:round/>
            </a:ln>
            <a:effectLst/>
          </c:spPr>
          <c:invertIfNegative val="0"/>
          <c:dLbls>
            <c:numFmt formatCode="#,##0" sourceLinked="0"/>
            <c:txPr>
              <a:bodyPr/>
              <a:lstStyle/>
              <a:p>
                <a:pPr>
                  <a:defRPr b="0" i="0" strike="noStrike" sz="1100" u="none">
                    <a:solidFill>
                      <a:srgbClr val="000000"/>
                    </a:solidFill>
                    <a:latin typeface="+mn-lt"/>
                  </a:defRPr>
                </a:pPr>
              </a:p>
            </c:txPr>
            <c:showLegendKey val="0"/>
            <c:showVal val="0"/>
            <c:showCatName val="0"/>
            <c:showSerName val="0"/>
            <c:showPercent val="0"/>
            <c:showBubbleSize val="0"/>
            <c:showLeaderLines val="0"/>
          </c:dLbls>
          <c:marker>
            <c:symbol val="none"/>
            <c:size val="6"/>
            <c:spPr>
              <a:solidFill>
                <a:srgbClr val="6B7A8C"/>
              </a:solidFill>
              <a:ln w="9525" cap="flat">
                <a:solidFill>
                  <a:srgbClr val="6B7A8C"/>
                </a:solidFill>
                <a:prstDash val="solid"/>
                <a:round/>
              </a:ln>
              <a:effectLst/>
            </c:spPr>
          </c:marker>
          <c:cat>
            <c:multiLvlStrRef>
              <c:f>Sheet1!$A$2:$A$20</c:f>
              <c:multiLvlStrCache>
                <c:ptCount val="19"/>
                <c:lvl>
                  <c:pt idx="0">
                    <c:v>8</c:v>
                  </c:pt>
                  <c:pt idx="1">
                    <c:v>12</c:v>
                  </c:pt>
                  <c:pt idx="2">
                    <c:v>16</c:v>
                  </c:pt>
                  <c:pt idx="3">
                    <c:v>20</c:v>
                  </c:pt>
                  <c:pt idx="4">
                    <c:v>24</c:v>
                  </c:pt>
                  <c:pt idx="5">
                    <c:v>28</c:v>
                  </c:pt>
                  <c:pt idx="6">
                    <c:v>32</c:v>
                  </c:pt>
                  <c:pt idx="7">
                    <c:v>36</c:v>
                  </c:pt>
                  <c:pt idx="8">
                    <c:v>40</c:v>
                  </c:pt>
                  <c:pt idx="9">
                    <c:v>44</c:v>
                  </c:pt>
                  <c:pt idx="10">
                    <c:v>48</c:v>
                  </c:pt>
                  <c:pt idx="11">
                    <c:v>52</c:v>
                  </c:pt>
                  <c:pt idx="12">
                    <c:v>56</c:v>
                  </c:pt>
                  <c:pt idx="13">
                    <c:v>60</c:v>
                  </c:pt>
                  <c:pt idx="14">
                    <c:v>64</c:v>
                  </c:pt>
                  <c:pt idx="15">
                    <c:v>68</c:v>
                  </c:pt>
                  <c:pt idx="16">
                    <c:v>72</c:v>
                  </c:pt>
                  <c:pt idx="17">
                    <c:v>76</c:v>
                  </c:pt>
                  <c:pt idx="18">
                    <c:v>80</c:v>
                  </c:pt>
                </c:lvl>
              </c:multiLvlStrCache>
            </c:multiLvlStrRef>
          </c:cat>
          <c:val>
            <c:numRef>
              <c:f>Sheet1!$B$2:$B$20</c:f>
              <c:numCache>
                <c:formatCode>General</c:formatCode>
                <c:ptCount val="19"/>
                <c:pt idx="0">
                  <c:v>3</c:v>
                </c:pt>
                <c:pt idx="1">
                  <c:v>5</c:v>
                </c:pt>
                <c:pt idx="2">
                  <c:v>5</c:v>
                </c:pt>
                <c:pt idx="3">
                  <c:v>5</c:v>
                </c:pt>
                <c:pt idx="4">
                  <c:v>5</c:v>
                </c:pt>
                <c:pt idx="5">
                  <c:v>5</c:v>
                </c:pt>
                <c:pt idx="6">
                  <c:v>5</c:v>
                </c:pt>
                <c:pt idx="7">
                  <c:v>5</c:v>
                </c:pt>
                <c:pt idx="8">
                  <c:v>5</c:v>
                </c:pt>
                <c:pt idx="9">
                  <c:v>5</c:v>
                </c:pt>
                <c:pt idx="10">
                  <c:v>5</c:v>
                </c:pt>
                <c:pt idx="11">
                  <c:v>5</c:v>
                </c:pt>
                <c:pt idx="12">
                  <c:v>5</c:v>
                </c:pt>
                <c:pt idx="13">
                  <c:v>5</c:v>
                </c:pt>
                <c:pt idx="14">
                  <c:v>5</c:v>
                </c:pt>
                <c:pt idx="15">
                  <c:v>5</c:v>
                </c:pt>
                <c:pt idx="16">
                  <c:v>5</c:v>
                </c:pt>
                <c:pt idx="17">
                  <c:v>5</c:v>
                </c:pt>
                <c:pt idx="18">
                  <c:v>5</c:v>
                </c:pt>
              </c:numCache>
            </c:numRef>
          </c:val>
          <c:smooth val="0"/>
        </c:ser>
        <c:ser>
          <c:idx val="1"/>
          <c:order val="1"/>
          <c:tx>
            <c:strRef>
              <c:f>Sheet1!$C$1</c:f>
              <c:strCache>
                <c:ptCount val="1"/>
                <c:pt idx="0">
                  <c:v>Up to 2 storeys</c:v>
                </c:pt>
              </c:strCache>
            </c:strRef>
          </c:tx>
          <c:spPr>
            <a:solidFill>
              <a:srgbClr val="4F7CAC"/>
            </a:solidFill>
            <a:ln w="31750" cap="flat">
              <a:solidFill>
                <a:srgbClr val="4F7CAC"/>
              </a:solidFill>
              <a:prstDash val="solid"/>
              <a:round/>
            </a:ln>
            <a:effectLst/>
          </c:spPr>
          <c:invertIfNegative val="0"/>
          <c:dLbls>
            <c:numFmt formatCode="#,##0" sourceLinked="0"/>
            <c:txPr>
              <a:bodyPr/>
              <a:lstStyle/>
              <a:p>
                <a:pPr>
                  <a:defRPr b="0" i="0" strike="noStrike" sz="1100" u="none">
                    <a:solidFill>
                      <a:srgbClr val="000000"/>
                    </a:solidFill>
                    <a:latin typeface="+mn-lt"/>
                  </a:defRPr>
                </a:pPr>
              </a:p>
            </c:txPr>
            <c:showLegendKey val="0"/>
            <c:showVal val="0"/>
            <c:showCatName val="0"/>
            <c:showSerName val="0"/>
            <c:showPercent val="0"/>
            <c:showBubbleSize val="0"/>
            <c:showLeaderLines val="0"/>
          </c:dLbls>
          <c:marker>
            <c:symbol val="none"/>
            <c:size val="6"/>
            <c:spPr>
              <a:solidFill>
                <a:srgbClr val="4F7CAC"/>
              </a:solidFill>
              <a:ln w="9525" cap="flat">
                <a:solidFill>
                  <a:srgbClr val="4F7CAC"/>
                </a:solidFill>
                <a:prstDash val="solid"/>
                <a:round/>
              </a:ln>
              <a:effectLst/>
            </c:spPr>
          </c:marker>
          <c:cat>
            <c:multiLvlStrRef>
              <c:f>Sheet1!$A$2:$A$20</c:f>
              <c:multiLvlStrCache>
                <c:ptCount val="19"/>
                <c:lvl>
                  <c:pt idx="0">
                    <c:v>8</c:v>
                  </c:pt>
                  <c:pt idx="1">
                    <c:v>12</c:v>
                  </c:pt>
                  <c:pt idx="2">
                    <c:v>16</c:v>
                  </c:pt>
                  <c:pt idx="3">
                    <c:v>20</c:v>
                  </c:pt>
                  <c:pt idx="4">
                    <c:v>24</c:v>
                  </c:pt>
                  <c:pt idx="5">
                    <c:v>28</c:v>
                  </c:pt>
                  <c:pt idx="6">
                    <c:v>32</c:v>
                  </c:pt>
                  <c:pt idx="7">
                    <c:v>36</c:v>
                  </c:pt>
                  <c:pt idx="8">
                    <c:v>40</c:v>
                  </c:pt>
                  <c:pt idx="9">
                    <c:v>44</c:v>
                  </c:pt>
                  <c:pt idx="10">
                    <c:v>48</c:v>
                  </c:pt>
                  <c:pt idx="11">
                    <c:v>52</c:v>
                  </c:pt>
                  <c:pt idx="12">
                    <c:v>56</c:v>
                  </c:pt>
                  <c:pt idx="13">
                    <c:v>60</c:v>
                  </c:pt>
                  <c:pt idx="14">
                    <c:v>64</c:v>
                  </c:pt>
                  <c:pt idx="15">
                    <c:v>68</c:v>
                  </c:pt>
                  <c:pt idx="16">
                    <c:v>72</c:v>
                  </c:pt>
                  <c:pt idx="17">
                    <c:v>76</c:v>
                  </c:pt>
                  <c:pt idx="18">
                    <c:v>80</c:v>
                  </c:pt>
                </c:lvl>
              </c:multiLvlStrCache>
            </c:multiLvlStrRef>
          </c:cat>
          <c:val>
            <c:numRef>
              <c:f>Sheet1!$C$2:$C$20</c:f>
              <c:numCache>
                <c:formatCode>General</c:formatCode>
                <c:ptCount val="19"/>
                <c:pt idx="0">
                  <c:v>3</c:v>
                </c:pt>
                <c:pt idx="1">
                  <c:v>5</c:v>
                </c:pt>
                <c:pt idx="2">
                  <c:v>5</c:v>
                </c:pt>
                <c:pt idx="3">
                  <c:v>7</c:v>
                </c:pt>
                <c:pt idx="4">
                  <c:v>9</c:v>
                </c:pt>
                <c:pt idx="5">
                  <c:v>9</c:v>
                </c:pt>
                <c:pt idx="6">
                  <c:v>9</c:v>
                </c:pt>
                <c:pt idx="7">
                  <c:v>9</c:v>
                </c:pt>
                <c:pt idx="8">
                  <c:v>9</c:v>
                </c:pt>
                <c:pt idx="9">
                  <c:v>9</c:v>
                </c:pt>
                <c:pt idx="10">
                  <c:v>9</c:v>
                </c:pt>
                <c:pt idx="11">
                  <c:v>9</c:v>
                </c:pt>
                <c:pt idx="12">
                  <c:v>9</c:v>
                </c:pt>
                <c:pt idx="13">
                  <c:v>9</c:v>
                </c:pt>
                <c:pt idx="14">
                  <c:v>9</c:v>
                </c:pt>
                <c:pt idx="15">
                  <c:v>9</c:v>
                </c:pt>
                <c:pt idx="16">
                  <c:v>9</c:v>
                </c:pt>
                <c:pt idx="17">
                  <c:v>9</c:v>
                </c:pt>
                <c:pt idx="18">
                  <c:v>9</c:v>
                </c:pt>
              </c:numCache>
            </c:numRef>
          </c:val>
          <c:smooth val="0"/>
        </c:ser>
        <c:ser>
          <c:idx val="2"/>
          <c:order val="2"/>
          <c:tx>
            <c:strRef>
              <c:f>Sheet1!$D$1</c:f>
              <c:strCache>
                <c:ptCount val="1"/>
                <c:pt idx="0">
                  <c:v>Up to 3 storeys</c:v>
                </c:pt>
              </c:strCache>
            </c:strRef>
          </c:tx>
          <c:spPr>
            <a:solidFill>
              <a:srgbClr val="E3A51A"/>
            </a:solidFill>
            <a:ln w="31750" cap="flat">
              <a:solidFill>
                <a:srgbClr val="E3A51A"/>
              </a:solidFill>
              <a:prstDash val="solid"/>
              <a:round/>
            </a:ln>
            <a:effectLst/>
          </c:spPr>
          <c:invertIfNegative val="0"/>
          <c:dLbls>
            <c:numFmt formatCode="#,##0" sourceLinked="0"/>
            <c:txPr>
              <a:bodyPr/>
              <a:lstStyle/>
              <a:p>
                <a:pPr>
                  <a:defRPr b="0" i="0" strike="noStrike" sz="1100" u="none">
                    <a:solidFill>
                      <a:srgbClr val="000000"/>
                    </a:solidFill>
                    <a:latin typeface="+mn-lt"/>
                  </a:defRPr>
                </a:pPr>
              </a:p>
            </c:txPr>
            <c:showLegendKey val="0"/>
            <c:showVal val="0"/>
            <c:showCatName val="0"/>
            <c:showSerName val="0"/>
            <c:showPercent val="0"/>
            <c:showBubbleSize val="0"/>
            <c:showLeaderLines val="0"/>
          </c:dLbls>
          <c:marker>
            <c:symbol val="none"/>
            <c:size val="6"/>
            <c:spPr>
              <a:solidFill>
                <a:srgbClr val="E3A51A"/>
              </a:solidFill>
              <a:ln w="9525" cap="flat">
                <a:solidFill>
                  <a:srgbClr val="E3A51A"/>
                </a:solidFill>
                <a:prstDash val="solid"/>
                <a:round/>
              </a:ln>
              <a:effectLst/>
            </c:spPr>
          </c:marker>
          <c:cat>
            <c:multiLvlStrRef>
              <c:f>Sheet1!$A$2:$A$20</c:f>
              <c:multiLvlStrCache>
                <c:ptCount val="19"/>
                <c:lvl>
                  <c:pt idx="0">
                    <c:v>8</c:v>
                  </c:pt>
                  <c:pt idx="1">
                    <c:v>12</c:v>
                  </c:pt>
                  <c:pt idx="2">
                    <c:v>16</c:v>
                  </c:pt>
                  <c:pt idx="3">
                    <c:v>20</c:v>
                  </c:pt>
                  <c:pt idx="4">
                    <c:v>24</c:v>
                  </c:pt>
                  <c:pt idx="5">
                    <c:v>28</c:v>
                  </c:pt>
                  <c:pt idx="6">
                    <c:v>32</c:v>
                  </c:pt>
                  <c:pt idx="7">
                    <c:v>36</c:v>
                  </c:pt>
                  <c:pt idx="8">
                    <c:v>40</c:v>
                  </c:pt>
                  <c:pt idx="9">
                    <c:v>44</c:v>
                  </c:pt>
                  <c:pt idx="10">
                    <c:v>48</c:v>
                  </c:pt>
                  <c:pt idx="11">
                    <c:v>52</c:v>
                  </c:pt>
                  <c:pt idx="12">
                    <c:v>56</c:v>
                  </c:pt>
                  <c:pt idx="13">
                    <c:v>60</c:v>
                  </c:pt>
                  <c:pt idx="14">
                    <c:v>64</c:v>
                  </c:pt>
                  <c:pt idx="15">
                    <c:v>68</c:v>
                  </c:pt>
                  <c:pt idx="16">
                    <c:v>72</c:v>
                  </c:pt>
                  <c:pt idx="17">
                    <c:v>76</c:v>
                  </c:pt>
                  <c:pt idx="18">
                    <c:v>80</c:v>
                  </c:pt>
                </c:lvl>
              </c:multiLvlStrCache>
            </c:multiLvlStrRef>
          </c:cat>
          <c:val>
            <c:numRef>
              <c:f>Sheet1!$D$2:$D$20</c:f>
              <c:numCache>
                <c:formatCode>General</c:formatCode>
                <c:ptCount val="19"/>
                <c:pt idx="0">
                  <c:v>3</c:v>
                </c:pt>
                <c:pt idx="1">
                  <c:v>5</c:v>
                </c:pt>
                <c:pt idx="2">
                  <c:v>5</c:v>
                </c:pt>
                <c:pt idx="3">
                  <c:v>7</c:v>
                </c:pt>
                <c:pt idx="4">
                  <c:v>9</c:v>
                </c:pt>
                <c:pt idx="5">
                  <c:v>9</c:v>
                </c:pt>
                <c:pt idx="6">
                  <c:v>9</c:v>
                </c:pt>
                <c:pt idx="7">
                  <c:v>11</c:v>
                </c:pt>
                <c:pt idx="8">
                  <c:v>11</c:v>
                </c:pt>
                <c:pt idx="9">
                  <c:v>11</c:v>
                </c:pt>
                <c:pt idx="10">
                  <c:v>11</c:v>
                </c:pt>
                <c:pt idx="11">
                  <c:v>11</c:v>
                </c:pt>
                <c:pt idx="12">
                  <c:v>11</c:v>
                </c:pt>
                <c:pt idx="13">
                  <c:v>11</c:v>
                </c:pt>
                <c:pt idx="14">
                  <c:v>11</c:v>
                </c:pt>
                <c:pt idx="15">
                  <c:v>11</c:v>
                </c:pt>
                <c:pt idx="16">
                  <c:v>11</c:v>
                </c:pt>
                <c:pt idx="17">
                  <c:v>11</c:v>
                </c:pt>
                <c:pt idx="18">
                  <c:v>11</c:v>
                </c:pt>
              </c:numCache>
            </c:numRef>
          </c:val>
          <c:smooth val="0"/>
        </c:ser>
        <c:ser>
          <c:idx val="3"/>
          <c:order val="3"/>
          <c:tx>
            <c:strRef>
              <c:f>Sheet1!$E$1</c:f>
              <c:strCache>
                <c:ptCount val="1"/>
                <c:pt idx="0">
                  <c:v>Up to 4 storeys</c:v>
                </c:pt>
              </c:strCache>
            </c:strRef>
          </c:tx>
          <c:spPr>
            <a:solidFill>
              <a:srgbClr val="12345A"/>
            </a:solidFill>
            <a:ln w="31750" cap="flat">
              <a:solidFill>
                <a:srgbClr val="12345A"/>
              </a:solidFill>
              <a:prstDash val="solid"/>
              <a:round/>
            </a:ln>
            <a:effectLst/>
          </c:spPr>
          <c:invertIfNegative val="0"/>
          <c:dLbls>
            <c:numFmt formatCode="#,##0" sourceLinked="0"/>
            <c:txPr>
              <a:bodyPr/>
              <a:lstStyle/>
              <a:p>
                <a:pPr>
                  <a:defRPr b="0" i="0" strike="noStrike" sz="1100" u="none">
                    <a:solidFill>
                      <a:srgbClr val="000000"/>
                    </a:solidFill>
                    <a:latin typeface="+mn-lt"/>
                  </a:defRPr>
                </a:pPr>
              </a:p>
            </c:txPr>
            <c:showLegendKey val="0"/>
            <c:showVal val="0"/>
            <c:showCatName val="0"/>
            <c:showSerName val="0"/>
            <c:showPercent val="0"/>
            <c:showBubbleSize val="0"/>
            <c:showLeaderLines val="0"/>
          </c:dLbls>
          <c:marker>
            <c:symbol val="none"/>
            <c:size val="6"/>
            <c:spPr>
              <a:solidFill>
                <a:srgbClr val="12345A"/>
              </a:solidFill>
              <a:ln w="9525" cap="flat">
                <a:solidFill>
                  <a:srgbClr val="12345A"/>
                </a:solidFill>
                <a:prstDash val="solid"/>
                <a:round/>
              </a:ln>
              <a:effectLst/>
            </c:spPr>
          </c:marker>
          <c:cat>
            <c:multiLvlStrRef>
              <c:f>Sheet1!$A$2:$A$20</c:f>
              <c:multiLvlStrCache>
                <c:ptCount val="19"/>
                <c:lvl>
                  <c:pt idx="0">
                    <c:v>8</c:v>
                  </c:pt>
                  <c:pt idx="1">
                    <c:v>12</c:v>
                  </c:pt>
                  <c:pt idx="2">
                    <c:v>16</c:v>
                  </c:pt>
                  <c:pt idx="3">
                    <c:v>20</c:v>
                  </c:pt>
                  <c:pt idx="4">
                    <c:v>24</c:v>
                  </c:pt>
                  <c:pt idx="5">
                    <c:v>28</c:v>
                  </c:pt>
                  <c:pt idx="6">
                    <c:v>32</c:v>
                  </c:pt>
                  <c:pt idx="7">
                    <c:v>36</c:v>
                  </c:pt>
                  <c:pt idx="8">
                    <c:v>40</c:v>
                  </c:pt>
                  <c:pt idx="9">
                    <c:v>44</c:v>
                  </c:pt>
                  <c:pt idx="10">
                    <c:v>48</c:v>
                  </c:pt>
                  <c:pt idx="11">
                    <c:v>52</c:v>
                  </c:pt>
                  <c:pt idx="12">
                    <c:v>56</c:v>
                  </c:pt>
                  <c:pt idx="13">
                    <c:v>60</c:v>
                  </c:pt>
                  <c:pt idx="14">
                    <c:v>64</c:v>
                  </c:pt>
                  <c:pt idx="15">
                    <c:v>68</c:v>
                  </c:pt>
                  <c:pt idx="16">
                    <c:v>72</c:v>
                  </c:pt>
                  <c:pt idx="17">
                    <c:v>76</c:v>
                  </c:pt>
                  <c:pt idx="18">
                    <c:v>80</c:v>
                  </c:pt>
                </c:lvl>
              </c:multiLvlStrCache>
            </c:multiLvlStrRef>
          </c:cat>
          <c:val>
            <c:numRef>
              <c:f>Sheet1!$E$2:$E$20</c:f>
              <c:numCache>
                <c:formatCode>General</c:formatCode>
                <c:ptCount val="19"/>
                <c:pt idx="0">
                  <c:v>3</c:v>
                </c:pt>
                <c:pt idx="1">
                  <c:v>5</c:v>
                </c:pt>
                <c:pt idx="2">
                  <c:v>5</c:v>
                </c:pt>
                <c:pt idx="3">
                  <c:v>7</c:v>
                </c:pt>
                <c:pt idx="4">
                  <c:v>9</c:v>
                </c:pt>
                <c:pt idx="5">
                  <c:v>9</c:v>
                </c:pt>
                <c:pt idx="6">
                  <c:v>9</c:v>
                </c:pt>
                <c:pt idx="7">
                  <c:v>11</c:v>
                </c:pt>
                <c:pt idx="8">
                  <c:v>12</c:v>
                </c:pt>
                <c:pt idx="9">
                  <c:v>13</c:v>
                </c:pt>
                <c:pt idx="10">
                  <c:v>15</c:v>
                </c:pt>
                <c:pt idx="11">
                  <c:v>15</c:v>
                </c:pt>
                <c:pt idx="12">
                  <c:v>15</c:v>
                </c:pt>
                <c:pt idx="13">
                  <c:v>15</c:v>
                </c:pt>
                <c:pt idx="14">
                  <c:v>15</c:v>
                </c:pt>
                <c:pt idx="15">
                  <c:v>15</c:v>
                </c:pt>
                <c:pt idx="16">
                  <c:v>15</c:v>
                </c:pt>
                <c:pt idx="17">
                  <c:v>15</c:v>
                </c:pt>
                <c:pt idx="18">
                  <c:v>15</c:v>
                </c:pt>
              </c:numCache>
            </c:numRef>
          </c:val>
          <c:smooth val="0"/>
        </c:ser>
        <c:dLbls>
          <c:numFmt formatCode="#,##0" sourceLinked="0"/>
          <c:txPr>
            <a:bodyPr/>
            <a:lstStyle/>
            <a:p>
              <a:pPr>
                <a:defRPr b="0" i="0" strike="noStrike" sz="1100" u="none">
                  <a:solidFill>
                    <a:srgbClr val="000000"/>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44505E"/>
                </a:solidFill>
                <a:latin typeface="+mn-lt"/>
              </a:defRPr>
            </a:pPr>
            <a:endParaRPr lang="en-US"/>
          </a:p>
        </c:txPr>
        <c:crossAx val="2094734552"/>
        <c:crosses val="autoZero"/>
        <c:auto val="1"/>
        <c:lblAlgn val="ctr"/>
        <c:noMultiLvlLbl val="1"/>
      </c:catAx>
      <c:valAx>
        <c:axId val="2094734552"/>
        <c:scaling>
          <c:orientation val="minMax"/>
          <c:max val="16"/>
          <c:min val="0"/>
        </c:scaling>
        <c:delete val="0"/>
        <c:axPos val="l"/>
        <c:majorGridlines>
          <c:spPr>
            <a:ln w="9525" cap="flat">
              <a:solidFill>
                <a:srgbClr val="D5DBE3"/>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44505E"/>
                </a:solidFill>
                <a:latin typeface="+mn-lt"/>
              </a:defRPr>
            </a:pPr>
            <a:endParaRPr lang="en-US"/>
          </a:p>
        </c:txPr>
        <c:crossAx val="2094734554"/>
        <c:crosses val="autoZero"/>
        <c:crossBetween val="between"/>
        <c:majorUnit val="4"/>
      </c:valAx>
      <c:spPr>
        <a:noFill/>
        <a:ln>
          <a:noFill/>
        </a:ln>
        <a:effectLst/>
      </c:spPr>
    </c:plotArea>
    <c:legend>
      <c:legendPos val="b"/>
      <c:overlay val="0"/>
      <c:txPr>
        <a:bodyPr/>
        <a:lstStyle/>
        <a:p>
          <a:pPr>
            <a:defRPr sz="1200">
              <a:latin typeface="+mn-lt"/>
              <a:cs typeface="+mn-lt"/>
            </a:defRPr>
          </a:pPr>
          <a:endParaRPr lang="en-US"/>
        </a:p>
      </c:txPr>
    </c:legend>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2345A"/>
                </a:solidFill>
                <a:latin typeface="+mn-lt"/>
              </a:defRPr>
            </a:pPr>
            <a:r>
              <a:rPr sz="1400" b="0" i="0" u="none" strike="noStrike">
                <a:solidFill>
                  <a:srgbClr val="12345A"/>
                </a:solidFill>
                <a:latin typeface="+mn-lt"/>
              </a:rPr>
              <a:t>Quotation tiers against fair awarded costs (%)</a:t>
            </a:r>
          </a:p>
        </c:rich>
      </c:tx>
      <c:layout/>
      <c:overlay val="0"/>
    </c:title>
    <c:autoTitleDeleted val="0"/>
    <c:plotArea>
      <c:layout/>
      <c:barChart>
        <c:barDir val="col"/>
        <c:grouping val="clustered"/>
        <c:varyColors val="0"/>
        <c:ser>
          <c:idx val="0"/>
          <c:order val="0"/>
          <c:tx>
            <c:strRef>
              <c:f>Sheet1!$B$1</c:f>
              <c:strCache>
                <c:ptCount val="1"/>
                <c:pt idx="0">
                  <c:v>Buildings</c:v>
                </c:pt>
              </c:strCache>
            </c:strRef>
          </c:tx>
          <c:spPr>
            <a:solidFill>
              <a:srgbClr val="12345A"/>
            </a:solidFill>
            <a:effectLst/>
          </c:spPr>
          <c:invertIfNegative val="0"/>
          <c:dLbls>
            <c:numFmt formatCode="0.0&quot;%&quot;" sourceLinked="0"/>
            <c:txPr>
              <a:bodyPr/>
              <a:lstStyle/>
              <a:p>
                <a:pPr>
                  <a:defRPr b="0" i="0" strike="noStrike" sz="1100" u="none">
                    <a:solidFill>
                      <a:srgbClr val="14202E"/>
                    </a:solidFill>
                    <a:latin typeface="+mn-lt"/>
                  </a:defRPr>
                </a:pPr>
              </a:p>
            </c:txPr>
            <c:showLegendKey val="0"/>
            <c:showVal val="1"/>
            <c:showCatName val="0"/>
            <c:showSerName val="0"/>
            <c:showPercent val="0"/>
            <c:showBubbleSize val="0"/>
            <c:showLeaderLines val="0"/>
          </c:dLbls>
          <c:cat>
            <c:multiLvlStrRef>
              <c:f>Sheet1!$A$2:$A$4</c:f>
              <c:multiLvlStrCache>
                <c:ptCount val="3"/>
                <c:lvl>
                  <c:pt idx="0">
                    <c:v>Lean ≤ fair award</c:v>
                  </c:pt>
                  <c:pt idx="1">
                    <c:v>Ceiling covers fair award</c:v>
                  </c:pt>
                  <c:pt idx="2">
                    <c:v>Average lean saving</c:v>
                  </c:pt>
                </c:lvl>
              </c:multiLvlStrCache>
            </c:multiLvlStrRef>
          </c:cat>
          <c:val>
            <c:numRef>
              <c:f>Sheet1!$B$2:$B$4</c:f>
              <c:numCache>
                <c:formatCode>General</c:formatCode>
                <c:ptCount val="3"/>
                <c:pt idx="0">
                  <c:v>94.3</c:v>
                </c:pt>
                <c:pt idx="1">
                  <c:v>100</c:v>
                </c:pt>
                <c:pt idx="2">
                  <c:v>14.4</c:v>
                </c:pt>
              </c:numCache>
            </c:numRef>
          </c:val>
        </c:ser>
        <c:ser>
          <c:idx val="1"/>
          <c:order val="1"/>
          <c:tx>
            <c:strRef>
              <c:f>Sheet1!$C$1</c:f>
              <c:strCache>
                <c:ptCount val="1"/>
                <c:pt idx="0">
                  <c:v>Bridges</c:v>
                </c:pt>
              </c:strCache>
            </c:strRef>
          </c:tx>
          <c:spPr>
            <a:solidFill>
              <a:srgbClr val="E3A51A"/>
            </a:solidFill>
            <a:effectLst/>
          </c:spPr>
          <c:invertIfNegative val="0"/>
          <c:dLbls>
            <c:numFmt formatCode="0.0&quot;%&quot;" sourceLinked="0"/>
            <c:txPr>
              <a:bodyPr/>
              <a:lstStyle/>
              <a:p>
                <a:pPr>
                  <a:defRPr b="0" i="0" strike="noStrike" sz="1100" u="none">
                    <a:solidFill>
                      <a:srgbClr val="14202E"/>
                    </a:solidFill>
                    <a:latin typeface="+mn-lt"/>
                  </a:defRPr>
                </a:pPr>
              </a:p>
            </c:txPr>
            <c:showLegendKey val="0"/>
            <c:showVal val="1"/>
            <c:showCatName val="0"/>
            <c:showSerName val="0"/>
            <c:showPercent val="0"/>
            <c:showBubbleSize val="0"/>
            <c:showLeaderLines val="0"/>
          </c:dLbls>
          <c:cat>
            <c:multiLvlStrRef>
              <c:f>Sheet1!$A$2:$A$4</c:f>
              <c:multiLvlStrCache>
                <c:ptCount val="3"/>
                <c:lvl>
                  <c:pt idx="0">
                    <c:v>Lean ≤ fair award</c:v>
                  </c:pt>
                  <c:pt idx="1">
                    <c:v>Ceiling covers fair award</c:v>
                  </c:pt>
                  <c:pt idx="2">
                    <c:v>Average lean saving</c:v>
                  </c:pt>
                </c:lvl>
              </c:multiLvlStrCache>
            </c:multiLvlStrRef>
          </c:cat>
          <c:val>
            <c:numRef>
              <c:f>Sheet1!$C$2:$C$4</c:f>
              <c:numCache>
                <c:formatCode>General</c:formatCode>
                <c:ptCount val="3"/>
                <c:pt idx="0">
                  <c:v>81.5</c:v>
                </c:pt>
                <c:pt idx="1">
                  <c:v>88.7</c:v>
                </c:pt>
                <c:pt idx="2">
                  <c:v>5.9</c:v>
                </c:pt>
              </c:numCache>
            </c:numRef>
          </c:val>
        </c:ser>
        <c:dLbls>
          <c:numFmt formatCode="0.0&quot;%&quot;" sourceLinked="0"/>
          <c:txPr>
            <a:bodyPr/>
            <a:lstStyle/>
            <a:p>
              <a:pPr>
                <a:defRPr b="0" i="0" strike="noStrike" sz="1100" u="none">
                  <a:solidFill>
                    <a:srgbClr val="14202E"/>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44505E"/>
                </a:solidFill>
                <a:latin typeface="+mn-lt"/>
              </a:defRPr>
            </a:pPr>
            <a:endParaRPr lang="en-US"/>
          </a:p>
        </c:txPr>
        <c:crossAx val="2094734552"/>
        <c:crosses val="autoZero"/>
        <c:auto val="1"/>
        <c:lblAlgn val="ctr"/>
        <c:noMultiLvlLbl val="1"/>
      </c:catAx>
      <c:valAx>
        <c:axId val="2094734552"/>
        <c:scaling>
          <c:orientation val="minMax"/>
          <c:max val="110"/>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44505E"/>
                </a:solidFill>
                <a:latin typeface="+mn-lt"/>
              </a:defRPr>
            </a:pPr>
            <a:endParaRPr lang="en-US"/>
          </a:p>
        </c:txPr>
        <c:crossAx val="2094734554"/>
        <c:crosses val="autoZero"/>
        <c:crossBetween val="between"/>
        <c:majorUnit val="20"/>
      </c:valAx>
      <c:spPr>
        <a:noFill/>
        <a:ln>
          <a:noFill/>
        </a:ln>
        <a:effectLst/>
      </c:spPr>
    </c:plotArea>
    <c:legend>
      <c:legendPos val="b"/>
      <c:overlay val="0"/>
      <c:txPr>
        <a:bodyPr/>
        <a:lstStyle/>
        <a:p>
          <a:pPr>
            <a:defRPr sz="1200">
              <a:latin typeface="+mn-lt"/>
              <a:cs typeface="+mn-lt"/>
            </a:defRPr>
          </a:pPr>
          <a:endParaRPr lang="en-US"/>
        </a:p>
      </c:txPr>
    </c:legend>
    <c:plotVisOnly val="1"/>
    <c:dispBlanksAs val="span"/>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2345A"/>
                </a:solidFill>
                <a:latin typeface="+mn-lt"/>
              </a:defRPr>
            </a:pPr>
            <a:r>
              <a:rPr sz="1400" b="0" i="0" u="none" strike="noStrike">
                <a:solidFill>
                  <a:srgbClr val="12345A"/>
                </a:solidFill>
                <a:latin typeface="+mn-lt"/>
              </a:rPr>
              <a:t>MAPE under LOOCV (lower is better)</a:t>
            </a:r>
          </a:p>
        </c:rich>
      </c:tx>
      <c:layout/>
      <c:overlay val="0"/>
    </c:title>
    <c:autoTitleDeleted val="0"/>
    <c:plotArea>
      <c:layout/>
      <c:barChart>
        <c:barDir val="col"/>
        <c:grouping val="clustered"/>
        <c:varyColors val="0"/>
        <c:ser>
          <c:idx val="0"/>
          <c:order val="0"/>
          <c:tx>
            <c:strRef>
              <c:f>Sheet1!$B$1</c:f>
              <c:strCache>
                <c:ptCount val="1"/>
                <c:pt idx="0">
                  <c:v>Multiple Linear Regression</c:v>
                </c:pt>
              </c:strCache>
            </c:strRef>
          </c:tx>
          <c:spPr>
            <a:solidFill>
              <a:srgbClr val="6B7A8C"/>
            </a:solidFill>
            <a:effectLst/>
          </c:spPr>
          <c:invertIfNegative val="0"/>
          <c:dLbls>
            <c:numFmt formatCode="0.00&quot;%&quot;" sourceLinked="0"/>
            <c:txPr>
              <a:bodyPr/>
              <a:lstStyle/>
              <a:p>
                <a:pPr>
                  <a:defRPr b="0" i="0" strike="noStrike" sz="1100" u="none">
                    <a:solidFill>
                      <a:srgbClr val="14202E"/>
                    </a:solidFill>
                    <a:latin typeface="+mn-lt"/>
                  </a:defRPr>
                </a:pPr>
              </a:p>
            </c:txPr>
            <c:showLegendKey val="0"/>
            <c:showVal val="1"/>
            <c:showCatName val="0"/>
            <c:showSerName val="0"/>
            <c:showPercent val="0"/>
            <c:showBubbleSize val="0"/>
            <c:showLeaderLines val="0"/>
          </c:dLbls>
          <c:cat>
            <c:multiLvlStrRef>
              <c:f>Sheet1!$A$2:$A$3</c:f>
              <c:multiLvlStrCache>
                <c:ptCount val="2"/>
                <c:lvl>
                  <c:pt idx="0">
                    <c:v>Buildings</c:v>
                  </c:pt>
                  <c:pt idx="1">
                    <c:v>Bridges</c:v>
                  </c:pt>
                </c:lvl>
              </c:multiLvlStrCache>
            </c:multiLvlStrRef>
          </c:cat>
          <c:val>
            <c:numRef>
              <c:f>Sheet1!$B$2:$B$3</c:f>
              <c:numCache>
                <c:formatCode>General</c:formatCode>
                <c:ptCount val="2"/>
                <c:pt idx="0">
                  <c:v>13.43</c:v>
                </c:pt>
                <c:pt idx="1">
                  <c:v>65.65</c:v>
                </c:pt>
              </c:numCache>
            </c:numRef>
          </c:val>
        </c:ser>
        <c:ser>
          <c:idx val="1"/>
          <c:order val="1"/>
          <c:tx>
            <c:strRef>
              <c:f>Sheet1!$C$1</c:f>
              <c:strCache>
                <c:ptCount val="1"/>
                <c:pt idx="0">
                  <c:v>XGBoost</c:v>
                </c:pt>
              </c:strCache>
            </c:strRef>
          </c:tx>
          <c:spPr>
            <a:solidFill>
              <a:srgbClr val="12345A"/>
            </a:solidFill>
            <a:effectLst/>
          </c:spPr>
          <c:invertIfNegative val="0"/>
          <c:dLbls>
            <c:numFmt formatCode="0.00&quot;%&quot;" sourceLinked="0"/>
            <c:txPr>
              <a:bodyPr/>
              <a:lstStyle/>
              <a:p>
                <a:pPr>
                  <a:defRPr b="0" i="0" strike="noStrike" sz="1100" u="none">
                    <a:solidFill>
                      <a:srgbClr val="14202E"/>
                    </a:solidFill>
                    <a:latin typeface="+mn-lt"/>
                  </a:defRPr>
                </a:pPr>
              </a:p>
            </c:txPr>
            <c:showLegendKey val="0"/>
            <c:showVal val="1"/>
            <c:showCatName val="0"/>
            <c:showSerName val="0"/>
            <c:showPercent val="0"/>
            <c:showBubbleSize val="0"/>
            <c:showLeaderLines val="0"/>
          </c:dLbls>
          <c:cat>
            <c:multiLvlStrRef>
              <c:f>Sheet1!$A$2:$A$3</c:f>
              <c:multiLvlStrCache>
                <c:ptCount val="2"/>
                <c:lvl>
                  <c:pt idx="0">
                    <c:v>Buildings</c:v>
                  </c:pt>
                  <c:pt idx="1">
                    <c:v>Bridges</c:v>
                  </c:pt>
                </c:lvl>
              </c:multiLvlStrCache>
            </c:multiLvlStrRef>
          </c:cat>
          <c:val>
            <c:numRef>
              <c:f>Sheet1!$C$2:$C$3</c:f>
              <c:numCache>
                <c:formatCode>General</c:formatCode>
                <c:ptCount val="2"/>
                <c:pt idx="0">
                  <c:v>13.94</c:v>
                </c:pt>
                <c:pt idx="1">
                  <c:v>19.18</c:v>
                </c:pt>
              </c:numCache>
            </c:numRef>
          </c:val>
        </c:ser>
        <c:dLbls>
          <c:numFmt formatCode="0.00&quot;%&quot;" sourceLinked="0"/>
          <c:txPr>
            <a:bodyPr/>
            <a:lstStyle/>
            <a:p>
              <a:pPr>
                <a:defRPr b="0" i="0" strike="noStrike" sz="1100" u="none">
                  <a:solidFill>
                    <a:srgbClr val="14202E"/>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44505E"/>
                </a:solidFill>
                <a:latin typeface="+mn-lt"/>
              </a:defRPr>
            </a:pPr>
            <a:endParaRPr lang="en-US"/>
          </a:p>
        </c:txPr>
        <c:crossAx val="2094734552"/>
        <c:crosses val="autoZero"/>
        <c:auto val="1"/>
        <c:lblAlgn val="ctr"/>
        <c:noMultiLvlLbl val="1"/>
      </c:catAx>
      <c:valAx>
        <c:axId val="2094734552"/>
        <c:scaling>
          <c:orientation val="minMax"/>
          <c:max val="75"/>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44505E"/>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200">
              <a:latin typeface="+mn-lt"/>
              <a:cs typeface="+mn-lt"/>
            </a:defRPr>
          </a:pPr>
          <a:endParaRPr lang="en-US"/>
        </a:p>
      </c:txPr>
    </c:legend>
    <c:plotVisOnly val="1"/>
    <c:dispBlanksAs val="span"/>
  </c:chart>
  <c:spPr>
    <a:no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2345A"/>
                </a:solidFill>
                <a:latin typeface="+mn-lt"/>
              </a:defRPr>
            </a:pPr>
            <a:r>
              <a:rPr sz="1400" b="0" i="0" u="none" strike="noStrike">
                <a:solidFill>
                  <a:srgbClr val="12345A"/>
                </a:solidFill>
                <a:latin typeface="+mn-lt"/>
              </a:rPr>
              <a:t>Detection of 36 injected cases, all 300 projects</a:t>
            </a:r>
          </a:p>
        </c:rich>
      </c:tx>
      <c:layout/>
      <c:overlay val="0"/>
    </c:title>
    <c:autoTitleDeleted val="0"/>
    <c:plotArea>
      <c:layout/>
      <c:barChart>
        <c:barDir val="col"/>
        <c:grouping val="clustered"/>
        <c:varyColors val="0"/>
        <c:ser>
          <c:idx val="0"/>
          <c:order val="0"/>
          <c:tx>
            <c:strRef>
              <c:f>Sheet1!$B$1</c:f>
              <c:strCache>
                <c:ptCount val="1"/>
                <c:pt idx="0">
                  <c:v>Recall</c:v>
                </c:pt>
              </c:strCache>
            </c:strRef>
          </c:tx>
          <c:spPr>
            <a:solidFill>
              <a:srgbClr val="12345A"/>
            </a:solidFill>
            <a:effectLst/>
          </c:spPr>
          <c:invertIfNegative val="0"/>
          <c:dLbls>
            <c:numFmt formatCode="0.00" sourceLinked="0"/>
            <c:txPr>
              <a:bodyPr/>
              <a:lstStyle/>
              <a:p>
                <a:pPr>
                  <a:defRPr b="0" i="0" strike="noStrike" sz="1000" u="none">
                    <a:solidFill>
                      <a:srgbClr val="14202E"/>
                    </a:solidFill>
                    <a:latin typeface="+mn-lt"/>
                  </a:defRPr>
                </a:pPr>
              </a:p>
            </c:txPr>
            <c:showLegendKey val="0"/>
            <c:showVal val="1"/>
            <c:showCatName val="0"/>
            <c:showSerName val="0"/>
            <c:showPercent val="0"/>
            <c:showBubbleSize val="0"/>
            <c:showLeaderLines val="0"/>
          </c:dLbls>
          <c:cat>
            <c:multiLvlStrRef>
              <c:f>Sheet1!$A$2:$A$5</c:f>
              <c:multiLvlStrCache>
                <c:ptCount val="4"/>
                <c:lvl>
                  <c:pt idx="0">
                    <c:v>Standards rule</c:v>
                  </c:pt>
                  <c:pt idx="1">
                    <c:v>XGBoost residual</c:v>
                  </c:pt>
                  <c:pt idx="2">
                    <c:v>Isolation Forest</c:v>
                  </c:pt>
                  <c:pt idx="3">
                    <c:v>Risk Index</c:v>
                  </c:pt>
                </c:lvl>
              </c:multiLvlStrCache>
            </c:multiLvlStrRef>
          </c:cat>
          <c:val>
            <c:numRef>
              <c:f>Sheet1!$B$2:$B$5</c:f>
              <c:numCache>
                <c:formatCode>General</c:formatCode>
                <c:ptCount val="4"/>
                <c:pt idx="0">
                  <c:v>0.833</c:v>
                </c:pt>
                <c:pt idx="1">
                  <c:v>0.667</c:v>
                </c:pt>
                <c:pt idx="2">
                  <c:v>0.278</c:v>
                </c:pt>
                <c:pt idx="3">
                  <c:v>0.944</c:v>
                </c:pt>
              </c:numCache>
            </c:numRef>
          </c:val>
        </c:ser>
        <c:ser>
          <c:idx val="1"/>
          <c:order val="1"/>
          <c:tx>
            <c:strRef>
              <c:f>Sheet1!$C$1</c:f>
              <c:strCache>
                <c:ptCount val="1"/>
                <c:pt idx="0">
                  <c:v>F1-score</c:v>
                </c:pt>
              </c:strCache>
            </c:strRef>
          </c:tx>
          <c:spPr>
            <a:solidFill>
              <a:srgbClr val="E3A51A"/>
            </a:solidFill>
            <a:effectLst/>
          </c:spPr>
          <c:invertIfNegative val="0"/>
          <c:dLbls>
            <c:numFmt formatCode="0.00" sourceLinked="0"/>
            <c:txPr>
              <a:bodyPr/>
              <a:lstStyle/>
              <a:p>
                <a:pPr>
                  <a:defRPr b="0" i="0" strike="noStrike" sz="1000" u="none">
                    <a:solidFill>
                      <a:srgbClr val="14202E"/>
                    </a:solidFill>
                    <a:latin typeface="+mn-lt"/>
                  </a:defRPr>
                </a:pPr>
              </a:p>
            </c:txPr>
            <c:showLegendKey val="0"/>
            <c:showVal val="1"/>
            <c:showCatName val="0"/>
            <c:showSerName val="0"/>
            <c:showPercent val="0"/>
            <c:showBubbleSize val="0"/>
            <c:showLeaderLines val="0"/>
          </c:dLbls>
          <c:cat>
            <c:multiLvlStrRef>
              <c:f>Sheet1!$A$2:$A$5</c:f>
              <c:multiLvlStrCache>
                <c:ptCount val="4"/>
                <c:lvl>
                  <c:pt idx="0">
                    <c:v>Standards rule</c:v>
                  </c:pt>
                  <c:pt idx="1">
                    <c:v>XGBoost residual</c:v>
                  </c:pt>
                  <c:pt idx="2">
                    <c:v>Isolation Forest</c:v>
                  </c:pt>
                  <c:pt idx="3">
                    <c:v>Risk Index</c:v>
                  </c:pt>
                </c:lvl>
              </c:multiLvlStrCache>
            </c:multiLvlStrRef>
          </c:cat>
          <c:val>
            <c:numRef>
              <c:f>Sheet1!$C$2:$C$5</c:f>
              <c:numCache>
                <c:formatCode>General</c:formatCode>
                <c:ptCount val="4"/>
                <c:pt idx="0">
                  <c:v>0.75</c:v>
                </c:pt>
                <c:pt idx="1">
                  <c:v>0.686</c:v>
                </c:pt>
                <c:pt idx="2">
                  <c:v>0.37</c:v>
                </c:pt>
                <c:pt idx="3">
                  <c:v>0.764</c:v>
                </c:pt>
              </c:numCache>
            </c:numRef>
          </c:val>
        </c:ser>
        <c:ser>
          <c:idx val="2"/>
          <c:order val="2"/>
          <c:tx>
            <c:strRef>
              <c:f>Sheet1!$D$1</c:f>
              <c:strCache>
                <c:ptCount val="1"/>
                <c:pt idx="0">
                  <c:v>ROC AUC</c:v>
                </c:pt>
              </c:strCache>
            </c:strRef>
          </c:tx>
          <c:spPr>
            <a:solidFill>
              <a:srgbClr val="6B7A8C"/>
            </a:solidFill>
            <a:effectLst/>
          </c:spPr>
          <c:invertIfNegative val="0"/>
          <c:dLbls>
            <c:numFmt formatCode="0.00" sourceLinked="0"/>
            <c:txPr>
              <a:bodyPr/>
              <a:lstStyle/>
              <a:p>
                <a:pPr>
                  <a:defRPr b="0" i="0" strike="noStrike" sz="1000" u="none">
                    <a:solidFill>
                      <a:srgbClr val="14202E"/>
                    </a:solidFill>
                    <a:latin typeface="+mn-lt"/>
                  </a:defRPr>
                </a:pPr>
              </a:p>
            </c:txPr>
            <c:showLegendKey val="0"/>
            <c:showVal val="1"/>
            <c:showCatName val="0"/>
            <c:showSerName val="0"/>
            <c:showPercent val="0"/>
            <c:showBubbleSize val="0"/>
            <c:showLeaderLines val="0"/>
          </c:dLbls>
          <c:cat>
            <c:multiLvlStrRef>
              <c:f>Sheet1!$A$2:$A$5</c:f>
              <c:multiLvlStrCache>
                <c:ptCount val="4"/>
                <c:lvl>
                  <c:pt idx="0">
                    <c:v>Standards rule</c:v>
                  </c:pt>
                  <c:pt idx="1">
                    <c:v>XGBoost residual</c:v>
                  </c:pt>
                  <c:pt idx="2">
                    <c:v>Isolation Forest</c:v>
                  </c:pt>
                  <c:pt idx="3">
                    <c:v>Risk Index</c:v>
                  </c:pt>
                </c:lvl>
              </c:multiLvlStrCache>
            </c:multiLvlStrRef>
          </c:cat>
          <c:val>
            <c:numRef>
              <c:f>Sheet1!$D$2:$D$5</c:f>
              <c:numCache>
                <c:formatCode>General</c:formatCode>
                <c:ptCount val="4"/>
                <c:pt idx="0">
                  <c:v>0.994</c:v>
                </c:pt>
                <c:pt idx="1">
                  <c:v>0.955</c:v>
                </c:pt>
                <c:pt idx="2">
                  <c:v>0.731</c:v>
                </c:pt>
                <c:pt idx="3">
                  <c:v>0.987</c:v>
                </c:pt>
              </c:numCache>
            </c:numRef>
          </c:val>
        </c:ser>
        <c:dLbls>
          <c:numFmt formatCode="0.00" sourceLinked="0"/>
          <c:txPr>
            <a:bodyPr/>
            <a:lstStyle/>
            <a:p>
              <a:pPr>
                <a:defRPr b="0" i="0" strike="noStrike" sz="1000" u="none">
                  <a:solidFill>
                    <a:srgbClr val="14202E"/>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44505E"/>
                </a:solidFill>
                <a:latin typeface="+mn-lt"/>
              </a:defRPr>
            </a:pPr>
            <a:endParaRPr lang="en-US"/>
          </a:p>
        </c:txPr>
        <c:crossAx val="2094734552"/>
        <c:crosses val="autoZero"/>
        <c:auto val="1"/>
        <c:lblAlgn val="ctr"/>
        <c:noMultiLvlLbl val="1"/>
      </c:catAx>
      <c:valAx>
        <c:axId val="2094734552"/>
        <c:scaling>
          <c:orientation val="minMax"/>
          <c:max val="1.1"/>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44505E"/>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200">
              <a:latin typeface="+mn-lt"/>
              <a:cs typeface="+mn-lt"/>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day. I am Enrique Miguel C. Buban, and this is BUHAY-AH. Buhay means life, because public infrastructure carries lives. This study builds a system that designs public buildings and bridges from a budget, prices them from engineering standards, and flags contracts that are over budget.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presentation follows the IMRaD structure of Practical Research 2. We go from Introduction to Methodology, then Results and Discussion, Conclusion and Recommendations.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begin with why this study was needed.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Construction is one of the sectors most exposed to corruption. CoST estimates 10 to 30 percent of investment in public infrastructure is lost to corruption, mismanagement and inefficiency. The Philippines scored 32 of 100 in the 2025 Corruption Perceptions Index, ranking 120th of 182. About 20 percent of 545.64 billion pesos in flood-control projects went to 15 contractors. COA found the Cebu City Medical Center building overstated by about 62.64 million pesos, partly because VAT was computed at 12 percent instead of 5 percent.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Buildings and bridges carry a particular weight. School buildings, health stations and evacuation centers are the facilities communities rely on during typhoons; bridges are the links that keep them reachable. Each is priced through a Program of Works and Detailed Unit Price Analysis leading to the ABC. Machine learning can screen many contracts, but it learns from past prices.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Five gaps motivate this study. Scope: screening has focused on roads. Reference: data-driven models learn what similar projects have cost, not what they should cost. Validation: detectors are tested where nobody knows the true overpriced cases. Design: communities know only their need and budget. Access: models stay in notebooks.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study aimed to develop BUHAY-AH, a budget-to-blueprint design generator, standards-based quantity take-off and hybrid machine-learning system that produces start quotations and detects over-budgeted public buildings and bridges in Bicol Region V. Specifically, it sought to answer six research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Questions four to six cover the models, detection and deployment.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BUHAY-AH gives anyone with a need, a budget or a plan an itemized, standards-based design and price, and a fast way to see whether a contract amount is defensible.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SDG 16.5, 16.6 and 16.10: reduce corruption, build accountable institutions and widen public access to information. SDG 9.1 and 11.5: fair pricing protects the quality of resilient infrastructure. SDG 12.7: sustainable public procurement under RA 12009. SDG 4.a: lean quotations stretch school-building funds to more classrooms.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study covers public buildings and bridges in the six provinces of Bicol Region V, priced from 2022 to 2026. Roads and flood-control structures are excluded. Unit costs are indicative 2025 Albay prices. Generated designs are schematic. The benchmark is simulated because itemized bills of quantities are not publicly available in machine-readable form.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terms are defined conceptually and operationally to ensure a common understanding of the key concepts.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Next, the literature and the frameworks that guided the study.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Regression has long been used for early cost estimates. Tree ensembles and parametric models are now the standard tools. Isolation Forest detects anomalies without labels. CORA combined MLR, XGBoost and Isolation Forest on Bicol road contracts. None of these says what a project should cost, and none was validated where overpricing is known.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Agency Theory explains why padding happens: information asymmetry between the public and implementers. Should-Cost Theory says a fair price can be built bottom-up. Optimization Theory chooses the best design under a budget. Statistical Learning Theory guides the models. Cooperative Game Theory gives the Shapley value behind SHAP.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Inputs are a requirement, a budget, or a plan, plus the standards, the price book and past projects. The process generates designs, performs the take-off, prices the quotation tiers, trains the models and scores the risk. Outputs are designs, quotations, flags and the app. Feedback updates the price book and thresholds.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the methodology, which is where Mathematical and Computational Sciences does the 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a quantitative developmental research design with a simulation-based computational experiment, following the approach of the Mathematical and Computational Sciences. Four kinds of mathematics work together: deterministic modeling, combinatorial optimization, statistical and machine learning, and Monte Carlo simulation.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locale is Bicol Region V: six provinces with location factors. The data sources are engineering standards, DPWH pay items and unit costs for 2025, reference plans and the simulated benchmark.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instruments are the BUHAY-AH plan reader, cost engine and models. Nine variables describe a building and eleven a bridge. A DXF outline is read with the shoelace formula for area and perimeter; walls drawn on WALL or PARTITION layers are measured.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When there is no plan, BUHAY-AH builds one from 55 space modules sized to DepEd, DOH, National Building Code and DSWD norms. Modules are laid out in rows along corridors and across floors. For a budget, the best design maximizes capacity subject to the ABC fitting the budget, the length fitting the lot and the storeys within the limit. Because cost is not monotonic in capacity, the solver enumerates every combination and keeps the Pareto-efficient designs.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engine lays out the column grid, sizes footings from the service load and allowable soil bearing, computes concrete, reinforcement, formwork, masonry, roofing, finishes and MEPF, multiplies each quantity by its DPWH unit cost, and applies OCM, profit and 5% VAT by bracket. It runs three times: lean, standard and ceiling.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measure recall, the truly overpriced contracts must be known. SBD-300 has 160 buildings and 140 bridges, each priced by the engine plus hidden variation the plan does not show, then bid competition, and in 36 projects deliberate overpricing of 20 to 110 percent.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Multiple Linear Regression is the interpretable baseline, with VIF used to remove multicollinear predictors above 10. XGBoost is trained on the logarithm of cost with randomized hyperparameter search. Isolation Forest scores how unusual a contract is from its plan features, log cost and residual. SHAP explains every prediction.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signals are combined: the over-budget ratio weighted 0.5 because it does not depend on past prices, the XGBoost residual weighted 0.3, and the Isolation Forest score weighted 0.2. A BRI of 30 or more is a flag; 20 to 30 is for review.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Models were validated by leave-one-out cross-validation: each project is predicted by a model trained without it. Cost prediction is measured by RMSE, R² and MAPE. Detection is measured against the injected labels with precision, recall, F1-score and ROC AUC. Generated designs are checked against space standards; search time is recorded.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single JavaScript cost engine is shared by the app, the website and the research pipeline. The trained XGBoost trees and Isolation Forest are exported to JSON and evaluated in the browser with exact TreeSHAP; parity with Python is within 1e-5 in log cost. The app is a progressive web app, packaged for Android with Capacitor through GitHub Actions, and offered as an offline ZIP and a download website.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study involves no human participants, animals, hazardous materials or devices. All data are simulated or drawn from public documents. Results are screening signals, not findings of wrongdoing; generated designs are schematic. Personal information is not collected.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Results are presented in the order of the research questions. All accuracy and detection results are from the simulated benchmark.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160 buildings ranged from 116.6 to 1,990.8 square metres, one to four storeys, priced from 5.37 to 56.77 million pesos. The 140 bridges ranged from 2.0 to 189.5 metres, priced from 1.00 to 179.23 million pesos. Schools and RC deck girders dominate, as in the real program.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55 space modules the generator produced 41 building templates and 13 bridge templates, from a 149-square-metre barangay health station to a 3,024-square-metre multi-storey facility. All 152 applicable space-standard checks passed.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2-storey 6-classroom school comes out 38.5 by 9.5 metres with 732 square metres of floor area, a lean start quotation of 16.25 million and a standard estimate of 18.77 million pesos. The hospital places wards on a double-loaded corridor; the market is folded into parallel rows so no row exceeds 48 metres.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With 10 million pesos the solver returns a 4-classroom school; with 25 million, 9 classrooms in 2 storeys; with 50 million, 15 classrooms in 4 storeys on a 60-metre lot. Allowing multi-storey designs added an average of 6.4 and up to 10 classrooms for the same budget. Searches finished in a median of 3.6 milliseconds.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Culverts were cheapest up to 12 metres; multi-span RC deck girders were the lowest-cost option from 20 to 120 metres at these prices, because pier costs stay modest on spread footings. Prestressed girders and trusses become competitive when piers are costly, such as deep rivers.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Against fair awarded costs, the standard estimate reached a MAPE of 5.21 percent for buildings and 7.67 percent for bridges, R-squared 0.9799 and 0.9801, less than half the error of the best data-driven model. The lean start quotation was at or below the fair award for 94.3 percent of buildings and 81.5 percent of bridges; the ceiling covered 100 and 88.7 percent.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three tiers for selected reference plans in Albay at 2025 prices. The lean start quotation is 5 to 15 percent below standard, larger for buildings because finishes and MEPF carry more of the cost.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Under leave-one-out cross-validation, regression reached R-squared 0.8112 and MAPE 13.43 percent for buildings, and 0.8640 and 65.65 percent for bridges. XGBoost reached 0.7874 and 13.94 percent for buildings, and 0.8630 and 19.18 percent for bridges. For buildings, cost is close to linear in floor area; for bridges, XGBoost captures type interactions. Deck area was removed for multicollinearity (VIF 44.40).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buildings, gross floor area dominates, with mean absolute SHAP of 0.343 in log cost, far above storeys and location. For bridges the picture is broader: deck area, pile length, total length and foundation type all matter. SHAP shows every reviewer why the expected cost is what it 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Across all 300 projects, the BUHAY-AH Risk Index caught 34 of 36 padded contracts, recall 0.944, with the highest F1-score of 0.764 and AUC of 0.987. The Isolation Forest alone caught only 27.8 percent, because a padded ordinary building does not look unusual in its plan features. For buildings alone, the Risk Index reached an F1 of 0.927.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over-budget ratio separates padded from fair contracts: fair projects cluster at or below 1.0, while injected cases sit to the right of the review line. The overlap is small for buildings and larger for bridges, because hidden pile lengths make some fair bridges look expensive. The ROC curves show the risk index and standards rule dominate the Isolation Forest.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BUHAY-AH runs as an installable offline app with five screens: Home, Design, Quote, Check and Library. It is distributed as an Android package, an offline ZIP and a download website with a live budget-to-design demo.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conclusion.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Nine building variables and eleven bridge variables are enough to price plans. Schematic designs can be generated without a blueprint and pass space standards. The standards engine priced plans within 5 to 8 percent. Regression is enough for buildings; XGBoost is needed for bridges. The Risk Index caught 94.4 percent of padded contracts. BUHAY-AH was deployed as an app, an Android package and a website.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Validate on actual contracts; review the template library with licensed professionals; add geotechnical data for bridges; connect current price data; calibrate thresholds by asset class; extend plan import to IFC and scanned PDFs; extend to other project types; and pilot with oversight bodies.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follow APA 7th edition.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Thank you. BUHAY-AH shows that mathematics can stand between a budget and a padded price. I welcome your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BUHAY Title">
    <p:bg>
      <p:bgPr>
        <a:solidFill>
          <a:schemeClr val="tx2"/>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640080" y="822960"/>
            <a:ext cx="6949440" cy="365760"/>
          </a:xfrm>
          <a:prstGeom prst="rect">
            <a:avLst/>
          </a:prstGeom>
          <a:noFill/>
          <a:ln/>
        </p:spPr>
        <p:txBody>
          <a:bodyPr wrap="square" rtlCol="0"/>
          <a:lstStyle>
            <a:lvl1pPr indent="0" marL="0">
              <a:buNone/>
              <a:defRPr lang="en-US" sz="1400" b="1" spc="300" kern="0" dirty="0">
                <a:solidFill>
                  <a:schemeClr val="accent1"/>
                </a:solidFill>
              </a:defRPr>
            </a:lvl1pPr>
          </a:lstStyle>
          <a:p>
            <a:pPr indent="0" marL="0">
              <a:buNone/>
            </a:pPr>
            <a:endParaRPr lang="en-US" sz="1400" dirty="0"/>
          </a:p>
        </p:txBody>
      </p:sp>
      <p:sp>
        <p:nvSpPr>
          <p:cNvPr id="3" name="Text 0"/>
          <p:cNvSpPr/>
          <p:nvPr>
            <p:ph idx="101" type="title" hasCustomPrompt="1"/>
          </p:nvPr>
        </p:nvSpPr>
        <p:spPr>
          <a:xfrm>
            <a:off x="640080" y="1234440"/>
            <a:ext cx="6949440" cy="1188720"/>
          </a:xfrm>
          <a:prstGeom prst="rect">
            <a:avLst/>
          </a:prstGeom>
          <a:noFill/>
          <a:ln/>
        </p:spPr>
        <p:txBody>
          <a:bodyPr wrap="square" rtlCol="0"/>
          <a:lstStyle>
            <a:lvl1pPr algn="l" indent="0" marL="0">
              <a:buNone/>
              <a:defRPr lang="en-US" sz="6000" b="1" dirty="0">
                <a:solidFill>
                  <a:schemeClr val="bg1"/>
                </a:solidFill>
                <a:latin typeface="Cambria" pitchFamily="34" charset="0"/>
                <a:ea typeface="Cambria" pitchFamily="34" charset="-122"/>
                <a:cs typeface="Cambria" pitchFamily="34" charset="-120"/>
              </a:defRPr>
            </a:lvl1pPr>
          </a:lstStyle>
          <a:p>
            <a:pPr algn="l" indent="0" marL="0">
              <a:buNone/>
            </a:pPr>
            <a:endParaRPr lang="en-US" sz="6000" dirty="0"/>
          </a:p>
        </p:txBody>
      </p:sp>
      <p:sp>
        <p:nvSpPr>
          <p:cNvPr id="4" name="Text 0"/>
          <p:cNvSpPr/>
          <p:nvPr>
            <p:ph idx="102" type="body" hasCustomPrompt="1"/>
          </p:nvPr>
        </p:nvSpPr>
        <p:spPr>
          <a:xfrm>
            <a:off x="640080" y="2514600"/>
            <a:ext cx="6766560" cy="1920240"/>
          </a:xfrm>
          <a:prstGeom prst="rect">
            <a:avLst/>
          </a:prstGeom>
          <a:noFill/>
          <a:ln/>
        </p:spPr>
        <p:txBody>
          <a:bodyPr wrap="square" rtlCol="0"/>
          <a:lstStyle>
            <a:lvl1pPr indent="0" marL="0">
              <a:buNone/>
              <a:defRPr lang="en-US" sz="1700" dirty="0">
                <a:solidFill>
                  <a:schemeClr val="bg2"/>
                </a:solidFill>
              </a:defRPr>
            </a:lvl1pPr>
          </a:lstStyle>
          <a:p>
            <a:pPr indent="0" marL="0">
              <a:buNone/>
            </a:pPr>
            <a:endParaRPr lang="en-US" sz="1700" dirty="0"/>
          </a:p>
        </p:txBody>
      </p:sp>
      <p:sp>
        <p:nvSpPr>
          <p:cNvPr id="5" name="Text 0"/>
          <p:cNvSpPr/>
          <p:nvPr>
            <p:ph idx="103" type="body" hasCustomPrompt="1"/>
          </p:nvPr>
        </p:nvSpPr>
        <p:spPr>
          <a:xfrm>
            <a:off x="640080" y="4846320"/>
            <a:ext cx="6766560" cy="1097280"/>
          </a:xfrm>
          <a:prstGeom prst="rect">
            <a:avLst/>
          </a:prstGeom>
          <a:noFill/>
          <a:ln/>
        </p:spPr>
        <p:txBody>
          <a:bodyPr wrap="square" rtlCol="0"/>
          <a:lstStyle>
            <a:lvl1pPr indent="0" marL="0">
              <a:buNone/>
              <a:defRPr lang="en-US" sz="1600" dirty="0">
                <a:solidFill>
                  <a:schemeClr val="bg1"/>
                </a:solidFill>
              </a:defRPr>
            </a:lvl1pPr>
          </a:lstStyle>
          <a:p>
            <a:pPr indent="0" marL="0">
              <a:buNone/>
            </a:pPr>
            <a:endParaRPr lang="en-US" sz="16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BUHAY Section">
    <p:bg>
      <p:bgPr>
        <a:solidFill>
          <a:schemeClr val="tx2"/>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640080" y="1463040"/>
            <a:ext cx="3657600" cy="1188720"/>
          </a:xfrm>
          <a:prstGeom prst="rect">
            <a:avLst/>
          </a:prstGeom>
          <a:noFill/>
          <a:ln/>
        </p:spPr>
        <p:txBody>
          <a:bodyPr wrap="square" rtlCol="0"/>
          <a:lstStyle>
            <a:lvl1pPr indent="0" marL="0">
              <a:buNone/>
              <a:defRPr lang="en-US" sz="8000" b="1" dirty="0">
                <a:solidFill>
                  <a:schemeClr val="accent1"/>
                </a:solidFill>
                <a:latin typeface="Cambria" pitchFamily="34" charset="0"/>
                <a:ea typeface="Cambria" pitchFamily="34" charset="-122"/>
                <a:cs typeface="Cambria" pitchFamily="34" charset="-120"/>
              </a:defRPr>
            </a:lvl1pPr>
          </a:lstStyle>
          <a:p>
            <a:pPr indent="0" marL="0">
              <a:buNone/>
            </a:pPr>
            <a:endParaRPr lang="en-US" sz="8000" dirty="0"/>
          </a:p>
        </p:txBody>
      </p:sp>
      <p:sp>
        <p:nvSpPr>
          <p:cNvPr id="3" name="Text 0"/>
          <p:cNvSpPr/>
          <p:nvPr>
            <p:ph idx="101" type="title" hasCustomPrompt="1"/>
          </p:nvPr>
        </p:nvSpPr>
        <p:spPr>
          <a:xfrm>
            <a:off x="640080" y="2743200"/>
            <a:ext cx="10515600" cy="1005840"/>
          </a:xfrm>
          <a:prstGeom prst="rect">
            <a:avLst/>
          </a:prstGeom>
          <a:noFill/>
          <a:ln/>
        </p:spPr>
        <p:txBody>
          <a:bodyPr wrap="square" rtlCol="0"/>
          <a:lstStyle>
            <a:lvl1pPr algn="l" indent="0" marL="0">
              <a:buNone/>
              <a:defRPr lang="en-US" sz="4400" b="1" dirty="0">
                <a:solidFill>
                  <a:schemeClr val="bg1"/>
                </a:solidFill>
                <a:latin typeface="Cambria" pitchFamily="34" charset="0"/>
                <a:ea typeface="Cambria" pitchFamily="34" charset="-122"/>
                <a:cs typeface="Cambria" pitchFamily="34" charset="-120"/>
              </a:defRPr>
            </a:lvl1pPr>
          </a:lstStyle>
          <a:p>
            <a:pPr algn="l" indent="0" marL="0">
              <a:buNone/>
            </a:pPr>
            <a:endParaRPr lang="en-US" sz="4400" dirty="0"/>
          </a:p>
        </p:txBody>
      </p:sp>
      <p:sp>
        <p:nvSpPr>
          <p:cNvPr id="4" name="Text 0"/>
          <p:cNvSpPr/>
          <p:nvPr>
            <p:ph idx="102" type="body" hasCustomPrompt="1"/>
          </p:nvPr>
        </p:nvSpPr>
        <p:spPr>
          <a:xfrm>
            <a:off x="640080" y="3840480"/>
            <a:ext cx="9601200" cy="1097280"/>
          </a:xfrm>
          <a:prstGeom prst="rect">
            <a:avLst/>
          </a:prstGeom>
          <a:noFill/>
          <a:ln/>
        </p:spPr>
        <p:txBody>
          <a:bodyPr wrap="square" rtlCol="0"/>
          <a:lstStyle>
            <a:lvl1pPr indent="0" marL="0">
              <a:buNone/>
              <a:defRPr lang="en-US" sz="1800" dirty="0">
                <a:solidFill>
                  <a:schemeClr val="bg2"/>
                </a:solidFill>
              </a:defRPr>
            </a:lvl1pPr>
          </a:lstStyle>
          <a:p>
            <a:pPr indent="0" marL="0">
              <a:buNone/>
            </a:pPr>
            <a:endParaRPr lang="en-US" sz="1800"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BUHAY Content">
    <p:bg>
      <p:bgPr>
        <a:solidFill>
          <a:schemeClr val="bg1"/>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548640" y="256032"/>
            <a:ext cx="8229600" cy="292608"/>
          </a:xfrm>
          <a:prstGeom prst="rect">
            <a:avLst/>
          </a:prstGeom>
          <a:noFill/>
          <a:ln/>
        </p:spPr>
        <p:txBody>
          <a:bodyPr wrap="square" rtlCol="0"/>
          <a:lstStyle>
            <a:lvl1pPr indent="0" marL="0">
              <a:buNone/>
              <a:defRPr lang="en-US" sz="1200" b="1" spc="200" kern="0" dirty="0">
                <a:solidFill>
                  <a:schemeClr val="accent5"/>
                </a:solidFill>
              </a:defRPr>
            </a:lvl1pPr>
          </a:lstStyle>
          <a:p>
            <a:pPr indent="0" marL="0">
              <a:buNone/>
            </a:pPr>
            <a:endParaRPr lang="en-US" sz="1200" dirty="0"/>
          </a:p>
        </p:txBody>
      </p:sp>
      <p:sp>
        <p:nvSpPr>
          <p:cNvPr id="3" name="Text 0"/>
          <p:cNvSpPr/>
          <p:nvPr>
            <p:ph idx="101" type="title" hasCustomPrompt="1"/>
          </p:nvPr>
        </p:nvSpPr>
        <p:spPr>
          <a:xfrm>
            <a:off x="548640" y="530352"/>
            <a:ext cx="11064240" cy="731520"/>
          </a:xfrm>
          <a:prstGeom prst="rect">
            <a:avLst/>
          </a:prstGeom>
          <a:noFill/>
          <a:ln/>
        </p:spPr>
        <p:txBody>
          <a:bodyPr wrap="square" rtlCol="0"/>
          <a:lstStyle>
            <a:lvl1pPr algn="l" indent="0" marL="0">
              <a:buNone/>
              <a:defRPr lang="en-US" sz="3200" b="1" dirty="0">
                <a:solidFill>
                  <a:schemeClr val="tx2"/>
                </a:solidFill>
                <a:latin typeface="Cambria" pitchFamily="34" charset="0"/>
                <a:ea typeface="Cambria" pitchFamily="34" charset="-122"/>
                <a:cs typeface="Cambria" pitchFamily="34" charset="-120"/>
              </a:defRPr>
            </a:lvl1pPr>
          </a:lstStyle>
          <a:p>
            <a:pPr algn="l" indent="0" marL="0">
              <a:buNone/>
            </a:pPr>
            <a:endParaRPr lang="en-US" sz="3200" dirty="0"/>
          </a:p>
        </p:txBody>
      </p:sp>
      <p:sp>
        <p:nvSpPr>
          <p:cNvPr id="4" name="Text 0"/>
          <p:cNvSpPr/>
          <p:nvPr/>
        </p:nvSpPr>
        <p:spPr>
          <a:xfrm>
            <a:off x="548640" y="6428232"/>
            <a:ext cx="7315200" cy="274320"/>
          </a:xfrm>
          <a:prstGeom prst="rect">
            <a:avLst/>
          </a:prstGeom>
          <a:noFill/>
          <a:ln/>
        </p:spPr>
        <p:txBody>
          <a:bodyPr wrap="square" lIns="0" tIns="0" rIns="0" bIns="0" rtlCol="0" anchor="ctr"/>
          <a:lstStyle/>
          <a:p>
            <a:pPr indent="0" marL="0">
              <a:buNone/>
            </a:pPr>
            <a:r>
              <a:rPr lang="en-US" sz="1000" dirty="0">
                <a:solidFill>
                  <a:srgbClr val="6B7A8C"/>
                </a:solidFill>
              </a:rPr>
              <a:t>BUHAY-AH  ·  Enrique Miguel C. Buban, Lead Researcher</a:t>
            </a:r>
            <a:endParaRPr lang="en-US" sz="1000" dirty="0"/>
          </a:p>
        </p:txBody>
      </p:sp>
      <p:sp>
        <p:nvSpPr>
          <p:cNvPr id="25" name="Slide Number Placeholder 0"/>
          <p:cNvSpPr>
            <a:spLocks noGrp="1"/>
          </p:cNvSpPr>
          <p:nvPr>
            <p:ph type="sldNum" sz="quarter" idx="4294967295"/>
          </p:nvPr>
        </p:nvSpPr>
        <p:spPr>
          <a:xfrm>
            <a:off x="11064240" y="642823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A8C"/>
                </a:solidFill>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64240" y="642823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A8C"/>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slideLayout" Target="../slideLayouts/slideLayout2.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slideLayout" Target="../slideLayouts/slideLayout4.xml"/><Relationship Id="rId7"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4.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image" Target="../media/image-5-5.png"/><Relationship Id="rId6" Type="http://schemas.openxmlformats.org/officeDocument/2006/relationships/image" Target="../media/image-5-6.png"/><Relationship Id="rId7" Type="http://schemas.openxmlformats.org/officeDocument/2006/relationships/slideLayout" Target="../slideLayouts/slideLayout4.xml"/><Relationship Id="rId8"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slideLayout" Target="../slideLayouts/slideLayout4.xml"/><Relationship Id="rId7"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image" Target="../media/image-9-5.png"/><Relationship Id="rId6" Type="http://schemas.openxmlformats.org/officeDocument/2006/relationships/image" Target="../media/image-9-6.png"/><Relationship Id="rId7" Type="http://schemas.openxmlformats.org/officeDocument/2006/relationships/slideLayout" Target="../slideLayouts/slideLayout4.xml"/><Relationship Id="rId8"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slideLayout" Target="../slideLayouts/slideLayout4.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4.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4.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image" Target="../media/image-18-3.png"/><Relationship Id="rId4" Type="http://schemas.openxmlformats.org/officeDocument/2006/relationships/image" Target="../media/image-18-4.png"/><Relationship Id="rId5" Type="http://schemas.openxmlformats.org/officeDocument/2006/relationships/image" Target="../media/image-18-5.png"/><Relationship Id="rId6" Type="http://schemas.openxmlformats.org/officeDocument/2006/relationships/slideLayout" Target="../slideLayouts/slideLayout4.xml"/><Relationship Id="rId7"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4.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4.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image" Target="../media/image-21-3.png"/><Relationship Id="rId4" Type="http://schemas.openxmlformats.org/officeDocument/2006/relationships/image" Target="../media/image-21-4.png"/><Relationship Id="rId5" Type="http://schemas.openxmlformats.org/officeDocument/2006/relationships/slideLayout" Target="../slideLayouts/slideLayout4.xml"/><Relationship Id="rId6"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image" Target="../media/image-22-3.png"/><Relationship Id="rId4" Type="http://schemas.openxmlformats.org/officeDocument/2006/relationships/image" Target="../media/image-22-4.png"/><Relationship Id="rId5" Type="http://schemas.openxmlformats.org/officeDocument/2006/relationships/slideLayout" Target="../slideLayouts/slideLayout4.xml"/><Relationship Id="rId6"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4.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image" Target="../media/image-24-2.png"/><Relationship Id="rId3" Type="http://schemas.openxmlformats.org/officeDocument/2006/relationships/image" Target="../media/image-24-3.png"/><Relationship Id="rId4" Type="http://schemas.openxmlformats.org/officeDocument/2006/relationships/image" Target="../media/image-24-4.png"/><Relationship Id="rId5" Type="http://schemas.openxmlformats.org/officeDocument/2006/relationships/image" Target="../media/image-24-5.png"/><Relationship Id="rId6" Type="http://schemas.openxmlformats.org/officeDocument/2006/relationships/slideLayout" Target="../slideLayouts/slideLayout4.xml"/><Relationship Id="rId7"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image" Target="../media/image-25-2.png"/><Relationship Id="rId3" Type="http://schemas.openxmlformats.org/officeDocument/2006/relationships/image" Target="../media/image-25-3.png"/><Relationship Id="rId4" Type="http://schemas.openxmlformats.org/officeDocument/2006/relationships/slideLayout" Target="../slideLayouts/slideLayout4.xml"/><Relationship Id="rId5"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image" Target="../media/image-26-2.png"/><Relationship Id="rId3" Type="http://schemas.openxmlformats.org/officeDocument/2006/relationships/image" Target="../media/image-26-3.png"/><Relationship Id="rId4" Type="http://schemas.openxmlformats.org/officeDocument/2006/relationships/image" Target="../media/image-26-4.png"/><Relationship Id="rId5" Type="http://schemas.openxmlformats.org/officeDocument/2006/relationships/image" Target="../media/image-26-5.png"/><Relationship Id="rId6" Type="http://schemas.openxmlformats.org/officeDocument/2006/relationships/slideLayout" Target="../slideLayouts/slideLayout4.xml"/><Relationship Id="rId7"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image" Target="../media/image-27-2.png"/><Relationship Id="rId3" Type="http://schemas.openxmlformats.org/officeDocument/2006/relationships/image" Target="../media/image-27-3.png"/><Relationship Id="rId4" Type="http://schemas.openxmlformats.org/officeDocument/2006/relationships/image" Target="../media/image-27-4.png"/><Relationship Id="rId5" Type="http://schemas.openxmlformats.org/officeDocument/2006/relationships/image" Target="../media/image-27-5.png"/><Relationship Id="rId6" Type="http://schemas.openxmlformats.org/officeDocument/2006/relationships/slideLayout" Target="../slideLayouts/slideLayout4.xml"/><Relationship Id="rId7"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image" Target="../media/image-28-2.png"/><Relationship Id="rId3" Type="http://schemas.openxmlformats.org/officeDocument/2006/relationships/image" Target="../media/image-28-3.png"/><Relationship Id="rId4" Type="http://schemas.openxmlformats.org/officeDocument/2006/relationships/image" Target="../media/image-28-4.png"/><Relationship Id="rId5" Type="http://schemas.openxmlformats.org/officeDocument/2006/relationships/slideLayout" Target="../slideLayouts/slideLayout4.xml"/><Relationship Id="rId6"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chart" Target="/ppt/charts/chart2.xml"/><Relationship Id="rId3" Type="http://schemas.openxmlformats.org/officeDocument/2006/relationships/slideLayout" Target="../slideLayouts/slideLayout4.xml"/><Relationship Id="rId4"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4.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image" Target="../media/image-32-2.png"/><Relationship Id="rId3" Type="http://schemas.openxmlformats.org/officeDocument/2006/relationships/image" Target="../media/image-32-3.png"/><Relationship Id="rId4" Type="http://schemas.openxmlformats.org/officeDocument/2006/relationships/image" Target="../media/image-32-4.png"/><Relationship Id="rId5" Type="http://schemas.openxmlformats.org/officeDocument/2006/relationships/slideLayout" Target="../slideLayouts/slideLayout4.xml"/><Relationship Id="rId6"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4.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image" Target="../media/image-34-2.png"/><Relationship Id="rId3" Type="http://schemas.openxmlformats.org/officeDocument/2006/relationships/image" Target="../media/image-34-3.png"/><Relationship Id="rId4" Type="http://schemas.openxmlformats.org/officeDocument/2006/relationships/slideLayout" Target="../slideLayouts/slideLayout4.xml"/><Relationship Id="rId5"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slideLayout" Target="../slideLayouts/slideLayout4.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chart" Target="/ppt/charts/chart5.xml"/><Relationship Id="rId2" Type="http://schemas.openxmlformats.org/officeDocument/2006/relationships/slideLayout" Target="../slideLayouts/slideLayout4.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image" Target="../media/image-38-2.png"/><Relationship Id="rId3" Type="http://schemas.openxmlformats.org/officeDocument/2006/relationships/slideLayout" Target="../slideLayouts/slideLayout4.xml"/><Relationship Id="rId4"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chart" Target="/ppt/charts/chart6.xml"/><Relationship Id="rId2" Type="http://schemas.openxmlformats.org/officeDocument/2006/relationships/slideLayout" Target="../slideLayouts/slideLayout4.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image" Target="../media/image-40-2.png"/><Relationship Id="rId3" Type="http://schemas.openxmlformats.org/officeDocument/2006/relationships/slideLayout" Target="../slideLayouts/slideLayout4.xml"/><Relationship Id="rId4"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image" Target="../media/image-41-2.png"/><Relationship Id="rId3" Type="http://schemas.openxmlformats.org/officeDocument/2006/relationships/image" Target="../media/image-41-3.png"/><Relationship Id="rId4" Type="http://schemas.openxmlformats.org/officeDocument/2006/relationships/image" Target="../media/image-41-4.png"/><Relationship Id="rId5" Type="http://schemas.openxmlformats.org/officeDocument/2006/relationships/slideLayout" Target="../slideLayouts/slideLayout4.xml"/><Relationship Id="rId6"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image" Target="../media/image-43-2.png"/><Relationship Id="rId3" Type="http://schemas.openxmlformats.org/officeDocument/2006/relationships/image" Target="../media/image-43-3.png"/><Relationship Id="rId4" Type="http://schemas.openxmlformats.org/officeDocument/2006/relationships/image" Target="../media/image-43-4.png"/><Relationship Id="rId5" Type="http://schemas.openxmlformats.org/officeDocument/2006/relationships/image" Target="../media/image-43-5.png"/><Relationship Id="rId6" Type="http://schemas.openxmlformats.org/officeDocument/2006/relationships/image" Target="../media/image-43-6.png"/><Relationship Id="rId7" Type="http://schemas.openxmlformats.org/officeDocument/2006/relationships/slideLayout" Target="../slideLayouts/slideLayout4.xml"/><Relationship Id="rId8"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image" Target="../media/image-48-2.png"/><Relationship Id="rId3" Type="http://schemas.openxmlformats.org/officeDocument/2006/relationships/slideLayout" Target="../slideLayouts/slideLayout2.xml"/><Relationship Id="rId4" Type="http://schemas.openxmlformats.org/officeDocument/2006/relationships/notesSlide" Target="../notesSlides/notesSlide48.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body" hasCustomPrompt="1"/>
          </p:nvPr>
        </p:nvSpPr>
        <p:spPr>
          <a:xfrm>
            <a:off x="640080" y="822960"/>
            <a:ext cx="6949440" cy="365760"/>
          </a:xfrm>
          <a:prstGeom prst="rect">
            <a:avLst/>
          </a:prstGeom>
          <a:noFill/>
          <a:ln/>
        </p:spPr>
        <p:txBody>
          <a:bodyPr wrap="square" rtlCol="0"/>
          <a:lstStyle/>
          <a:p>
            <a:pPr indent="0" marL="0">
              <a:buNone/>
            </a:pPr>
            <a:r>
              <a:rPr lang="en-US" sz="1400" b="1" spc="300" kern="0" dirty="0">
                <a:solidFill>
                  <a:schemeClr val="accent1"/>
                </a:solidFill>
              </a:rPr>
              <a:t>PRACTICAL RESEARCH 2 · FULL RESEARCH</a:t>
            </a:r>
            <a:endParaRPr lang="en-US" sz="1400" dirty="0"/>
          </a:p>
        </p:txBody>
      </p:sp>
      <p:sp>
        <p:nvSpPr>
          <p:cNvPr id="3" name="Text 0"/>
          <p:cNvSpPr/>
          <p:nvPr>
            <p:ph idx="101" type="title" hasCustomPrompt="1"/>
          </p:nvPr>
        </p:nvSpPr>
        <p:spPr>
          <a:xfrm>
            <a:off x="640080" y="1234440"/>
            <a:ext cx="6949440" cy="1188720"/>
          </a:xfrm>
          <a:prstGeom prst="rect">
            <a:avLst/>
          </a:prstGeom>
          <a:noFill/>
          <a:ln/>
        </p:spPr>
        <p:txBody>
          <a:bodyPr wrap="square" rtlCol="0"/>
          <a:lstStyle/>
          <a:p>
            <a:pPr algn="l" indent="0" marL="0">
              <a:buNone/>
            </a:pPr>
            <a:r>
              <a:rPr lang="en-US" sz="6000" b="1" dirty="0">
                <a:solidFill>
                  <a:schemeClr val="bg1"/>
                </a:solidFill>
                <a:latin typeface="Cambria" pitchFamily="34" charset="0"/>
                <a:ea typeface="Cambria" pitchFamily="34" charset="-122"/>
                <a:cs typeface="Cambria" pitchFamily="34" charset="-120"/>
              </a:rPr>
              <a:t>BUHAY-AH</a:t>
            </a:r>
            <a:endParaRPr lang="en-US" sz="6000" dirty="0"/>
          </a:p>
        </p:txBody>
      </p:sp>
      <p:sp>
        <p:nvSpPr>
          <p:cNvPr id="4" name="Text 0"/>
          <p:cNvSpPr/>
          <p:nvPr>
            <p:ph idx="102" type="body" hasCustomPrompt="1"/>
          </p:nvPr>
        </p:nvSpPr>
        <p:spPr>
          <a:xfrm>
            <a:off x="640080" y="2514600"/>
            <a:ext cx="6766560" cy="1920240"/>
          </a:xfrm>
          <a:prstGeom prst="rect">
            <a:avLst/>
          </a:prstGeom>
          <a:noFill/>
          <a:ln/>
        </p:spPr>
        <p:txBody>
          <a:bodyPr wrap="square" rtlCol="0" anchor="t"/>
          <a:lstStyle/>
          <a:p>
            <a:pPr indent="0" marL="0">
              <a:buNone/>
            </a:pPr>
            <a:r>
              <a:rPr lang="en-US" sz="1700" dirty="0">
                <a:solidFill>
                  <a:schemeClr val="bg2"/>
                </a:solidFill>
              </a:rPr>
              <a:t>A Budget-to-Blueprint Design Generator, Standards-Based Quantity Take-Off, and Hybrid Machine Learning System for Start Quotations and Over-Budget Detection in Public Buildings and Bridges</a:t>
            </a:r>
            <a:endParaRPr lang="en-US" sz="1700" dirty="0"/>
          </a:p>
        </p:txBody>
      </p:sp>
      <p:sp>
        <p:nvSpPr>
          <p:cNvPr id="5" name="Text 0"/>
          <p:cNvSpPr/>
          <p:nvPr>
            <p:ph idx="103" type="body" hasCustomPrompt="1"/>
          </p:nvPr>
        </p:nvSpPr>
        <p:spPr>
          <a:xfrm>
            <a:off x="640080" y="4846320"/>
            <a:ext cx="6766560" cy="1097280"/>
          </a:xfrm>
          <a:prstGeom prst="rect">
            <a:avLst/>
          </a:prstGeom>
          <a:noFill/>
          <a:ln/>
        </p:spPr>
        <p:txBody>
          <a:bodyPr wrap="square" rtlCol="0" anchor="t"/>
          <a:lstStyle/>
          <a:p>
            <a:pPr indent="0" marL="0">
              <a:buNone/>
            </a:pPr>
            <a:r>
              <a:rPr lang="en-US" sz="1600" b="1" dirty="0">
                <a:solidFill>
                  <a:schemeClr val="bg1"/>
                </a:solidFill>
              </a:rPr>
              <a:t>Enrique Miguel C. Buban</a:t>
            </a:r>
            <a:endParaRPr lang="en-US" sz="1600" dirty="0"/>
          </a:p>
          <a:p>
            <a:pPr indent="0" marL="0">
              <a:buNone/>
            </a:pPr>
            <a:r>
              <a:rPr lang="en-US" sz="1600" dirty="0">
                <a:solidFill>
                  <a:schemeClr val="bg1"/>
                </a:solidFill>
              </a:rPr>
              <a:t>Lead Researcher</a:t>
            </a:r>
            <a:endParaRPr lang="en-US" sz="1600" dirty="0"/>
          </a:p>
          <a:p>
            <a:pPr indent="0" marL="0">
              <a:buNone/>
            </a:pPr>
            <a:r>
              <a:rPr lang="en-US" sz="1600" dirty="0">
                <a:solidFill>
                  <a:schemeClr val="accent1"/>
                </a:solidFill>
              </a:rPr>
              <a:t>Mathematical and Computational Sciences · 2026</a:t>
            </a:r>
            <a:endParaRPr lang="en-US" sz="1600" dirty="0"/>
          </a:p>
        </p:txBody>
      </p:sp>
      <p:sp>
        <p:nvSpPr>
          <p:cNvPr id="6" name="hero frame"/>
          <p:cNvSpPr/>
          <p:nvPr/>
        </p:nvSpPr>
        <p:spPr>
          <a:xfrm>
            <a:off x="8001000" y="822960"/>
            <a:ext cx="3657600" cy="5212080"/>
          </a:xfrm>
          <a:prstGeom prst="roundRect">
            <a:avLst>
              <a:gd name="adj" fmla="val 3000"/>
            </a:avLst>
          </a:prstGeom>
          <a:solidFill>
            <a:schemeClr val="bg1"/>
          </a:solidFill>
          <a:ln/>
        </p:spPr>
      </p:sp>
      <p:pic>
        <p:nvPicPr>
          <p:cNvPr id="7" name="viz_building.png" descr="3D model of a generated 2-storey school building">    </p:cNvPr>
          <p:cNvPicPr>
            <a:picLocks noChangeAspect="1"/>
          </p:cNvPicPr>
          <p:nvPr/>
        </p:nvPicPr>
        <p:blipFill>
          <a:blip r:embed="rId1"/>
          <a:stretch>
            <a:fillRect/>
          </a:stretch>
        </p:blipFill>
        <p:spPr>
          <a:xfrm>
            <a:off x="8276225" y="960120"/>
            <a:ext cx="3107149" cy="2377440"/>
          </a:xfrm>
          <a:prstGeom prst="rect">
            <a:avLst/>
          </a:prstGeom>
        </p:spPr>
      </p:pic>
      <p:pic>
        <p:nvPicPr>
          <p:cNvPr id="8" name="viz_bridge_rcdg.png" descr="3D model of a three-span RCDG bridge">    </p:cNvPr>
          <p:cNvPicPr>
            <a:picLocks noChangeAspect="1"/>
          </p:cNvPicPr>
          <p:nvPr/>
        </p:nvPicPr>
        <p:blipFill>
          <a:blip r:embed="rId2"/>
          <a:stretch>
            <a:fillRect/>
          </a:stretch>
        </p:blipFill>
        <p:spPr>
          <a:xfrm>
            <a:off x="8216472" y="3429000"/>
            <a:ext cx="3226655" cy="246888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body" hasCustomPrompt="1"/>
          </p:nvPr>
        </p:nvSpPr>
        <p:spPr>
          <a:xfrm>
            <a:off x="548640" y="256032"/>
            <a:ext cx="8229600" cy="292608"/>
          </a:xfrm>
          <a:prstGeom prst="rect">
            <a:avLst/>
          </a:prstGeom>
          <a:noFill/>
          <a:ln/>
        </p:spPr>
        <p:txBody>
          <a:bodyPr wrap="square" lIns="0" tIns="0" rIns="0" bIns="0" rtlCol="0"/>
          <a:lstStyle/>
          <a:p>
            <a:pPr indent="0" marL="0">
              <a:buNone/>
            </a:pPr>
            <a:r>
              <a:rPr lang="en-US" sz="1200" b="1" spc="200" kern="0" dirty="0">
                <a:solidFill>
                  <a:schemeClr val="accent5"/>
                </a:solidFill>
              </a:rPr>
              <a:t>OVERVIEW</a:t>
            </a:r>
            <a:endParaRPr lang="en-US" sz="1200" dirty="0"/>
          </a:p>
        </p:txBody>
      </p:sp>
      <p:sp>
        <p:nvSpPr>
          <p:cNvPr id="3" name="Text 0"/>
          <p:cNvSpPr/>
          <p:nvPr>
            <p:ph idx="101" type="title" hasCustomPrompt="1"/>
          </p:nvPr>
        </p:nvSpPr>
        <p:spPr>
          <a:xfrm>
            <a:off x="548640" y="530352"/>
            <a:ext cx="11064240" cy="731520"/>
          </a:xfrm>
          <a:prstGeom prst="rect">
            <a:avLst/>
          </a:prstGeom>
          <a:noFill/>
          <a:ln/>
        </p:spPr>
        <p:txBody>
          <a:bodyPr wrap="square" lIns="0" tIns="0" rIns="0" bIns="0" rtlCol="0" anchor="ctr"/>
          <a:lstStyle/>
          <a:p>
            <a:pPr algn="l" indent="0" marL="0">
              <a:buNone/>
            </a:pPr>
            <a:r>
              <a:rPr lang="en-US" sz="3200" b="1" dirty="0">
                <a:solidFill>
                  <a:schemeClr val="tx2"/>
                </a:solidFill>
                <a:latin typeface="Cambria" pitchFamily="34" charset="0"/>
                <a:ea typeface="Cambria" pitchFamily="34" charset="-122"/>
                <a:cs typeface="Cambria" pitchFamily="34" charset="-120"/>
              </a:rPr>
              <a:t>Presentation Outline</a:t>
            </a:r>
            <a:endParaRPr lang="en-US" sz="3200" dirty="0"/>
          </a:p>
        </p:txBody>
      </p:sp>
      <p:sp>
        <p:nvSpPr>
          <p:cNvPr id="5" name="outline card"/>
          <p:cNvSpPr/>
          <p:nvPr/>
        </p:nvSpPr>
        <p:spPr>
          <a:xfrm>
            <a:off x="548640" y="1600200"/>
            <a:ext cx="1998878" cy="4480560"/>
          </a:xfrm>
          <a:prstGeom prst="roundRect">
            <a:avLst>
              <a:gd name="adj" fmla="val 3660"/>
            </a:avLst>
          </a:prstGeom>
          <a:solidFill>
            <a:schemeClr val="bg2"/>
          </a:solidFill>
          <a:ln/>
        </p:spPr>
      </p:sp>
      <p:sp>
        <p:nvSpPr>
          <p:cNvPr id="6" name="icon circle"/>
          <p:cNvSpPr/>
          <p:nvPr/>
        </p:nvSpPr>
        <p:spPr>
          <a:xfrm>
            <a:off x="868680" y="1920240"/>
            <a:ext cx="777240" cy="777240"/>
          </a:xfrm>
          <a:prstGeom prst="ellipse">
            <a:avLst/>
          </a:prstGeom>
          <a:solidFill>
            <a:schemeClr val="tx2"/>
          </a:solidFill>
          <a:ln/>
        </p:spPr>
      </p:sp>
      <p:pic>
        <p:nvPicPr>
          <p:cNvPr id="7" name="icon FaBookOpen" descr="BookOpen icon">    </p:cNvPr>
          <p:cNvPicPr>
            <a:picLocks noChangeAspect="1"/>
          </p:cNvPicPr>
          <p:nvPr/>
        </p:nvPicPr>
        <p:blipFill>
          <a:blip r:embed="rId1"/>
          <a:stretch>
            <a:fillRect/>
          </a:stretch>
        </p:blipFill>
        <p:spPr>
          <a:xfrm>
            <a:off x="1055218" y="2106778"/>
            <a:ext cx="404165" cy="404165"/>
          </a:xfrm>
          <a:prstGeom prst="rect">
            <a:avLst/>
          </a:prstGeom>
        </p:spPr>
      </p:pic>
      <p:sp>
        <p:nvSpPr>
          <p:cNvPr id="8" name="Text 4"/>
          <p:cNvSpPr txBox="1"/>
          <p:nvPr/>
        </p:nvSpPr>
        <p:spPr>
          <a:xfrm>
            <a:off x="1495958" y="1828800"/>
            <a:ext cx="777240" cy="914400"/>
          </a:xfrm>
          <a:prstGeom prst="rect">
            <a:avLst/>
          </a:prstGeom>
          <a:noFill/>
          <a:ln/>
        </p:spPr>
        <p:txBody>
          <a:bodyPr wrap="square" lIns="0" tIns="0" rIns="0" bIns="0" rtlCol="0" anchor="t"/>
          <a:lstStyle/>
          <a:p>
            <a:pPr algn="r" indent="0" marL="0">
              <a:buNone/>
            </a:pPr>
            <a:r>
              <a:rPr lang="en-US" sz="4400" b="1" dirty="0">
                <a:solidFill>
                  <a:schemeClr val="accent1"/>
                </a:solidFill>
                <a:latin typeface="Cambria" pitchFamily="34" charset="0"/>
                <a:ea typeface="Cambria" pitchFamily="34" charset="-122"/>
                <a:cs typeface="Cambria" pitchFamily="34" charset="-120"/>
              </a:rPr>
              <a:t>I</a:t>
            </a:r>
            <a:endParaRPr lang="en-US" sz="4400" dirty="0"/>
          </a:p>
        </p:txBody>
      </p:sp>
      <p:sp>
        <p:nvSpPr>
          <p:cNvPr id="9" name="Text 5"/>
          <p:cNvSpPr txBox="1"/>
          <p:nvPr/>
        </p:nvSpPr>
        <p:spPr>
          <a:xfrm>
            <a:off x="868680" y="2971800"/>
            <a:ext cx="1541678" cy="822960"/>
          </a:xfrm>
          <a:prstGeom prst="rect">
            <a:avLst/>
          </a:prstGeom>
          <a:noFill/>
          <a:ln/>
        </p:spPr>
        <p:txBody>
          <a:bodyPr wrap="square" lIns="0" tIns="0" rIns="0" bIns="0" rtlCol="0" anchor="t"/>
          <a:lstStyle/>
          <a:p>
            <a:pPr indent="0" marL="0">
              <a:buNone/>
            </a:pPr>
            <a:r>
              <a:rPr lang="en-US" sz="1800" b="1" dirty="0">
                <a:solidFill>
                  <a:schemeClr val="tx2"/>
                </a:solidFill>
                <a:latin typeface="Cambria" pitchFamily="34" charset="0"/>
                <a:ea typeface="Cambria" pitchFamily="34" charset="-122"/>
                <a:cs typeface="Cambria" pitchFamily="34" charset="-120"/>
              </a:rPr>
              <a:t>Introduction</a:t>
            </a:r>
            <a:endParaRPr lang="en-US" sz="1800" dirty="0"/>
          </a:p>
        </p:txBody>
      </p:sp>
      <p:sp>
        <p:nvSpPr>
          <p:cNvPr id="10" name="Text 6"/>
          <p:cNvSpPr txBox="1"/>
          <p:nvPr/>
        </p:nvSpPr>
        <p:spPr>
          <a:xfrm>
            <a:off x="868680" y="3840480"/>
            <a:ext cx="1450238" cy="2011680"/>
          </a:xfrm>
          <a:prstGeom prst="rect">
            <a:avLst/>
          </a:prstGeom>
          <a:noFill/>
          <a:ln/>
        </p:spPr>
        <p:txBody>
          <a:bodyPr wrap="square" lIns="0" tIns="0" rIns="0" bIns="0" rtlCol="0" anchor="t"/>
          <a:lstStyle/>
          <a:p>
            <a:pPr indent="0" marL="0">
              <a:buNone/>
            </a:pPr>
            <a:r>
              <a:rPr lang="en-US" sz="1500" dirty="0">
                <a:solidFill>
                  <a:schemeClr val="tx1"/>
                </a:solidFill>
              </a:rPr>
              <a:t>Background, gaps, objectives, significance, scope, terms</a:t>
            </a:r>
            <a:endParaRPr lang="en-US" sz="1500" dirty="0"/>
          </a:p>
        </p:txBody>
      </p:sp>
      <p:sp>
        <p:nvSpPr>
          <p:cNvPr id="11" name="outline card"/>
          <p:cNvSpPr/>
          <p:nvPr/>
        </p:nvSpPr>
        <p:spPr>
          <a:xfrm>
            <a:off x="2821838" y="1600200"/>
            <a:ext cx="1998878" cy="4480560"/>
          </a:xfrm>
          <a:prstGeom prst="roundRect">
            <a:avLst>
              <a:gd name="adj" fmla="val 3660"/>
            </a:avLst>
          </a:prstGeom>
          <a:solidFill>
            <a:schemeClr val="bg2"/>
          </a:solidFill>
          <a:ln/>
        </p:spPr>
      </p:sp>
      <p:sp>
        <p:nvSpPr>
          <p:cNvPr id="12" name="icon circle"/>
          <p:cNvSpPr/>
          <p:nvPr/>
        </p:nvSpPr>
        <p:spPr>
          <a:xfrm>
            <a:off x="3141878" y="1920240"/>
            <a:ext cx="777240" cy="777240"/>
          </a:xfrm>
          <a:prstGeom prst="ellipse">
            <a:avLst/>
          </a:prstGeom>
          <a:solidFill>
            <a:schemeClr val="tx2"/>
          </a:solidFill>
          <a:ln/>
        </p:spPr>
      </p:sp>
      <p:pic>
        <p:nvPicPr>
          <p:cNvPr id="13" name="icon FaSitemap" descr="Sitemap icon">    </p:cNvPr>
          <p:cNvPicPr>
            <a:picLocks noChangeAspect="1"/>
          </p:cNvPicPr>
          <p:nvPr/>
        </p:nvPicPr>
        <p:blipFill>
          <a:blip r:embed="rId2"/>
          <a:stretch>
            <a:fillRect/>
          </a:stretch>
        </p:blipFill>
        <p:spPr>
          <a:xfrm>
            <a:off x="3328416" y="2106778"/>
            <a:ext cx="404165" cy="404165"/>
          </a:xfrm>
          <a:prstGeom prst="rect">
            <a:avLst/>
          </a:prstGeom>
        </p:spPr>
      </p:pic>
      <p:sp>
        <p:nvSpPr>
          <p:cNvPr id="14" name="Text 9"/>
          <p:cNvSpPr txBox="1"/>
          <p:nvPr/>
        </p:nvSpPr>
        <p:spPr>
          <a:xfrm>
            <a:off x="3769157" y="1828800"/>
            <a:ext cx="777240" cy="914400"/>
          </a:xfrm>
          <a:prstGeom prst="rect">
            <a:avLst/>
          </a:prstGeom>
          <a:noFill/>
          <a:ln/>
        </p:spPr>
        <p:txBody>
          <a:bodyPr wrap="square" lIns="0" tIns="0" rIns="0" bIns="0" rtlCol="0" anchor="t"/>
          <a:lstStyle/>
          <a:p>
            <a:pPr algn="r" indent="0" marL="0">
              <a:buNone/>
            </a:pPr>
            <a:r>
              <a:rPr lang="en-US" sz="4400" b="1" dirty="0">
                <a:solidFill>
                  <a:schemeClr val="accent1"/>
                </a:solidFill>
                <a:latin typeface="Cambria" pitchFamily="34" charset="0"/>
                <a:ea typeface="Cambria" pitchFamily="34" charset="-122"/>
                <a:cs typeface="Cambria" pitchFamily="34" charset="-120"/>
              </a:rPr>
              <a:t>F</a:t>
            </a:r>
            <a:endParaRPr lang="en-US" sz="4400" dirty="0"/>
          </a:p>
        </p:txBody>
      </p:sp>
      <p:sp>
        <p:nvSpPr>
          <p:cNvPr id="15" name="Text 10"/>
          <p:cNvSpPr txBox="1"/>
          <p:nvPr/>
        </p:nvSpPr>
        <p:spPr>
          <a:xfrm>
            <a:off x="3141878" y="2971800"/>
            <a:ext cx="1541678" cy="822960"/>
          </a:xfrm>
          <a:prstGeom prst="rect">
            <a:avLst/>
          </a:prstGeom>
          <a:noFill/>
          <a:ln/>
        </p:spPr>
        <p:txBody>
          <a:bodyPr wrap="square" lIns="0" tIns="0" rIns="0" bIns="0" rtlCol="0" anchor="t"/>
          <a:lstStyle/>
          <a:p>
            <a:pPr indent="0" marL="0">
              <a:buNone/>
            </a:pPr>
            <a:r>
              <a:rPr lang="en-US" sz="1800" b="1" dirty="0">
                <a:solidFill>
                  <a:schemeClr val="tx2"/>
                </a:solidFill>
                <a:latin typeface="Cambria" pitchFamily="34" charset="0"/>
                <a:ea typeface="Cambria" pitchFamily="34" charset="-122"/>
                <a:cs typeface="Cambria" pitchFamily="34" charset="-120"/>
              </a:rPr>
              <a:t>Framework</a:t>
            </a:r>
            <a:endParaRPr lang="en-US" sz="1800" dirty="0"/>
          </a:p>
        </p:txBody>
      </p:sp>
      <p:sp>
        <p:nvSpPr>
          <p:cNvPr id="16" name="Text 11"/>
          <p:cNvSpPr txBox="1"/>
          <p:nvPr/>
        </p:nvSpPr>
        <p:spPr>
          <a:xfrm>
            <a:off x="3141878" y="3840480"/>
            <a:ext cx="1450238" cy="2011680"/>
          </a:xfrm>
          <a:prstGeom prst="rect">
            <a:avLst/>
          </a:prstGeom>
          <a:noFill/>
          <a:ln/>
        </p:spPr>
        <p:txBody>
          <a:bodyPr wrap="square" lIns="0" tIns="0" rIns="0" bIns="0" rtlCol="0" anchor="t"/>
          <a:lstStyle/>
          <a:p>
            <a:pPr indent="0" marL="0">
              <a:buNone/>
            </a:pPr>
            <a:r>
              <a:rPr lang="en-US" sz="1500" dirty="0">
                <a:solidFill>
                  <a:schemeClr val="tx1"/>
                </a:solidFill>
              </a:rPr>
              <a:t>Literature, theoretical and conceptual frameworks</a:t>
            </a:r>
            <a:endParaRPr lang="en-US" sz="1500" dirty="0"/>
          </a:p>
        </p:txBody>
      </p:sp>
      <p:sp>
        <p:nvSpPr>
          <p:cNvPr id="17" name="outline card"/>
          <p:cNvSpPr/>
          <p:nvPr/>
        </p:nvSpPr>
        <p:spPr>
          <a:xfrm>
            <a:off x="5095037" y="1600200"/>
            <a:ext cx="1998878" cy="4480560"/>
          </a:xfrm>
          <a:prstGeom prst="roundRect">
            <a:avLst>
              <a:gd name="adj" fmla="val 3660"/>
            </a:avLst>
          </a:prstGeom>
          <a:solidFill>
            <a:schemeClr val="bg2"/>
          </a:solidFill>
          <a:ln/>
        </p:spPr>
      </p:sp>
      <p:sp>
        <p:nvSpPr>
          <p:cNvPr id="18" name="icon circle"/>
          <p:cNvSpPr/>
          <p:nvPr/>
        </p:nvSpPr>
        <p:spPr>
          <a:xfrm>
            <a:off x="5415077" y="1920240"/>
            <a:ext cx="777240" cy="777240"/>
          </a:xfrm>
          <a:prstGeom prst="ellipse">
            <a:avLst/>
          </a:prstGeom>
          <a:solidFill>
            <a:schemeClr val="tx2"/>
          </a:solidFill>
          <a:ln/>
        </p:spPr>
      </p:sp>
      <p:pic>
        <p:nvPicPr>
          <p:cNvPr id="19" name="icon FaGears" descr="Gears icon">    </p:cNvPr>
          <p:cNvPicPr>
            <a:picLocks noChangeAspect="1"/>
          </p:cNvPicPr>
          <p:nvPr/>
        </p:nvPicPr>
        <p:blipFill>
          <a:blip r:embed="rId3"/>
          <a:stretch>
            <a:fillRect/>
          </a:stretch>
        </p:blipFill>
        <p:spPr>
          <a:xfrm>
            <a:off x="5601614" y="2106778"/>
            <a:ext cx="404165" cy="404165"/>
          </a:xfrm>
          <a:prstGeom prst="rect">
            <a:avLst/>
          </a:prstGeom>
        </p:spPr>
      </p:pic>
      <p:sp>
        <p:nvSpPr>
          <p:cNvPr id="20" name="Text 14"/>
          <p:cNvSpPr txBox="1"/>
          <p:nvPr/>
        </p:nvSpPr>
        <p:spPr>
          <a:xfrm>
            <a:off x="6042355" y="1828800"/>
            <a:ext cx="777240" cy="914400"/>
          </a:xfrm>
          <a:prstGeom prst="rect">
            <a:avLst/>
          </a:prstGeom>
          <a:noFill/>
          <a:ln/>
        </p:spPr>
        <p:txBody>
          <a:bodyPr wrap="square" lIns="0" tIns="0" rIns="0" bIns="0" rtlCol="0" anchor="t"/>
          <a:lstStyle/>
          <a:p>
            <a:pPr algn="r" indent="0" marL="0">
              <a:buNone/>
            </a:pPr>
            <a:r>
              <a:rPr lang="en-US" sz="4400" b="1" dirty="0">
                <a:solidFill>
                  <a:schemeClr val="accent1"/>
                </a:solidFill>
                <a:latin typeface="Cambria" pitchFamily="34" charset="0"/>
                <a:ea typeface="Cambria" pitchFamily="34" charset="-122"/>
                <a:cs typeface="Cambria" pitchFamily="34" charset="-120"/>
              </a:rPr>
              <a:t>M</a:t>
            </a:r>
            <a:endParaRPr lang="en-US" sz="4400" dirty="0"/>
          </a:p>
        </p:txBody>
      </p:sp>
      <p:sp>
        <p:nvSpPr>
          <p:cNvPr id="21" name="Text 15"/>
          <p:cNvSpPr txBox="1"/>
          <p:nvPr/>
        </p:nvSpPr>
        <p:spPr>
          <a:xfrm>
            <a:off x="5415077" y="2971800"/>
            <a:ext cx="1541678" cy="822960"/>
          </a:xfrm>
          <a:prstGeom prst="rect">
            <a:avLst/>
          </a:prstGeom>
          <a:noFill/>
          <a:ln/>
        </p:spPr>
        <p:txBody>
          <a:bodyPr wrap="square" lIns="0" tIns="0" rIns="0" bIns="0" rtlCol="0" anchor="t"/>
          <a:lstStyle/>
          <a:p>
            <a:pPr indent="0" marL="0">
              <a:buNone/>
            </a:pPr>
            <a:r>
              <a:rPr lang="en-US" sz="1800" b="1" dirty="0">
                <a:solidFill>
                  <a:schemeClr val="tx2"/>
                </a:solidFill>
                <a:latin typeface="Cambria" pitchFamily="34" charset="0"/>
                <a:ea typeface="Cambria" pitchFamily="34" charset="-122"/>
                <a:cs typeface="Cambria" pitchFamily="34" charset="-120"/>
              </a:rPr>
              <a:t>Methods</a:t>
            </a:r>
            <a:endParaRPr lang="en-US" sz="1800" dirty="0"/>
          </a:p>
        </p:txBody>
      </p:sp>
      <p:sp>
        <p:nvSpPr>
          <p:cNvPr id="22" name="Text 16"/>
          <p:cNvSpPr txBox="1"/>
          <p:nvPr/>
        </p:nvSpPr>
        <p:spPr>
          <a:xfrm>
            <a:off x="5415077" y="3840480"/>
            <a:ext cx="1450238" cy="2011680"/>
          </a:xfrm>
          <a:prstGeom prst="rect">
            <a:avLst/>
          </a:prstGeom>
          <a:noFill/>
          <a:ln/>
        </p:spPr>
        <p:txBody>
          <a:bodyPr wrap="square" lIns="0" tIns="0" rIns="0" bIns="0" rtlCol="0" anchor="t"/>
          <a:lstStyle/>
          <a:p>
            <a:pPr indent="0" marL="0">
              <a:buNone/>
            </a:pPr>
            <a:r>
              <a:rPr lang="en-US" sz="1500" dirty="0">
                <a:solidFill>
                  <a:schemeClr val="tx1"/>
                </a:solidFill>
              </a:rPr>
              <a:t>Design, data, models, validation, app</a:t>
            </a:r>
            <a:endParaRPr lang="en-US" sz="1500" dirty="0"/>
          </a:p>
        </p:txBody>
      </p:sp>
      <p:sp>
        <p:nvSpPr>
          <p:cNvPr id="23" name="outline card"/>
          <p:cNvSpPr/>
          <p:nvPr/>
        </p:nvSpPr>
        <p:spPr>
          <a:xfrm>
            <a:off x="7368235" y="1600200"/>
            <a:ext cx="1998878" cy="4480560"/>
          </a:xfrm>
          <a:prstGeom prst="roundRect">
            <a:avLst>
              <a:gd name="adj" fmla="val 3660"/>
            </a:avLst>
          </a:prstGeom>
          <a:solidFill>
            <a:schemeClr val="bg2"/>
          </a:solidFill>
          <a:ln/>
        </p:spPr>
      </p:sp>
      <p:sp>
        <p:nvSpPr>
          <p:cNvPr id="24" name="icon circle"/>
          <p:cNvSpPr/>
          <p:nvPr/>
        </p:nvSpPr>
        <p:spPr>
          <a:xfrm>
            <a:off x="7688275" y="1920240"/>
            <a:ext cx="777240" cy="777240"/>
          </a:xfrm>
          <a:prstGeom prst="ellipse">
            <a:avLst/>
          </a:prstGeom>
          <a:solidFill>
            <a:schemeClr val="tx2"/>
          </a:solidFill>
          <a:ln/>
        </p:spPr>
      </p:sp>
      <p:pic>
        <p:nvPicPr>
          <p:cNvPr id="25" name="icon FaChartColumn" descr="ChartColumn icon">    </p:cNvPr>
          <p:cNvPicPr>
            <a:picLocks noChangeAspect="1"/>
          </p:cNvPicPr>
          <p:nvPr/>
        </p:nvPicPr>
        <p:blipFill>
          <a:blip r:embed="rId4"/>
          <a:stretch>
            <a:fillRect/>
          </a:stretch>
        </p:blipFill>
        <p:spPr>
          <a:xfrm>
            <a:off x="7874813" y="2106778"/>
            <a:ext cx="404165" cy="404165"/>
          </a:xfrm>
          <a:prstGeom prst="rect">
            <a:avLst/>
          </a:prstGeom>
        </p:spPr>
      </p:pic>
      <p:sp>
        <p:nvSpPr>
          <p:cNvPr id="26" name="Text 19"/>
          <p:cNvSpPr txBox="1"/>
          <p:nvPr/>
        </p:nvSpPr>
        <p:spPr>
          <a:xfrm>
            <a:off x="8315554" y="1828800"/>
            <a:ext cx="777240" cy="914400"/>
          </a:xfrm>
          <a:prstGeom prst="rect">
            <a:avLst/>
          </a:prstGeom>
          <a:noFill/>
          <a:ln/>
        </p:spPr>
        <p:txBody>
          <a:bodyPr wrap="square" lIns="0" tIns="0" rIns="0" bIns="0" rtlCol="0" anchor="t"/>
          <a:lstStyle/>
          <a:p>
            <a:pPr algn="r" indent="0" marL="0">
              <a:buNone/>
            </a:pPr>
            <a:r>
              <a:rPr lang="en-US" sz="4400" b="1" dirty="0">
                <a:solidFill>
                  <a:schemeClr val="accent1"/>
                </a:solidFill>
                <a:latin typeface="Cambria" pitchFamily="34" charset="0"/>
                <a:ea typeface="Cambria" pitchFamily="34" charset="-122"/>
                <a:cs typeface="Cambria" pitchFamily="34" charset="-120"/>
              </a:rPr>
              <a:t>R</a:t>
            </a:r>
            <a:endParaRPr lang="en-US" sz="4400" dirty="0"/>
          </a:p>
        </p:txBody>
      </p:sp>
      <p:sp>
        <p:nvSpPr>
          <p:cNvPr id="27" name="Text 20"/>
          <p:cNvSpPr txBox="1"/>
          <p:nvPr/>
        </p:nvSpPr>
        <p:spPr>
          <a:xfrm>
            <a:off x="7688275" y="2971800"/>
            <a:ext cx="1541678" cy="822960"/>
          </a:xfrm>
          <a:prstGeom prst="rect">
            <a:avLst/>
          </a:prstGeom>
          <a:noFill/>
          <a:ln/>
        </p:spPr>
        <p:txBody>
          <a:bodyPr wrap="square" lIns="0" tIns="0" rIns="0" bIns="0" rtlCol="0" anchor="t"/>
          <a:lstStyle/>
          <a:p>
            <a:pPr indent="0" marL="0">
              <a:buNone/>
            </a:pPr>
            <a:r>
              <a:rPr lang="en-US" sz="1800" b="1" dirty="0">
                <a:solidFill>
                  <a:schemeClr val="tx2"/>
                </a:solidFill>
                <a:latin typeface="Cambria" pitchFamily="34" charset="0"/>
                <a:ea typeface="Cambria" pitchFamily="34" charset="-122"/>
                <a:cs typeface="Cambria" pitchFamily="34" charset="-120"/>
              </a:rPr>
              <a:t>Results</a:t>
            </a:r>
            <a:endParaRPr lang="en-US" sz="1800" dirty="0"/>
          </a:p>
        </p:txBody>
      </p:sp>
      <p:sp>
        <p:nvSpPr>
          <p:cNvPr id="28" name="Text 21"/>
          <p:cNvSpPr txBox="1"/>
          <p:nvPr/>
        </p:nvSpPr>
        <p:spPr>
          <a:xfrm>
            <a:off x="7688275" y="3840480"/>
            <a:ext cx="1450238" cy="2011680"/>
          </a:xfrm>
          <a:prstGeom prst="rect">
            <a:avLst/>
          </a:prstGeom>
          <a:noFill/>
          <a:ln/>
        </p:spPr>
        <p:txBody>
          <a:bodyPr wrap="square" lIns="0" tIns="0" rIns="0" bIns="0" rtlCol="0" anchor="t"/>
          <a:lstStyle/>
          <a:p>
            <a:pPr indent="0" marL="0">
              <a:buNone/>
            </a:pPr>
            <a:r>
              <a:rPr lang="en-US" sz="1500" dirty="0">
                <a:solidFill>
                  <a:schemeClr val="tx1"/>
                </a:solidFill>
              </a:rPr>
              <a:t>Results and discussion of the six research questions</a:t>
            </a:r>
            <a:endParaRPr lang="en-US" sz="1500" dirty="0"/>
          </a:p>
        </p:txBody>
      </p:sp>
      <p:sp>
        <p:nvSpPr>
          <p:cNvPr id="29" name="outline card"/>
          <p:cNvSpPr/>
          <p:nvPr/>
        </p:nvSpPr>
        <p:spPr>
          <a:xfrm>
            <a:off x="9641434" y="1600200"/>
            <a:ext cx="1998878" cy="4480560"/>
          </a:xfrm>
          <a:prstGeom prst="roundRect">
            <a:avLst>
              <a:gd name="adj" fmla="val 3660"/>
            </a:avLst>
          </a:prstGeom>
          <a:solidFill>
            <a:schemeClr val="bg2"/>
          </a:solidFill>
          <a:ln/>
        </p:spPr>
      </p:sp>
      <p:sp>
        <p:nvSpPr>
          <p:cNvPr id="30" name="icon circle"/>
          <p:cNvSpPr/>
          <p:nvPr/>
        </p:nvSpPr>
        <p:spPr>
          <a:xfrm>
            <a:off x="9961474" y="1920240"/>
            <a:ext cx="777240" cy="777240"/>
          </a:xfrm>
          <a:prstGeom prst="ellipse">
            <a:avLst/>
          </a:prstGeom>
          <a:solidFill>
            <a:schemeClr val="tx2"/>
          </a:solidFill>
          <a:ln/>
        </p:spPr>
      </p:sp>
      <p:pic>
        <p:nvPicPr>
          <p:cNvPr id="31" name="icon FaFlagCheckered" descr="FlagCheckered icon">    </p:cNvPr>
          <p:cNvPicPr>
            <a:picLocks noChangeAspect="1"/>
          </p:cNvPicPr>
          <p:nvPr/>
        </p:nvPicPr>
        <p:blipFill>
          <a:blip r:embed="rId5"/>
          <a:stretch>
            <a:fillRect/>
          </a:stretch>
        </p:blipFill>
        <p:spPr>
          <a:xfrm>
            <a:off x="10148011" y="2106778"/>
            <a:ext cx="404165" cy="404165"/>
          </a:xfrm>
          <a:prstGeom prst="rect">
            <a:avLst/>
          </a:prstGeom>
        </p:spPr>
      </p:pic>
      <p:sp>
        <p:nvSpPr>
          <p:cNvPr id="32" name="Text 24"/>
          <p:cNvSpPr txBox="1"/>
          <p:nvPr/>
        </p:nvSpPr>
        <p:spPr>
          <a:xfrm>
            <a:off x="10588752" y="1828800"/>
            <a:ext cx="777240" cy="914400"/>
          </a:xfrm>
          <a:prstGeom prst="rect">
            <a:avLst/>
          </a:prstGeom>
          <a:noFill/>
          <a:ln/>
        </p:spPr>
        <p:txBody>
          <a:bodyPr wrap="square" lIns="0" tIns="0" rIns="0" bIns="0" rtlCol="0" anchor="t"/>
          <a:lstStyle/>
          <a:p>
            <a:pPr algn="r" indent="0" marL="0">
              <a:buNone/>
            </a:pPr>
            <a:r>
              <a:rPr lang="en-US" sz="4400" b="1" dirty="0">
                <a:solidFill>
                  <a:schemeClr val="accent1"/>
                </a:solidFill>
                <a:latin typeface="Cambria" pitchFamily="34" charset="0"/>
                <a:ea typeface="Cambria" pitchFamily="34" charset="-122"/>
                <a:cs typeface="Cambria" pitchFamily="34" charset="-120"/>
              </a:rPr>
              <a:t>C</a:t>
            </a:r>
            <a:endParaRPr lang="en-US" sz="4400" dirty="0"/>
          </a:p>
        </p:txBody>
      </p:sp>
      <p:sp>
        <p:nvSpPr>
          <p:cNvPr id="33" name="Text 25"/>
          <p:cNvSpPr txBox="1"/>
          <p:nvPr/>
        </p:nvSpPr>
        <p:spPr>
          <a:xfrm>
            <a:off x="9961474" y="2971800"/>
            <a:ext cx="1541678" cy="822960"/>
          </a:xfrm>
          <a:prstGeom prst="rect">
            <a:avLst/>
          </a:prstGeom>
          <a:noFill/>
          <a:ln/>
        </p:spPr>
        <p:txBody>
          <a:bodyPr wrap="square" lIns="0" tIns="0" rIns="0" bIns="0" rtlCol="0" anchor="t"/>
          <a:lstStyle/>
          <a:p>
            <a:pPr indent="0" marL="0">
              <a:buNone/>
            </a:pPr>
            <a:r>
              <a:rPr lang="en-US" sz="1800" b="1" dirty="0">
                <a:solidFill>
                  <a:schemeClr val="tx2"/>
                </a:solidFill>
                <a:latin typeface="Cambria" pitchFamily="34" charset="0"/>
                <a:ea typeface="Cambria" pitchFamily="34" charset="-122"/>
                <a:cs typeface="Cambria" pitchFamily="34" charset="-120"/>
              </a:rPr>
              <a:t>Conclusion</a:t>
            </a:r>
            <a:endParaRPr lang="en-US" sz="1800" dirty="0"/>
          </a:p>
        </p:txBody>
      </p:sp>
      <p:sp>
        <p:nvSpPr>
          <p:cNvPr id="34" name="Text 26"/>
          <p:cNvSpPr txBox="1"/>
          <p:nvPr/>
        </p:nvSpPr>
        <p:spPr>
          <a:xfrm>
            <a:off x="9961474" y="3840480"/>
            <a:ext cx="1450238" cy="2011680"/>
          </a:xfrm>
          <a:prstGeom prst="rect">
            <a:avLst/>
          </a:prstGeom>
          <a:noFill/>
          <a:ln/>
        </p:spPr>
        <p:txBody>
          <a:bodyPr wrap="square" lIns="0" tIns="0" rIns="0" bIns="0" rtlCol="0" anchor="t"/>
          <a:lstStyle/>
          <a:p>
            <a:pPr indent="0" marL="0">
              <a:buNone/>
            </a:pPr>
            <a:r>
              <a:rPr lang="en-US" sz="1500" dirty="0">
                <a:solidFill>
                  <a:schemeClr val="tx1"/>
                </a:solidFill>
              </a:rPr>
              <a:t>Conclusions, recommendations and references</a:t>
            </a:r>
            <a:endParaRPr lang="en-US" sz="1500" dirty="0"/>
          </a:p>
        </p:txBody>
      </p:sp>
      <p:sp>
        <p:nvSpPr>
          <p:cNvPr id="25" name="Slide Number Placeholder 0"/>
          <p:cNvSpPr>
            <a:spLocks noGrp="1"/>
          </p:cNvSpPr>
          <p:nvPr>
            <p:ph type="sldNum" sz="quarter" idx="4294967295"/>
          </p:nvPr>
        </p:nvSpPr>
        <p:spPr>
          <a:xfrm>
            <a:off x="11064240" y="642823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A8C"/>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body" hasCustomPrompt="1"/>
          </p:nvPr>
        </p:nvSpPr>
        <p:spPr>
          <a:xfrm>
            <a:off x="640080" y="1463040"/>
            <a:ext cx="3657600" cy="1188720"/>
          </a:xfrm>
          <a:prstGeom prst="rect">
            <a:avLst/>
          </a:prstGeom>
          <a:noFill/>
          <a:ln/>
        </p:spPr>
        <p:txBody>
          <a:bodyPr wrap="square" rtlCol="0"/>
          <a:lstStyle/>
          <a:p>
            <a:pPr indent="0" marL="0">
              <a:buNone/>
            </a:pPr>
            <a:r>
              <a:rPr lang="en-US" sz="8000" b="1" dirty="0">
                <a:solidFill>
                  <a:schemeClr val="accent1"/>
                </a:solidFill>
                <a:latin typeface="Cambria" pitchFamily="34" charset="0"/>
                <a:ea typeface="Cambria" pitchFamily="34" charset="-122"/>
                <a:cs typeface="Cambria" pitchFamily="34" charset="-120"/>
              </a:rPr>
              <a:t>01</a:t>
            </a:r>
            <a:endParaRPr lang="en-US" sz="8000" dirty="0"/>
          </a:p>
        </p:txBody>
      </p:sp>
      <p:sp>
        <p:nvSpPr>
          <p:cNvPr id="3" name="Text 0"/>
          <p:cNvSpPr/>
          <p:nvPr>
            <p:ph idx="101" type="title" hasCustomPrompt="1"/>
          </p:nvPr>
        </p:nvSpPr>
        <p:spPr>
          <a:xfrm>
            <a:off x="640080" y="2743200"/>
            <a:ext cx="10515600" cy="1005840"/>
          </a:xfrm>
          <a:prstGeom prst="rect">
            <a:avLst/>
          </a:prstGeom>
          <a:noFill/>
          <a:ln/>
        </p:spPr>
        <p:txBody>
          <a:bodyPr wrap="square" rtlCol="0"/>
          <a:lstStyle/>
          <a:p>
            <a:pPr algn="l" indent="0" marL="0">
              <a:buNone/>
            </a:pPr>
            <a:r>
              <a:rPr lang="en-US" sz="4400" b="1" dirty="0">
                <a:solidFill>
                  <a:schemeClr val="bg1"/>
                </a:solidFill>
                <a:latin typeface="Cambria" pitchFamily="34" charset="0"/>
                <a:ea typeface="Cambria" pitchFamily="34" charset="-122"/>
                <a:cs typeface="Cambria" pitchFamily="34" charset="-120"/>
              </a:rPr>
              <a:t>Introduction</a:t>
            </a:r>
            <a:endParaRPr lang="en-US" sz="4400" dirty="0"/>
          </a:p>
        </p:txBody>
      </p:sp>
      <p:sp>
        <p:nvSpPr>
          <p:cNvPr id="4" name="Text 0"/>
          <p:cNvSpPr/>
          <p:nvPr>
            <p:ph idx="102" type="body" hasCustomPrompt="1"/>
          </p:nvPr>
        </p:nvSpPr>
        <p:spPr>
          <a:xfrm>
            <a:off x="640080" y="3840480"/>
            <a:ext cx="9601200" cy="1097280"/>
          </a:xfrm>
          <a:prstGeom prst="rect">
            <a:avLst/>
          </a:prstGeom>
          <a:noFill/>
          <a:ln/>
        </p:spPr>
        <p:txBody>
          <a:bodyPr wrap="square" rtlCol="0" anchor="t"/>
          <a:lstStyle/>
          <a:p>
            <a:pPr indent="0" marL="0">
              <a:buNone/>
            </a:pPr>
            <a:r>
              <a:rPr lang="en-US" sz="1800" dirty="0">
                <a:solidFill>
                  <a:schemeClr val="bg2"/>
                </a:solidFill>
              </a:rPr>
              <a:t>Background of the study, research gap and rationale, objective, significance, scope and delimitation, definition of terms</a:t>
            </a:r>
            <a:endParaRPr lang="en-US" sz="1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body" hasCustomPrompt="1"/>
          </p:nvPr>
        </p:nvSpPr>
        <p:spPr>
          <a:xfrm>
            <a:off x="548640" y="256032"/>
            <a:ext cx="8229600" cy="292608"/>
          </a:xfrm>
          <a:prstGeom prst="rect">
            <a:avLst/>
          </a:prstGeom>
          <a:noFill/>
          <a:ln/>
        </p:spPr>
        <p:txBody>
          <a:bodyPr wrap="square" lIns="0" tIns="0" rIns="0" bIns="0" rtlCol="0"/>
          <a:lstStyle/>
          <a:p>
            <a:pPr indent="0" marL="0">
              <a:buNone/>
            </a:pPr>
            <a:r>
              <a:rPr lang="en-US" sz="1200" b="1" spc="200" kern="0" dirty="0">
                <a:solidFill>
                  <a:schemeClr val="accent5"/>
                </a:solidFill>
              </a:rPr>
              <a:t>BACKGROUND OF THE STUDY</a:t>
            </a:r>
            <a:endParaRPr lang="en-US" sz="1200" dirty="0"/>
          </a:p>
        </p:txBody>
      </p:sp>
      <p:sp>
        <p:nvSpPr>
          <p:cNvPr id="3" name="Text 0"/>
          <p:cNvSpPr/>
          <p:nvPr>
            <p:ph idx="101" type="title" hasCustomPrompt="1"/>
          </p:nvPr>
        </p:nvSpPr>
        <p:spPr>
          <a:xfrm>
            <a:off x="548640" y="530352"/>
            <a:ext cx="11064240" cy="731520"/>
          </a:xfrm>
          <a:prstGeom prst="rect">
            <a:avLst/>
          </a:prstGeom>
          <a:noFill/>
          <a:ln/>
        </p:spPr>
        <p:txBody>
          <a:bodyPr wrap="square" lIns="0" tIns="0" rIns="0" bIns="0" rtlCol="0" anchor="ctr"/>
          <a:lstStyle/>
          <a:p>
            <a:pPr algn="l" indent="0" marL="0">
              <a:buNone/>
            </a:pPr>
            <a:r>
              <a:rPr lang="en-US" sz="3200" b="1" dirty="0">
                <a:solidFill>
                  <a:schemeClr val="tx2"/>
                </a:solidFill>
                <a:latin typeface="Cambria" pitchFamily="34" charset="0"/>
                <a:ea typeface="Cambria" pitchFamily="34" charset="-122"/>
                <a:cs typeface="Cambria" pitchFamily="34" charset="-120"/>
              </a:rPr>
              <a:t>Corruption Hides in the Price</a:t>
            </a:r>
            <a:endParaRPr lang="en-US" sz="3200" dirty="0"/>
          </a:p>
        </p:txBody>
      </p:sp>
      <p:sp>
        <p:nvSpPr>
          <p:cNvPr id="5" name="card"/>
          <p:cNvSpPr/>
          <p:nvPr/>
        </p:nvSpPr>
        <p:spPr>
          <a:xfrm>
            <a:off x="548640" y="1600200"/>
            <a:ext cx="2606040" cy="3291840"/>
          </a:xfrm>
          <a:prstGeom prst="roundRect">
            <a:avLst>
              <a:gd name="adj" fmla="val 2807"/>
            </a:avLst>
          </a:prstGeom>
          <a:solidFill>
            <a:schemeClr val="bg2"/>
          </a:solidFill>
          <a:ln/>
        </p:spPr>
      </p:sp>
      <p:sp>
        <p:nvSpPr>
          <p:cNvPr id="6" name="Text 3"/>
          <p:cNvSpPr txBox="1"/>
          <p:nvPr/>
        </p:nvSpPr>
        <p:spPr>
          <a:xfrm>
            <a:off x="777240" y="1828800"/>
            <a:ext cx="2194560" cy="822960"/>
          </a:xfrm>
          <a:prstGeom prst="rect">
            <a:avLst/>
          </a:prstGeom>
          <a:noFill/>
          <a:ln/>
        </p:spPr>
        <p:txBody>
          <a:bodyPr wrap="square" lIns="0" tIns="0" rIns="0" bIns="0" rtlCol="0" anchor="t"/>
          <a:lstStyle/>
          <a:p>
            <a:pPr indent="0" marL="0">
              <a:buNone/>
            </a:pPr>
            <a:r>
              <a:rPr lang="en-US" sz="3600" b="1" dirty="0">
                <a:solidFill>
                  <a:schemeClr val="tx2"/>
                </a:solidFill>
                <a:latin typeface="Cambria" pitchFamily="34" charset="0"/>
                <a:ea typeface="Cambria" pitchFamily="34" charset="-122"/>
                <a:cs typeface="Cambria" pitchFamily="34" charset="-120"/>
              </a:rPr>
              <a:t>10–30%</a:t>
            </a:r>
            <a:endParaRPr lang="en-US" sz="3600" dirty="0"/>
          </a:p>
        </p:txBody>
      </p:sp>
      <p:sp>
        <p:nvSpPr>
          <p:cNvPr id="7" name="Text 4"/>
          <p:cNvSpPr txBox="1"/>
          <p:nvPr/>
        </p:nvSpPr>
        <p:spPr>
          <a:xfrm>
            <a:off x="777240" y="2697480"/>
            <a:ext cx="2194560" cy="1645920"/>
          </a:xfrm>
          <a:prstGeom prst="rect">
            <a:avLst/>
          </a:prstGeom>
          <a:noFill/>
          <a:ln/>
        </p:spPr>
        <p:txBody>
          <a:bodyPr wrap="square" lIns="0" tIns="0" rIns="0" bIns="0" rtlCol="0" anchor="t"/>
          <a:lstStyle/>
          <a:p>
            <a:pPr indent="0" marL="0">
              <a:buNone/>
            </a:pPr>
            <a:r>
              <a:rPr lang="en-US" sz="1400" dirty="0">
                <a:solidFill>
                  <a:schemeClr val="tx1"/>
                </a:solidFill>
              </a:rPr>
              <a:t>of public infrastructure investment lost to corruption, mismanagement and inefficiency</a:t>
            </a:r>
            <a:endParaRPr lang="en-US" sz="1400" dirty="0"/>
          </a:p>
        </p:txBody>
      </p:sp>
      <p:sp>
        <p:nvSpPr>
          <p:cNvPr id="8" name="Text 5"/>
          <p:cNvSpPr txBox="1"/>
          <p:nvPr/>
        </p:nvSpPr>
        <p:spPr>
          <a:xfrm>
            <a:off x="777240" y="4389120"/>
            <a:ext cx="2194560" cy="365760"/>
          </a:xfrm>
          <a:prstGeom prst="rect">
            <a:avLst/>
          </a:prstGeom>
          <a:noFill/>
          <a:ln/>
        </p:spPr>
        <p:txBody>
          <a:bodyPr wrap="square" lIns="0" tIns="0" rIns="0" bIns="0" rtlCol="0" anchor="t"/>
          <a:lstStyle/>
          <a:p>
            <a:pPr indent="0" marL="0">
              <a:buNone/>
            </a:pPr>
            <a:r>
              <a:rPr lang="en-US" sz="1100" i="1" dirty="0">
                <a:solidFill>
                  <a:srgbClr val="6B7A8C"/>
                </a:solidFill>
              </a:rPr>
              <a:t>CoST, n.d.</a:t>
            </a:r>
            <a:endParaRPr lang="en-US" sz="1100" dirty="0"/>
          </a:p>
        </p:txBody>
      </p:sp>
      <p:sp>
        <p:nvSpPr>
          <p:cNvPr id="9" name="card"/>
          <p:cNvSpPr/>
          <p:nvPr/>
        </p:nvSpPr>
        <p:spPr>
          <a:xfrm>
            <a:off x="3383280" y="1600200"/>
            <a:ext cx="2606040" cy="3291840"/>
          </a:xfrm>
          <a:prstGeom prst="roundRect">
            <a:avLst>
              <a:gd name="adj" fmla="val 2807"/>
            </a:avLst>
          </a:prstGeom>
          <a:solidFill>
            <a:schemeClr val="bg2"/>
          </a:solidFill>
          <a:ln/>
        </p:spPr>
      </p:sp>
      <p:sp>
        <p:nvSpPr>
          <p:cNvPr id="10" name="Text 7"/>
          <p:cNvSpPr txBox="1"/>
          <p:nvPr/>
        </p:nvSpPr>
        <p:spPr>
          <a:xfrm>
            <a:off x="3611880" y="1828800"/>
            <a:ext cx="2194560" cy="822960"/>
          </a:xfrm>
          <a:prstGeom prst="rect">
            <a:avLst/>
          </a:prstGeom>
          <a:noFill/>
          <a:ln/>
        </p:spPr>
        <p:txBody>
          <a:bodyPr wrap="square" lIns="0" tIns="0" rIns="0" bIns="0" rtlCol="0" anchor="t"/>
          <a:lstStyle/>
          <a:p>
            <a:pPr indent="0" marL="0">
              <a:buNone/>
            </a:pPr>
            <a:r>
              <a:rPr lang="en-US" sz="3600" b="1" dirty="0">
                <a:solidFill>
                  <a:schemeClr val="tx2"/>
                </a:solidFill>
                <a:latin typeface="Cambria" pitchFamily="34" charset="0"/>
                <a:ea typeface="Cambria" pitchFamily="34" charset="-122"/>
                <a:cs typeface="Cambria" pitchFamily="34" charset="-120"/>
              </a:rPr>
              <a:t>32 / 100</a:t>
            </a:r>
            <a:endParaRPr lang="en-US" sz="3600" dirty="0"/>
          </a:p>
        </p:txBody>
      </p:sp>
      <p:sp>
        <p:nvSpPr>
          <p:cNvPr id="11" name="Text 8"/>
          <p:cNvSpPr txBox="1"/>
          <p:nvPr/>
        </p:nvSpPr>
        <p:spPr>
          <a:xfrm>
            <a:off x="3611880" y="2697480"/>
            <a:ext cx="2194560" cy="1645920"/>
          </a:xfrm>
          <a:prstGeom prst="rect">
            <a:avLst/>
          </a:prstGeom>
          <a:noFill/>
          <a:ln/>
        </p:spPr>
        <p:txBody>
          <a:bodyPr wrap="square" lIns="0" tIns="0" rIns="0" bIns="0" rtlCol="0" anchor="t"/>
          <a:lstStyle/>
          <a:p>
            <a:pPr indent="0" marL="0">
              <a:buNone/>
            </a:pPr>
            <a:r>
              <a:rPr lang="en-US" sz="1400" dirty="0">
                <a:solidFill>
                  <a:schemeClr val="tx1"/>
                </a:solidFill>
              </a:rPr>
              <a:t>Philippine score in the 2025 Corruption Perceptions Index; 120th of 182</a:t>
            </a:r>
            <a:endParaRPr lang="en-US" sz="1400" dirty="0"/>
          </a:p>
        </p:txBody>
      </p:sp>
      <p:sp>
        <p:nvSpPr>
          <p:cNvPr id="12" name="Text 9"/>
          <p:cNvSpPr txBox="1"/>
          <p:nvPr/>
        </p:nvSpPr>
        <p:spPr>
          <a:xfrm>
            <a:off x="3611880" y="4389120"/>
            <a:ext cx="2194560" cy="365760"/>
          </a:xfrm>
          <a:prstGeom prst="rect">
            <a:avLst/>
          </a:prstGeom>
          <a:noFill/>
          <a:ln/>
        </p:spPr>
        <p:txBody>
          <a:bodyPr wrap="square" lIns="0" tIns="0" rIns="0" bIns="0" rtlCol="0" anchor="t"/>
          <a:lstStyle/>
          <a:p>
            <a:pPr indent="0" marL="0">
              <a:buNone/>
            </a:pPr>
            <a:r>
              <a:rPr lang="en-US" sz="1100" i="1" dirty="0">
                <a:solidFill>
                  <a:srgbClr val="6B7A8C"/>
                </a:solidFill>
              </a:rPr>
              <a:t>Transparency International, 2026</a:t>
            </a:r>
            <a:endParaRPr lang="en-US" sz="1100" dirty="0"/>
          </a:p>
        </p:txBody>
      </p:sp>
      <p:sp>
        <p:nvSpPr>
          <p:cNvPr id="13" name="card"/>
          <p:cNvSpPr/>
          <p:nvPr/>
        </p:nvSpPr>
        <p:spPr>
          <a:xfrm>
            <a:off x="6217920" y="1600200"/>
            <a:ext cx="2606040" cy="3291840"/>
          </a:xfrm>
          <a:prstGeom prst="roundRect">
            <a:avLst>
              <a:gd name="adj" fmla="val 2807"/>
            </a:avLst>
          </a:prstGeom>
          <a:solidFill>
            <a:schemeClr val="bg2"/>
          </a:solidFill>
          <a:ln/>
        </p:spPr>
      </p:sp>
      <p:sp>
        <p:nvSpPr>
          <p:cNvPr id="14" name="Text 11"/>
          <p:cNvSpPr txBox="1"/>
          <p:nvPr/>
        </p:nvSpPr>
        <p:spPr>
          <a:xfrm>
            <a:off x="6446520" y="1828800"/>
            <a:ext cx="2194560" cy="822960"/>
          </a:xfrm>
          <a:prstGeom prst="rect">
            <a:avLst/>
          </a:prstGeom>
          <a:noFill/>
          <a:ln/>
        </p:spPr>
        <p:txBody>
          <a:bodyPr wrap="square" lIns="0" tIns="0" rIns="0" bIns="0" rtlCol="0" anchor="t"/>
          <a:lstStyle/>
          <a:p>
            <a:pPr indent="0" marL="0">
              <a:buNone/>
            </a:pPr>
            <a:r>
              <a:rPr lang="en-US" sz="3600" b="1" dirty="0">
                <a:solidFill>
                  <a:schemeClr val="tx2"/>
                </a:solidFill>
                <a:latin typeface="Cambria" pitchFamily="34" charset="0"/>
                <a:ea typeface="Cambria" pitchFamily="34" charset="-122"/>
                <a:cs typeface="Cambria" pitchFamily="34" charset="-120"/>
              </a:rPr>
              <a:t>₱545.64B</a:t>
            </a:r>
            <a:endParaRPr lang="en-US" sz="3600" dirty="0"/>
          </a:p>
        </p:txBody>
      </p:sp>
      <p:sp>
        <p:nvSpPr>
          <p:cNvPr id="15" name="Text 12"/>
          <p:cNvSpPr txBox="1"/>
          <p:nvPr/>
        </p:nvSpPr>
        <p:spPr>
          <a:xfrm>
            <a:off x="6446520" y="2697480"/>
            <a:ext cx="2194560" cy="1645920"/>
          </a:xfrm>
          <a:prstGeom prst="rect">
            <a:avLst/>
          </a:prstGeom>
          <a:noFill/>
          <a:ln/>
        </p:spPr>
        <p:txBody>
          <a:bodyPr wrap="square" lIns="0" tIns="0" rIns="0" bIns="0" rtlCol="0" anchor="t"/>
          <a:lstStyle/>
          <a:p>
            <a:pPr indent="0" marL="0">
              <a:buNone/>
            </a:pPr>
            <a:r>
              <a:rPr lang="en-US" sz="1400" dirty="0">
                <a:solidFill>
                  <a:schemeClr val="tx1"/>
                </a:solidFill>
              </a:rPr>
              <a:t>flood-control projects, July 2022 – May 2025; about 20% went to 15 contractors</a:t>
            </a:r>
            <a:endParaRPr lang="en-US" sz="1400" dirty="0"/>
          </a:p>
        </p:txBody>
      </p:sp>
      <p:sp>
        <p:nvSpPr>
          <p:cNvPr id="16" name="Text 13"/>
          <p:cNvSpPr txBox="1"/>
          <p:nvPr/>
        </p:nvSpPr>
        <p:spPr>
          <a:xfrm>
            <a:off x="6446520" y="4389120"/>
            <a:ext cx="2194560" cy="365760"/>
          </a:xfrm>
          <a:prstGeom prst="rect">
            <a:avLst/>
          </a:prstGeom>
          <a:noFill/>
          <a:ln/>
        </p:spPr>
        <p:txBody>
          <a:bodyPr wrap="square" lIns="0" tIns="0" rIns="0" bIns="0" rtlCol="0" anchor="t"/>
          <a:lstStyle/>
          <a:p>
            <a:pPr indent="0" marL="0">
              <a:buNone/>
            </a:pPr>
            <a:r>
              <a:rPr lang="en-US" sz="1100" i="1" dirty="0">
                <a:solidFill>
                  <a:srgbClr val="6B7A8C"/>
                </a:solidFill>
              </a:rPr>
              <a:t>DZRH News, 2025; PCIJ, 2025</a:t>
            </a:r>
            <a:endParaRPr lang="en-US" sz="1100" dirty="0"/>
          </a:p>
        </p:txBody>
      </p:sp>
      <p:sp>
        <p:nvSpPr>
          <p:cNvPr id="17" name="card"/>
          <p:cNvSpPr/>
          <p:nvPr/>
        </p:nvSpPr>
        <p:spPr>
          <a:xfrm>
            <a:off x="9052560" y="1600200"/>
            <a:ext cx="2606040" cy="3291840"/>
          </a:xfrm>
          <a:prstGeom prst="roundRect">
            <a:avLst>
              <a:gd name="adj" fmla="val 2807"/>
            </a:avLst>
          </a:prstGeom>
          <a:solidFill>
            <a:schemeClr val="bg2"/>
          </a:solidFill>
          <a:ln/>
        </p:spPr>
      </p:sp>
      <p:sp>
        <p:nvSpPr>
          <p:cNvPr id="18" name="Text 15"/>
          <p:cNvSpPr txBox="1"/>
          <p:nvPr/>
        </p:nvSpPr>
        <p:spPr>
          <a:xfrm>
            <a:off x="9281160" y="1828800"/>
            <a:ext cx="2194560" cy="822960"/>
          </a:xfrm>
          <a:prstGeom prst="rect">
            <a:avLst/>
          </a:prstGeom>
          <a:noFill/>
          <a:ln/>
        </p:spPr>
        <p:txBody>
          <a:bodyPr wrap="square" lIns="0" tIns="0" rIns="0" bIns="0" rtlCol="0" anchor="t"/>
          <a:lstStyle/>
          <a:p>
            <a:pPr indent="0" marL="0">
              <a:buNone/>
            </a:pPr>
            <a:r>
              <a:rPr lang="en-US" sz="3600" b="1" dirty="0">
                <a:solidFill>
                  <a:schemeClr val="accent2"/>
                </a:solidFill>
                <a:latin typeface="Cambria" pitchFamily="34" charset="0"/>
                <a:ea typeface="Cambria" pitchFamily="34" charset="-122"/>
                <a:cs typeface="Cambria" pitchFamily="34" charset="-120"/>
              </a:rPr>
              <a:t>₱62.64M</a:t>
            </a:r>
            <a:endParaRPr lang="en-US" sz="3600" dirty="0"/>
          </a:p>
        </p:txBody>
      </p:sp>
      <p:sp>
        <p:nvSpPr>
          <p:cNvPr id="19" name="Text 16"/>
          <p:cNvSpPr txBox="1"/>
          <p:nvPr/>
        </p:nvSpPr>
        <p:spPr>
          <a:xfrm>
            <a:off x="9281160" y="2697480"/>
            <a:ext cx="2194560" cy="1645920"/>
          </a:xfrm>
          <a:prstGeom prst="rect">
            <a:avLst/>
          </a:prstGeom>
          <a:noFill/>
          <a:ln/>
        </p:spPr>
        <p:txBody>
          <a:bodyPr wrap="square" lIns="0" tIns="0" rIns="0" bIns="0" rtlCol="0" anchor="t"/>
          <a:lstStyle/>
          <a:p>
            <a:pPr indent="0" marL="0">
              <a:buNone/>
            </a:pPr>
            <a:r>
              <a:rPr lang="en-US" sz="1400" dirty="0">
                <a:solidFill>
                  <a:schemeClr val="tx1"/>
                </a:solidFill>
              </a:rPr>
              <a:t>overstatement found by COA in the Cebu City Medical Center building</a:t>
            </a:r>
            <a:endParaRPr lang="en-US" sz="1400" dirty="0"/>
          </a:p>
        </p:txBody>
      </p:sp>
      <p:sp>
        <p:nvSpPr>
          <p:cNvPr id="20" name="Text 17"/>
          <p:cNvSpPr txBox="1"/>
          <p:nvPr/>
        </p:nvSpPr>
        <p:spPr>
          <a:xfrm>
            <a:off x="9281160" y="4389120"/>
            <a:ext cx="2194560" cy="365760"/>
          </a:xfrm>
          <a:prstGeom prst="rect">
            <a:avLst/>
          </a:prstGeom>
          <a:noFill/>
          <a:ln/>
        </p:spPr>
        <p:txBody>
          <a:bodyPr wrap="square" lIns="0" tIns="0" rIns="0" bIns="0" rtlCol="0" anchor="t"/>
          <a:lstStyle/>
          <a:p>
            <a:pPr indent="0" marL="0">
              <a:buNone/>
            </a:pPr>
            <a:r>
              <a:rPr lang="en-US" sz="1100" i="1" dirty="0">
                <a:solidFill>
                  <a:srgbClr val="6B7A8C"/>
                </a:solidFill>
              </a:rPr>
              <a:t>Cebu Daily News, 2023</a:t>
            </a:r>
            <a:endParaRPr lang="en-US" sz="1100" dirty="0"/>
          </a:p>
        </p:txBody>
      </p:sp>
      <p:sp>
        <p:nvSpPr>
          <p:cNvPr id="21" name="icon circle"/>
          <p:cNvSpPr/>
          <p:nvPr/>
        </p:nvSpPr>
        <p:spPr>
          <a:xfrm>
            <a:off x="548640" y="5212080"/>
            <a:ext cx="685800" cy="685800"/>
          </a:xfrm>
          <a:prstGeom prst="ellipse">
            <a:avLst/>
          </a:prstGeom>
          <a:solidFill>
            <a:schemeClr val="accent1"/>
          </a:solidFill>
          <a:ln/>
        </p:spPr>
      </p:sp>
      <p:pic>
        <p:nvPicPr>
          <p:cNvPr id="22" name="icon FaTriangleExclamation" descr="TriangleExclamation icon">    </p:cNvPr>
          <p:cNvPicPr>
            <a:picLocks noChangeAspect="1"/>
          </p:cNvPicPr>
          <p:nvPr/>
        </p:nvPicPr>
        <p:blipFill>
          <a:blip r:embed="rId1"/>
          <a:stretch>
            <a:fillRect/>
          </a:stretch>
        </p:blipFill>
        <p:spPr>
          <a:xfrm>
            <a:off x="713232" y="5376672"/>
            <a:ext cx="356616" cy="356616"/>
          </a:xfrm>
          <a:prstGeom prst="rect">
            <a:avLst/>
          </a:prstGeom>
        </p:spPr>
      </p:pic>
      <p:sp>
        <p:nvSpPr>
          <p:cNvPr id="23" name="Text 19"/>
          <p:cNvSpPr txBox="1"/>
          <p:nvPr/>
        </p:nvSpPr>
        <p:spPr>
          <a:xfrm>
            <a:off x="1417320" y="5166360"/>
            <a:ext cx="10149840" cy="868680"/>
          </a:xfrm>
          <a:prstGeom prst="rect">
            <a:avLst/>
          </a:prstGeom>
          <a:noFill/>
          <a:ln/>
        </p:spPr>
        <p:txBody>
          <a:bodyPr wrap="square" lIns="0" tIns="0" rIns="0" bIns="0" rtlCol="0" anchor="ctr"/>
          <a:lstStyle/>
          <a:p>
            <a:pPr indent="0" marL="0">
              <a:buNone/>
            </a:pPr>
            <a:r>
              <a:rPr lang="en-US" sz="1500" b="1" dirty="0">
                <a:solidFill>
                  <a:schemeClr val="tx1"/>
                </a:solidFill>
              </a:rPr>
              <a:t>In 2025 a newly opened ₱1.2-billion bridge in Isabela collapsed </a:t>
            </a:r>
            <a:pPr indent="0" marL="0">
              <a:buNone/>
            </a:pPr>
            <a:r>
              <a:rPr lang="en-US" sz="1500" dirty="0">
                <a:solidFill>
                  <a:schemeClr val="tx1"/>
                </a:solidFill>
              </a:rPr>
              <a:t>less than a month after completion (Philstar, 2025). In Bicol, COA findings on DPWH projects worth ₱13 billion showed that cost checks against an independent estimate happen late, if at all.</a:t>
            </a:r>
            <a:endParaRPr lang="en-US" sz="1500" dirty="0"/>
          </a:p>
        </p:txBody>
      </p:sp>
      <p:sp>
        <p:nvSpPr>
          <p:cNvPr id="25" name="Slide Number Placeholder 0"/>
          <p:cNvSpPr>
            <a:spLocks noGrp="1"/>
          </p:cNvSpPr>
          <p:nvPr>
            <p:ph type="sldNum" sz="quarter" idx="4294967295"/>
          </p:nvPr>
        </p:nvSpPr>
        <p:spPr>
          <a:xfrm>
            <a:off x="11064240" y="642823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A8C"/>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body" hasCustomPrompt="1"/>
          </p:nvPr>
        </p:nvSpPr>
        <p:spPr>
          <a:xfrm>
            <a:off x="548640" y="256032"/>
            <a:ext cx="8229600" cy="292608"/>
          </a:xfrm>
          <a:prstGeom prst="rect">
            <a:avLst/>
          </a:prstGeom>
          <a:noFill/>
          <a:ln/>
        </p:spPr>
        <p:txBody>
          <a:bodyPr wrap="square" lIns="0" tIns="0" rIns="0" bIns="0" rtlCol="0"/>
          <a:lstStyle/>
          <a:p>
            <a:pPr indent="0" marL="0">
              <a:buNone/>
            </a:pPr>
            <a:r>
              <a:rPr lang="en-US" sz="1200" b="1" spc="200" kern="0" dirty="0">
                <a:solidFill>
                  <a:schemeClr val="accent5"/>
                </a:solidFill>
              </a:rPr>
              <a:t>BACKGROUND OF THE STUDY</a:t>
            </a:r>
            <a:endParaRPr lang="en-US" sz="1200" dirty="0"/>
          </a:p>
        </p:txBody>
      </p:sp>
      <p:sp>
        <p:nvSpPr>
          <p:cNvPr id="3" name="Text 0"/>
          <p:cNvSpPr/>
          <p:nvPr>
            <p:ph idx="101" type="title" hasCustomPrompt="1"/>
          </p:nvPr>
        </p:nvSpPr>
        <p:spPr>
          <a:xfrm>
            <a:off x="548640" y="530352"/>
            <a:ext cx="11064240" cy="731520"/>
          </a:xfrm>
          <a:prstGeom prst="rect">
            <a:avLst/>
          </a:prstGeom>
          <a:noFill/>
          <a:ln/>
        </p:spPr>
        <p:txBody>
          <a:bodyPr wrap="square" lIns="0" tIns="0" rIns="0" bIns="0" rtlCol="0" anchor="ctr"/>
          <a:lstStyle/>
          <a:p>
            <a:pPr algn="l" indent="0" marL="0">
              <a:buNone/>
            </a:pPr>
            <a:r>
              <a:rPr lang="en-US" sz="3200" b="1" dirty="0">
                <a:solidFill>
                  <a:schemeClr val="tx2"/>
                </a:solidFill>
                <a:latin typeface="Cambria" pitchFamily="34" charset="0"/>
                <a:ea typeface="Cambria" pitchFamily="34" charset="-122"/>
                <a:cs typeface="Cambria" pitchFamily="34" charset="-120"/>
              </a:rPr>
              <a:t>Why Buildings and Bridges</a:t>
            </a:r>
            <a:endParaRPr lang="en-US" sz="3200" dirty="0"/>
          </a:p>
        </p:txBody>
      </p:sp>
      <p:pic>
        <p:nvPicPr>
          <p:cNvPr id="5" name="viz_building.png" descr="3D school building">    </p:cNvPr>
          <p:cNvPicPr>
            <a:picLocks noChangeAspect="1"/>
          </p:cNvPicPr>
          <p:nvPr/>
        </p:nvPicPr>
        <p:blipFill>
          <a:blip r:embed="rId1"/>
          <a:stretch>
            <a:fillRect/>
          </a:stretch>
        </p:blipFill>
        <p:spPr>
          <a:xfrm>
            <a:off x="808022" y="1508760"/>
            <a:ext cx="3047396" cy="2331720"/>
          </a:xfrm>
          <a:prstGeom prst="rect">
            <a:avLst/>
          </a:prstGeom>
        </p:spPr>
      </p:pic>
      <p:pic>
        <p:nvPicPr>
          <p:cNvPr id="6" name="viz_bridge_truss.png" descr="3D steel truss bridge">    </p:cNvPr>
          <p:cNvPicPr>
            <a:picLocks noChangeAspect="1"/>
          </p:cNvPicPr>
          <p:nvPr/>
        </p:nvPicPr>
        <p:blipFill>
          <a:blip r:embed="rId2"/>
          <a:stretch>
            <a:fillRect/>
          </a:stretch>
        </p:blipFill>
        <p:spPr>
          <a:xfrm>
            <a:off x="808022" y="3886200"/>
            <a:ext cx="3047396" cy="2331720"/>
          </a:xfrm>
          <a:prstGeom prst="rect">
            <a:avLst/>
          </a:prstGeom>
        </p:spPr>
      </p:pic>
      <p:sp>
        <p:nvSpPr>
          <p:cNvPr id="7" name="icon circle"/>
          <p:cNvSpPr/>
          <p:nvPr/>
        </p:nvSpPr>
        <p:spPr>
          <a:xfrm>
            <a:off x="4480560" y="1600200"/>
            <a:ext cx="685800" cy="685800"/>
          </a:xfrm>
          <a:prstGeom prst="ellipse">
            <a:avLst/>
          </a:prstGeom>
          <a:solidFill>
            <a:schemeClr val="tx2"/>
          </a:solidFill>
          <a:ln/>
        </p:spPr>
      </p:sp>
      <p:pic>
        <p:nvPicPr>
          <p:cNvPr id="8" name="icon FaSchool" descr="School icon">    </p:cNvPr>
          <p:cNvPicPr>
            <a:picLocks noChangeAspect="1"/>
          </p:cNvPicPr>
          <p:nvPr/>
        </p:nvPicPr>
        <p:blipFill>
          <a:blip r:embed="rId3"/>
          <a:stretch>
            <a:fillRect/>
          </a:stretch>
        </p:blipFill>
        <p:spPr>
          <a:xfrm>
            <a:off x="4645152" y="1764792"/>
            <a:ext cx="356616" cy="356616"/>
          </a:xfrm>
          <a:prstGeom prst="rect">
            <a:avLst/>
          </a:prstGeom>
        </p:spPr>
      </p:pic>
      <p:sp>
        <p:nvSpPr>
          <p:cNvPr id="9" name="Text 3"/>
          <p:cNvSpPr txBox="1"/>
          <p:nvPr/>
        </p:nvSpPr>
        <p:spPr>
          <a:xfrm>
            <a:off x="5394960" y="1554480"/>
            <a:ext cx="6217920" cy="365760"/>
          </a:xfrm>
          <a:prstGeom prst="rect">
            <a:avLst/>
          </a:prstGeom>
          <a:noFill/>
          <a:ln/>
        </p:spPr>
        <p:txBody>
          <a:bodyPr wrap="square" lIns="0" tIns="0" rIns="0" bIns="0" rtlCol="0" anchor="t"/>
          <a:lstStyle/>
          <a:p>
            <a:pPr indent="0" marL="0">
              <a:buNone/>
            </a:pPr>
            <a:r>
              <a:rPr lang="en-US" sz="1800" b="1" dirty="0">
                <a:solidFill>
                  <a:schemeClr val="tx2"/>
                </a:solidFill>
              </a:rPr>
              <a:t>Every padded peso is a missing classroom</a:t>
            </a:r>
            <a:endParaRPr lang="en-US" sz="1800" dirty="0"/>
          </a:p>
        </p:txBody>
      </p:sp>
      <p:sp>
        <p:nvSpPr>
          <p:cNvPr id="10" name="Text 4"/>
          <p:cNvSpPr txBox="1"/>
          <p:nvPr/>
        </p:nvSpPr>
        <p:spPr>
          <a:xfrm>
            <a:off x="5394960" y="1938528"/>
            <a:ext cx="6217920" cy="685800"/>
          </a:xfrm>
          <a:prstGeom prst="rect">
            <a:avLst/>
          </a:prstGeom>
          <a:noFill/>
          <a:ln/>
        </p:spPr>
        <p:txBody>
          <a:bodyPr wrap="square" lIns="0" tIns="0" rIns="0" bIns="0" rtlCol="0" anchor="t"/>
          <a:lstStyle/>
          <a:p>
            <a:pPr indent="0" marL="0">
              <a:buNone/>
            </a:pPr>
            <a:r>
              <a:rPr lang="en-US" sz="1500" dirty="0">
                <a:solidFill>
                  <a:schemeClr val="tx1"/>
                </a:solidFill>
              </a:rPr>
              <a:t>School buildings, health stations and evacuation centers are what communities rely on during typhoons.</a:t>
            </a:r>
            <a:endParaRPr lang="en-US" sz="1500" dirty="0"/>
          </a:p>
        </p:txBody>
      </p:sp>
      <p:sp>
        <p:nvSpPr>
          <p:cNvPr id="11" name="icon circle"/>
          <p:cNvSpPr/>
          <p:nvPr/>
        </p:nvSpPr>
        <p:spPr>
          <a:xfrm>
            <a:off x="4480560" y="2770632"/>
            <a:ext cx="685800" cy="685800"/>
          </a:xfrm>
          <a:prstGeom prst="ellipse">
            <a:avLst/>
          </a:prstGeom>
          <a:solidFill>
            <a:schemeClr val="tx2"/>
          </a:solidFill>
          <a:ln/>
        </p:spPr>
      </p:sp>
      <p:pic>
        <p:nvPicPr>
          <p:cNvPr id="12" name="icon FaBridge" descr="Bridge icon">    </p:cNvPr>
          <p:cNvPicPr>
            <a:picLocks noChangeAspect="1"/>
          </p:cNvPicPr>
          <p:nvPr/>
        </p:nvPicPr>
        <p:blipFill>
          <a:blip r:embed="rId4"/>
          <a:stretch>
            <a:fillRect/>
          </a:stretch>
        </p:blipFill>
        <p:spPr>
          <a:xfrm>
            <a:off x="4645152" y="2935224"/>
            <a:ext cx="356616" cy="356616"/>
          </a:xfrm>
          <a:prstGeom prst="rect">
            <a:avLst/>
          </a:prstGeom>
        </p:spPr>
      </p:pic>
      <p:sp>
        <p:nvSpPr>
          <p:cNvPr id="13" name="Text 6"/>
          <p:cNvSpPr txBox="1"/>
          <p:nvPr/>
        </p:nvSpPr>
        <p:spPr>
          <a:xfrm>
            <a:off x="5394960" y="2724912"/>
            <a:ext cx="6217920" cy="365760"/>
          </a:xfrm>
          <a:prstGeom prst="rect">
            <a:avLst/>
          </a:prstGeom>
          <a:noFill/>
          <a:ln/>
        </p:spPr>
        <p:txBody>
          <a:bodyPr wrap="square" lIns="0" tIns="0" rIns="0" bIns="0" rtlCol="0" anchor="t"/>
          <a:lstStyle/>
          <a:p>
            <a:pPr indent="0" marL="0">
              <a:buNone/>
            </a:pPr>
            <a:r>
              <a:rPr lang="en-US" sz="1800" b="1" dirty="0">
                <a:solidFill>
                  <a:schemeClr val="tx2"/>
                </a:solidFill>
              </a:rPr>
              <a:t>Bridges keep communities reachable</a:t>
            </a:r>
            <a:endParaRPr lang="en-US" sz="1800" dirty="0"/>
          </a:p>
        </p:txBody>
      </p:sp>
      <p:sp>
        <p:nvSpPr>
          <p:cNvPr id="14" name="Text 7"/>
          <p:cNvSpPr txBox="1"/>
          <p:nvPr/>
        </p:nvSpPr>
        <p:spPr>
          <a:xfrm>
            <a:off x="5394960" y="3108960"/>
            <a:ext cx="6217920" cy="685800"/>
          </a:xfrm>
          <a:prstGeom prst="rect">
            <a:avLst/>
          </a:prstGeom>
          <a:noFill/>
          <a:ln/>
        </p:spPr>
        <p:txBody>
          <a:bodyPr wrap="square" lIns="0" tIns="0" rIns="0" bIns="0" rtlCol="0" anchor="t"/>
          <a:lstStyle/>
          <a:p>
            <a:pPr indent="0" marL="0">
              <a:buNone/>
            </a:pPr>
            <a:r>
              <a:rPr lang="en-US" sz="1500" dirty="0">
                <a:solidFill>
                  <a:schemeClr val="tx1"/>
                </a:solidFill>
              </a:rPr>
              <a:t>Bicol is in NSCP Seismic Zone 4 and in the path of frequent typhoons; thin bridges fail first.</a:t>
            </a:r>
            <a:endParaRPr lang="en-US" sz="1500" dirty="0"/>
          </a:p>
        </p:txBody>
      </p:sp>
      <p:sp>
        <p:nvSpPr>
          <p:cNvPr id="15" name="icon circle"/>
          <p:cNvSpPr/>
          <p:nvPr/>
        </p:nvSpPr>
        <p:spPr>
          <a:xfrm>
            <a:off x="4480560" y="3941064"/>
            <a:ext cx="685800" cy="685800"/>
          </a:xfrm>
          <a:prstGeom prst="ellipse">
            <a:avLst/>
          </a:prstGeom>
          <a:solidFill>
            <a:schemeClr val="tx2"/>
          </a:solidFill>
          <a:ln/>
        </p:spPr>
      </p:sp>
      <p:pic>
        <p:nvPicPr>
          <p:cNvPr id="16" name="icon FaFileInvoiceDollar" descr="FileInvoiceDollar icon">    </p:cNvPr>
          <p:cNvPicPr>
            <a:picLocks noChangeAspect="1"/>
          </p:cNvPicPr>
          <p:nvPr/>
        </p:nvPicPr>
        <p:blipFill>
          <a:blip r:embed="rId5"/>
          <a:stretch>
            <a:fillRect/>
          </a:stretch>
        </p:blipFill>
        <p:spPr>
          <a:xfrm>
            <a:off x="4645152" y="4105656"/>
            <a:ext cx="356616" cy="356616"/>
          </a:xfrm>
          <a:prstGeom prst="rect">
            <a:avLst/>
          </a:prstGeom>
        </p:spPr>
      </p:pic>
      <p:sp>
        <p:nvSpPr>
          <p:cNvPr id="17" name="Text 9"/>
          <p:cNvSpPr txBox="1"/>
          <p:nvPr/>
        </p:nvSpPr>
        <p:spPr>
          <a:xfrm>
            <a:off x="5394960" y="3895344"/>
            <a:ext cx="6217920" cy="365760"/>
          </a:xfrm>
          <a:prstGeom prst="rect">
            <a:avLst/>
          </a:prstGeom>
          <a:noFill/>
          <a:ln/>
        </p:spPr>
        <p:txBody>
          <a:bodyPr wrap="square" lIns="0" tIns="0" rIns="0" bIns="0" rtlCol="0" anchor="t"/>
          <a:lstStyle/>
          <a:p>
            <a:pPr indent="0" marL="0">
              <a:buNone/>
            </a:pPr>
            <a:r>
              <a:rPr lang="en-US" sz="1800" b="1" dirty="0">
                <a:solidFill>
                  <a:schemeClr val="tx2"/>
                </a:solidFill>
              </a:rPr>
              <a:t>The ABC is set by the same office</a:t>
            </a:r>
            <a:endParaRPr lang="en-US" sz="1800" dirty="0"/>
          </a:p>
        </p:txBody>
      </p:sp>
      <p:sp>
        <p:nvSpPr>
          <p:cNvPr id="18" name="Text 10"/>
          <p:cNvSpPr txBox="1"/>
          <p:nvPr/>
        </p:nvSpPr>
        <p:spPr>
          <a:xfrm>
            <a:off x="5394960" y="4279392"/>
            <a:ext cx="6217920" cy="685800"/>
          </a:xfrm>
          <a:prstGeom prst="rect">
            <a:avLst/>
          </a:prstGeom>
          <a:noFill/>
          <a:ln/>
        </p:spPr>
        <p:txBody>
          <a:bodyPr wrap="square" lIns="0" tIns="0" rIns="0" bIns="0" rtlCol="0" anchor="t"/>
          <a:lstStyle/>
          <a:p>
            <a:pPr indent="0" marL="0">
              <a:buNone/>
            </a:pPr>
            <a:r>
              <a:rPr lang="en-US" sz="1500" dirty="0">
                <a:solidFill>
                  <a:schemeClr val="tx1"/>
                </a:solidFill>
              </a:rPr>
              <a:t>Each project gets a Program of Works and an ABC; outsiders have no independent estimate to compare.</a:t>
            </a:r>
            <a:endParaRPr lang="en-US" sz="1500" dirty="0"/>
          </a:p>
        </p:txBody>
      </p:sp>
      <p:sp>
        <p:nvSpPr>
          <p:cNvPr id="19" name="icon circle"/>
          <p:cNvSpPr/>
          <p:nvPr/>
        </p:nvSpPr>
        <p:spPr>
          <a:xfrm>
            <a:off x="4480560" y="5111496"/>
            <a:ext cx="685800" cy="685800"/>
          </a:xfrm>
          <a:prstGeom prst="ellipse">
            <a:avLst/>
          </a:prstGeom>
          <a:solidFill>
            <a:schemeClr val="tx2"/>
          </a:solidFill>
          <a:ln/>
        </p:spPr>
      </p:sp>
      <p:pic>
        <p:nvPicPr>
          <p:cNvPr id="20" name="icon FaRobot" descr="Robot icon">    </p:cNvPr>
          <p:cNvPicPr>
            <a:picLocks noChangeAspect="1"/>
          </p:cNvPicPr>
          <p:nvPr/>
        </p:nvPicPr>
        <p:blipFill>
          <a:blip r:embed="rId6"/>
          <a:stretch>
            <a:fillRect/>
          </a:stretch>
        </p:blipFill>
        <p:spPr>
          <a:xfrm>
            <a:off x="4645152" y="5276088"/>
            <a:ext cx="356616" cy="356616"/>
          </a:xfrm>
          <a:prstGeom prst="rect">
            <a:avLst/>
          </a:prstGeom>
        </p:spPr>
      </p:pic>
      <p:sp>
        <p:nvSpPr>
          <p:cNvPr id="21" name="Text 12"/>
          <p:cNvSpPr txBox="1"/>
          <p:nvPr/>
        </p:nvSpPr>
        <p:spPr>
          <a:xfrm>
            <a:off x="5394960" y="5065776"/>
            <a:ext cx="6217920" cy="365760"/>
          </a:xfrm>
          <a:prstGeom prst="rect">
            <a:avLst/>
          </a:prstGeom>
          <a:noFill/>
          <a:ln/>
        </p:spPr>
        <p:txBody>
          <a:bodyPr wrap="square" lIns="0" tIns="0" rIns="0" bIns="0" rtlCol="0" anchor="t"/>
          <a:lstStyle/>
          <a:p>
            <a:pPr indent="0" marL="0">
              <a:buNone/>
            </a:pPr>
            <a:r>
              <a:rPr lang="en-US" sz="1800" b="1" dirty="0">
                <a:solidFill>
                  <a:schemeClr val="tx2"/>
                </a:solidFill>
              </a:rPr>
              <a:t>Machine learning screens many contracts</a:t>
            </a:r>
            <a:endParaRPr lang="en-US" sz="1800" dirty="0"/>
          </a:p>
        </p:txBody>
      </p:sp>
      <p:sp>
        <p:nvSpPr>
          <p:cNvPr id="22" name="Text 13"/>
          <p:cNvSpPr txBox="1"/>
          <p:nvPr/>
        </p:nvSpPr>
        <p:spPr>
          <a:xfrm>
            <a:off x="5394960" y="5449824"/>
            <a:ext cx="6217920" cy="685800"/>
          </a:xfrm>
          <a:prstGeom prst="rect">
            <a:avLst/>
          </a:prstGeom>
          <a:noFill/>
          <a:ln/>
        </p:spPr>
        <p:txBody>
          <a:bodyPr wrap="square" lIns="0" tIns="0" rIns="0" bIns="0" rtlCol="0" anchor="t"/>
          <a:lstStyle/>
          <a:p>
            <a:pPr indent="0" marL="0">
              <a:buNone/>
            </a:pPr>
            <a:r>
              <a:rPr lang="en-US" sz="1500" dirty="0">
                <a:solidFill>
                  <a:schemeClr val="tx1"/>
                </a:solidFill>
              </a:rPr>
              <a:t>Regression and XGBoost predict cost; CORA screened 11,646 Bicol road contracts (Buban, 2026).</a:t>
            </a:r>
            <a:endParaRPr lang="en-US" sz="1500" dirty="0"/>
          </a:p>
        </p:txBody>
      </p:sp>
      <p:sp>
        <p:nvSpPr>
          <p:cNvPr id="25" name="Slide Number Placeholder 0"/>
          <p:cNvSpPr>
            <a:spLocks noGrp="1"/>
          </p:cNvSpPr>
          <p:nvPr>
            <p:ph type="sldNum" sz="quarter" idx="4294967295"/>
          </p:nvPr>
        </p:nvSpPr>
        <p:spPr>
          <a:xfrm>
            <a:off x="11064240" y="642823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A8C"/>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body" hasCustomPrompt="1"/>
          </p:nvPr>
        </p:nvSpPr>
        <p:spPr>
          <a:xfrm>
            <a:off x="548640" y="256032"/>
            <a:ext cx="8229600" cy="292608"/>
          </a:xfrm>
          <a:prstGeom prst="rect">
            <a:avLst/>
          </a:prstGeom>
          <a:noFill/>
          <a:ln/>
        </p:spPr>
        <p:txBody>
          <a:bodyPr wrap="square" lIns="0" tIns="0" rIns="0" bIns="0" rtlCol="0"/>
          <a:lstStyle/>
          <a:p>
            <a:pPr indent="0" marL="0">
              <a:buNone/>
            </a:pPr>
            <a:r>
              <a:rPr lang="en-US" sz="1200" b="1" spc="200" kern="0" dirty="0">
                <a:solidFill>
                  <a:schemeClr val="accent5"/>
                </a:solidFill>
              </a:rPr>
              <a:t>RESEARCH GAP AND RATIONALE</a:t>
            </a:r>
            <a:endParaRPr lang="en-US" sz="1200" dirty="0"/>
          </a:p>
        </p:txBody>
      </p:sp>
      <p:sp>
        <p:nvSpPr>
          <p:cNvPr id="3" name="Text 0"/>
          <p:cNvSpPr/>
          <p:nvPr>
            <p:ph idx="101" type="title" hasCustomPrompt="1"/>
          </p:nvPr>
        </p:nvSpPr>
        <p:spPr>
          <a:xfrm>
            <a:off x="548640" y="530352"/>
            <a:ext cx="11064240" cy="731520"/>
          </a:xfrm>
          <a:prstGeom prst="rect">
            <a:avLst/>
          </a:prstGeom>
          <a:noFill/>
          <a:ln/>
        </p:spPr>
        <p:txBody>
          <a:bodyPr wrap="square" lIns="0" tIns="0" rIns="0" bIns="0" rtlCol="0" anchor="ctr"/>
          <a:lstStyle/>
          <a:p>
            <a:pPr algn="l" indent="0" marL="0">
              <a:buNone/>
            </a:pPr>
            <a:r>
              <a:rPr lang="en-US" sz="3200" b="1" dirty="0">
                <a:solidFill>
                  <a:schemeClr val="tx2"/>
                </a:solidFill>
                <a:latin typeface="Cambria" pitchFamily="34" charset="0"/>
                <a:ea typeface="Cambria" pitchFamily="34" charset="-122"/>
                <a:cs typeface="Cambria" pitchFamily="34" charset="-120"/>
              </a:rPr>
              <a:t>Five Gaps This Study Closes</a:t>
            </a:r>
            <a:endParaRPr lang="en-US" sz="3200" dirty="0"/>
          </a:p>
        </p:txBody>
      </p:sp>
      <p:sp>
        <p:nvSpPr>
          <p:cNvPr id="5" name="card"/>
          <p:cNvSpPr/>
          <p:nvPr/>
        </p:nvSpPr>
        <p:spPr>
          <a:xfrm>
            <a:off x="548640" y="1600200"/>
            <a:ext cx="2057400" cy="3566160"/>
          </a:xfrm>
          <a:prstGeom prst="roundRect">
            <a:avLst>
              <a:gd name="adj" fmla="val 3556"/>
            </a:avLst>
          </a:prstGeom>
          <a:solidFill>
            <a:schemeClr val="bg2"/>
          </a:solidFill>
          <a:ln/>
        </p:spPr>
      </p:sp>
      <p:sp>
        <p:nvSpPr>
          <p:cNvPr id="6" name="icon circle"/>
          <p:cNvSpPr/>
          <p:nvPr/>
        </p:nvSpPr>
        <p:spPr>
          <a:xfrm>
            <a:off x="777240" y="1828800"/>
            <a:ext cx="685800" cy="685800"/>
          </a:xfrm>
          <a:prstGeom prst="ellipse">
            <a:avLst/>
          </a:prstGeom>
          <a:solidFill>
            <a:schemeClr val="tx2"/>
          </a:solidFill>
          <a:ln/>
        </p:spPr>
      </p:sp>
      <p:pic>
        <p:nvPicPr>
          <p:cNvPr id="7" name="icon FaRoad" descr="Road icon">    </p:cNvPr>
          <p:cNvPicPr>
            <a:picLocks noChangeAspect="1"/>
          </p:cNvPicPr>
          <p:nvPr/>
        </p:nvPicPr>
        <p:blipFill>
          <a:blip r:embed="rId1"/>
          <a:stretch>
            <a:fillRect/>
          </a:stretch>
        </p:blipFill>
        <p:spPr>
          <a:xfrm>
            <a:off x="941832" y="1993392"/>
            <a:ext cx="356616" cy="356616"/>
          </a:xfrm>
          <a:prstGeom prst="rect">
            <a:avLst/>
          </a:prstGeom>
        </p:spPr>
      </p:pic>
      <p:sp>
        <p:nvSpPr>
          <p:cNvPr id="8" name="Text 4"/>
          <p:cNvSpPr txBox="1"/>
          <p:nvPr/>
        </p:nvSpPr>
        <p:spPr>
          <a:xfrm>
            <a:off x="777240" y="2651760"/>
            <a:ext cx="1645920" cy="411480"/>
          </a:xfrm>
          <a:prstGeom prst="rect">
            <a:avLst/>
          </a:prstGeom>
          <a:noFill/>
          <a:ln/>
        </p:spPr>
        <p:txBody>
          <a:bodyPr wrap="square" lIns="0" tIns="0" rIns="0" bIns="0" rtlCol="0" anchor="t"/>
          <a:lstStyle/>
          <a:p>
            <a:pPr indent="0" marL="0">
              <a:buNone/>
            </a:pPr>
            <a:r>
              <a:rPr lang="en-US" sz="1800" b="1" dirty="0">
                <a:solidFill>
                  <a:schemeClr val="tx2"/>
                </a:solidFill>
              </a:rPr>
              <a:t>Scope gap</a:t>
            </a:r>
            <a:endParaRPr lang="en-US" sz="1800" dirty="0"/>
          </a:p>
        </p:txBody>
      </p:sp>
      <p:sp>
        <p:nvSpPr>
          <p:cNvPr id="9" name="Text 5"/>
          <p:cNvSpPr txBox="1"/>
          <p:nvPr/>
        </p:nvSpPr>
        <p:spPr>
          <a:xfrm>
            <a:off x="777240" y="3108960"/>
            <a:ext cx="1645920" cy="1965960"/>
          </a:xfrm>
          <a:prstGeom prst="rect">
            <a:avLst/>
          </a:prstGeom>
          <a:noFill/>
          <a:ln/>
        </p:spPr>
        <p:txBody>
          <a:bodyPr wrap="square" lIns="0" tIns="0" rIns="0" bIns="0" rtlCol="0" anchor="t"/>
          <a:lstStyle/>
          <a:p>
            <a:pPr indent="0" marL="0">
              <a:buNone/>
            </a:pPr>
            <a:r>
              <a:rPr lang="en-US" sz="1400" dirty="0">
                <a:solidFill>
                  <a:schemeClr val="tx1"/>
                </a:solidFill>
              </a:rPr>
              <a:t>Cost screening research has focused on roads; buildings and bridges have frames, footings, girders and piles.</a:t>
            </a:r>
            <a:endParaRPr lang="en-US" sz="1400" dirty="0"/>
          </a:p>
        </p:txBody>
      </p:sp>
      <p:sp>
        <p:nvSpPr>
          <p:cNvPr id="10" name="card"/>
          <p:cNvSpPr/>
          <p:nvPr/>
        </p:nvSpPr>
        <p:spPr>
          <a:xfrm>
            <a:off x="2807208" y="1600200"/>
            <a:ext cx="2057400" cy="3566160"/>
          </a:xfrm>
          <a:prstGeom prst="roundRect">
            <a:avLst>
              <a:gd name="adj" fmla="val 3556"/>
            </a:avLst>
          </a:prstGeom>
          <a:solidFill>
            <a:schemeClr val="bg2"/>
          </a:solidFill>
          <a:ln/>
        </p:spPr>
      </p:sp>
      <p:sp>
        <p:nvSpPr>
          <p:cNvPr id="11" name="icon circle"/>
          <p:cNvSpPr/>
          <p:nvPr/>
        </p:nvSpPr>
        <p:spPr>
          <a:xfrm>
            <a:off x="3035808" y="1828800"/>
            <a:ext cx="685800" cy="685800"/>
          </a:xfrm>
          <a:prstGeom prst="ellipse">
            <a:avLst/>
          </a:prstGeom>
          <a:solidFill>
            <a:schemeClr val="tx2"/>
          </a:solidFill>
          <a:ln/>
        </p:spPr>
      </p:sp>
      <p:pic>
        <p:nvPicPr>
          <p:cNvPr id="12" name="icon FaScaleUnbalanced" descr="ScaleUnbalanced icon">    </p:cNvPr>
          <p:cNvPicPr>
            <a:picLocks noChangeAspect="1"/>
          </p:cNvPicPr>
          <p:nvPr/>
        </p:nvPicPr>
        <p:blipFill>
          <a:blip r:embed="rId2"/>
          <a:stretch>
            <a:fillRect/>
          </a:stretch>
        </p:blipFill>
        <p:spPr>
          <a:xfrm>
            <a:off x="3200400" y="1993392"/>
            <a:ext cx="356616" cy="356616"/>
          </a:xfrm>
          <a:prstGeom prst="rect">
            <a:avLst/>
          </a:prstGeom>
        </p:spPr>
      </p:pic>
      <p:sp>
        <p:nvSpPr>
          <p:cNvPr id="13" name="Text 8"/>
          <p:cNvSpPr txBox="1"/>
          <p:nvPr/>
        </p:nvSpPr>
        <p:spPr>
          <a:xfrm>
            <a:off x="3035808" y="2651760"/>
            <a:ext cx="1645920" cy="411480"/>
          </a:xfrm>
          <a:prstGeom prst="rect">
            <a:avLst/>
          </a:prstGeom>
          <a:noFill/>
          <a:ln/>
        </p:spPr>
        <p:txBody>
          <a:bodyPr wrap="square" lIns="0" tIns="0" rIns="0" bIns="0" rtlCol="0" anchor="t"/>
          <a:lstStyle/>
          <a:p>
            <a:pPr indent="0" marL="0">
              <a:buNone/>
            </a:pPr>
            <a:r>
              <a:rPr lang="en-US" sz="1800" b="1" dirty="0">
                <a:solidFill>
                  <a:schemeClr val="tx2"/>
                </a:solidFill>
              </a:rPr>
              <a:t>Reference gap</a:t>
            </a:r>
            <a:endParaRPr lang="en-US" sz="1800" dirty="0"/>
          </a:p>
        </p:txBody>
      </p:sp>
      <p:sp>
        <p:nvSpPr>
          <p:cNvPr id="14" name="Text 9"/>
          <p:cNvSpPr txBox="1"/>
          <p:nvPr/>
        </p:nvSpPr>
        <p:spPr>
          <a:xfrm>
            <a:off x="3035808" y="3108960"/>
            <a:ext cx="1645920" cy="1965960"/>
          </a:xfrm>
          <a:prstGeom prst="rect">
            <a:avLst/>
          </a:prstGeom>
          <a:noFill/>
          <a:ln/>
        </p:spPr>
        <p:txBody>
          <a:bodyPr wrap="square" lIns="0" tIns="0" rIns="0" bIns="0" rtlCol="0" anchor="t"/>
          <a:lstStyle/>
          <a:p>
            <a:pPr indent="0" marL="0">
              <a:buNone/>
            </a:pPr>
            <a:r>
              <a:rPr lang="en-US" sz="1400" dirty="0">
                <a:solidFill>
                  <a:schemeClr val="tx1"/>
                </a:solidFill>
              </a:rPr>
              <a:t>Data-driven models learn what projects have cost; if past prices were padded, so is the model.</a:t>
            </a:r>
            <a:endParaRPr lang="en-US" sz="1400" dirty="0"/>
          </a:p>
        </p:txBody>
      </p:sp>
      <p:sp>
        <p:nvSpPr>
          <p:cNvPr id="15" name="card"/>
          <p:cNvSpPr/>
          <p:nvPr/>
        </p:nvSpPr>
        <p:spPr>
          <a:xfrm>
            <a:off x="5065776" y="1600200"/>
            <a:ext cx="2057400" cy="3566160"/>
          </a:xfrm>
          <a:prstGeom prst="roundRect">
            <a:avLst>
              <a:gd name="adj" fmla="val 3556"/>
            </a:avLst>
          </a:prstGeom>
          <a:solidFill>
            <a:schemeClr val="bg2"/>
          </a:solidFill>
          <a:ln/>
        </p:spPr>
      </p:sp>
      <p:sp>
        <p:nvSpPr>
          <p:cNvPr id="16" name="icon circle"/>
          <p:cNvSpPr/>
          <p:nvPr/>
        </p:nvSpPr>
        <p:spPr>
          <a:xfrm>
            <a:off x="5294376" y="1828800"/>
            <a:ext cx="685800" cy="685800"/>
          </a:xfrm>
          <a:prstGeom prst="ellipse">
            <a:avLst/>
          </a:prstGeom>
          <a:solidFill>
            <a:schemeClr val="tx2"/>
          </a:solidFill>
          <a:ln/>
        </p:spPr>
      </p:sp>
      <p:pic>
        <p:nvPicPr>
          <p:cNvPr id="17" name="icon FaVialCircleCheck" descr="VialCircleCheck icon">    </p:cNvPr>
          <p:cNvPicPr>
            <a:picLocks noChangeAspect="1"/>
          </p:cNvPicPr>
          <p:nvPr/>
        </p:nvPicPr>
        <p:blipFill>
          <a:blip r:embed="rId3"/>
          <a:stretch>
            <a:fillRect/>
          </a:stretch>
        </p:blipFill>
        <p:spPr>
          <a:xfrm>
            <a:off x="5458968" y="1993392"/>
            <a:ext cx="356616" cy="356616"/>
          </a:xfrm>
          <a:prstGeom prst="rect">
            <a:avLst/>
          </a:prstGeom>
        </p:spPr>
      </p:pic>
      <p:sp>
        <p:nvSpPr>
          <p:cNvPr id="18" name="Text 12"/>
          <p:cNvSpPr txBox="1"/>
          <p:nvPr/>
        </p:nvSpPr>
        <p:spPr>
          <a:xfrm>
            <a:off x="5294376" y="2651760"/>
            <a:ext cx="1645920" cy="411480"/>
          </a:xfrm>
          <a:prstGeom prst="rect">
            <a:avLst/>
          </a:prstGeom>
          <a:noFill/>
          <a:ln/>
        </p:spPr>
        <p:txBody>
          <a:bodyPr wrap="square" lIns="0" tIns="0" rIns="0" bIns="0" rtlCol="0" anchor="t"/>
          <a:lstStyle/>
          <a:p>
            <a:pPr indent="0" marL="0">
              <a:buNone/>
            </a:pPr>
            <a:r>
              <a:rPr lang="en-US" sz="1800" b="1" dirty="0">
                <a:solidFill>
                  <a:schemeClr val="tx2"/>
                </a:solidFill>
              </a:rPr>
              <a:t>Validation gap</a:t>
            </a:r>
            <a:endParaRPr lang="en-US" sz="1800" dirty="0"/>
          </a:p>
        </p:txBody>
      </p:sp>
      <p:sp>
        <p:nvSpPr>
          <p:cNvPr id="19" name="Text 13"/>
          <p:cNvSpPr txBox="1"/>
          <p:nvPr/>
        </p:nvSpPr>
        <p:spPr>
          <a:xfrm>
            <a:off x="5294376" y="3108960"/>
            <a:ext cx="1645920" cy="1965960"/>
          </a:xfrm>
          <a:prstGeom prst="rect">
            <a:avLst/>
          </a:prstGeom>
          <a:noFill/>
          <a:ln/>
        </p:spPr>
        <p:txBody>
          <a:bodyPr wrap="square" lIns="0" tIns="0" rIns="0" bIns="0" rtlCol="0" anchor="t"/>
          <a:lstStyle/>
          <a:p>
            <a:pPr indent="0" marL="0">
              <a:buNone/>
            </a:pPr>
            <a:r>
              <a:rPr lang="en-US" sz="1400" dirty="0">
                <a:solidFill>
                  <a:schemeClr val="tx1"/>
                </a:solidFill>
              </a:rPr>
              <a:t>Anomaly detectors are tested where true overpricing is unknown, so recall cannot be measured.</a:t>
            </a:r>
            <a:endParaRPr lang="en-US" sz="1400" dirty="0"/>
          </a:p>
        </p:txBody>
      </p:sp>
      <p:sp>
        <p:nvSpPr>
          <p:cNvPr id="20" name="card"/>
          <p:cNvSpPr/>
          <p:nvPr/>
        </p:nvSpPr>
        <p:spPr>
          <a:xfrm>
            <a:off x="7324344" y="1600200"/>
            <a:ext cx="2057400" cy="3566160"/>
          </a:xfrm>
          <a:prstGeom prst="roundRect">
            <a:avLst>
              <a:gd name="adj" fmla="val 3556"/>
            </a:avLst>
          </a:prstGeom>
          <a:solidFill>
            <a:schemeClr val="bg2"/>
          </a:solidFill>
          <a:ln/>
        </p:spPr>
      </p:sp>
      <p:sp>
        <p:nvSpPr>
          <p:cNvPr id="21" name="icon circle"/>
          <p:cNvSpPr/>
          <p:nvPr/>
        </p:nvSpPr>
        <p:spPr>
          <a:xfrm>
            <a:off x="7552944" y="1828800"/>
            <a:ext cx="685800" cy="685800"/>
          </a:xfrm>
          <a:prstGeom prst="ellipse">
            <a:avLst/>
          </a:prstGeom>
          <a:solidFill>
            <a:schemeClr val="tx2"/>
          </a:solidFill>
          <a:ln/>
        </p:spPr>
      </p:sp>
      <p:pic>
        <p:nvPicPr>
          <p:cNvPr id="22" name="icon FaCompassDrafting" descr="CompassDrafting icon">    </p:cNvPr>
          <p:cNvPicPr>
            <a:picLocks noChangeAspect="1"/>
          </p:cNvPicPr>
          <p:nvPr/>
        </p:nvPicPr>
        <p:blipFill>
          <a:blip r:embed="rId4"/>
          <a:stretch>
            <a:fillRect/>
          </a:stretch>
        </p:blipFill>
        <p:spPr>
          <a:xfrm>
            <a:off x="7717536" y="1993392"/>
            <a:ext cx="356616" cy="356616"/>
          </a:xfrm>
          <a:prstGeom prst="rect">
            <a:avLst/>
          </a:prstGeom>
        </p:spPr>
      </p:pic>
      <p:sp>
        <p:nvSpPr>
          <p:cNvPr id="23" name="Text 16"/>
          <p:cNvSpPr txBox="1"/>
          <p:nvPr/>
        </p:nvSpPr>
        <p:spPr>
          <a:xfrm>
            <a:off x="7552944" y="2651760"/>
            <a:ext cx="1645920" cy="411480"/>
          </a:xfrm>
          <a:prstGeom prst="rect">
            <a:avLst/>
          </a:prstGeom>
          <a:noFill/>
          <a:ln/>
        </p:spPr>
        <p:txBody>
          <a:bodyPr wrap="square" lIns="0" tIns="0" rIns="0" bIns="0" rtlCol="0" anchor="t"/>
          <a:lstStyle/>
          <a:p>
            <a:pPr indent="0" marL="0">
              <a:buNone/>
            </a:pPr>
            <a:r>
              <a:rPr lang="en-US" sz="1800" b="1" dirty="0">
                <a:solidFill>
                  <a:schemeClr val="tx2"/>
                </a:solidFill>
              </a:rPr>
              <a:t>Design gap</a:t>
            </a:r>
            <a:endParaRPr lang="en-US" sz="1800" dirty="0"/>
          </a:p>
        </p:txBody>
      </p:sp>
      <p:sp>
        <p:nvSpPr>
          <p:cNvPr id="24" name="Text 17"/>
          <p:cNvSpPr txBox="1"/>
          <p:nvPr/>
        </p:nvSpPr>
        <p:spPr>
          <a:xfrm>
            <a:off x="7552944" y="3108960"/>
            <a:ext cx="1645920" cy="1965960"/>
          </a:xfrm>
          <a:prstGeom prst="rect">
            <a:avLst/>
          </a:prstGeom>
          <a:noFill/>
          <a:ln/>
        </p:spPr>
        <p:txBody>
          <a:bodyPr wrap="square" lIns="0" tIns="0" rIns="0" bIns="0" rtlCol="0" anchor="t"/>
          <a:lstStyle/>
          <a:p>
            <a:pPr indent="0" marL="0">
              <a:buNone/>
            </a:pPr>
            <a:r>
              <a:rPr lang="en-US" sz="1400" dirty="0">
                <a:solidFill>
                  <a:schemeClr val="tx1"/>
                </a:solidFill>
              </a:rPr>
              <a:t>Many communities have a need and a budget but no plan, and so no independent price at all.</a:t>
            </a:r>
            <a:endParaRPr lang="en-US" sz="1400" dirty="0"/>
          </a:p>
        </p:txBody>
      </p:sp>
      <p:sp>
        <p:nvSpPr>
          <p:cNvPr id="25" name="card"/>
          <p:cNvSpPr/>
          <p:nvPr/>
        </p:nvSpPr>
        <p:spPr>
          <a:xfrm>
            <a:off x="9582912" y="1600200"/>
            <a:ext cx="2057400" cy="3566160"/>
          </a:xfrm>
          <a:prstGeom prst="roundRect">
            <a:avLst>
              <a:gd name="adj" fmla="val 3556"/>
            </a:avLst>
          </a:prstGeom>
          <a:solidFill>
            <a:schemeClr val="bg2"/>
          </a:solidFill>
          <a:ln/>
        </p:spPr>
      </p:sp>
      <p:sp>
        <p:nvSpPr>
          <p:cNvPr id="26" name="icon circle"/>
          <p:cNvSpPr/>
          <p:nvPr/>
        </p:nvSpPr>
        <p:spPr>
          <a:xfrm>
            <a:off x="9811512" y="1828800"/>
            <a:ext cx="685800" cy="685800"/>
          </a:xfrm>
          <a:prstGeom prst="ellipse">
            <a:avLst/>
          </a:prstGeom>
          <a:solidFill>
            <a:schemeClr val="tx2"/>
          </a:solidFill>
          <a:ln/>
        </p:spPr>
      </p:sp>
      <p:pic>
        <p:nvPicPr>
          <p:cNvPr id="27" name="icon FaMobileScreen" descr="MobileScreen icon">    </p:cNvPr>
          <p:cNvPicPr>
            <a:picLocks noChangeAspect="1"/>
          </p:cNvPicPr>
          <p:nvPr/>
        </p:nvPicPr>
        <p:blipFill>
          <a:blip r:embed="rId5"/>
          <a:stretch>
            <a:fillRect/>
          </a:stretch>
        </p:blipFill>
        <p:spPr>
          <a:xfrm>
            <a:off x="9976104" y="1993392"/>
            <a:ext cx="356616" cy="356616"/>
          </a:xfrm>
          <a:prstGeom prst="rect">
            <a:avLst/>
          </a:prstGeom>
        </p:spPr>
      </p:pic>
      <p:sp>
        <p:nvSpPr>
          <p:cNvPr id="28" name="Text 20"/>
          <p:cNvSpPr txBox="1"/>
          <p:nvPr/>
        </p:nvSpPr>
        <p:spPr>
          <a:xfrm>
            <a:off x="9811512" y="2651760"/>
            <a:ext cx="1645920" cy="411480"/>
          </a:xfrm>
          <a:prstGeom prst="rect">
            <a:avLst/>
          </a:prstGeom>
          <a:noFill/>
          <a:ln/>
        </p:spPr>
        <p:txBody>
          <a:bodyPr wrap="square" lIns="0" tIns="0" rIns="0" bIns="0" rtlCol="0" anchor="t"/>
          <a:lstStyle/>
          <a:p>
            <a:pPr indent="0" marL="0">
              <a:buNone/>
            </a:pPr>
            <a:r>
              <a:rPr lang="en-US" sz="1800" b="1" dirty="0">
                <a:solidFill>
                  <a:schemeClr val="tx2"/>
                </a:solidFill>
              </a:rPr>
              <a:t>Access gap</a:t>
            </a:r>
            <a:endParaRPr lang="en-US" sz="1800" dirty="0"/>
          </a:p>
        </p:txBody>
      </p:sp>
      <p:sp>
        <p:nvSpPr>
          <p:cNvPr id="29" name="Text 21"/>
          <p:cNvSpPr txBox="1"/>
          <p:nvPr/>
        </p:nvSpPr>
        <p:spPr>
          <a:xfrm>
            <a:off x="9811512" y="3108960"/>
            <a:ext cx="1645920" cy="1965960"/>
          </a:xfrm>
          <a:prstGeom prst="rect">
            <a:avLst/>
          </a:prstGeom>
          <a:noFill/>
          <a:ln/>
        </p:spPr>
        <p:txBody>
          <a:bodyPr wrap="square" lIns="0" tIns="0" rIns="0" bIns="0" rtlCol="0" anchor="t"/>
          <a:lstStyle/>
          <a:p>
            <a:pPr indent="0" marL="0">
              <a:buNone/>
            </a:pPr>
            <a:r>
              <a:rPr lang="en-US" sz="1400" dirty="0">
                <a:solidFill>
                  <a:schemeClr val="tx1"/>
                </a:solidFill>
              </a:rPr>
              <a:t>Models stay in notebooks; barangays, school heads, auditors and reporters need a tool on their phones.</a:t>
            </a:r>
            <a:endParaRPr lang="en-US" sz="1400" dirty="0"/>
          </a:p>
        </p:txBody>
      </p:sp>
      <p:sp>
        <p:nvSpPr>
          <p:cNvPr id="30" name="card"/>
          <p:cNvSpPr/>
          <p:nvPr/>
        </p:nvSpPr>
        <p:spPr>
          <a:xfrm>
            <a:off x="548640" y="5394960"/>
            <a:ext cx="11091672" cy="777240"/>
          </a:xfrm>
          <a:prstGeom prst="roundRect">
            <a:avLst>
              <a:gd name="adj" fmla="val 9412"/>
            </a:avLst>
          </a:prstGeom>
          <a:solidFill>
            <a:schemeClr val="tx2"/>
          </a:solidFill>
          <a:ln/>
        </p:spPr>
      </p:sp>
      <p:sp>
        <p:nvSpPr>
          <p:cNvPr id="31" name="Text 23"/>
          <p:cNvSpPr txBox="1"/>
          <p:nvPr/>
        </p:nvSpPr>
        <p:spPr>
          <a:xfrm>
            <a:off x="822960" y="5394960"/>
            <a:ext cx="10607040" cy="777240"/>
          </a:xfrm>
          <a:prstGeom prst="rect">
            <a:avLst/>
          </a:prstGeom>
          <a:noFill/>
          <a:ln/>
        </p:spPr>
        <p:txBody>
          <a:bodyPr wrap="square" lIns="0" tIns="0" rIns="0" bIns="0" rtlCol="0" anchor="ctr"/>
          <a:lstStyle/>
          <a:p>
            <a:pPr indent="0" marL="0">
              <a:buNone/>
            </a:pPr>
            <a:r>
              <a:rPr lang="en-US" sz="1700" b="1" dirty="0">
                <a:solidFill>
                  <a:schemeClr val="accent1"/>
                </a:solidFill>
              </a:rPr>
              <a:t>Rationale: </a:t>
            </a:r>
            <a:pPr indent="0" marL="0">
              <a:buNone/>
            </a:pPr>
            <a:r>
              <a:rPr lang="en-US" sz="1700" dirty="0">
                <a:solidFill>
                  <a:schemeClr val="bg1"/>
                </a:solidFill>
              </a:rPr>
              <a:t>a fair price can be computed from the plan and the standards, then compared with the contract.</a:t>
            </a:r>
            <a:endParaRPr lang="en-US" sz="1700" dirty="0"/>
          </a:p>
        </p:txBody>
      </p:sp>
      <p:sp>
        <p:nvSpPr>
          <p:cNvPr id="25" name="Slide Number Placeholder 0"/>
          <p:cNvSpPr>
            <a:spLocks noGrp="1"/>
          </p:cNvSpPr>
          <p:nvPr>
            <p:ph type="sldNum" sz="quarter" idx="4294967295"/>
          </p:nvPr>
        </p:nvSpPr>
        <p:spPr>
          <a:xfrm>
            <a:off x="11064240" y="642823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A8C"/>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body" hasCustomPrompt="1"/>
          </p:nvPr>
        </p:nvSpPr>
        <p:spPr>
          <a:xfrm>
            <a:off x="548640" y="256032"/>
            <a:ext cx="8229600" cy="292608"/>
          </a:xfrm>
          <a:prstGeom prst="rect">
            <a:avLst/>
          </a:prstGeom>
          <a:noFill/>
          <a:ln/>
        </p:spPr>
        <p:txBody>
          <a:bodyPr wrap="square" lIns="0" tIns="0" rIns="0" bIns="0" rtlCol="0"/>
          <a:lstStyle/>
          <a:p>
            <a:pPr indent="0" marL="0">
              <a:buNone/>
            </a:pPr>
            <a:r>
              <a:rPr lang="en-US" sz="1200" b="1" spc="200" kern="0" dirty="0">
                <a:solidFill>
                  <a:schemeClr val="accent5"/>
                </a:solidFill>
              </a:rPr>
              <a:t>OBJECTIVE OF THE STUDY</a:t>
            </a:r>
            <a:endParaRPr lang="en-US" sz="1200" dirty="0"/>
          </a:p>
        </p:txBody>
      </p:sp>
      <p:sp>
        <p:nvSpPr>
          <p:cNvPr id="3" name="Text 0"/>
          <p:cNvSpPr/>
          <p:nvPr>
            <p:ph idx="101" type="title" hasCustomPrompt="1"/>
          </p:nvPr>
        </p:nvSpPr>
        <p:spPr>
          <a:xfrm>
            <a:off x="548640" y="530352"/>
            <a:ext cx="11064240" cy="731520"/>
          </a:xfrm>
          <a:prstGeom prst="rect">
            <a:avLst/>
          </a:prstGeom>
          <a:noFill/>
          <a:ln/>
        </p:spPr>
        <p:txBody>
          <a:bodyPr wrap="square" lIns="0" tIns="0" rIns="0" bIns="0" rtlCol="0" anchor="ctr"/>
          <a:lstStyle/>
          <a:p>
            <a:pPr algn="l" indent="0" marL="0">
              <a:buNone/>
            </a:pPr>
            <a:r>
              <a:rPr lang="en-US" sz="3200" b="1" dirty="0">
                <a:solidFill>
                  <a:schemeClr val="tx2"/>
                </a:solidFill>
                <a:latin typeface="Cambria" pitchFamily="34" charset="0"/>
                <a:ea typeface="Cambria" pitchFamily="34" charset="-122"/>
                <a:cs typeface="Cambria" pitchFamily="34" charset="-120"/>
              </a:rPr>
              <a:t>Research Questions</a:t>
            </a:r>
            <a:endParaRPr lang="en-US" sz="3200" dirty="0"/>
          </a:p>
        </p:txBody>
      </p:sp>
      <p:sp>
        <p:nvSpPr>
          <p:cNvPr id="5" name="Text 2"/>
          <p:cNvSpPr txBox="1"/>
          <p:nvPr/>
        </p:nvSpPr>
        <p:spPr>
          <a:xfrm>
            <a:off x="548640" y="1417320"/>
            <a:ext cx="11064240" cy="822960"/>
          </a:xfrm>
          <a:prstGeom prst="rect">
            <a:avLst/>
          </a:prstGeom>
          <a:noFill/>
          <a:ln/>
        </p:spPr>
        <p:txBody>
          <a:bodyPr wrap="square" lIns="0" tIns="0" rIns="0" bIns="0" rtlCol="0" anchor="t"/>
          <a:lstStyle/>
          <a:p>
            <a:pPr indent="0" marL="0">
              <a:buNone/>
            </a:pPr>
            <a:r>
              <a:rPr lang="en-US" sz="1600" dirty="0">
                <a:solidFill>
                  <a:schemeClr val="tx1"/>
                </a:solidFill>
              </a:rPr>
              <a:t>This study aimed to develop BUHAY-AH, a budget-to-blueprint design generator, standards-based quantity take-off and hybrid machine-learning system that produces start quotations and detects over-budgeted public buildings and bridges in Bicol Region V. </a:t>
            </a:r>
            <a:pPr indent="0" marL="0">
              <a:buNone/>
            </a:pPr>
            <a:r>
              <a:rPr lang="en-US" sz="1600" b="1" dirty="0">
                <a:solidFill>
                  <a:schemeClr val="tx1"/>
                </a:solidFill>
              </a:rPr>
              <a:t>Specifically, it sought to answer the following research questions:</a:t>
            </a:r>
            <a:endParaRPr lang="en-US" sz="1600" dirty="0"/>
          </a:p>
        </p:txBody>
      </p:sp>
      <p:sp>
        <p:nvSpPr>
          <p:cNvPr id="6" name="card"/>
          <p:cNvSpPr/>
          <p:nvPr/>
        </p:nvSpPr>
        <p:spPr>
          <a:xfrm>
            <a:off x="548640" y="2331720"/>
            <a:ext cx="11091672" cy="1188720"/>
          </a:xfrm>
          <a:prstGeom prst="roundRect">
            <a:avLst>
              <a:gd name="adj" fmla="val 6154"/>
            </a:avLst>
          </a:prstGeom>
          <a:solidFill>
            <a:schemeClr val="bg2"/>
          </a:solidFill>
          <a:ln/>
        </p:spPr>
      </p:sp>
      <p:sp>
        <p:nvSpPr>
          <p:cNvPr id="7" name="Text 4"/>
          <p:cNvSpPr txBox="1"/>
          <p:nvPr/>
        </p:nvSpPr>
        <p:spPr>
          <a:xfrm>
            <a:off x="777240" y="2468880"/>
            <a:ext cx="1097280" cy="914400"/>
          </a:xfrm>
          <a:prstGeom prst="rect">
            <a:avLst/>
          </a:prstGeom>
          <a:noFill/>
          <a:ln/>
        </p:spPr>
        <p:txBody>
          <a:bodyPr wrap="square" lIns="0" tIns="0" rIns="0" bIns="0" rtlCol="0" anchor="ctr"/>
          <a:lstStyle/>
          <a:p>
            <a:pPr indent="0" marL="0">
              <a:buNone/>
            </a:pPr>
            <a:r>
              <a:rPr lang="en-US" sz="2800" b="1" dirty="0">
                <a:solidFill>
                  <a:schemeClr val="accent1"/>
                </a:solidFill>
                <a:latin typeface="Cambria" pitchFamily="34" charset="0"/>
                <a:ea typeface="Cambria" pitchFamily="34" charset="-122"/>
                <a:cs typeface="Cambria" pitchFamily="34" charset="-120"/>
              </a:rPr>
              <a:t>RQ1</a:t>
            </a:r>
            <a:endParaRPr lang="en-US" sz="2800" dirty="0"/>
          </a:p>
        </p:txBody>
      </p:sp>
      <p:sp>
        <p:nvSpPr>
          <p:cNvPr id="8" name="Text 5"/>
          <p:cNvSpPr txBox="1"/>
          <p:nvPr/>
        </p:nvSpPr>
        <p:spPr>
          <a:xfrm>
            <a:off x="1965960" y="2423160"/>
            <a:ext cx="9509760" cy="1005840"/>
          </a:xfrm>
          <a:prstGeom prst="rect">
            <a:avLst/>
          </a:prstGeom>
          <a:noFill/>
          <a:ln/>
        </p:spPr>
        <p:txBody>
          <a:bodyPr wrap="square" lIns="0" tIns="0" rIns="0" bIns="0" rtlCol="0" anchor="ctr"/>
          <a:lstStyle/>
          <a:p>
            <a:pPr indent="0" marL="0">
              <a:buNone/>
            </a:pPr>
            <a:r>
              <a:rPr lang="en-US" sz="1500" dirty="0">
                <a:solidFill>
                  <a:schemeClr val="tx1"/>
                </a:solidFill>
              </a:rPr>
              <a:t>What plan variables and derived indicators can be extracted from building and bridge plans and engineering standards to estimate construction cost, in terms of physical properties; structural system and foundation; and location and price year?</a:t>
            </a:r>
            <a:endParaRPr lang="en-US" sz="1500" dirty="0"/>
          </a:p>
        </p:txBody>
      </p:sp>
      <p:sp>
        <p:nvSpPr>
          <p:cNvPr id="9" name="card"/>
          <p:cNvSpPr/>
          <p:nvPr/>
        </p:nvSpPr>
        <p:spPr>
          <a:xfrm>
            <a:off x="548640" y="3657600"/>
            <a:ext cx="11091672" cy="1188720"/>
          </a:xfrm>
          <a:prstGeom prst="roundRect">
            <a:avLst>
              <a:gd name="adj" fmla="val 6154"/>
            </a:avLst>
          </a:prstGeom>
          <a:solidFill>
            <a:schemeClr val="bg2"/>
          </a:solidFill>
          <a:ln/>
        </p:spPr>
      </p:sp>
      <p:sp>
        <p:nvSpPr>
          <p:cNvPr id="10" name="Text 7"/>
          <p:cNvSpPr txBox="1"/>
          <p:nvPr/>
        </p:nvSpPr>
        <p:spPr>
          <a:xfrm>
            <a:off x="777240" y="3794760"/>
            <a:ext cx="1097280" cy="914400"/>
          </a:xfrm>
          <a:prstGeom prst="rect">
            <a:avLst/>
          </a:prstGeom>
          <a:noFill/>
          <a:ln/>
        </p:spPr>
        <p:txBody>
          <a:bodyPr wrap="square" lIns="0" tIns="0" rIns="0" bIns="0" rtlCol="0" anchor="ctr"/>
          <a:lstStyle/>
          <a:p>
            <a:pPr indent="0" marL="0">
              <a:buNone/>
            </a:pPr>
            <a:r>
              <a:rPr lang="en-US" sz="2800" b="1" dirty="0">
                <a:solidFill>
                  <a:schemeClr val="accent1"/>
                </a:solidFill>
                <a:latin typeface="Cambria" pitchFamily="34" charset="0"/>
                <a:ea typeface="Cambria" pitchFamily="34" charset="-122"/>
                <a:cs typeface="Cambria" pitchFamily="34" charset="-120"/>
              </a:rPr>
              <a:t>RQ2</a:t>
            </a:r>
            <a:endParaRPr lang="en-US" sz="2800" dirty="0"/>
          </a:p>
        </p:txBody>
      </p:sp>
      <p:sp>
        <p:nvSpPr>
          <p:cNvPr id="11" name="Text 8"/>
          <p:cNvSpPr txBox="1"/>
          <p:nvPr/>
        </p:nvSpPr>
        <p:spPr>
          <a:xfrm>
            <a:off x="1965960" y="3749040"/>
            <a:ext cx="9509760" cy="1005840"/>
          </a:xfrm>
          <a:prstGeom prst="rect">
            <a:avLst/>
          </a:prstGeom>
          <a:noFill/>
          <a:ln/>
        </p:spPr>
        <p:txBody>
          <a:bodyPr wrap="square" lIns="0" tIns="0" rIns="0" bIns="0" rtlCol="0" anchor="ctr"/>
          <a:lstStyle/>
          <a:p>
            <a:pPr indent="0" marL="0">
              <a:buNone/>
            </a:pPr>
            <a:r>
              <a:rPr lang="en-US" sz="1500" dirty="0">
                <a:solidFill>
                  <a:schemeClr val="tx1"/>
                </a:solidFill>
              </a:rPr>
              <a:t>How can schematic designs be generated from a requirement or a budget, in terms of a modular design library; budget-to-design optimization; and compliance with design and space standards?</a:t>
            </a:r>
            <a:endParaRPr lang="en-US" sz="1500" dirty="0"/>
          </a:p>
        </p:txBody>
      </p:sp>
      <p:sp>
        <p:nvSpPr>
          <p:cNvPr id="12" name="card"/>
          <p:cNvSpPr/>
          <p:nvPr/>
        </p:nvSpPr>
        <p:spPr>
          <a:xfrm>
            <a:off x="548640" y="4983480"/>
            <a:ext cx="11091672" cy="1188720"/>
          </a:xfrm>
          <a:prstGeom prst="roundRect">
            <a:avLst>
              <a:gd name="adj" fmla="val 6154"/>
            </a:avLst>
          </a:prstGeom>
          <a:solidFill>
            <a:schemeClr val="bg2"/>
          </a:solidFill>
          <a:ln/>
        </p:spPr>
      </p:sp>
      <p:sp>
        <p:nvSpPr>
          <p:cNvPr id="13" name="Text 10"/>
          <p:cNvSpPr txBox="1"/>
          <p:nvPr/>
        </p:nvSpPr>
        <p:spPr>
          <a:xfrm>
            <a:off x="777240" y="5120640"/>
            <a:ext cx="1097280" cy="914400"/>
          </a:xfrm>
          <a:prstGeom prst="rect">
            <a:avLst/>
          </a:prstGeom>
          <a:noFill/>
          <a:ln/>
        </p:spPr>
        <p:txBody>
          <a:bodyPr wrap="square" lIns="0" tIns="0" rIns="0" bIns="0" rtlCol="0" anchor="ctr"/>
          <a:lstStyle/>
          <a:p>
            <a:pPr indent="0" marL="0">
              <a:buNone/>
            </a:pPr>
            <a:r>
              <a:rPr lang="en-US" sz="2800" b="1" dirty="0">
                <a:solidFill>
                  <a:schemeClr val="accent1"/>
                </a:solidFill>
                <a:latin typeface="Cambria" pitchFamily="34" charset="0"/>
                <a:ea typeface="Cambria" pitchFamily="34" charset="-122"/>
                <a:cs typeface="Cambria" pitchFamily="34" charset="-120"/>
              </a:rPr>
              <a:t>RQ3</a:t>
            </a:r>
            <a:endParaRPr lang="en-US" sz="2800" dirty="0"/>
          </a:p>
        </p:txBody>
      </p:sp>
      <p:sp>
        <p:nvSpPr>
          <p:cNvPr id="14" name="Text 11"/>
          <p:cNvSpPr txBox="1"/>
          <p:nvPr/>
        </p:nvSpPr>
        <p:spPr>
          <a:xfrm>
            <a:off x="1965960" y="5074920"/>
            <a:ext cx="9509760" cy="1005840"/>
          </a:xfrm>
          <a:prstGeom prst="rect">
            <a:avLst/>
          </a:prstGeom>
          <a:noFill/>
          <a:ln/>
        </p:spPr>
        <p:txBody>
          <a:bodyPr wrap="square" lIns="0" tIns="0" rIns="0" bIns="0" rtlCol="0" anchor="ctr"/>
          <a:lstStyle/>
          <a:p>
            <a:pPr indent="0" marL="0">
              <a:buNone/>
            </a:pPr>
            <a:r>
              <a:rPr lang="en-US" sz="1500" dirty="0">
                <a:solidFill>
                  <a:schemeClr val="tx1"/>
                </a:solidFill>
              </a:rPr>
              <a:t>How accurately does the standards-based quantity take-off engine estimate construction cost, in terms of the lean start quotation, standard fair estimate and ceiling; and MAPE against fair awarded costs?</a:t>
            </a:r>
            <a:endParaRPr lang="en-US" sz="1500" dirty="0"/>
          </a:p>
        </p:txBody>
      </p:sp>
      <p:sp>
        <p:nvSpPr>
          <p:cNvPr id="25" name="Slide Number Placeholder 0"/>
          <p:cNvSpPr>
            <a:spLocks noGrp="1"/>
          </p:cNvSpPr>
          <p:nvPr>
            <p:ph type="sldNum" sz="quarter" idx="4294967295"/>
          </p:nvPr>
        </p:nvSpPr>
        <p:spPr>
          <a:xfrm>
            <a:off x="11064240" y="642823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A8C"/>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body" hasCustomPrompt="1"/>
          </p:nvPr>
        </p:nvSpPr>
        <p:spPr>
          <a:xfrm>
            <a:off x="548640" y="256032"/>
            <a:ext cx="8229600" cy="292608"/>
          </a:xfrm>
          <a:prstGeom prst="rect">
            <a:avLst/>
          </a:prstGeom>
          <a:noFill/>
          <a:ln/>
        </p:spPr>
        <p:txBody>
          <a:bodyPr wrap="square" lIns="0" tIns="0" rIns="0" bIns="0" rtlCol="0"/>
          <a:lstStyle/>
          <a:p>
            <a:pPr indent="0" marL="0">
              <a:buNone/>
            </a:pPr>
            <a:r>
              <a:rPr lang="en-US" sz="1200" b="1" spc="200" kern="0" dirty="0">
                <a:solidFill>
                  <a:schemeClr val="accent5"/>
                </a:solidFill>
              </a:rPr>
              <a:t>OBJECTIVE OF THE STUDY</a:t>
            </a:r>
            <a:endParaRPr lang="en-US" sz="1200" dirty="0"/>
          </a:p>
        </p:txBody>
      </p:sp>
      <p:sp>
        <p:nvSpPr>
          <p:cNvPr id="3" name="Text 0"/>
          <p:cNvSpPr/>
          <p:nvPr>
            <p:ph idx="101" type="title" hasCustomPrompt="1"/>
          </p:nvPr>
        </p:nvSpPr>
        <p:spPr>
          <a:xfrm>
            <a:off x="548640" y="530352"/>
            <a:ext cx="11064240" cy="731520"/>
          </a:xfrm>
          <a:prstGeom prst="rect">
            <a:avLst/>
          </a:prstGeom>
          <a:noFill/>
          <a:ln/>
        </p:spPr>
        <p:txBody>
          <a:bodyPr wrap="square" lIns="0" tIns="0" rIns="0" bIns="0" rtlCol="0" anchor="ctr"/>
          <a:lstStyle/>
          <a:p>
            <a:pPr algn="l" indent="0" marL="0">
              <a:buNone/>
            </a:pPr>
            <a:r>
              <a:rPr lang="en-US" sz="3200" b="1" dirty="0">
                <a:solidFill>
                  <a:schemeClr val="tx2"/>
                </a:solidFill>
                <a:latin typeface="Cambria" pitchFamily="34" charset="0"/>
                <a:ea typeface="Cambria" pitchFamily="34" charset="-122"/>
                <a:cs typeface="Cambria" pitchFamily="34" charset="-120"/>
              </a:rPr>
              <a:t>Research Questions (continued)</a:t>
            </a:r>
            <a:endParaRPr lang="en-US" sz="3200" dirty="0"/>
          </a:p>
        </p:txBody>
      </p:sp>
      <p:sp>
        <p:nvSpPr>
          <p:cNvPr id="5" name="card"/>
          <p:cNvSpPr/>
          <p:nvPr/>
        </p:nvSpPr>
        <p:spPr>
          <a:xfrm>
            <a:off x="548640" y="1508760"/>
            <a:ext cx="11091672" cy="1188720"/>
          </a:xfrm>
          <a:prstGeom prst="roundRect">
            <a:avLst>
              <a:gd name="adj" fmla="val 6154"/>
            </a:avLst>
          </a:prstGeom>
          <a:solidFill>
            <a:schemeClr val="bg2"/>
          </a:solidFill>
          <a:ln/>
        </p:spPr>
      </p:sp>
      <p:sp>
        <p:nvSpPr>
          <p:cNvPr id="6" name="Text 3"/>
          <p:cNvSpPr txBox="1"/>
          <p:nvPr/>
        </p:nvSpPr>
        <p:spPr>
          <a:xfrm>
            <a:off x="777240" y="1645920"/>
            <a:ext cx="1097280" cy="914400"/>
          </a:xfrm>
          <a:prstGeom prst="rect">
            <a:avLst/>
          </a:prstGeom>
          <a:noFill/>
          <a:ln/>
        </p:spPr>
        <p:txBody>
          <a:bodyPr wrap="square" lIns="0" tIns="0" rIns="0" bIns="0" rtlCol="0" anchor="ctr"/>
          <a:lstStyle/>
          <a:p>
            <a:pPr indent="0" marL="0">
              <a:buNone/>
            </a:pPr>
            <a:r>
              <a:rPr lang="en-US" sz="2800" b="1" dirty="0">
                <a:solidFill>
                  <a:schemeClr val="accent1"/>
                </a:solidFill>
                <a:latin typeface="Cambria" pitchFamily="34" charset="0"/>
                <a:ea typeface="Cambria" pitchFamily="34" charset="-122"/>
                <a:cs typeface="Cambria" pitchFamily="34" charset="-120"/>
              </a:rPr>
              <a:t>RQ4</a:t>
            </a:r>
            <a:endParaRPr lang="en-US" sz="2800" dirty="0"/>
          </a:p>
        </p:txBody>
      </p:sp>
      <p:sp>
        <p:nvSpPr>
          <p:cNvPr id="7" name="Text 4"/>
          <p:cNvSpPr txBox="1"/>
          <p:nvPr/>
        </p:nvSpPr>
        <p:spPr>
          <a:xfrm>
            <a:off x="1965960" y="1600200"/>
            <a:ext cx="9509760" cy="1005840"/>
          </a:xfrm>
          <a:prstGeom prst="rect">
            <a:avLst/>
          </a:prstGeom>
          <a:noFill/>
          <a:ln/>
        </p:spPr>
        <p:txBody>
          <a:bodyPr wrap="square" lIns="0" tIns="0" rIns="0" bIns="0" rtlCol="0" anchor="ctr"/>
          <a:lstStyle/>
          <a:p>
            <a:pPr indent="0" marL="0">
              <a:buNone/>
            </a:pPr>
            <a:r>
              <a:rPr lang="en-US" sz="1500" dirty="0">
                <a:solidFill>
                  <a:schemeClr val="tx1"/>
                </a:solidFill>
              </a:rPr>
              <a:t>How do Multiple Linear Regression and Extreme Gradient Boosting (XGBoost) perform in predicting construction cost, in terms of R², RMSE and MAPE under leave-one-out cross-validation?</a:t>
            </a:r>
            <a:endParaRPr lang="en-US" sz="1500" dirty="0"/>
          </a:p>
        </p:txBody>
      </p:sp>
      <p:sp>
        <p:nvSpPr>
          <p:cNvPr id="8" name="card"/>
          <p:cNvSpPr/>
          <p:nvPr/>
        </p:nvSpPr>
        <p:spPr>
          <a:xfrm>
            <a:off x="548640" y="2971800"/>
            <a:ext cx="11091672" cy="1188720"/>
          </a:xfrm>
          <a:prstGeom prst="roundRect">
            <a:avLst>
              <a:gd name="adj" fmla="val 6154"/>
            </a:avLst>
          </a:prstGeom>
          <a:solidFill>
            <a:schemeClr val="bg2"/>
          </a:solidFill>
          <a:ln/>
        </p:spPr>
      </p:sp>
      <p:sp>
        <p:nvSpPr>
          <p:cNvPr id="9" name="Text 6"/>
          <p:cNvSpPr txBox="1"/>
          <p:nvPr/>
        </p:nvSpPr>
        <p:spPr>
          <a:xfrm>
            <a:off x="777240" y="3108960"/>
            <a:ext cx="1097280" cy="914400"/>
          </a:xfrm>
          <a:prstGeom prst="rect">
            <a:avLst/>
          </a:prstGeom>
          <a:noFill/>
          <a:ln/>
        </p:spPr>
        <p:txBody>
          <a:bodyPr wrap="square" lIns="0" tIns="0" rIns="0" bIns="0" rtlCol="0" anchor="ctr"/>
          <a:lstStyle/>
          <a:p>
            <a:pPr indent="0" marL="0">
              <a:buNone/>
            </a:pPr>
            <a:r>
              <a:rPr lang="en-US" sz="2800" b="1" dirty="0">
                <a:solidFill>
                  <a:schemeClr val="accent1"/>
                </a:solidFill>
                <a:latin typeface="Cambria" pitchFamily="34" charset="0"/>
                <a:ea typeface="Cambria" pitchFamily="34" charset="-122"/>
                <a:cs typeface="Cambria" pitchFamily="34" charset="-120"/>
              </a:rPr>
              <a:t>RQ5</a:t>
            </a:r>
            <a:endParaRPr lang="en-US" sz="2800" dirty="0"/>
          </a:p>
        </p:txBody>
      </p:sp>
      <p:sp>
        <p:nvSpPr>
          <p:cNvPr id="10" name="Text 7"/>
          <p:cNvSpPr txBox="1"/>
          <p:nvPr/>
        </p:nvSpPr>
        <p:spPr>
          <a:xfrm>
            <a:off x="1965960" y="3063240"/>
            <a:ext cx="9509760" cy="1005840"/>
          </a:xfrm>
          <a:prstGeom prst="rect">
            <a:avLst/>
          </a:prstGeom>
          <a:noFill/>
          <a:ln/>
        </p:spPr>
        <p:txBody>
          <a:bodyPr wrap="square" lIns="0" tIns="0" rIns="0" bIns="0" rtlCol="0" anchor="ctr"/>
          <a:lstStyle/>
          <a:p>
            <a:pPr indent="0" marL="0">
              <a:buNone/>
            </a:pPr>
            <a:r>
              <a:rPr lang="en-US" sz="1500" dirty="0">
                <a:solidFill>
                  <a:schemeClr val="tx1"/>
                </a:solidFill>
              </a:rPr>
              <a:t>How effectively do the over-budget ratio, the XGBoost residual, the Isolation Forest and the hybrid BUHAY-AH Risk Index detect over-budgeted contracts, in terms of precision, recall, F1-score and ROC AUC?</a:t>
            </a:r>
            <a:endParaRPr lang="en-US" sz="1500" dirty="0"/>
          </a:p>
        </p:txBody>
      </p:sp>
      <p:sp>
        <p:nvSpPr>
          <p:cNvPr id="11" name="card"/>
          <p:cNvSpPr/>
          <p:nvPr/>
        </p:nvSpPr>
        <p:spPr>
          <a:xfrm>
            <a:off x="548640" y="4434840"/>
            <a:ext cx="11091672" cy="1188720"/>
          </a:xfrm>
          <a:prstGeom prst="roundRect">
            <a:avLst>
              <a:gd name="adj" fmla="val 6154"/>
            </a:avLst>
          </a:prstGeom>
          <a:solidFill>
            <a:schemeClr val="bg2"/>
          </a:solidFill>
          <a:ln/>
        </p:spPr>
      </p:sp>
      <p:sp>
        <p:nvSpPr>
          <p:cNvPr id="12" name="Text 9"/>
          <p:cNvSpPr txBox="1"/>
          <p:nvPr/>
        </p:nvSpPr>
        <p:spPr>
          <a:xfrm>
            <a:off x="777240" y="4572000"/>
            <a:ext cx="1097280" cy="914400"/>
          </a:xfrm>
          <a:prstGeom prst="rect">
            <a:avLst/>
          </a:prstGeom>
          <a:noFill/>
          <a:ln/>
        </p:spPr>
        <p:txBody>
          <a:bodyPr wrap="square" lIns="0" tIns="0" rIns="0" bIns="0" rtlCol="0" anchor="ctr"/>
          <a:lstStyle/>
          <a:p>
            <a:pPr indent="0" marL="0">
              <a:buNone/>
            </a:pPr>
            <a:r>
              <a:rPr lang="en-US" sz="2800" b="1" dirty="0">
                <a:solidFill>
                  <a:schemeClr val="accent1"/>
                </a:solidFill>
                <a:latin typeface="Cambria" pitchFamily="34" charset="0"/>
                <a:ea typeface="Cambria" pitchFamily="34" charset="-122"/>
                <a:cs typeface="Cambria" pitchFamily="34" charset="-120"/>
              </a:rPr>
              <a:t>RQ6</a:t>
            </a:r>
            <a:endParaRPr lang="en-US" sz="2800" dirty="0"/>
          </a:p>
        </p:txBody>
      </p:sp>
      <p:sp>
        <p:nvSpPr>
          <p:cNvPr id="13" name="Text 10"/>
          <p:cNvSpPr txBox="1"/>
          <p:nvPr/>
        </p:nvSpPr>
        <p:spPr>
          <a:xfrm>
            <a:off x="1965960" y="4526280"/>
            <a:ext cx="9509760" cy="1005840"/>
          </a:xfrm>
          <a:prstGeom prst="rect">
            <a:avLst/>
          </a:prstGeom>
          <a:noFill/>
          <a:ln/>
        </p:spPr>
        <p:txBody>
          <a:bodyPr wrap="square" lIns="0" tIns="0" rIns="0" bIns="0" rtlCol="0" anchor="ctr"/>
          <a:lstStyle/>
          <a:p>
            <a:pPr indent="0" marL="0">
              <a:buNone/>
            </a:pPr>
            <a:r>
              <a:rPr lang="en-US" sz="1500" dirty="0">
                <a:solidFill>
                  <a:schemeClr val="tx1"/>
                </a:solidFill>
              </a:rPr>
              <a:t>How can the system be deployed as a mobile application with a design studio, a download website, and an explainable interface with floor plans, 3D models and SHAP explanations?</a:t>
            </a:r>
            <a:endParaRPr lang="en-US" sz="1500" dirty="0"/>
          </a:p>
        </p:txBody>
      </p:sp>
      <p:sp>
        <p:nvSpPr>
          <p:cNvPr id="25" name="Slide Number Placeholder 0"/>
          <p:cNvSpPr>
            <a:spLocks noGrp="1"/>
          </p:cNvSpPr>
          <p:nvPr>
            <p:ph type="sldNum" sz="quarter" idx="4294967295"/>
          </p:nvPr>
        </p:nvSpPr>
        <p:spPr>
          <a:xfrm>
            <a:off x="11064240" y="642823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A8C"/>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body" hasCustomPrompt="1"/>
          </p:nvPr>
        </p:nvSpPr>
        <p:spPr>
          <a:xfrm>
            <a:off x="548640" y="256032"/>
            <a:ext cx="8229600" cy="292608"/>
          </a:xfrm>
          <a:prstGeom prst="rect">
            <a:avLst/>
          </a:prstGeom>
          <a:noFill/>
          <a:ln/>
        </p:spPr>
        <p:txBody>
          <a:bodyPr wrap="square" lIns="0" tIns="0" rIns="0" bIns="0" rtlCol="0"/>
          <a:lstStyle/>
          <a:p>
            <a:pPr indent="0" marL="0">
              <a:buNone/>
            </a:pPr>
            <a:r>
              <a:rPr lang="en-US" sz="1200" b="1" spc="200" kern="0" dirty="0">
                <a:solidFill>
                  <a:schemeClr val="accent5"/>
                </a:solidFill>
              </a:rPr>
              <a:t>SIGNIFICANCE OF THE STUDY</a:t>
            </a:r>
            <a:endParaRPr lang="en-US" sz="1200" dirty="0"/>
          </a:p>
        </p:txBody>
      </p:sp>
      <p:sp>
        <p:nvSpPr>
          <p:cNvPr id="3" name="Text 0"/>
          <p:cNvSpPr/>
          <p:nvPr>
            <p:ph idx="101" type="title" hasCustomPrompt="1"/>
          </p:nvPr>
        </p:nvSpPr>
        <p:spPr>
          <a:xfrm>
            <a:off x="548640" y="530352"/>
            <a:ext cx="11064240" cy="731520"/>
          </a:xfrm>
          <a:prstGeom prst="rect">
            <a:avLst/>
          </a:prstGeom>
          <a:noFill/>
          <a:ln/>
        </p:spPr>
        <p:txBody>
          <a:bodyPr wrap="square" lIns="0" tIns="0" rIns="0" bIns="0" rtlCol="0" anchor="ctr"/>
          <a:lstStyle/>
          <a:p>
            <a:pPr algn="l" indent="0" marL="0">
              <a:buNone/>
            </a:pPr>
            <a:r>
              <a:rPr lang="en-US" sz="3200" b="1" dirty="0">
                <a:solidFill>
                  <a:schemeClr val="tx2"/>
                </a:solidFill>
                <a:latin typeface="Cambria" pitchFamily="34" charset="0"/>
                <a:ea typeface="Cambria" pitchFamily="34" charset="-122"/>
                <a:cs typeface="Cambria" pitchFamily="34" charset="-120"/>
              </a:rPr>
              <a:t>Who Benefits</a:t>
            </a:r>
            <a:endParaRPr lang="en-US" sz="3200" dirty="0"/>
          </a:p>
        </p:txBody>
      </p:sp>
      <p:sp>
        <p:nvSpPr>
          <p:cNvPr id="5" name="card"/>
          <p:cNvSpPr/>
          <p:nvPr/>
        </p:nvSpPr>
        <p:spPr>
          <a:xfrm>
            <a:off x="548640" y="1600200"/>
            <a:ext cx="3520440" cy="2057400"/>
          </a:xfrm>
          <a:prstGeom prst="roundRect">
            <a:avLst>
              <a:gd name="adj" fmla="val 3556"/>
            </a:avLst>
          </a:prstGeom>
          <a:solidFill>
            <a:schemeClr val="bg2"/>
          </a:solidFill>
          <a:ln/>
        </p:spPr>
      </p:sp>
      <p:sp>
        <p:nvSpPr>
          <p:cNvPr id="6" name="icon circle"/>
          <p:cNvSpPr/>
          <p:nvPr/>
        </p:nvSpPr>
        <p:spPr>
          <a:xfrm>
            <a:off x="777240" y="1828800"/>
            <a:ext cx="640080" cy="640080"/>
          </a:xfrm>
          <a:prstGeom prst="ellipse">
            <a:avLst/>
          </a:prstGeom>
          <a:solidFill>
            <a:schemeClr val="tx2"/>
          </a:solidFill>
          <a:ln/>
        </p:spPr>
      </p:sp>
      <p:pic>
        <p:nvPicPr>
          <p:cNvPr id="7" name="icon FaHelmetSafety" descr="HelmetSafety icon">    </p:cNvPr>
          <p:cNvPicPr>
            <a:picLocks noChangeAspect="1"/>
          </p:cNvPicPr>
          <p:nvPr/>
        </p:nvPicPr>
        <p:blipFill>
          <a:blip r:embed="rId1"/>
          <a:stretch>
            <a:fillRect/>
          </a:stretch>
        </p:blipFill>
        <p:spPr>
          <a:xfrm>
            <a:off x="930859" y="1982419"/>
            <a:ext cx="332842" cy="332842"/>
          </a:xfrm>
          <a:prstGeom prst="rect">
            <a:avLst/>
          </a:prstGeom>
        </p:spPr>
      </p:pic>
      <p:sp>
        <p:nvSpPr>
          <p:cNvPr id="8" name="Text 4"/>
          <p:cNvSpPr txBox="1"/>
          <p:nvPr/>
        </p:nvSpPr>
        <p:spPr>
          <a:xfrm>
            <a:off x="1554480" y="1828800"/>
            <a:ext cx="2377440" cy="685800"/>
          </a:xfrm>
          <a:prstGeom prst="rect">
            <a:avLst/>
          </a:prstGeom>
          <a:noFill/>
          <a:ln/>
        </p:spPr>
        <p:txBody>
          <a:bodyPr wrap="square" lIns="0" tIns="0" rIns="0" bIns="0" rtlCol="0" anchor="ctr"/>
          <a:lstStyle/>
          <a:p>
            <a:pPr indent="0" marL="0">
              <a:buNone/>
            </a:pPr>
            <a:r>
              <a:rPr lang="en-US" sz="1600" b="1" dirty="0">
                <a:solidFill>
                  <a:schemeClr val="tx2"/>
                </a:solidFill>
              </a:rPr>
              <a:t>DPWH and Implementing Offices</a:t>
            </a:r>
            <a:endParaRPr lang="en-US" sz="1600" dirty="0"/>
          </a:p>
        </p:txBody>
      </p:sp>
      <p:sp>
        <p:nvSpPr>
          <p:cNvPr id="9" name="Text 5"/>
          <p:cNvSpPr txBox="1"/>
          <p:nvPr/>
        </p:nvSpPr>
        <p:spPr>
          <a:xfrm>
            <a:off x="777240" y="2606040"/>
            <a:ext cx="3108960" cy="960120"/>
          </a:xfrm>
          <a:prstGeom prst="rect">
            <a:avLst/>
          </a:prstGeom>
          <a:noFill/>
          <a:ln/>
        </p:spPr>
        <p:txBody>
          <a:bodyPr wrap="square" lIns="0" tIns="0" rIns="0" bIns="0" rtlCol="0" anchor="t"/>
          <a:lstStyle/>
          <a:p>
            <a:pPr indent="0" marL="0">
              <a:buNone/>
            </a:pPr>
            <a:r>
              <a:rPr lang="en-US" sz="1400" dirty="0">
                <a:solidFill>
                  <a:schemeClr val="tx1"/>
                </a:solidFill>
              </a:rPr>
              <a:t>Cross-check programs of works and ABCs with an independent take-off before bidding; catch errors such as wrong VAT rates.</a:t>
            </a:r>
            <a:endParaRPr lang="en-US" sz="1400" dirty="0"/>
          </a:p>
        </p:txBody>
      </p:sp>
      <p:sp>
        <p:nvSpPr>
          <p:cNvPr id="10" name="card"/>
          <p:cNvSpPr/>
          <p:nvPr/>
        </p:nvSpPr>
        <p:spPr>
          <a:xfrm>
            <a:off x="4297680" y="1600200"/>
            <a:ext cx="3520440" cy="2057400"/>
          </a:xfrm>
          <a:prstGeom prst="roundRect">
            <a:avLst>
              <a:gd name="adj" fmla="val 3556"/>
            </a:avLst>
          </a:prstGeom>
          <a:solidFill>
            <a:schemeClr val="bg2"/>
          </a:solidFill>
          <a:ln/>
        </p:spPr>
      </p:sp>
      <p:sp>
        <p:nvSpPr>
          <p:cNvPr id="11" name="icon circle"/>
          <p:cNvSpPr/>
          <p:nvPr/>
        </p:nvSpPr>
        <p:spPr>
          <a:xfrm>
            <a:off x="4526280" y="1828800"/>
            <a:ext cx="640080" cy="640080"/>
          </a:xfrm>
          <a:prstGeom prst="ellipse">
            <a:avLst/>
          </a:prstGeom>
          <a:solidFill>
            <a:schemeClr val="tx2"/>
          </a:solidFill>
          <a:ln/>
        </p:spPr>
      </p:sp>
      <p:pic>
        <p:nvPicPr>
          <p:cNvPr id="12" name="icon FaGavel" descr="Gavel icon">    </p:cNvPr>
          <p:cNvPicPr>
            <a:picLocks noChangeAspect="1"/>
          </p:cNvPicPr>
          <p:nvPr/>
        </p:nvPicPr>
        <p:blipFill>
          <a:blip r:embed="rId2"/>
          <a:stretch>
            <a:fillRect/>
          </a:stretch>
        </p:blipFill>
        <p:spPr>
          <a:xfrm>
            <a:off x="4679899" y="1982419"/>
            <a:ext cx="332842" cy="332842"/>
          </a:xfrm>
          <a:prstGeom prst="rect">
            <a:avLst/>
          </a:prstGeom>
        </p:spPr>
      </p:pic>
      <p:sp>
        <p:nvSpPr>
          <p:cNvPr id="13" name="Text 8"/>
          <p:cNvSpPr txBox="1"/>
          <p:nvPr/>
        </p:nvSpPr>
        <p:spPr>
          <a:xfrm>
            <a:off x="5303520" y="1828800"/>
            <a:ext cx="2377440" cy="685800"/>
          </a:xfrm>
          <a:prstGeom prst="rect">
            <a:avLst/>
          </a:prstGeom>
          <a:noFill/>
          <a:ln/>
        </p:spPr>
        <p:txBody>
          <a:bodyPr wrap="square" lIns="0" tIns="0" rIns="0" bIns="0" rtlCol="0" anchor="ctr"/>
          <a:lstStyle/>
          <a:p>
            <a:pPr indent="0" marL="0">
              <a:buNone/>
            </a:pPr>
            <a:r>
              <a:rPr lang="en-US" sz="1600" b="1" dirty="0">
                <a:solidFill>
                  <a:schemeClr val="tx2"/>
                </a:solidFill>
              </a:rPr>
              <a:t>COA, Ombudsman and ICI</a:t>
            </a:r>
            <a:endParaRPr lang="en-US" sz="1600" dirty="0"/>
          </a:p>
        </p:txBody>
      </p:sp>
      <p:sp>
        <p:nvSpPr>
          <p:cNvPr id="14" name="Text 9"/>
          <p:cNvSpPr txBox="1"/>
          <p:nvPr/>
        </p:nvSpPr>
        <p:spPr>
          <a:xfrm>
            <a:off x="4526280" y="2606040"/>
            <a:ext cx="3108960" cy="960120"/>
          </a:xfrm>
          <a:prstGeom prst="rect">
            <a:avLst/>
          </a:prstGeom>
          <a:noFill/>
          <a:ln/>
        </p:spPr>
        <p:txBody>
          <a:bodyPr wrap="square" lIns="0" tIns="0" rIns="0" bIns="0" rtlCol="0" anchor="t"/>
          <a:lstStyle/>
          <a:p>
            <a:pPr indent="0" marL="0">
              <a:buNone/>
            </a:pPr>
            <a:r>
              <a:rPr lang="en-US" sz="1400" dirty="0">
                <a:solidFill>
                  <a:schemeClr val="tx1"/>
                </a:solidFill>
              </a:rPr>
              <a:t>Rank contracts by risk and focus field inspections on projects that need them most.</a:t>
            </a:r>
            <a:endParaRPr lang="en-US" sz="1400" dirty="0"/>
          </a:p>
        </p:txBody>
      </p:sp>
      <p:sp>
        <p:nvSpPr>
          <p:cNvPr id="15" name="card"/>
          <p:cNvSpPr/>
          <p:nvPr/>
        </p:nvSpPr>
        <p:spPr>
          <a:xfrm>
            <a:off x="8046720" y="1600200"/>
            <a:ext cx="3520440" cy="2057400"/>
          </a:xfrm>
          <a:prstGeom prst="roundRect">
            <a:avLst>
              <a:gd name="adj" fmla="val 3556"/>
            </a:avLst>
          </a:prstGeom>
          <a:solidFill>
            <a:schemeClr val="bg2"/>
          </a:solidFill>
          <a:ln/>
        </p:spPr>
      </p:sp>
      <p:sp>
        <p:nvSpPr>
          <p:cNvPr id="16" name="icon circle"/>
          <p:cNvSpPr/>
          <p:nvPr/>
        </p:nvSpPr>
        <p:spPr>
          <a:xfrm>
            <a:off x="8275320" y="1828800"/>
            <a:ext cx="640080" cy="640080"/>
          </a:xfrm>
          <a:prstGeom prst="ellipse">
            <a:avLst/>
          </a:prstGeom>
          <a:solidFill>
            <a:schemeClr val="tx2"/>
          </a:solidFill>
          <a:ln/>
        </p:spPr>
      </p:sp>
      <p:pic>
        <p:nvPicPr>
          <p:cNvPr id="17" name="icon FaSchool" descr="School icon">    </p:cNvPr>
          <p:cNvPicPr>
            <a:picLocks noChangeAspect="1"/>
          </p:cNvPicPr>
          <p:nvPr/>
        </p:nvPicPr>
        <p:blipFill>
          <a:blip r:embed="rId3"/>
          <a:stretch>
            <a:fillRect/>
          </a:stretch>
        </p:blipFill>
        <p:spPr>
          <a:xfrm>
            <a:off x="8428939" y="1982419"/>
            <a:ext cx="332842" cy="332842"/>
          </a:xfrm>
          <a:prstGeom prst="rect">
            <a:avLst/>
          </a:prstGeom>
        </p:spPr>
      </p:pic>
      <p:sp>
        <p:nvSpPr>
          <p:cNvPr id="18" name="Text 12"/>
          <p:cNvSpPr txBox="1"/>
          <p:nvPr/>
        </p:nvSpPr>
        <p:spPr>
          <a:xfrm>
            <a:off x="9052560" y="1828800"/>
            <a:ext cx="2377440" cy="685800"/>
          </a:xfrm>
          <a:prstGeom prst="rect">
            <a:avLst/>
          </a:prstGeom>
          <a:noFill/>
          <a:ln/>
        </p:spPr>
        <p:txBody>
          <a:bodyPr wrap="square" lIns="0" tIns="0" rIns="0" bIns="0" rtlCol="0" anchor="ctr"/>
          <a:lstStyle/>
          <a:p>
            <a:pPr indent="0" marL="0">
              <a:buNone/>
            </a:pPr>
            <a:r>
              <a:rPr lang="en-US" sz="1600" b="1" dirty="0">
                <a:solidFill>
                  <a:schemeClr val="tx2"/>
                </a:solidFill>
              </a:rPr>
              <a:t>LGUs, DepEd and DOH Offices</a:t>
            </a:r>
            <a:endParaRPr lang="en-US" sz="1600" dirty="0"/>
          </a:p>
        </p:txBody>
      </p:sp>
      <p:sp>
        <p:nvSpPr>
          <p:cNvPr id="19" name="Text 13"/>
          <p:cNvSpPr txBox="1"/>
          <p:nvPr/>
        </p:nvSpPr>
        <p:spPr>
          <a:xfrm>
            <a:off x="8275320" y="2606040"/>
            <a:ext cx="3108960" cy="960120"/>
          </a:xfrm>
          <a:prstGeom prst="rect">
            <a:avLst/>
          </a:prstGeom>
          <a:noFill/>
          <a:ln/>
        </p:spPr>
        <p:txBody>
          <a:bodyPr wrap="square" lIns="0" tIns="0" rIns="0" bIns="0" rtlCol="0" anchor="t"/>
          <a:lstStyle/>
          <a:p>
            <a:pPr indent="0" marL="0">
              <a:buNone/>
            </a:pPr>
            <a:r>
              <a:rPr lang="en-US" sz="1400" dirty="0">
                <a:solidFill>
                  <a:schemeClr val="tx1"/>
                </a:solidFill>
              </a:rPr>
              <a:t>Get a design and a starting quotation from just a requirement or a budget.</a:t>
            </a:r>
            <a:endParaRPr lang="en-US" sz="1400" dirty="0"/>
          </a:p>
        </p:txBody>
      </p:sp>
      <p:sp>
        <p:nvSpPr>
          <p:cNvPr id="20" name="card"/>
          <p:cNvSpPr/>
          <p:nvPr/>
        </p:nvSpPr>
        <p:spPr>
          <a:xfrm>
            <a:off x="548640" y="3886200"/>
            <a:ext cx="3520440" cy="2057400"/>
          </a:xfrm>
          <a:prstGeom prst="roundRect">
            <a:avLst>
              <a:gd name="adj" fmla="val 3556"/>
            </a:avLst>
          </a:prstGeom>
          <a:solidFill>
            <a:schemeClr val="bg2"/>
          </a:solidFill>
          <a:ln/>
        </p:spPr>
      </p:sp>
      <p:sp>
        <p:nvSpPr>
          <p:cNvPr id="21" name="icon circle"/>
          <p:cNvSpPr/>
          <p:nvPr/>
        </p:nvSpPr>
        <p:spPr>
          <a:xfrm>
            <a:off x="777240" y="4114800"/>
            <a:ext cx="640080" cy="640080"/>
          </a:xfrm>
          <a:prstGeom prst="ellipse">
            <a:avLst/>
          </a:prstGeom>
          <a:solidFill>
            <a:schemeClr val="tx2"/>
          </a:solidFill>
          <a:ln/>
        </p:spPr>
      </p:sp>
      <p:pic>
        <p:nvPicPr>
          <p:cNvPr id="22" name="icon FaHandshake" descr="Handshake icon">    </p:cNvPr>
          <p:cNvPicPr>
            <a:picLocks noChangeAspect="1"/>
          </p:cNvPicPr>
          <p:nvPr/>
        </p:nvPicPr>
        <p:blipFill>
          <a:blip r:embed="rId4"/>
          <a:stretch>
            <a:fillRect/>
          </a:stretch>
        </p:blipFill>
        <p:spPr>
          <a:xfrm>
            <a:off x="930859" y="4268419"/>
            <a:ext cx="332842" cy="332842"/>
          </a:xfrm>
          <a:prstGeom prst="rect">
            <a:avLst/>
          </a:prstGeom>
        </p:spPr>
      </p:pic>
      <p:sp>
        <p:nvSpPr>
          <p:cNvPr id="23" name="Text 16"/>
          <p:cNvSpPr txBox="1"/>
          <p:nvPr/>
        </p:nvSpPr>
        <p:spPr>
          <a:xfrm>
            <a:off x="1554480" y="4114800"/>
            <a:ext cx="2377440" cy="685800"/>
          </a:xfrm>
          <a:prstGeom prst="rect">
            <a:avLst/>
          </a:prstGeom>
          <a:noFill/>
          <a:ln/>
        </p:spPr>
        <p:txBody>
          <a:bodyPr wrap="square" lIns="0" tIns="0" rIns="0" bIns="0" rtlCol="0" anchor="ctr"/>
          <a:lstStyle/>
          <a:p>
            <a:pPr indent="0" marL="0">
              <a:buNone/>
            </a:pPr>
            <a:r>
              <a:rPr lang="en-US" sz="1600" b="1" dirty="0">
                <a:solidFill>
                  <a:schemeClr val="tx2"/>
                </a:solidFill>
              </a:rPr>
              <a:t>Contractors</a:t>
            </a:r>
            <a:endParaRPr lang="en-US" sz="1600" dirty="0"/>
          </a:p>
        </p:txBody>
      </p:sp>
      <p:sp>
        <p:nvSpPr>
          <p:cNvPr id="24" name="Text 17"/>
          <p:cNvSpPr txBox="1"/>
          <p:nvPr/>
        </p:nvSpPr>
        <p:spPr>
          <a:xfrm>
            <a:off x="777240" y="4892040"/>
            <a:ext cx="3108960" cy="960120"/>
          </a:xfrm>
          <a:prstGeom prst="rect">
            <a:avLst/>
          </a:prstGeom>
          <a:noFill/>
          <a:ln/>
        </p:spPr>
        <p:txBody>
          <a:bodyPr wrap="square" lIns="0" tIns="0" rIns="0" bIns="0" rtlCol="0" anchor="t"/>
          <a:lstStyle/>
          <a:p>
            <a:pPr indent="0" marL="0">
              <a:buNone/>
            </a:pPr>
            <a:r>
              <a:rPr lang="en-US" sz="1400" dirty="0">
                <a:solidFill>
                  <a:schemeClr val="tx1"/>
                </a:solidFill>
              </a:rPr>
              <a:t>A public reference that rewards fair bids and helps honest bidders defend their price.</a:t>
            </a:r>
            <a:endParaRPr lang="en-US" sz="1400" dirty="0"/>
          </a:p>
        </p:txBody>
      </p:sp>
      <p:sp>
        <p:nvSpPr>
          <p:cNvPr id="25" name="card"/>
          <p:cNvSpPr/>
          <p:nvPr/>
        </p:nvSpPr>
        <p:spPr>
          <a:xfrm>
            <a:off x="4297680" y="3886200"/>
            <a:ext cx="3520440" cy="2057400"/>
          </a:xfrm>
          <a:prstGeom prst="roundRect">
            <a:avLst>
              <a:gd name="adj" fmla="val 3556"/>
            </a:avLst>
          </a:prstGeom>
          <a:solidFill>
            <a:schemeClr val="bg2"/>
          </a:solidFill>
          <a:ln/>
        </p:spPr>
      </p:sp>
      <p:sp>
        <p:nvSpPr>
          <p:cNvPr id="26" name="icon circle"/>
          <p:cNvSpPr/>
          <p:nvPr/>
        </p:nvSpPr>
        <p:spPr>
          <a:xfrm>
            <a:off x="4526280" y="4114800"/>
            <a:ext cx="640080" cy="640080"/>
          </a:xfrm>
          <a:prstGeom prst="ellipse">
            <a:avLst/>
          </a:prstGeom>
          <a:solidFill>
            <a:schemeClr val="tx2"/>
          </a:solidFill>
          <a:ln/>
        </p:spPr>
      </p:sp>
      <p:pic>
        <p:nvPicPr>
          <p:cNvPr id="27" name="icon FaPeopleGroup" descr="PeopleGroup icon">    </p:cNvPr>
          <p:cNvPicPr>
            <a:picLocks noChangeAspect="1"/>
          </p:cNvPicPr>
          <p:nvPr/>
        </p:nvPicPr>
        <p:blipFill>
          <a:blip r:embed="rId5"/>
          <a:stretch>
            <a:fillRect/>
          </a:stretch>
        </p:blipFill>
        <p:spPr>
          <a:xfrm>
            <a:off x="4679899" y="4268419"/>
            <a:ext cx="332842" cy="332842"/>
          </a:xfrm>
          <a:prstGeom prst="rect">
            <a:avLst/>
          </a:prstGeom>
        </p:spPr>
      </p:pic>
      <p:sp>
        <p:nvSpPr>
          <p:cNvPr id="28" name="Text 20"/>
          <p:cNvSpPr txBox="1"/>
          <p:nvPr/>
        </p:nvSpPr>
        <p:spPr>
          <a:xfrm>
            <a:off x="5303520" y="4114800"/>
            <a:ext cx="2377440" cy="685800"/>
          </a:xfrm>
          <a:prstGeom prst="rect">
            <a:avLst/>
          </a:prstGeom>
          <a:noFill/>
          <a:ln/>
        </p:spPr>
        <p:txBody>
          <a:bodyPr wrap="square" lIns="0" tIns="0" rIns="0" bIns="0" rtlCol="0" anchor="ctr"/>
          <a:lstStyle/>
          <a:p>
            <a:pPr indent="0" marL="0">
              <a:buNone/>
            </a:pPr>
            <a:r>
              <a:rPr lang="en-US" sz="1600" b="1" dirty="0">
                <a:solidFill>
                  <a:schemeClr val="tx2"/>
                </a:solidFill>
              </a:rPr>
              <a:t>Taxpayers, Civil Society, Media</a:t>
            </a:r>
            <a:endParaRPr lang="en-US" sz="1600" dirty="0"/>
          </a:p>
        </p:txBody>
      </p:sp>
      <p:sp>
        <p:nvSpPr>
          <p:cNvPr id="29" name="Text 21"/>
          <p:cNvSpPr txBox="1"/>
          <p:nvPr/>
        </p:nvSpPr>
        <p:spPr>
          <a:xfrm>
            <a:off x="4526280" y="4892040"/>
            <a:ext cx="3108960" cy="960120"/>
          </a:xfrm>
          <a:prstGeom prst="rect">
            <a:avLst/>
          </a:prstGeom>
          <a:noFill/>
          <a:ln/>
        </p:spPr>
        <p:txBody>
          <a:bodyPr wrap="square" lIns="0" tIns="0" rIns="0" bIns="0" rtlCol="0" anchor="t"/>
          <a:lstStyle/>
          <a:p>
            <a:pPr indent="0" marL="0">
              <a:buNone/>
            </a:pPr>
            <a:r>
              <a:rPr lang="en-US" sz="1400" dirty="0">
                <a:solidFill>
                  <a:schemeClr val="tx1"/>
                </a:solidFill>
              </a:rPr>
              <a:t>Check a project on a phone and see the bill of quantities behind a price.</a:t>
            </a:r>
            <a:endParaRPr lang="en-US" sz="1400" dirty="0"/>
          </a:p>
        </p:txBody>
      </p:sp>
      <p:sp>
        <p:nvSpPr>
          <p:cNvPr id="30" name="card"/>
          <p:cNvSpPr/>
          <p:nvPr/>
        </p:nvSpPr>
        <p:spPr>
          <a:xfrm>
            <a:off x="8046720" y="3886200"/>
            <a:ext cx="3520440" cy="2057400"/>
          </a:xfrm>
          <a:prstGeom prst="roundRect">
            <a:avLst>
              <a:gd name="adj" fmla="val 3556"/>
            </a:avLst>
          </a:prstGeom>
          <a:solidFill>
            <a:schemeClr val="bg2"/>
          </a:solidFill>
          <a:ln/>
        </p:spPr>
      </p:sp>
      <p:sp>
        <p:nvSpPr>
          <p:cNvPr id="31" name="icon circle"/>
          <p:cNvSpPr/>
          <p:nvPr/>
        </p:nvSpPr>
        <p:spPr>
          <a:xfrm>
            <a:off x="8275320" y="4114800"/>
            <a:ext cx="640080" cy="640080"/>
          </a:xfrm>
          <a:prstGeom prst="ellipse">
            <a:avLst/>
          </a:prstGeom>
          <a:solidFill>
            <a:schemeClr val="tx2"/>
          </a:solidFill>
          <a:ln/>
        </p:spPr>
      </p:sp>
      <p:pic>
        <p:nvPicPr>
          <p:cNvPr id="32" name="icon FaGraduationCap" descr="GraduationCap icon">    </p:cNvPr>
          <p:cNvPicPr>
            <a:picLocks noChangeAspect="1"/>
          </p:cNvPicPr>
          <p:nvPr/>
        </p:nvPicPr>
        <p:blipFill>
          <a:blip r:embed="rId6"/>
          <a:stretch>
            <a:fillRect/>
          </a:stretch>
        </p:blipFill>
        <p:spPr>
          <a:xfrm>
            <a:off x="8428939" y="4268419"/>
            <a:ext cx="332842" cy="332842"/>
          </a:xfrm>
          <a:prstGeom prst="rect">
            <a:avLst/>
          </a:prstGeom>
        </p:spPr>
      </p:pic>
      <p:sp>
        <p:nvSpPr>
          <p:cNvPr id="33" name="Text 24"/>
          <p:cNvSpPr txBox="1"/>
          <p:nvPr/>
        </p:nvSpPr>
        <p:spPr>
          <a:xfrm>
            <a:off x="9052560" y="4114800"/>
            <a:ext cx="2377440" cy="685800"/>
          </a:xfrm>
          <a:prstGeom prst="rect">
            <a:avLst/>
          </a:prstGeom>
          <a:noFill/>
          <a:ln/>
        </p:spPr>
        <p:txBody>
          <a:bodyPr wrap="square" lIns="0" tIns="0" rIns="0" bIns="0" rtlCol="0" anchor="ctr"/>
          <a:lstStyle/>
          <a:p>
            <a:pPr indent="0" marL="0">
              <a:buNone/>
            </a:pPr>
            <a:r>
              <a:rPr lang="en-US" sz="1600" b="1" dirty="0">
                <a:solidFill>
                  <a:schemeClr val="tx2"/>
                </a:solidFill>
              </a:rPr>
              <a:t>Academe and Future Researchers</a:t>
            </a:r>
            <a:endParaRPr lang="en-US" sz="1600" dirty="0"/>
          </a:p>
        </p:txBody>
      </p:sp>
      <p:sp>
        <p:nvSpPr>
          <p:cNvPr id="34" name="Text 25"/>
          <p:cNvSpPr txBox="1"/>
          <p:nvPr/>
        </p:nvSpPr>
        <p:spPr>
          <a:xfrm>
            <a:off x="8275320" y="4892040"/>
            <a:ext cx="3108960" cy="960120"/>
          </a:xfrm>
          <a:prstGeom prst="rect">
            <a:avLst/>
          </a:prstGeom>
          <a:noFill/>
          <a:ln/>
        </p:spPr>
        <p:txBody>
          <a:bodyPr wrap="square" lIns="0" tIns="0" rIns="0" bIns="0" rtlCol="0" anchor="t"/>
          <a:lstStyle/>
          <a:p>
            <a:pPr indent="0" marL="0">
              <a:buNone/>
            </a:pPr>
            <a:r>
              <a:rPr lang="en-US" sz="1400" dirty="0">
                <a:solidFill>
                  <a:schemeClr val="tx1"/>
                </a:solidFill>
              </a:rPr>
              <a:t>A reproducible pipeline, a benchmark with known overpricing and an open price book.</a:t>
            </a:r>
            <a:endParaRPr lang="en-US" sz="1400" dirty="0"/>
          </a:p>
        </p:txBody>
      </p:sp>
      <p:sp>
        <p:nvSpPr>
          <p:cNvPr id="25" name="Slide Number Placeholder 0"/>
          <p:cNvSpPr>
            <a:spLocks noGrp="1"/>
          </p:cNvSpPr>
          <p:nvPr>
            <p:ph type="sldNum" sz="quarter" idx="4294967295"/>
          </p:nvPr>
        </p:nvSpPr>
        <p:spPr>
          <a:xfrm>
            <a:off x="11064240" y="642823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A8C"/>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body" hasCustomPrompt="1"/>
          </p:nvPr>
        </p:nvSpPr>
        <p:spPr>
          <a:xfrm>
            <a:off x="548640" y="256032"/>
            <a:ext cx="8229600" cy="292608"/>
          </a:xfrm>
          <a:prstGeom prst="rect">
            <a:avLst/>
          </a:prstGeom>
          <a:noFill/>
          <a:ln/>
        </p:spPr>
        <p:txBody>
          <a:bodyPr wrap="square" lIns="0" tIns="0" rIns="0" bIns="0" rtlCol="0"/>
          <a:lstStyle/>
          <a:p>
            <a:pPr indent="0" marL="0">
              <a:buNone/>
            </a:pPr>
            <a:r>
              <a:rPr lang="en-US" sz="1200" b="1" spc="200" kern="0" dirty="0">
                <a:solidFill>
                  <a:schemeClr val="accent5"/>
                </a:solidFill>
              </a:rPr>
              <a:t>SIGNIFICANCE OF THE STUDY</a:t>
            </a:r>
            <a:endParaRPr lang="en-US" sz="1200" dirty="0"/>
          </a:p>
        </p:txBody>
      </p:sp>
      <p:sp>
        <p:nvSpPr>
          <p:cNvPr id="3" name="Text 0"/>
          <p:cNvSpPr/>
          <p:nvPr>
            <p:ph idx="101" type="title" hasCustomPrompt="1"/>
          </p:nvPr>
        </p:nvSpPr>
        <p:spPr>
          <a:xfrm>
            <a:off x="548640" y="530352"/>
            <a:ext cx="11064240" cy="731520"/>
          </a:xfrm>
          <a:prstGeom prst="rect">
            <a:avLst/>
          </a:prstGeom>
          <a:noFill/>
          <a:ln/>
        </p:spPr>
        <p:txBody>
          <a:bodyPr wrap="square" lIns="0" tIns="0" rIns="0" bIns="0" rtlCol="0" anchor="ctr"/>
          <a:lstStyle/>
          <a:p>
            <a:pPr algn="l" indent="0" marL="0">
              <a:buNone/>
            </a:pPr>
            <a:r>
              <a:rPr lang="en-US" sz="3200" b="1" dirty="0">
                <a:solidFill>
                  <a:schemeClr val="tx2"/>
                </a:solidFill>
                <a:latin typeface="Cambria" pitchFamily="34" charset="0"/>
                <a:ea typeface="Cambria" pitchFamily="34" charset="-122"/>
                <a:cs typeface="Cambria" pitchFamily="34" charset="-120"/>
              </a:rPr>
              <a:t>Alignment with the SDGs</a:t>
            </a:r>
            <a:endParaRPr lang="en-US" sz="3200" dirty="0"/>
          </a:p>
        </p:txBody>
      </p:sp>
      <p:sp>
        <p:nvSpPr>
          <p:cNvPr id="5" name="SDG 16"/>
          <p:cNvSpPr/>
          <p:nvPr/>
        </p:nvSpPr>
        <p:spPr>
          <a:xfrm>
            <a:off x="548640" y="1600200"/>
            <a:ext cx="2057400" cy="4526280"/>
          </a:xfrm>
          <a:prstGeom prst="roundRect">
            <a:avLst>
              <a:gd name="adj" fmla="val 3556"/>
            </a:avLst>
          </a:prstGeom>
          <a:solidFill>
            <a:srgbClr val="B8322A"/>
          </a:solidFill>
          <a:ln/>
        </p:spPr>
      </p:sp>
      <p:sp>
        <p:nvSpPr>
          <p:cNvPr id="6" name="Text 3"/>
          <p:cNvSpPr txBox="1"/>
          <p:nvPr/>
        </p:nvSpPr>
        <p:spPr>
          <a:xfrm>
            <a:off x="749808" y="1783080"/>
            <a:ext cx="1691640" cy="822960"/>
          </a:xfrm>
          <a:prstGeom prst="rect">
            <a:avLst/>
          </a:prstGeom>
          <a:noFill/>
          <a:ln/>
        </p:spPr>
        <p:txBody>
          <a:bodyPr wrap="square" lIns="0" tIns="0" rIns="0" bIns="0" rtlCol="0" anchor="t"/>
          <a:lstStyle/>
          <a:p>
            <a:pPr indent="0" marL="0">
              <a:buNone/>
            </a:pPr>
            <a:r>
              <a:rPr lang="en-US" sz="3400" b="1" dirty="0">
                <a:solidFill>
                  <a:srgbClr val="FFFFFF"/>
                </a:solidFill>
                <a:latin typeface="Cambria" pitchFamily="34" charset="0"/>
                <a:ea typeface="Cambria" pitchFamily="34" charset="-122"/>
                <a:cs typeface="Cambria" pitchFamily="34" charset="-120"/>
              </a:rPr>
              <a:t>SDG 16</a:t>
            </a:r>
            <a:endParaRPr lang="en-US" sz="3400" dirty="0"/>
          </a:p>
        </p:txBody>
      </p:sp>
      <p:sp>
        <p:nvSpPr>
          <p:cNvPr id="7" name="Text 4"/>
          <p:cNvSpPr txBox="1"/>
          <p:nvPr/>
        </p:nvSpPr>
        <p:spPr>
          <a:xfrm>
            <a:off x="749808" y="2651760"/>
            <a:ext cx="1691640" cy="1097280"/>
          </a:xfrm>
          <a:prstGeom prst="rect">
            <a:avLst/>
          </a:prstGeom>
          <a:noFill/>
          <a:ln/>
        </p:spPr>
        <p:txBody>
          <a:bodyPr wrap="square" lIns="0" tIns="0" rIns="0" bIns="0" rtlCol="0" anchor="t"/>
          <a:lstStyle/>
          <a:p>
            <a:pPr indent="0" marL="0">
              <a:buNone/>
            </a:pPr>
            <a:r>
              <a:rPr lang="en-US" sz="1600" b="1" dirty="0">
                <a:solidFill>
                  <a:srgbClr val="FFFFFF"/>
                </a:solidFill>
              </a:rPr>
              <a:t>Peace, Justice and Strong Institutions</a:t>
            </a:r>
            <a:endParaRPr lang="en-US" sz="1600" dirty="0"/>
          </a:p>
        </p:txBody>
      </p:sp>
      <p:sp>
        <p:nvSpPr>
          <p:cNvPr id="8" name="Text 5"/>
          <p:cNvSpPr txBox="1"/>
          <p:nvPr/>
        </p:nvSpPr>
        <p:spPr>
          <a:xfrm>
            <a:off x="749808" y="3840480"/>
            <a:ext cx="1691640" cy="2103120"/>
          </a:xfrm>
          <a:prstGeom prst="rect">
            <a:avLst/>
          </a:prstGeom>
          <a:noFill/>
          <a:ln/>
        </p:spPr>
        <p:txBody>
          <a:bodyPr wrap="square" lIns="0" tIns="0" rIns="0" bIns="0" rtlCol="0" anchor="t"/>
          <a:lstStyle/>
          <a:p>
            <a:pPr indent="0" marL="0">
              <a:buNone/>
            </a:pPr>
            <a:r>
              <a:rPr lang="en-US" sz="1400" dirty="0">
                <a:solidFill>
                  <a:srgbClr val="FFFFFF"/>
                </a:solidFill>
              </a:rPr>
              <a:t>16.5 reduce corruption and bribery; 16.6 accountable institutions; 16.10 public access to information</a:t>
            </a:r>
            <a:endParaRPr lang="en-US" sz="1400" dirty="0"/>
          </a:p>
        </p:txBody>
      </p:sp>
      <p:sp>
        <p:nvSpPr>
          <p:cNvPr id="9" name="SDG 9"/>
          <p:cNvSpPr/>
          <p:nvPr/>
        </p:nvSpPr>
        <p:spPr>
          <a:xfrm>
            <a:off x="2807208" y="1600200"/>
            <a:ext cx="2057400" cy="4526280"/>
          </a:xfrm>
          <a:prstGeom prst="roundRect">
            <a:avLst>
              <a:gd name="adj" fmla="val 3556"/>
            </a:avLst>
          </a:prstGeom>
          <a:solidFill>
            <a:srgbClr val="E3A51A"/>
          </a:solidFill>
          <a:ln/>
        </p:spPr>
      </p:sp>
      <p:sp>
        <p:nvSpPr>
          <p:cNvPr id="10" name="Text 7"/>
          <p:cNvSpPr txBox="1"/>
          <p:nvPr/>
        </p:nvSpPr>
        <p:spPr>
          <a:xfrm>
            <a:off x="3008376" y="1783080"/>
            <a:ext cx="1691640" cy="822960"/>
          </a:xfrm>
          <a:prstGeom prst="rect">
            <a:avLst/>
          </a:prstGeom>
          <a:noFill/>
          <a:ln/>
        </p:spPr>
        <p:txBody>
          <a:bodyPr wrap="square" lIns="0" tIns="0" rIns="0" bIns="0" rtlCol="0" anchor="t"/>
          <a:lstStyle/>
          <a:p>
            <a:pPr indent="0" marL="0">
              <a:buNone/>
            </a:pPr>
            <a:r>
              <a:rPr lang="en-US" sz="3400" b="1" dirty="0">
                <a:solidFill>
                  <a:srgbClr val="FFFFFF"/>
                </a:solidFill>
                <a:latin typeface="Cambria" pitchFamily="34" charset="0"/>
                <a:ea typeface="Cambria" pitchFamily="34" charset="-122"/>
                <a:cs typeface="Cambria" pitchFamily="34" charset="-120"/>
              </a:rPr>
              <a:t>SDG 9</a:t>
            </a:r>
            <a:endParaRPr lang="en-US" sz="3400" dirty="0"/>
          </a:p>
        </p:txBody>
      </p:sp>
      <p:sp>
        <p:nvSpPr>
          <p:cNvPr id="11" name="Text 8"/>
          <p:cNvSpPr txBox="1"/>
          <p:nvPr/>
        </p:nvSpPr>
        <p:spPr>
          <a:xfrm>
            <a:off x="3008376" y="2651760"/>
            <a:ext cx="1691640" cy="1097280"/>
          </a:xfrm>
          <a:prstGeom prst="rect">
            <a:avLst/>
          </a:prstGeom>
          <a:noFill/>
          <a:ln/>
        </p:spPr>
        <p:txBody>
          <a:bodyPr wrap="square" lIns="0" tIns="0" rIns="0" bIns="0" rtlCol="0" anchor="t"/>
          <a:lstStyle/>
          <a:p>
            <a:pPr indent="0" marL="0">
              <a:buNone/>
            </a:pPr>
            <a:r>
              <a:rPr lang="en-US" sz="1600" b="1" dirty="0">
                <a:solidFill>
                  <a:srgbClr val="FFFFFF"/>
                </a:solidFill>
              </a:rPr>
              <a:t>Industry, Innovation and Infrastructure</a:t>
            </a:r>
            <a:endParaRPr lang="en-US" sz="1600" dirty="0"/>
          </a:p>
        </p:txBody>
      </p:sp>
      <p:sp>
        <p:nvSpPr>
          <p:cNvPr id="12" name="Text 9"/>
          <p:cNvSpPr txBox="1"/>
          <p:nvPr/>
        </p:nvSpPr>
        <p:spPr>
          <a:xfrm>
            <a:off x="3008376" y="3840480"/>
            <a:ext cx="1691640" cy="2103120"/>
          </a:xfrm>
          <a:prstGeom prst="rect">
            <a:avLst/>
          </a:prstGeom>
          <a:noFill/>
          <a:ln/>
        </p:spPr>
        <p:txBody>
          <a:bodyPr wrap="square" lIns="0" tIns="0" rIns="0" bIns="0" rtlCol="0" anchor="t"/>
          <a:lstStyle/>
          <a:p>
            <a:pPr indent="0" marL="0">
              <a:buNone/>
            </a:pPr>
            <a:r>
              <a:rPr lang="en-US" sz="1400" dirty="0">
                <a:solidFill>
                  <a:srgbClr val="FFFFFF"/>
                </a:solidFill>
              </a:rPr>
              <a:t>9.1 quality, reliable and resilient infrastructure</a:t>
            </a:r>
            <a:endParaRPr lang="en-US" sz="1400" dirty="0"/>
          </a:p>
        </p:txBody>
      </p:sp>
      <p:sp>
        <p:nvSpPr>
          <p:cNvPr id="13" name="SDG 11"/>
          <p:cNvSpPr/>
          <p:nvPr/>
        </p:nvSpPr>
        <p:spPr>
          <a:xfrm>
            <a:off x="5065776" y="1600200"/>
            <a:ext cx="2057400" cy="4526280"/>
          </a:xfrm>
          <a:prstGeom prst="roundRect">
            <a:avLst>
              <a:gd name="adj" fmla="val 3556"/>
            </a:avLst>
          </a:prstGeom>
          <a:solidFill>
            <a:srgbClr val="8A5A00"/>
          </a:solidFill>
          <a:ln/>
        </p:spPr>
      </p:sp>
      <p:sp>
        <p:nvSpPr>
          <p:cNvPr id="14" name="Text 11"/>
          <p:cNvSpPr txBox="1"/>
          <p:nvPr/>
        </p:nvSpPr>
        <p:spPr>
          <a:xfrm>
            <a:off x="5266944" y="1783080"/>
            <a:ext cx="1691640" cy="822960"/>
          </a:xfrm>
          <a:prstGeom prst="rect">
            <a:avLst/>
          </a:prstGeom>
          <a:noFill/>
          <a:ln/>
        </p:spPr>
        <p:txBody>
          <a:bodyPr wrap="square" lIns="0" tIns="0" rIns="0" bIns="0" rtlCol="0" anchor="t"/>
          <a:lstStyle/>
          <a:p>
            <a:pPr indent="0" marL="0">
              <a:buNone/>
            </a:pPr>
            <a:r>
              <a:rPr lang="en-US" sz="3400" b="1" dirty="0">
                <a:solidFill>
                  <a:srgbClr val="FFFFFF"/>
                </a:solidFill>
                <a:latin typeface="Cambria" pitchFamily="34" charset="0"/>
                <a:ea typeface="Cambria" pitchFamily="34" charset="-122"/>
                <a:cs typeface="Cambria" pitchFamily="34" charset="-120"/>
              </a:rPr>
              <a:t>SDG 11</a:t>
            </a:r>
            <a:endParaRPr lang="en-US" sz="3400" dirty="0"/>
          </a:p>
        </p:txBody>
      </p:sp>
      <p:sp>
        <p:nvSpPr>
          <p:cNvPr id="15" name="Text 12"/>
          <p:cNvSpPr txBox="1"/>
          <p:nvPr/>
        </p:nvSpPr>
        <p:spPr>
          <a:xfrm>
            <a:off x="5266944" y="2651760"/>
            <a:ext cx="1691640" cy="1097280"/>
          </a:xfrm>
          <a:prstGeom prst="rect">
            <a:avLst/>
          </a:prstGeom>
          <a:noFill/>
          <a:ln/>
        </p:spPr>
        <p:txBody>
          <a:bodyPr wrap="square" lIns="0" tIns="0" rIns="0" bIns="0" rtlCol="0" anchor="t"/>
          <a:lstStyle/>
          <a:p>
            <a:pPr indent="0" marL="0">
              <a:buNone/>
            </a:pPr>
            <a:r>
              <a:rPr lang="en-US" sz="1600" b="1" dirty="0">
                <a:solidFill>
                  <a:srgbClr val="FFFFFF"/>
                </a:solidFill>
              </a:rPr>
              <a:t>Sustainable Cities and Communities</a:t>
            </a:r>
            <a:endParaRPr lang="en-US" sz="1600" dirty="0"/>
          </a:p>
        </p:txBody>
      </p:sp>
      <p:sp>
        <p:nvSpPr>
          <p:cNvPr id="16" name="Text 13"/>
          <p:cNvSpPr txBox="1"/>
          <p:nvPr/>
        </p:nvSpPr>
        <p:spPr>
          <a:xfrm>
            <a:off x="5266944" y="3840480"/>
            <a:ext cx="1691640" cy="2103120"/>
          </a:xfrm>
          <a:prstGeom prst="rect">
            <a:avLst/>
          </a:prstGeom>
          <a:noFill/>
          <a:ln/>
        </p:spPr>
        <p:txBody>
          <a:bodyPr wrap="square" lIns="0" tIns="0" rIns="0" bIns="0" rtlCol="0" anchor="t"/>
          <a:lstStyle/>
          <a:p>
            <a:pPr indent="0" marL="0">
              <a:buNone/>
            </a:pPr>
            <a:r>
              <a:rPr lang="en-US" sz="1400" dirty="0">
                <a:solidFill>
                  <a:srgbClr val="FFFFFF"/>
                </a:solidFill>
              </a:rPr>
              <a:t>11.5 reduce losses from disasters</a:t>
            </a:r>
            <a:endParaRPr lang="en-US" sz="1400" dirty="0"/>
          </a:p>
        </p:txBody>
      </p:sp>
      <p:sp>
        <p:nvSpPr>
          <p:cNvPr id="17" name="SDG 12"/>
          <p:cNvSpPr/>
          <p:nvPr/>
        </p:nvSpPr>
        <p:spPr>
          <a:xfrm>
            <a:off x="7324344" y="1600200"/>
            <a:ext cx="2057400" cy="4526280"/>
          </a:xfrm>
          <a:prstGeom prst="roundRect">
            <a:avLst>
              <a:gd name="adj" fmla="val 3556"/>
            </a:avLst>
          </a:prstGeom>
          <a:solidFill>
            <a:srgbClr val="1F7A5A"/>
          </a:solidFill>
          <a:ln/>
        </p:spPr>
      </p:sp>
      <p:sp>
        <p:nvSpPr>
          <p:cNvPr id="18" name="Text 15"/>
          <p:cNvSpPr txBox="1"/>
          <p:nvPr/>
        </p:nvSpPr>
        <p:spPr>
          <a:xfrm>
            <a:off x="7525512" y="1783080"/>
            <a:ext cx="1691640" cy="822960"/>
          </a:xfrm>
          <a:prstGeom prst="rect">
            <a:avLst/>
          </a:prstGeom>
          <a:noFill/>
          <a:ln/>
        </p:spPr>
        <p:txBody>
          <a:bodyPr wrap="square" lIns="0" tIns="0" rIns="0" bIns="0" rtlCol="0" anchor="t"/>
          <a:lstStyle/>
          <a:p>
            <a:pPr indent="0" marL="0">
              <a:buNone/>
            </a:pPr>
            <a:r>
              <a:rPr lang="en-US" sz="3400" b="1" dirty="0">
                <a:solidFill>
                  <a:srgbClr val="FFFFFF"/>
                </a:solidFill>
                <a:latin typeface="Cambria" pitchFamily="34" charset="0"/>
                <a:ea typeface="Cambria" pitchFamily="34" charset="-122"/>
                <a:cs typeface="Cambria" pitchFamily="34" charset="-120"/>
              </a:rPr>
              <a:t>SDG 12</a:t>
            </a:r>
            <a:endParaRPr lang="en-US" sz="3400" dirty="0"/>
          </a:p>
        </p:txBody>
      </p:sp>
      <p:sp>
        <p:nvSpPr>
          <p:cNvPr id="19" name="Text 16"/>
          <p:cNvSpPr txBox="1"/>
          <p:nvPr/>
        </p:nvSpPr>
        <p:spPr>
          <a:xfrm>
            <a:off x="7525512" y="2651760"/>
            <a:ext cx="1691640" cy="1097280"/>
          </a:xfrm>
          <a:prstGeom prst="rect">
            <a:avLst/>
          </a:prstGeom>
          <a:noFill/>
          <a:ln/>
        </p:spPr>
        <p:txBody>
          <a:bodyPr wrap="square" lIns="0" tIns="0" rIns="0" bIns="0" rtlCol="0" anchor="t"/>
          <a:lstStyle/>
          <a:p>
            <a:pPr indent="0" marL="0">
              <a:buNone/>
            </a:pPr>
            <a:r>
              <a:rPr lang="en-US" sz="1600" b="1" dirty="0">
                <a:solidFill>
                  <a:srgbClr val="FFFFFF"/>
                </a:solidFill>
              </a:rPr>
              <a:t>Responsible Consumption and Production</a:t>
            </a:r>
            <a:endParaRPr lang="en-US" sz="1600" dirty="0"/>
          </a:p>
        </p:txBody>
      </p:sp>
      <p:sp>
        <p:nvSpPr>
          <p:cNvPr id="20" name="Text 17"/>
          <p:cNvSpPr txBox="1"/>
          <p:nvPr/>
        </p:nvSpPr>
        <p:spPr>
          <a:xfrm>
            <a:off x="7525512" y="3840480"/>
            <a:ext cx="1691640" cy="2103120"/>
          </a:xfrm>
          <a:prstGeom prst="rect">
            <a:avLst/>
          </a:prstGeom>
          <a:noFill/>
          <a:ln/>
        </p:spPr>
        <p:txBody>
          <a:bodyPr wrap="square" lIns="0" tIns="0" rIns="0" bIns="0" rtlCol="0" anchor="t"/>
          <a:lstStyle/>
          <a:p>
            <a:pPr indent="0" marL="0">
              <a:buNone/>
            </a:pPr>
            <a:r>
              <a:rPr lang="en-US" sz="1400" dirty="0">
                <a:solidFill>
                  <a:srgbClr val="FFFFFF"/>
                </a:solidFill>
              </a:rPr>
              <a:t>12.7 sustainable public procurement (RA 12009)</a:t>
            </a:r>
            <a:endParaRPr lang="en-US" sz="1400" dirty="0"/>
          </a:p>
        </p:txBody>
      </p:sp>
      <p:sp>
        <p:nvSpPr>
          <p:cNvPr id="21" name="SDG 4"/>
          <p:cNvSpPr/>
          <p:nvPr/>
        </p:nvSpPr>
        <p:spPr>
          <a:xfrm>
            <a:off x="9582912" y="1600200"/>
            <a:ext cx="2057400" cy="4526280"/>
          </a:xfrm>
          <a:prstGeom prst="roundRect">
            <a:avLst>
              <a:gd name="adj" fmla="val 3556"/>
            </a:avLst>
          </a:prstGeom>
          <a:solidFill>
            <a:srgbClr val="4F7CAC"/>
          </a:solidFill>
          <a:ln/>
        </p:spPr>
      </p:sp>
      <p:sp>
        <p:nvSpPr>
          <p:cNvPr id="22" name="Text 19"/>
          <p:cNvSpPr txBox="1"/>
          <p:nvPr/>
        </p:nvSpPr>
        <p:spPr>
          <a:xfrm>
            <a:off x="9784080" y="1783080"/>
            <a:ext cx="1691640" cy="822960"/>
          </a:xfrm>
          <a:prstGeom prst="rect">
            <a:avLst/>
          </a:prstGeom>
          <a:noFill/>
          <a:ln/>
        </p:spPr>
        <p:txBody>
          <a:bodyPr wrap="square" lIns="0" tIns="0" rIns="0" bIns="0" rtlCol="0" anchor="t"/>
          <a:lstStyle/>
          <a:p>
            <a:pPr indent="0" marL="0">
              <a:buNone/>
            </a:pPr>
            <a:r>
              <a:rPr lang="en-US" sz="3400" b="1" dirty="0">
                <a:solidFill>
                  <a:srgbClr val="FFFFFF"/>
                </a:solidFill>
                <a:latin typeface="Cambria" pitchFamily="34" charset="0"/>
                <a:ea typeface="Cambria" pitchFamily="34" charset="-122"/>
                <a:cs typeface="Cambria" pitchFamily="34" charset="-120"/>
              </a:rPr>
              <a:t>SDG 4</a:t>
            </a:r>
            <a:endParaRPr lang="en-US" sz="3400" dirty="0"/>
          </a:p>
        </p:txBody>
      </p:sp>
      <p:sp>
        <p:nvSpPr>
          <p:cNvPr id="23" name="Text 20"/>
          <p:cNvSpPr txBox="1"/>
          <p:nvPr/>
        </p:nvSpPr>
        <p:spPr>
          <a:xfrm>
            <a:off x="9784080" y="2651760"/>
            <a:ext cx="1691640" cy="1097280"/>
          </a:xfrm>
          <a:prstGeom prst="rect">
            <a:avLst/>
          </a:prstGeom>
          <a:noFill/>
          <a:ln/>
        </p:spPr>
        <p:txBody>
          <a:bodyPr wrap="square" lIns="0" tIns="0" rIns="0" bIns="0" rtlCol="0" anchor="t"/>
          <a:lstStyle/>
          <a:p>
            <a:pPr indent="0" marL="0">
              <a:buNone/>
            </a:pPr>
            <a:r>
              <a:rPr lang="en-US" sz="1600" b="1" dirty="0">
                <a:solidFill>
                  <a:srgbClr val="FFFFFF"/>
                </a:solidFill>
              </a:rPr>
              <a:t>Quality Education</a:t>
            </a:r>
            <a:endParaRPr lang="en-US" sz="1600" dirty="0"/>
          </a:p>
        </p:txBody>
      </p:sp>
      <p:sp>
        <p:nvSpPr>
          <p:cNvPr id="24" name="Text 21"/>
          <p:cNvSpPr txBox="1"/>
          <p:nvPr/>
        </p:nvSpPr>
        <p:spPr>
          <a:xfrm>
            <a:off x="9784080" y="3840480"/>
            <a:ext cx="1691640" cy="2103120"/>
          </a:xfrm>
          <a:prstGeom prst="rect">
            <a:avLst/>
          </a:prstGeom>
          <a:noFill/>
          <a:ln/>
        </p:spPr>
        <p:txBody>
          <a:bodyPr wrap="square" lIns="0" tIns="0" rIns="0" bIns="0" rtlCol="0" anchor="t"/>
          <a:lstStyle/>
          <a:p>
            <a:pPr indent="0" marL="0">
              <a:buNone/>
            </a:pPr>
            <a:r>
              <a:rPr lang="en-US" sz="1400" dirty="0">
                <a:solidFill>
                  <a:srgbClr val="FFFFFF"/>
                </a:solidFill>
              </a:rPr>
              <a:t>4.a build and upgrade education facilities</a:t>
            </a:r>
            <a:endParaRPr lang="en-US" sz="1400" dirty="0"/>
          </a:p>
        </p:txBody>
      </p:sp>
      <p:sp>
        <p:nvSpPr>
          <p:cNvPr id="25" name="Slide Number Placeholder 0"/>
          <p:cNvSpPr>
            <a:spLocks noGrp="1"/>
          </p:cNvSpPr>
          <p:nvPr>
            <p:ph type="sldNum" sz="quarter" idx="4294967295"/>
          </p:nvPr>
        </p:nvSpPr>
        <p:spPr>
          <a:xfrm>
            <a:off x="11064240" y="642823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A8C"/>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body" hasCustomPrompt="1"/>
          </p:nvPr>
        </p:nvSpPr>
        <p:spPr>
          <a:xfrm>
            <a:off x="548640" y="256032"/>
            <a:ext cx="8229600" cy="292608"/>
          </a:xfrm>
          <a:prstGeom prst="rect">
            <a:avLst/>
          </a:prstGeom>
          <a:noFill/>
          <a:ln/>
        </p:spPr>
        <p:txBody>
          <a:bodyPr wrap="square" lIns="0" tIns="0" rIns="0" bIns="0" rtlCol="0"/>
          <a:lstStyle/>
          <a:p>
            <a:pPr indent="0" marL="0">
              <a:buNone/>
            </a:pPr>
            <a:r>
              <a:rPr lang="en-US" sz="1200" b="1" spc="200" kern="0" dirty="0">
                <a:solidFill>
                  <a:schemeClr val="accent5"/>
                </a:solidFill>
              </a:rPr>
              <a:t>SCOPE AND DELIMITATION</a:t>
            </a:r>
            <a:endParaRPr lang="en-US" sz="1200" dirty="0"/>
          </a:p>
        </p:txBody>
      </p:sp>
      <p:sp>
        <p:nvSpPr>
          <p:cNvPr id="3" name="Text 0"/>
          <p:cNvSpPr/>
          <p:nvPr>
            <p:ph idx="101" type="title" hasCustomPrompt="1"/>
          </p:nvPr>
        </p:nvSpPr>
        <p:spPr>
          <a:xfrm>
            <a:off x="548640" y="530352"/>
            <a:ext cx="11064240" cy="731520"/>
          </a:xfrm>
          <a:prstGeom prst="rect">
            <a:avLst/>
          </a:prstGeom>
          <a:noFill/>
          <a:ln/>
        </p:spPr>
        <p:txBody>
          <a:bodyPr wrap="square" lIns="0" tIns="0" rIns="0" bIns="0" rtlCol="0" anchor="ctr"/>
          <a:lstStyle/>
          <a:p>
            <a:pPr algn="l" indent="0" marL="0">
              <a:buNone/>
            </a:pPr>
            <a:r>
              <a:rPr lang="en-US" sz="3200" b="1" dirty="0">
                <a:solidFill>
                  <a:schemeClr val="tx2"/>
                </a:solidFill>
                <a:latin typeface="Cambria" pitchFamily="34" charset="0"/>
                <a:ea typeface="Cambria" pitchFamily="34" charset="-122"/>
                <a:cs typeface="Cambria" pitchFamily="34" charset="-120"/>
              </a:rPr>
              <a:t>What the Study Covers</a:t>
            </a:r>
            <a:endParaRPr lang="en-US" sz="3200" dirty="0"/>
          </a:p>
        </p:txBody>
      </p:sp>
      <p:sp>
        <p:nvSpPr>
          <p:cNvPr id="5" name="card"/>
          <p:cNvSpPr/>
          <p:nvPr/>
        </p:nvSpPr>
        <p:spPr>
          <a:xfrm>
            <a:off x="548640" y="1600200"/>
            <a:ext cx="5440680" cy="4526280"/>
          </a:xfrm>
          <a:prstGeom prst="roundRect">
            <a:avLst>
              <a:gd name="adj" fmla="val 1616"/>
            </a:avLst>
          </a:prstGeom>
          <a:solidFill>
            <a:schemeClr val="bg2"/>
          </a:solidFill>
          <a:ln/>
        </p:spPr>
      </p:sp>
      <p:sp>
        <p:nvSpPr>
          <p:cNvPr id="6" name="icon circle"/>
          <p:cNvSpPr/>
          <p:nvPr/>
        </p:nvSpPr>
        <p:spPr>
          <a:xfrm>
            <a:off x="777240" y="1783080"/>
            <a:ext cx="640080" cy="640080"/>
          </a:xfrm>
          <a:prstGeom prst="ellipse">
            <a:avLst/>
          </a:prstGeom>
          <a:solidFill>
            <a:schemeClr val="accent3"/>
          </a:solidFill>
          <a:ln/>
        </p:spPr>
      </p:sp>
      <p:pic>
        <p:nvPicPr>
          <p:cNvPr id="7" name="icon FaCircleCheck" descr="CircleCheck icon">    </p:cNvPr>
          <p:cNvPicPr>
            <a:picLocks noChangeAspect="1"/>
          </p:cNvPicPr>
          <p:nvPr/>
        </p:nvPicPr>
        <p:blipFill>
          <a:blip r:embed="rId1"/>
          <a:stretch>
            <a:fillRect/>
          </a:stretch>
        </p:blipFill>
        <p:spPr>
          <a:xfrm>
            <a:off x="930859" y="1936699"/>
            <a:ext cx="332842" cy="332842"/>
          </a:xfrm>
          <a:prstGeom prst="rect">
            <a:avLst/>
          </a:prstGeom>
        </p:spPr>
      </p:pic>
      <p:sp>
        <p:nvSpPr>
          <p:cNvPr id="8" name="Text 4"/>
          <p:cNvSpPr txBox="1"/>
          <p:nvPr/>
        </p:nvSpPr>
        <p:spPr>
          <a:xfrm>
            <a:off x="1600200" y="1783080"/>
            <a:ext cx="4114800" cy="640080"/>
          </a:xfrm>
          <a:prstGeom prst="rect">
            <a:avLst/>
          </a:prstGeom>
          <a:noFill/>
          <a:ln/>
        </p:spPr>
        <p:txBody>
          <a:bodyPr wrap="square" lIns="0" tIns="0" rIns="0" bIns="0" rtlCol="0" anchor="ctr"/>
          <a:lstStyle/>
          <a:p>
            <a:pPr indent="0" marL="0">
              <a:buNone/>
            </a:pPr>
            <a:r>
              <a:rPr lang="en-US" sz="2200" b="1" dirty="0">
                <a:solidFill>
                  <a:schemeClr val="tx2"/>
                </a:solidFill>
              </a:rPr>
              <a:t>Covers</a:t>
            </a:r>
            <a:endParaRPr lang="en-US" sz="2200" dirty="0"/>
          </a:p>
        </p:txBody>
      </p:sp>
      <p:sp>
        <p:nvSpPr>
          <p:cNvPr id="9" name="Text 5"/>
          <p:cNvSpPr txBox="1"/>
          <p:nvPr/>
        </p:nvSpPr>
        <p:spPr>
          <a:xfrm>
            <a:off x="777240" y="2560320"/>
            <a:ext cx="5029200" cy="347472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chemeClr val="tx1"/>
                </a:solidFill>
              </a:rPr>
              <a:t>Public buildings: schools, government offices, health facilities, multi-purpose halls and evacuation centers, covered courts, dormitories, public markets</a:t>
            </a:r>
            <a:endParaRPr lang="en-US" sz="1400" dirty="0"/>
          </a:p>
          <a:p>
            <a:pPr marL="342900" indent="-342900">
              <a:spcAft>
                <a:spcPts val="600"/>
              </a:spcAft>
              <a:buSzPct val="100000"/>
              <a:buChar char="•"/>
            </a:pPr>
            <a:r>
              <a:rPr lang="en-US" sz="1400" dirty="0">
                <a:solidFill>
                  <a:schemeClr val="tx1"/>
                </a:solidFill>
              </a:rPr>
              <a:t>Bridges: RC box culverts, RC deck girders (RCDG), prestressed concrete girders (PSCG), steel trusses; spread footings, driven piles, bored piles</a:t>
            </a:r>
            <a:endParaRPr lang="en-US" sz="1400" dirty="0"/>
          </a:p>
          <a:p>
            <a:pPr marL="342900" indent="-342900">
              <a:spcAft>
                <a:spcPts val="600"/>
              </a:spcAft>
              <a:buSzPct val="100000"/>
              <a:buChar char="•"/>
            </a:pPr>
            <a:r>
              <a:rPr lang="en-US" sz="1400" dirty="0">
                <a:solidFill>
                  <a:schemeClr val="tx1"/>
                </a:solidFill>
              </a:rPr>
              <a:t>Six Bicol provinces: Albay, Camarines Norte, Camarines Sur, Catanduanes, Masbate, Sorsogon; price years 2022–2026</a:t>
            </a:r>
            <a:endParaRPr lang="en-US" sz="1400" dirty="0"/>
          </a:p>
          <a:p>
            <a:pPr marL="342900" indent="-342900">
              <a:spcAft>
                <a:spcPts val="600"/>
              </a:spcAft>
              <a:buSzPct val="100000"/>
              <a:buChar char="•"/>
            </a:pPr>
            <a:r>
              <a:rPr lang="en-US" sz="1400" dirty="0">
                <a:solidFill>
                  <a:schemeClr val="tx1"/>
                </a:solidFill>
              </a:rPr>
              <a:t>Plan input by dimensions, reference plans, DXF outlines and generated designs</a:t>
            </a:r>
            <a:endParaRPr lang="en-US" sz="1400" dirty="0"/>
          </a:p>
        </p:txBody>
      </p:sp>
      <p:sp>
        <p:nvSpPr>
          <p:cNvPr id="10" name="card"/>
          <p:cNvSpPr/>
          <p:nvPr/>
        </p:nvSpPr>
        <p:spPr>
          <a:xfrm>
            <a:off x="6199632" y="1600200"/>
            <a:ext cx="5440680" cy="4526280"/>
          </a:xfrm>
          <a:prstGeom prst="roundRect">
            <a:avLst>
              <a:gd name="adj" fmla="val 1616"/>
            </a:avLst>
          </a:prstGeom>
          <a:solidFill>
            <a:schemeClr val="bg2"/>
          </a:solidFill>
          <a:ln/>
        </p:spPr>
      </p:sp>
      <p:sp>
        <p:nvSpPr>
          <p:cNvPr id="11" name="icon circle"/>
          <p:cNvSpPr/>
          <p:nvPr/>
        </p:nvSpPr>
        <p:spPr>
          <a:xfrm>
            <a:off x="6428232" y="1783080"/>
            <a:ext cx="640080" cy="640080"/>
          </a:xfrm>
          <a:prstGeom prst="ellipse">
            <a:avLst/>
          </a:prstGeom>
          <a:solidFill>
            <a:schemeClr val="accent2"/>
          </a:solidFill>
          <a:ln/>
        </p:spPr>
      </p:sp>
      <p:pic>
        <p:nvPicPr>
          <p:cNvPr id="12" name="icon FaCircleXmark" descr="CircleXmark icon">    </p:cNvPr>
          <p:cNvPicPr>
            <a:picLocks noChangeAspect="1"/>
          </p:cNvPicPr>
          <p:nvPr/>
        </p:nvPicPr>
        <p:blipFill>
          <a:blip r:embed="rId2"/>
          <a:stretch>
            <a:fillRect/>
          </a:stretch>
        </p:blipFill>
        <p:spPr>
          <a:xfrm>
            <a:off x="6581851" y="1936699"/>
            <a:ext cx="332842" cy="332842"/>
          </a:xfrm>
          <a:prstGeom prst="rect">
            <a:avLst/>
          </a:prstGeom>
        </p:spPr>
      </p:pic>
      <p:sp>
        <p:nvSpPr>
          <p:cNvPr id="13" name="Text 8"/>
          <p:cNvSpPr txBox="1"/>
          <p:nvPr/>
        </p:nvSpPr>
        <p:spPr>
          <a:xfrm>
            <a:off x="7251192" y="1783080"/>
            <a:ext cx="4114800" cy="640080"/>
          </a:xfrm>
          <a:prstGeom prst="rect">
            <a:avLst/>
          </a:prstGeom>
          <a:noFill/>
          <a:ln/>
        </p:spPr>
        <p:txBody>
          <a:bodyPr wrap="square" lIns="0" tIns="0" rIns="0" bIns="0" rtlCol="0" anchor="ctr"/>
          <a:lstStyle/>
          <a:p>
            <a:pPr indent="0" marL="0">
              <a:buNone/>
            </a:pPr>
            <a:r>
              <a:rPr lang="en-US" sz="2200" b="1" dirty="0">
                <a:solidFill>
                  <a:schemeClr val="tx2"/>
                </a:solidFill>
              </a:rPr>
              <a:t>Delimitations</a:t>
            </a:r>
            <a:endParaRPr lang="en-US" sz="2200" dirty="0"/>
          </a:p>
        </p:txBody>
      </p:sp>
      <p:sp>
        <p:nvSpPr>
          <p:cNvPr id="14" name="Text 9"/>
          <p:cNvSpPr txBox="1"/>
          <p:nvPr/>
        </p:nvSpPr>
        <p:spPr>
          <a:xfrm>
            <a:off x="6428232" y="2560320"/>
            <a:ext cx="5029200" cy="347472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chemeClr val="tx1"/>
                </a:solidFill>
              </a:rPr>
              <a:t>Roads, flood control, water supply, ports, land acquisition, right-of-way, design and supervision fees, furniture and equipment are excluded</a:t>
            </a:r>
            <a:endParaRPr lang="en-US" sz="1400" dirty="0"/>
          </a:p>
          <a:p>
            <a:pPr marL="342900" indent="-342900">
              <a:spcAft>
                <a:spcPts val="600"/>
              </a:spcAft>
              <a:buSzPct val="100000"/>
              <a:buChar char="•"/>
            </a:pPr>
            <a:r>
              <a:rPr lang="en-US" sz="1400" dirty="0">
                <a:solidFill>
                  <a:schemeClr val="tx1"/>
                </a:solidFill>
              </a:rPr>
              <a:t>Unit costs are indicative 2025 Albay prices with location factors and a yearly index</a:t>
            </a:r>
            <a:endParaRPr lang="en-US" sz="1400" dirty="0"/>
          </a:p>
          <a:p>
            <a:pPr marL="342900" indent="-342900">
              <a:spcAft>
                <a:spcPts val="600"/>
              </a:spcAft>
              <a:buSzPct val="100000"/>
              <a:buChar char="•"/>
            </a:pPr>
            <a:r>
              <a:rPr lang="en-US" sz="1400" dirty="0">
                <a:solidFill>
                  <a:schemeClr val="tx1"/>
                </a:solidFill>
              </a:rPr>
              <a:t>Generated designs are schematic, for estimating only; licensed architects and engineers must develop them</a:t>
            </a:r>
            <a:endParaRPr lang="en-US" sz="1400" dirty="0"/>
          </a:p>
          <a:p>
            <a:pPr marL="342900" indent="-342900">
              <a:spcAft>
                <a:spcPts val="600"/>
              </a:spcAft>
              <a:buSzPct val="100000"/>
              <a:buChar char="•"/>
            </a:pPr>
            <a:r>
              <a:rPr lang="en-US" sz="1400" dirty="0">
                <a:solidFill>
                  <a:schemeClr val="tx1"/>
                </a:solidFill>
              </a:rPr>
              <a:t>Models are trained and validated on a 300-project simulated benchmark (SBD-300); a flag is not evidence of wrongdoing</a:t>
            </a:r>
            <a:endParaRPr lang="en-US" sz="1400" dirty="0"/>
          </a:p>
        </p:txBody>
      </p:sp>
      <p:sp>
        <p:nvSpPr>
          <p:cNvPr id="25" name="Slide Number Placeholder 0"/>
          <p:cNvSpPr>
            <a:spLocks noGrp="1"/>
          </p:cNvSpPr>
          <p:nvPr>
            <p:ph type="sldNum" sz="quarter" idx="4294967295"/>
          </p:nvPr>
        </p:nvSpPr>
        <p:spPr>
          <a:xfrm>
            <a:off x="11064240" y="642823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A8C"/>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body" hasCustomPrompt="1"/>
          </p:nvPr>
        </p:nvSpPr>
        <p:spPr>
          <a:xfrm>
            <a:off x="548640" y="256032"/>
            <a:ext cx="8229600" cy="292608"/>
          </a:xfrm>
          <a:prstGeom prst="rect">
            <a:avLst/>
          </a:prstGeom>
          <a:noFill/>
          <a:ln/>
        </p:spPr>
        <p:txBody>
          <a:bodyPr wrap="square" lIns="0" tIns="0" rIns="0" bIns="0" rtlCol="0"/>
          <a:lstStyle/>
          <a:p>
            <a:pPr indent="0" marL="0">
              <a:buNone/>
            </a:pPr>
            <a:r>
              <a:rPr lang="en-US" sz="1200" b="1" spc="200" kern="0" dirty="0">
                <a:solidFill>
                  <a:schemeClr val="accent5"/>
                </a:solidFill>
              </a:rPr>
              <a:t>DEFINITION OF TERMS</a:t>
            </a:r>
            <a:endParaRPr lang="en-US" sz="1200" dirty="0"/>
          </a:p>
        </p:txBody>
      </p:sp>
      <p:sp>
        <p:nvSpPr>
          <p:cNvPr id="3" name="Text 0"/>
          <p:cNvSpPr/>
          <p:nvPr>
            <p:ph idx="101" type="title" hasCustomPrompt="1"/>
          </p:nvPr>
        </p:nvSpPr>
        <p:spPr>
          <a:xfrm>
            <a:off x="548640" y="530352"/>
            <a:ext cx="11064240" cy="731520"/>
          </a:xfrm>
          <a:prstGeom prst="rect">
            <a:avLst/>
          </a:prstGeom>
          <a:noFill/>
          <a:ln/>
        </p:spPr>
        <p:txBody>
          <a:bodyPr wrap="square" lIns="0" tIns="0" rIns="0" bIns="0" rtlCol="0" anchor="ctr"/>
          <a:lstStyle/>
          <a:p>
            <a:pPr algn="l" indent="0" marL="0">
              <a:buNone/>
            </a:pPr>
            <a:r>
              <a:rPr lang="en-US" sz="3200" b="1" dirty="0">
                <a:solidFill>
                  <a:schemeClr val="tx2"/>
                </a:solidFill>
                <a:latin typeface="Cambria" pitchFamily="34" charset="0"/>
                <a:ea typeface="Cambria" pitchFamily="34" charset="-122"/>
                <a:cs typeface="Cambria" pitchFamily="34" charset="-120"/>
              </a:rPr>
              <a:t>Key Terms</a:t>
            </a:r>
            <a:endParaRPr lang="en-US" sz="3200" dirty="0"/>
          </a:p>
        </p:txBody>
      </p:sp>
      <p:graphicFrame>
        <p:nvGraphicFramePr>
          <p:cNvPr id="13" name="terms table"/>
          <p:cNvGraphicFramePr>
            <a:graphicFrameLocks noGrp="1"/>
          </p:cNvGraphicFramePr>
          <p:nvPr>
            <p:extLst>
              <p:ext uri="{D42A27DB-BD31-4B8C-83A1-F6EECF244321}">
                <p14:modId xmlns:p14="http://schemas.microsoft.com/office/powerpoint/2010/main" val="1579011935"/>
              </p:ext>
            </p:extLst>
          </p:nvPr>
        </p:nvGraphicFramePr>
        <p:xfrm>
          <a:off x="548640" y="1463040"/>
          <a:ext cx="11091672" cy="914400"/>
        </p:xfrm>
        <a:graphic>
          <a:graphicData uri="http://schemas.openxmlformats.org/drawingml/2006/table">
            <a:tbl>
              <a:tblPr/>
              <a:tblGrid>
                <a:gridCol w="3108960"/>
                <a:gridCol w="7982712"/>
              </a:tblGrid>
              <a:tr h="457200">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Term</a:t>
                      </a:r>
                      <a:endParaRPr lang="en-US" sz="1300" dirty="0">
                        <a:latin typeface="Calibri" charset="0"/>
                        <a:ea typeface="Calibri" charset="0"/>
                        <a:cs typeface="Calibri" charset="0"/>
                      </a:endParaRPr>
                    </a:p>
                  </a:txBody>
                  <a:tcPr marL="91440" marR="91440" marT="36576" marB="36576"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rgbClr val="12345A"/>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Operational definition</a:t>
                      </a:r>
                      <a:endParaRPr lang="en-US" sz="1300" dirty="0">
                        <a:latin typeface="Calibri" charset="0"/>
                        <a:ea typeface="Calibri" charset="0"/>
                        <a:cs typeface="Calibri" charset="0"/>
                      </a:endParaRPr>
                    </a:p>
                  </a:txBody>
                  <a:tcPr marL="91440" marR="91440" marT="36576" marB="36576"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rgbClr val="12345A"/>
                    </a:solidFill>
                  </a:tcPr>
                </a:tc>
              </a:tr>
              <a:tr h="457200">
                <a:tc>
                  <a:txBody>
                    <a:bodyPr/>
                    <a:lstStyle/>
                    <a:p>
                      <a:pPr indent="0" marL="0">
                        <a:buNone/>
                      </a:pPr>
                      <a:r>
                        <a:rPr lang="en-US" sz="1250" b="1" dirty="0">
                          <a:solidFill>
                            <a:srgbClr val="12345A"/>
                          </a:solidFill>
                          <a:latin typeface="Calibri" pitchFamily="34" charset="0"/>
                          <a:ea typeface="Calibri" pitchFamily="34" charset="-122"/>
                          <a:cs typeface="Calibri" pitchFamily="34" charset="-120"/>
                        </a:rPr>
                        <a:t>Approved Budget for the Contract (ABC)</a:t>
                      </a:r>
                      <a:endParaRPr lang="en-US" sz="1250" dirty="0">
                        <a:latin typeface="Calibri" charset="0"/>
                        <a:ea typeface="Calibri" charset="0"/>
                        <a:cs typeface="Calibri" charset="0"/>
                      </a:endParaRPr>
                    </a:p>
                  </a:txBody>
                  <a:tcPr marL="91440" marR="91440" marT="36576" marB="36576"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rgbClr val="FFFFFF"/>
                    </a:solidFill>
                  </a:tcPr>
                </a:tc>
                <a:tc>
                  <a:txBody>
                    <a:bodyPr/>
                    <a:lstStyle/>
                    <a:p>
                      <a:pPr indent="0" marL="0">
                        <a:buNone/>
                      </a:pPr>
                      <a:r>
                        <a:rPr lang="en-US" sz="1250" dirty="0">
                          <a:solidFill>
                            <a:srgbClr val="14202E"/>
                          </a:solidFill>
                          <a:latin typeface="Calibri" pitchFamily="34" charset="0"/>
                          <a:ea typeface="Calibri" pitchFamily="34" charset="-122"/>
                          <a:cs typeface="Calibri" pitchFamily="34" charset="-120"/>
                        </a:rPr>
                        <a:t>The ceiling price a procuring entity sets; computed as EDC plus OCM, profit and 5% VAT under DPWH D.O. 197 s. 2016 and D.O. 30 s. 2025.</a:t>
                      </a:r>
                      <a:endParaRPr lang="en-US" sz="1250" dirty="0">
                        <a:latin typeface="Calibri" charset="0"/>
                        <a:ea typeface="Calibri" charset="0"/>
                        <a:cs typeface="Calibri" charset="0"/>
                      </a:endParaRPr>
                    </a:p>
                  </a:txBody>
                  <a:tcPr marL="91440" marR="91440" marT="36576" marB="36576"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rgbClr val="FFFFFF"/>
                    </a:solidFill>
                  </a:tcPr>
                </a:tc>
              </a:tr>
              <a:tr h="457200">
                <a:tc>
                  <a:txBody>
                    <a:bodyPr/>
                    <a:lstStyle/>
                    <a:p>
                      <a:pPr indent="0" marL="0">
                        <a:buNone/>
                      </a:pPr>
                      <a:r>
                        <a:rPr lang="en-US" sz="1250" b="1" dirty="0">
                          <a:solidFill>
                            <a:srgbClr val="12345A"/>
                          </a:solidFill>
                          <a:latin typeface="Calibri" pitchFamily="34" charset="0"/>
                          <a:ea typeface="Calibri" pitchFamily="34" charset="-122"/>
                          <a:cs typeface="Calibri" pitchFamily="34" charset="-120"/>
                        </a:rPr>
                        <a:t>Lean Start Quotation</a:t>
                      </a:r>
                      <a:endParaRPr lang="en-US" sz="1250" dirty="0">
                        <a:latin typeface="Calibri" charset="0"/>
                        <a:ea typeface="Calibri" charset="0"/>
                        <a:cs typeface="Calibri" charset="0"/>
                      </a:endParaRPr>
                    </a:p>
                  </a:txBody>
                  <a:tcPr marL="91440" marR="91440" marT="36576" marB="36576"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rgbClr val="FFFFFF"/>
                    </a:solidFill>
                  </a:tcPr>
                </a:tc>
                <a:tc>
                  <a:txBody>
                    <a:bodyPr/>
                    <a:lstStyle/>
                    <a:p>
                      <a:pPr indent="0" marL="0">
                        <a:buNone/>
                      </a:pPr>
                      <a:r>
                        <a:rPr lang="en-US" sz="1250" dirty="0">
                          <a:solidFill>
                            <a:srgbClr val="14202E"/>
                          </a:solidFill>
                          <a:latin typeface="Calibri" pitchFamily="34" charset="0"/>
                          <a:ea typeface="Calibri" pitchFamily="34" charset="-122"/>
                          <a:cs typeface="Calibri" pitchFamily="34" charset="-120"/>
                        </a:rPr>
                        <a:t>The lowest code-compliant price of a plan: minimum NSCP reinforcement and basic finishes; the recommended starting price.</a:t>
                      </a:r>
                      <a:endParaRPr lang="en-US" sz="1250" dirty="0">
                        <a:latin typeface="Calibri" charset="0"/>
                        <a:ea typeface="Calibri" charset="0"/>
                        <a:cs typeface="Calibri" charset="0"/>
                      </a:endParaRPr>
                    </a:p>
                  </a:txBody>
                  <a:tcPr marL="91440" marR="91440" marT="36576" marB="36576"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rgbClr val="FFFFFF"/>
                    </a:solidFill>
                  </a:tcPr>
                </a:tc>
              </a:tr>
              <a:tr h="457200">
                <a:tc>
                  <a:txBody>
                    <a:bodyPr/>
                    <a:lstStyle/>
                    <a:p>
                      <a:pPr indent="0" marL="0">
                        <a:buNone/>
                      </a:pPr>
                      <a:r>
                        <a:rPr lang="en-US" sz="1250" b="1" dirty="0">
                          <a:solidFill>
                            <a:srgbClr val="12345A"/>
                          </a:solidFill>
                          <a:latin typeface="Calibri" pitchFamily="34" charset="0"/>
                          <a:ea typeface="Calibri" pitchFamily="34" charset="-122"/>
                          <a:cs typeface="Calibri" pitchFamily="34" charset="-120"/>
                        </a:rPr>
                        <a:t>Standard Fair Estimate</a:t>
                      </a:r>
                      <a:endParaRPr lang="en-US" sz="1250" dirty="0">
                        <a:latin typeface="Calibri" charset="0"/>
                        <a:ea typeface="Calibri" charset="0"/>
                        <a:cs typeface="Calibri" charset="0"/>
                      </a:endParaRPr>
                    </a:p>
                  </a:txBody>
                  <a:tcPr marL="91440" marR="91440" marT="36576" marB="36576"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rgbClr val="FFFFFF"/>
                    </a:solidFill>
                  </a:tcPr>
                </a:tc>
                <a:tc>
                  <a:txBody>
                    <a:bodyPr/>
                    <a:lstStyle/>
                    <a:p>
                      <a:pPr indent="0" marL="0">
                        <a:buNone/>
                      </a:pPr>
                      <a:r>
                        <a:rPr lang="en-US" sz="1250" dirty="0">
                          <a:solidFill>
                            <a:srgbClr val="14202E"/>
                          </a:solidFill>
                          <a:latin typeface="Calibri" pitchFamily="34" charset="0"/>
                          <a:ea typeface="Calibri" pitchFamily="34" charset="-122"/>
                          <a:cs typeface="Calibri" pitchFamily="34" charset="-120"/>
                        </a:rPr>
                        <a:t>The ABC at typical DPWH design intensities; the reference for the over-budget ratio.</a:t>
                      </a:r>
                      <a:endParaRPr lang="en-US" sz="1250" dirty="0">
                        <a:latin typeface="Calibri" charset="0"/>
                        <a:ea typeface="Calibri" charset="0"/>
                        <a:cs typeface="Calibri" charset="0"/>
                      </a:endParaRPr>
                    </a:p>
                  </a:txBody>
                  <a:tcPr marL="91440" marR="91440" marT="36576" marB="36576"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rgbClr val="FFFFFF"/>
                    </a:solidFill>
                  </a:tcPr>
                </a:tc>
              </a:tr>
              <a:tr h="457200">
                <a:tc>
                  <a:txBody>
                    <a:bodyPr/>
                    <a:lstStyle/>
                    <a:p>
                      <a:pPr indent="0" marL="0">
                        <a:buNone/>
                      </a:pPr>
                      <a:r>
                        <a:rPr lang="en-US" sz="1250" b="1" dirty="0">
                          <a:solidFill>
                            <a:srgbClr val="12345A"/>
                          </a:solidFill>
                          <a:latin typeface="Calibri" pitchFamily="34" charset="0"/>
                          <a:ea typeface="Calibri" pitchFamily="34" charset="-122"/>
                          <a:cs typeface="Calibri" pitchFamily="34" charset="-120"/>
                        </a:rPr>
                        <a:t>Ceiling Estimate</a:t>
                      </a:r>
                      <a:endParaRPr lang="en-US" sz="1250" dirty="0">
                        <a:latin typeface="Calibri" charset="0"/>
                        <a:ea typeface="Calibri" charset="0"/>
                        <a:cs typeface="Calibri" charset="0"/>
                      </a:endParaRPr>
                    </a:p>
                  </a:txBody>
                  <a:tcPr marL="91440" marR="91440" marT="36576" marB="36576"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rgbClr val="FFFFFF"/>
                    </a:solidFill>
                  </a:tcPr>
                </a:tc>
                <a:tc>
                  <a:txBody>
                    <a:bodyPr/>
                    <a:lstStyle/>
                    <a:p>
                      <a:pPr indent="0" marL="0">
                        <a:buNone/>
                      </a:pPr>
                      <a:r>
                        <a:rPr lang="en-US" sz="1250" dirty="0">
                          <a:solidFill>
                            <a:srgbClr val="14202E"/>
                          </a:solidFill>
                          <a:latin typeface="Calibri" pitchFamily="34" charset="0"/>
                          <a:ea typeface="Calibri" pitchFamily="34" charset="-122"/>
                          <a:cs typeface="Calibri" pitchFamily="34" charset="-120"/>
                        </a:rPr>
                        <a:t>The highest price that can still be defended for a plan; contracts above it are flagged.</a:t>
                      </a:r>
                      <a:endParaRPr lang="en-US" sz="1250" dirty="0">
                        <a:latin typeface="Calibri" charset="0"/>
                        <a:ea typeface="Calibri" charset="0"/>
                        <a:cs typeface="Calibri" charset="0"/>
                      </a:endParaRPr>
                    </a:p>
                  </a:txBody>
                  <a:tcPr marL="91440" marR="91440" marT="36576" marB="36576"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rgbClr val="FFFFFF"/>
                    </a:solidFill>
                  </a:tcPr>
                </a:tc>
              </a:tr>
              <a:tr h="457200">
                <a:tc>
                  <a:txBody>
                    <a:bodyPr/>
                    <a:lstStyle/>
                    <a:p>
                      <a:pPr indent="0" marL="0">
                        <a:buNone/>
                      </a:pPr>
                      <a:r>
                        <a:rPr lang="en-US" sz="1250" b="1" dirty="0">
                          <a:solidFill>
                            <a:srgbClr val="12345A"/>
                          </a:solidFill>
                          <a:latin typeface="Calibri" pitchFamily="34" charset="0"/>
                          <a:ea typeface="Calibri" pitchFamily="34" charset="-122"/>
                          <a:cs typeface="Calibri" pitchFamily="34" charset="-120"/>
                        </a:rPr>
                        <a:t>Over-Budget Ratio (OBR)</a:t>
                      </a:r>
                      <a:endParaRPr lang="en-US" sz="1250" dirty="0">
                        <a:latin typeface="Calibri" charset="0"/>
                        <a:ea typeface="Calibri" charset="0"/>
                        <a:cs typeface="Calibri" charset="0"/>
                      </a:endParaRPr>
                    </a:p>
                  </a:txBody>
                  <a:tcPr marL="91440" marR="91440" marT="36576" marB="36576"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rgbClr val="FFFFFF"/>
                    </a:solidFill>
                  </a:tcPr>
                </a:tc>
                <a:tc>
                  <a:txBody>
                    <a:bodyPr/>
                    <a:lstStyle/>
                    <a:p>
                      <a:pPr indent="0" marL="0">
                        <a:buNone/>
                      </a:pPr>
                      <a:r>
                        <a:rPr lang="en-US" sz="1250" dirty="0">
                          <a:solidFill>
                            <a:srgbClr val="14202E"/>
                          </a:solidFill>
                          <a:latin typeface="Calibri" pitchFamily="34" charset="0"/>
                          <a:ea typeface="Calibri" pitchFamily="34" charset="-122"/>
                          <a:cs typeface="Calibri" pitchFamily="34" charset="-120"/>
                        </a:rPr>
                        <a:t>Contract amount divided by the standard fair estimate.</a:t>
                      </a:r>
                      <a:endParaRPr lang="en-US" sz="1250" dirty="0">
                        <a:latin typeface="Calibri" charset="0"/>
                        <a:ea typeface="Calibri" charset="0"/>
                        <a:cs typeface="Calibri" charset="0"/>
                      </a:endParaRPr>
                    </a:p>
                  </a:txBody>
                  <a:tcPr marL="91440" marR="91440" marT="36576" marB="36576"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rgbClr val="FFFFFF"/>
                    </a:solidFill>
                  </a:tcPr>
                </a:tc>
              </a:tr>
              <a:tr h="457200">
                <a:tc>
                  <a:txBody>
                    <a:bodyPr/>
                    <a:lstStyle/>
                    <a:p>
                      <a:pPr indent="0" marL="0">
                        <a:buNone/>
                      </a:pPr>
                      <a:r>
                        <a:rPr lang="en-US" sz="1250" b="1" dirty="0">
                          <a:solidFill>
                            <a:srgbClr val="12345A"/>
                          </a:solidFill>
                          <a:latin typeface="Calibri" pitchFamily="34" charset="0"/>
                          <a:ea typeface="Calibri" pitchFamily="34" charset="-122"/>
                          <a:cs typeface="Calibri" pitchFamily="34" charset="-120"/>
                        </a:rPr>
                        <a:t>BUHAY-AH Risk Index (BRI)</a:t>
                      </a:r>
                      <a:endParaRPr lang="en-US" sz="1250" dirty="0">
                        <a:latin typeface="Calibri" charset="0"/>
                        <a:ea typeface="Calibri" charset="0"/>
                        <a:cs typeface="Calibri" charset="0"/>
                      </a:endParaRPr>
                    </a:p>
                  </a:txBody>
                  <a:tcPr marL="91440" marR="91440" marT="36576" marB="36576"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rgbClr val="FFFFFF"/>
                    </a:solidFill>
                  </a:tcPr>
                </a:tc>
                <a:tc>
                  <a:txBody>
                    <a:bodyPr/>
                    <a:lstStyle/>
                    <a:p>
                      <a:pPr indent="0" marL="0">
                        <a:buNone/>
                      </a:pPr>
                      <a:r>
                        <a:rPr lang="en-US" sz="1250" dirty="0">
                          <a:solidFill>
                            <a:srgbClr val="14202E"/>
                          </a:solidFill>
                          <a:latin typeface="Calibri" pitchFamily="34" charset="0"/>
                          <a:ea typeface="Calibri" pitchFamily="34" charset="-122"/>
                          <a:cs typeface="Calibri" pitchFamily="34" charset="-120"/>
                        </a:rPr>
                        <a:t>A 0–100 score combining the OBR, XGBoost residual and anomaly score; 30 or more is flagged.</a:t>
                      </a:r>
                      <a:endParaRPr lang="en-US" sz="1250" dirty="0">
                        <a:latin typeface="Calibri" charset="0"/>
                        <a:ea typeface="Calibri" charset="0"/>
                        <a:cs typeface="Calibri" charset="0"/>
                      </a:endParaRPr>
                    </a:p>
                  </a:txBody>
                  <a:tcPr marL="91440" marR="91440" marT="36576" marB="36576"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rgbClr val="FFFFFF"/>
                    </a:solidFill>
                  </a:tcPr>
                </a:tc>
              </a:tr>
              <a:tr h="457200">
                <a:tc>
                  <a:txBody>
                    <a:bodyPr/>
                    <a:lstStyle/>
                    <a:p>
                      <a:pPr indent="0" marL="0">
                        <a:buNone/>
                      </a:pPr>
                      <a:r>
                        <a:rPr lang="en-US" sz="1250" b="1" dirty="0">
                          <a:solidFill>
                            <a:srgbClr val="12345A"/>
                          </a:solidFill>
                          <a:latin typeface="Calibri" pitchFamily="34" charset="0"/>
                          <a:ea typeface="Calibri" pitchFamily="34" charset="-122"/>
                          <a:cs typeface="Calibri" pitchFamily="34" charset="-120"/>
                        </a:rPr>
                        <a:t>Budget-to-Design Optimization</a:t>
                      </a:r>
                      <a:endParaRPr lang="en-US" sz="1250" dirty="0">
                        <a:latin typeface="Calibri" charset="0"/>
                        <a:ea typeface="Calibri" charset="0"/>
                        <a:cs typeface="Calibri" charset="0"/>
                      </a:endParaRPr>
                    </a:p>
                  </a:txBody>
                  <a:tcPr marL="91440" marR="91440" marT="36576" marB="36576"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rgbClr val="FFFFFF"/>
                    </a:solidFill>
                  </a:tcPr>
                </a:tc>
                <a:tc>
                  <a:txBody>
                    <a:bodyPr/>
                    <a:lstStyle/>
                    <a:p>
                      <a:pPr indent="0" marL="0">
                        <a:buNone/>
                      </a:pPr>
                      <a:r>
                        <a:rPr lang="en-US" sz="1250" dirty="0">
                          <a:solidFill>
                            <a:srgbClr val="14202E"/>
                          </a:solidFill>
                          <a:latin typeface="Calibri" pitchFamily="34" charset="0"/>
                          <a:ea typeface="Calibri" pitchFamily="34" charset="-122"/>
                          <a:cs typeface="Calibri" pitchFamily="34" charset="-120"/>
                        </a:rPr>
                        <a:t>The search for the largest facility whose quotation fits a budget, keeping Pareto-efficient designs.</a:t>
                      </a:r>
                      <a:endParaRPr lang="en-US" sz="1250" dirty="0">
                        <a:latin typeface="Calibri" charset="0"/>
                        <a:ea typeface="Calibri" charset="0"/>
                        <a:cs typeface="Calibri" charset="0"/>
                      </a:endParaRPr>
                    </a:p>
                  </a:txBody>
                  <a:tcPr marL="91440" marR="91440" marT="36576" marB="36576"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rgbClr val="FFFFFF"/>
                    </a:solidFill>
                  </a:tcPr>
                </a:tc>
              </a:tr>
              <a:tr h="457200">
                <a:tc>
                  <a:txBody>
                    <a:bodyPr/>
                    <a:lstStyle/>
                    <a:p>
                      <a:pPr indent="0" marL="0">
                        <a:buNone/>
                      </a:pPr>
                      <a:r>
                        <a:rPr lang="en-US" sz="1250" b="1" dirty="0">
                          <a:solidFill>
                            <a:srgbClr val="12345A"/>
                          </a:solidFill>
                          <a:latin typeface="Calibri" pitchFamily="34" charset="0"/>
                          <a:ea typeface="Calibri" pitchFamily="34" charset="-122"/>
                          <a:cs typeface="Calibri" pitchFamily="34" charset="-120"/>
                        </a:rPr>
                        <a:t>Quantity Take-Off (QTO)</a:t>
                      </a:r>
                      <a:endParaRPr lang="en-US" sz="1250" dirty="0">
                        <a:latin typeface="Calibri" charset="0"/>
                        <a:ea typeface="Calibri" charset="0"/>
                        <a:cs typeface="Calibri" charset="0"/>
                      </a:endParaRPr>
                    </a:p>
                  </a:txBody>
                  <a:tcPr marL="91440" marR="91440" marT="36576" marB="36576"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rgbClr val="FFFFFF"/>
                    </a:solidFill>
                  </a:tcPr>
                </a:tc>
                <a:tc>
                  <a:txBody>
                    <a:bodyPr/>
                    <a:lstStyle/>
                    <a:p>
                      <a:pPr indent="0" marL="0">
                        <a:buNone/>
                      </a:pPr>
                      <a:r>
                        <a:rPr lang="en-US" sz="1250" dirty="0">
                          <a:solidFill>
                            <a:srgbClr val="14202E"/>
                          </a:solidFill>
                          <a:latin typeface="Calibri" pitchFamily="34" charset="0"/>
                          <a:ea typeface="Calibri" pitchFamily="34" charset="-122"/>
                          <a:cs typeface="Calibri" pitchFamily="34" charset="-120"/>
                        </a:rPr>
                        <a:t>Measuring the work quantities of a plan, such as cubic metres of concrete and kilograms of steel.</a:t>
                      </a:r>
                      <a:endParaRPr lang="en-US" sz="1250" dirty="0">
                        <a:latin typeface="Calibri" charset="0"/>
                        <a:ea typeface="Calibri" charset="0"/>
                        <a:cs typeface="Calibri" charset="0"/>
                      </a:endParaRPr>
                    </a:p>
                  </a:txBody>
                  <a:tcPr marL="91440" marR="91440" marT="36576" marB="36576"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rgbClr val="FFFFFF"/>
                    </a:solidFill>
                  </a:tcPr>
                </a:tc>
              </a:tr>
              <a:tr h="457200">
                <a:tc>
                  <a:txBody>
                    <a:bodyPr/>
                    <a:lstStyle/>
                    <a:p>
                      <a:pPr indent="0" marL="0">
                        <a:buNone/>
                      </a:pPr>
                      <a:r>
                        <a:rPr lang="en-US" sz="1250" b="1" dirty="0">
                          <a:solidFill>
                            <a:srgbClr val="12345A"/>
                          </a:solidFill>
                          <a:latin typeface="Calibri" pitchFamily="34" charset="0"/>
                          <a:ea typeface="Calibri" pitchFamily="34" charset="-122"/>
                          <a:cs typeface="Calibri" pitchFamily="34" charset="-120"/>
                        </a:rPr>
                        <a:t>SHAP</a:t>
                      </a:r>
                      <a:endParaRPr lang="en-US" sz="1250" dirty="0">
                        <a:latin typeface="Calibri" charset="0"/>
                        <a:ea typeface="Calibri" charset="0"/>
                        <a:cs typeface="Calibri" charset="0"/>
                      </a:endParaRPr>
                    </a:p>
                  </a:txBody>
                  <a:tcPr marL="91440" marR="91440" marT="36576" marB="36576"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rgbClr val="FFFFFF"/>
                    </a:solidFill>
                  </a:tcPr>
                </a:tc>
                <a:tc>
                  <a:txBody>
                    <a:bodyPr/>
                    <a:lstStyle/>
                    <a:p>
                      <a:pPr indent="0" marL="0">
                        <a:buNone/>
                      </a:pPr>
                      <a:r>
                        <a:rPr lang="en-US" sz="1250" dirty="0">
                          <a:solidFill>
                            <a:srgbClr val="14202E"/>
                          </a:solidFill>
                          <a:latin typeface="Calibri" pitchFamily="34" charset="0"/>
                          <a:ea typeface="Calibri" pitchFamily="34" charset="-122"/>
                          <a:cs typeface="Calibri" pitchFamily="34" charset="-120"/>
                        </a:rPr>
                        <a:t>Shapley additive explanations; splits a prediction into each feature’s contribution.</a:t>
                      </a:r>
                      <a:endParaRPr lang="en-US" sz="1250" dirty="0">
                        <a:latin typeface="Calibri" charset="0"/>
                        <a:ea typeface="Calibri" charset="0"/>
                        <a:cs typeface="Calibri" charset="0"/>
                      </a:endParaRPr>
                    </a:p>
                  </a:txBody>
                  <a:tcPr marL="91440" marR="91440" marT="36576" marB="36576"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064240" y="642823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A8C"/>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body" hasCustomPrompt="1"/>
          </p:nvPr>
        </p:nvSpPr>
        <p:spPr>
          <a:xfrm>
            <a:off x="640080" y="1463040"/>
            <a:ext cx="3657600" cy="1188720"/>
          </a:xfrm>
          <a:prstGeom prst="rect">
            <a:avLst/>
          </a:prstGeom>
          <a:noFill/>
          <a:ln/>
        </p:spPr>
        <p:txBody>
          <a:bodyPr wrap="square" rtlCol="0"/>
          <a:lstStyle/>
          <a:p>
            <a:pPr indent="0" marL="0">
              <a:buNone/>
            </a:pPr>
            <a:r>
              <a:rPr lang="en-US" sz="8000" b="1" dirty="0">
                <a:solidFill>
                  <a:schemeClr val="accent1"/>
                </a:solidFill>
                <a:latin typeface="Cambria" pitchFamily="34" charset="0"/>
                <a:ea typeface="Cambria" pitchFamily="34" charset="-122"/>
                <a:cs typeface="Cambria" pitchFamily="34" charset="-120"/>
              </a:rPr>
              <a:t>02</a:t>
            </a:r>
            <a:endParaRPr lang="en-US" sz="8000" dirty="0"/>
          </a:p>
        </p:txBody>
      </p:sp>
      <p:sp>
        <p:nvSpPr>
          <p:cNvPr id="3" name="Text 0"/>
          <p:cNvSpPr/>
          <p:nvPr>
            <p:ph idx="101" type="title" hasCustomPrompt="1"/>
          </p:nvPr>
        </p:nvSpPr>
        <p:spPr>
          <a:xfrm>
            <a:off x="640080" y="2743200"/>
            <a:ext cx="10515600" cy="1005840"/>
          </a:xfrm>
          <a:prstGeom prst="rect">
            <a:avLst/>
          </a:prstGeom>
          <a:noFill/>
          <a:ln/>
        </p:spPr>
        <p:txBody>
          <a:bodyPr wrap="square" rtlCol="0"/>
          <a:lstStyle/>
          <a:p>
            <a:pPr algn="l" indent="0" marL="0">
              <a:buNone/>
            </a:pPr>
            <a:r>
              <a:rPr lang="en-US" sz="4400" b="1" dirty="0">
                <a:solidFill>
                  <a:schemeClr val="bg1"/>
                </a:solidFill>
                <a:latin typeface="Cambria" pitchFamily="34" charset="0"/>
                <a:ea typeface="Cambria" pitchFamily="34" charset="-122"/>
                <a:cs typeface="Cambria" pitchFamily="34" charset="-120"/>
              </a:rPr>
              <a:t>Framework</a:t>
            </a:r>
            <a:endParaRPr lang="en-US" sz="4400" dirty="0"/>
          </a:p>
        </p:txBody>
      </p:sp>
      <p:sp>
        <p:nvSpPr>
          <p:cNvPr id="4" name="Text 0"/>
          <p:cNvSpPr/>
          <p:nvPr>
            <p:ph idx="102" type="body" hasCustomPrompt="1"/>
          </p:nvPr>
        </p:nvSpPr>
        <p:spPr>
          <a:xfrm>
            <a:off x="640080" y="3840480"/>
            <a:ext cx="9601200" cy="1097280"/>
          </a:xfrm>
          <a:prstGeom prst="rect">
            <a:avLst/>
          </a:prstGeom>
          <a:noFill/>
          <a:ln/>
        </p:spPr>
        <p:txBody>
          <a:bodyPr wrap="square" rtlCol="0" anchor="t"/>
          <a:lstStyle/>
          <a:p>
            <a:pPr indent="0" marL="0">
              <a:buNone/>
            </a:pPr>
            <a:r>
              <a:rPr lang="en-US" sz="1800" dirty="0">
                <a:solidFill>
                  <a:schemeClr val="bg2"/>
                </a:solidFill>
              </a:rPr>
              <a:t>Review of related literature, theoretical framework, conceptual framework</a:t>
            </a:r>
            <a:endParaRPr lang="en-US" sz="18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body" hasCustomPrompt="1"/>
          </p:nvPr>
        </p:nvSpPr>
        <p:spPr>
          <a:xfrm>
            <a:off x="548640" y="256032"/>
            <a:ext cx="8229600" cy="292608"/>
          </a:xfrm>
          <a:prstGeom prst="rect">
            <a:avLst/>
          </a:prstGeom>
          <a:noFill/>
          <a:ln/>
        </p:spPr>
        <p:txBody>
          <a:bodyPr wrap="square" lIns="0" tIns="0" rIns="0" bIns="0" rtlCol="0"/>
          <a:lstStyle/>
          <a:p>
            <a:pPr indent="0" marL="0">
              <a:buNone/>
            </a:pPr>
            <a:r>
              <a:rPr lang="en-US" sz="1200" b="1" spc="200" kern="0" dirty="0">
                <a:solidFill>
                  <a:schemeClr val="accent5"/>
                </a:solidFill>
              </a:rPr>
              <a:t>REVIEW OF RELATED LITERATURE</a:t>
            </a:r>
            <a:endParaRPr lang="en-US" sz="1200" dirty="0"/>
          </a:p>
        </p:txBody>
      </p:sp>
      <p:sp>
        <p:nvSpPr>
          <p:cNvPr id="3" name="Text 0"/>
          <p:cNvSpPr/>
          <p:nvPr>
            <p:ph idx="101" type="title" hasCustomPrompt="1"/>
          </p:nvPr>
        </p:nvSpPr>
        <p:spPr>
          <a:xfrm>
            <a:off x="548640" y="530352"/>
            <a:ext cx="11064240" cy="731520"/>
          </a:xfrm>
          <a:prstGeom prst="rect">
            <a:avLst/>
          </a:prstGeom>
          <a:noFill/>
          <a:ln/>
        </p:spPr>
        <p:txBody>
          <a:bodyPr wrap="square" lIns="0" tIns="0" rIns="0" bIns="0" rtlCol="0" anchor="ctr"/>
          <a:lstStyle/>
          <a:p>
            <a:pPr algn="l" indent="0" marL="0">
              <a:buNone/>
            </a:pPr>
            <a:r>
              <a:rPr lang="en-US" sz="3200" b="1" dirty="0">
                <a:solidFill>
                  <a:schemeClr val="tx2"/>
                </a:solidFill>
                <a:latin typeface="Cambria" pitchFamily="34" charset="0"/>
                <a:ea typeface="Cambria" pitchFamily="34" charset="-122"/>
                <a:cs typeface="Cambria" pitchFamily="34" charset="-120"/>
              </a:rPr>
              <a:t>What Earlier Studies Found</a:t>
            </a:r>
            <a:endParaRPr lang="en-US" sz="3200" dirty="0"/>
          </a:p>
        </p:txBody>
      </p:sp>
      <p:graphicFrame>
        <p:nvGraphicFramePr>
          <p:cNvPr id="15" name="literature table"/>
          <p:cNvGraphicFramePr>
            <a:graphicFrameLocks noGrp="1"/>
          </p:cNvGraphicFramePr>
          <p:nvPr>
            <p:extLst>
              <p:ext uri="{D42A27DB-BD31-4B8C-83A1-F6EECF244321}">
                <p14:modId xmlns:p14="http://schemas.microsoft.com/office/powerpoint/2010/main" val="1579011935"/>
              </p:ext>
            </p:extLst>
          </p:nvPr>
        </p:nvGraphicFramePr>
        <p:xfrm>
          <a:off x="548640" y="1463040"/>
          <a:ext cx="11091672" cy="914400"/>
        </p:xfrm>
        <a:graphic>
          <a:graphicData uri="http://schemas.openxmlformats.org/drawingml/2006/table">
            <a:tbl>
              <a:tblPr/>
              <a:tblGrid>
                <a:gridCol w="2651760"/>
                <a:gridCol w="2926080"/>
                <a:gridCol w="3108960"/>
                <a:gridCol w="2404872"/>
              </a:tblGrid>
              <a:tr h="548640">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Study</a:t>
                      </a:r>
                      <a:endParaRPr lang="en-US" sz="1300" dirty="0">
                        <a:latin typeface="Calibri" charset="0"/>
                        <a:ea typeface="Calibri" charset="0"/>
                        <a:cs typeface="Calibri" charset="0"/>
                      </a:endParaRPr>
                    </a:p>
                  </a:txBody>
                  <a:tcPr marL="91440" marR="91440" marT="45720" marB="4572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rgbClr val="12345A"/>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Method</a:t>
                      </a:r>
                      <a:endParaRPr lang="en-US" sz="1300" dirty="0">
                        <a:latin typeface="Calibri" charset="0"/>
                        <a:ea typeface="Calibri" charset="0"/>
                        <a:cs typeface="Calibri" charset="0"/>
                      </a:endParaRPr>
                    </a:p>
                  </a:txBody>
                  <a:tcPr marL="91440" marR="91440" marT="45720" marB="4572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rgbClr val="12345A"/>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Finding</a:t>
                      </a:r>
                      <a:endParaRPr lang="en-US" sz="1300" dirty="0">
                        <a:latin typeface="Calibri" charset="0"/>
                        <a:ea typeface="Calibri" charset="0"/>
                        <a:cs typeface="Calibri" charset="0"/>
                      </a:endParaRPr>
                    </a:p>
                  </a:txBody>
                  <a:tcPr marL="91440" marR="91440" marT="45720" marB="4572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rgbClr val="12345A"/>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Gap for this study</a:t>
                      </a:r>
                      <a:endParaRPr lang="en-US" sz="1300" dirty="0">
                        <a:latin typeface="Calibri" charset="0"/>
                        <a:ea typeface="Calibri" charset="0"/>
                        <a:cs typeface="Calibri" charset="0"/>
                      </a:endParaRPr>
                    </a:p>
                  </a:txBody>
                  <a:tcPr marL="91440" marR="91440" marT="45720" marB="4572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rgbClr val="12345A"/>
                    </a:solidFill>
                  </a:tcPr>
                </a:tc>
              </a:tr>
              <a:tr h="548640">
                <a:tc>
                  <a:txBody>
                    <a:bodyPr/>
                    <a:lstStyle/>
                    <a:p>
                      <a:pPr indent="0" marL="0">
                        <a:buNone/>
                      </a:pPr>
                      <a:r>
                        <a:rPr lang="en-US" sz="1300" b="1" dirty="0">
                          <a:solidFill>
                            <a:srgbClr val="12345A"/>
                          </a:solidFill>
                          <a:latin typeface="Calibri" pitchFamily="34" charset="0"/>
                          <a:ea typeface="Calibri" pitchFamily="34" charset="-122"/>
                          <a:cs typeface="Calibri" pitchFamily="34" charset="-120"/>
                        </a:rPr>
                        <a:t>Mahamid (2011)</a:t>
                      </a:r>
                      <a:endParaRPr lang="en-US" sz="1300" dirty="0">
                        <a:latin typeface="Calibri" charset="0"/>
                        <a:ea typeface="Calibri" charset="0"/>
                        <a:cs typeface="Calibri" charset="0"/>
                      </a:endParaRPr>
                    </a:p>
                  </a:txBody>
                  <a:tcPr marL="91440" marR="91440" marT="45720" marB="4572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indent="0" marL="0">
                        <a:buNone/>
                      </a:pPr>
                      <a:r>
                        <a:rPr lang="en-US" sz="1300" dirty="0">
                          <a:solidFill>
                            <a:srgbClr val="14202E"/>
                          </a:solidFill>
                          <a:latin typeface="Calibri" pitchFamily="34" charset="0"/>
                          <a:ea typeface="Calibri" pitchFamily="34" charset="-122"/>
                          <a:cs typeface="Calibri" pitchFamily="34" charset="-120"/>
                        </a:rPr>
                        <a:t>Multiple regression, road projects</a:t>
                      </a:r>
                      <a:endParaRPr lang="en-US" sz="1300" dirty="0">
                        <a:latin typeface="Calibri" charset="0"/>
                        <a:ea typeface="Calibri" charset="0"/>
                        <a:cs typeface="Calibri" charset="0"/>
                      </a:endParaRPr>
                    </a:p>
                  </a:txBody>
                  <a:tcPr marL="91440" marR="91440" marT="45720" marB="4572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indent="0" marL="0">
                        <a:buNone/>
                      </a:pPr>
                      <a:r>
                        <a:rPr lang="en-US" sz="1300" dirty="0">
                          <a:solidFill>
                            <a:srgbClr val="14202E"/>
                          </a:solidFill>
                          <a:latin typeface="Calibri" pitchFamily="34" charset="0"/>
                          <a:ea typeface="Calibri" pitchFamily="34" charset="-122"/>
                          <a:cs typeface="Calibri" pitchFamily="34" charset="-120"/>
                        </a:rPr>
                        <a:t>Early cost estimates from a few variables</a:t>
                      </a:r>
                      <a:endParaRPr lang="en-US" sz="1300" dirty="0">
                        <a:latin typeface="Calibri" charset="0"/>
                        <a:ea typeface="Calibri" charset="0"/>
                        <a:cs typeface="Calibri" charset="0"/>
                      </a:endParaRPr>
                    </a:p>
                  </a:txBody>
                  <a:tcPr marL="91440" marR="91440" marT="45720" marB="4572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indent="0" marL="0">
                        <a:buNone/>
                      </a:pPr>
                      <a:r>
                        <a:rPr lang="en-US" sz="1300" dirty="0">
                          <a:solidFill>
                            <a:srgbClr val="B8322A"/>
                          </a:solidFill>
                          <a:latin typeface="Calibri" pitchFamily="34" charset="0"/>
                          <a:ea typeface="Calibri" pitchFamily="34" charset="-122"/>
                          <a:cs typeface="Calibri" pitchFamily="34" charset="-120"/>
                        </a:rPr>
                        <a:t>Roads only</a:t>
                      </a:r>
                      <a:endParaRPr lang="en-US" sz="1300" dirty="0">
                        <a:latin typeface="Calibri" charset="0"/>
                        <a:ea typeface="Calibri" charset="0"/>
                        <a:cs typeface="Calibri" charset="0"/>
                      </a:endParaRPr>
                    </a:p>
                  </a:txBody>
                  <a:tcPr marL="91440" marR="91440" marT="45720" marB="4572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r>
              <a:tr h="548640">
                <a:tc>
                  <a:txBody>
                    <a:bodyPr/>
                    <a:lstStyle/>
                    <a:p>
                      <a:pPr indent="0" marL="0">
                        <a:buNone/>
                      </a:pPr>
                      <a:r>
                        <a:rPr lang="en-US" sz="1300" b="1" dirty="0">
                          <a:solidFill>
                            <a:srgbClr val="12345A"/>
                          </a:solidFill>
                          <a:latin typeface="Calibri" pitchFamily="34" charset="0"/>
                          <a:ea typeface="Calibri" pitchFamily="34" charset="-122"/>
                          <a:cs typeface="Calibri" pitchFamily="34" charset="-120"/>
                        </a:rPr>
                        <a:t>Elmousalami (2020)</a:t>
                      </a:r>
                      <a:endParaRPr lang="en-US" sz="1300" dirty="0">
                        <a:latin typeface="Calibri" charset="0"/>
                        <a:ea typeface="Calibri" charset="0"/>
                        <a:cs typeface="Calibri" charset="0"/>
                      </a:endParaRPr>
                    </a:p>
                  </a:txBody>
                  <a:tcPr marL="91440" marR="91440" marT="45720" marB="4572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indent="0" marL="0">
                        <a:buNone/>
                      </a:pPr>
                      <a:r>
                        <a:rPr lang="en-US" sz="1300" dirty="0">
                          <a:solidFill>
                            <a:srgbClr val="14202E"/>
                          </a:solidFill>
                          <a:latin typeface="Calibri" pitchFamily="34" charset="0"/>
                          <a:ea typeface="Calibri" pitchFamily="34" charset="-122"/>
                          <a:cs typeface="Calibri" pitchFamily="34" charset="-120"/>
                        </a:rPr>
                        <a:t>Review of AI and parametric cost models</a:t>
                      </a:r>
                      <a:endParaRPr lang="en-US" sz="1300" dirty="0">
                        <a:latin typeface="Calibri" charset="0"/>
                        <a:ea typeface="Calibri" charset="0"/>
                        <a:cs typeface="Calibri" charset="0"/>
                      </a:endParaRPr>
                    </a:p>
                  </a:txBody>
                  <a:tcPr marL="91440" marR="91440" marT="45720" marB="4572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indent="0" marL="0">
                        <a:buNone/>
                      </a:pPr>
                      <a:r>
                        <a:rPr lang="en-US" sz="1300" dirty="0">
                          <a:solidFill>
                            <a:srgbClr val="14202E"/>
                          </a:solidFill>
                          <a:latin typeface="Calibri" pitchFamily="34" charset="0"/>
                          <a:ea typeface="Calibri" pitchFamily="34" charset="-122"/>
                          <a:cs typeface="Calibri" pitchFamily="34" charset="-120"/>
                        </a:rPr>
                        <a:t>Tree ensembles lead in accuracy</a:t>
                      </a:r>
                      <a:endParaRPr lang="en-US" sz="1300" dirty="0">
                        <a:latin typeface="Calibri" charset="0"/>
                        <a:ea typeface="Calibri" charset="0"/>
                        <a:cs typeface="Calibri" charset="0"/>
                      </a:endParaRPr>
                    </a:p>
                  </a:txBody>
                  <a:tcPr marL="91440" marR="91440" marT="45720" marB="4572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indent="0" marL="0">
                        <a:buNone/>
                      </a:pPr>
                      <a:r>
                        <a:rPr lang="en-US" sz="1300" dirty="0">
                          <a:solidFill>
                            <a:srgbClr val="B8322A"/>
                          </a:solidFill>
                          <a:latin typeface="Calibri" pitchFamily="34" charset="0"/>
                          <a:ea typeface="Calibri" pitchFamily="34" charset="-122"/>
                          <a:cs typeface="Calibri" pitchFamily="34" charset="-120"/>
                        </a:rPr>
                        <a:t>Learns from past prices</a:t>
                      </a:r>
                      <a:endParaRPr lang="en-US" sz="1300" dirty="0">
                        <a:latin typeface="Calibri" charset="0"/>
                        <a:ea typeface="Calibri" charset="0"/>
                        <a:cs typeface="Calibri" charset="0"/>
                      </a:endParaRPr>
                    </a:p>
                  </a:txBody>
                  <a:tcPr marL="91440" marR="91440" marT="45720" marB="4572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r>
              <a:tr h="548640">
                <a:tc>
                  <a:txBody>
                    <a:bodyPr/>
                    <a:lstStyle/>
                    <a:p>
                      <a:pPr indent="0" marL="0">
                        <a:buNone/>
                      </a:pPr>
                      <a:r>
                        <a:rPr lang="en-US" sz="1300" b="1" dirty="0">
                          <a:solidFill>
                            <a:srgbClr val="12345A"/>
                          </a:solidFill>
                          <a:latin typeface="Calibri" pitchFamily="34" charset="0"/>
                          <a:ea typeface="Calibri" pitchFamily="34" charset="-122"/>
                          <a:cs typeface="Calibri" pitchFamily="34" charset="-120"/>
                        </a:rPr>
                        <a:t>Coffie &amp; Cudjoe (2024)</a:t>
                      </a:r>
                      <a:endParaRPr lang="en-US" sz="1300" dirty="0">
                        <a:latin typeface="Calibri" charset="0"/>
                        <a:ea typeface="Calibri" charset="0"/>
                        <a:cs typeface="Calibri" charset="0"/>
                      </a:endParaRPr>
                    </a:p>
                  </a:txBody>
                  <a:tcPr marL="91440" marR="91440" marT="45720" marB="4572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indent="0" marL="0">
                        <a:buNone/>
                      </a:pPr>
                      <a:r>
                        <a:rPr lang="en-US" sz="1300" dirty="0">
                          <a:solidFill>
                            <a:srgbClr val="14202E"/>
                          </a:solidFill>
                          <a:latin typeface="Calibri" pitchFamily="34" charset="0"/>
                          <a:ea typeface="Calibri" pitchFamily="34" charset="-122"/>
                          <a:cs typeface="Calibri" pitchFamily="34" charset="-120"/>
                        </a:rPr>
                        <a:t>XGBoost + SHAP</a:t>
                      </a:r>
                      <a:endParaRPr lang="en-US" sz="1300" dirty="0">
                        <a:latin typeface="Calibri" charset="0"/>
                        <a:ea typeface="Calibri" charset="0"/>
                        <a:cs typeface="Calibri" charset="0"/>
                      </a:endParaRPr>
                    </a:p>
                  </a:txBody>
                  <a:tcPr marL="91440" marR="91440" marT="45720" marB="4572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indent="0" marL="0">
                        <a:buNone/>
                      </a:pPr>
                      <a:r>
                        <a:rPr lang="en-US" sz="1300" dirty="0">
                          <a:solidFill>
                            <a:srgbClr val="14202E"/>
                          </a:solidFill>
                          <a:latin typeface="Calibri" pitchFamily="34" charset="0"/>
                          <a:ea typeface="Calibri" pitchFamily="34" charset="-122"/>
                          <a:cs typeface="Calibri" pitchFamily="34" charset="-120"/>
                        </a:rPr>
                        <a:t>Predicts cost overruns with explanations</a:t>
                      </a:r>
                      <a:endParaRPr lang="en-US" sz="1300" dirty="0">
                        <a:latin typeface="Calibri" charset="0"/>
                        <a:ea typeface="Calibri" charset="0"/>
                        <a:cs typeface="Calibri" charset="0"/>
                      </a:endParaRPr>
                    </a:p>
                  </a:txBody>
                  <a:tcPr marL="91440" marR="91440" marT="45720" marB="4572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indent="0" marL="0">
                        <a:buNone/>
                      </a:pPr>
                      <a:r>
                        <a:rPr lang="en-US" sz="1300" dirty="0">
                          <a:solidFill>
                            <a:srgbClr val="B8322A"/>
                          </a:solidFill>
                          <a:latin typeface="Calibri" pitchFamily="34" charset="0"/>
                          <a:ea typeface="Calibri" pitchFamily="34" charset="-122"/>
                          <a:cs typeface="Calibri" pitchFamily="34" charset="-120"/>
                        </a:rPr>
                        <a:t>No reference price</a:t>
                      </a:r>
                      <a:endParaRPr lang="en-US" sz="1300" dirty="0">
                        <a:latin typeface="Calibri" charset="0"/>
                        <a:ea typeface="Calibri" charset="0"/>
                        <a:cs typeface="Calibri" charset="0"/>
                      </a:endParaRPr>
                    </a:p>
                  </a:txBody>
                  <a:tcPr marL="91440" marR="91440" marT="45720" marB="4572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r>
              <a:tr h="548640">
                <a:tc>
                  <a:txBody>
                    <a:bodyPr/>
                    <a:lstStyle/>
                    <a:p>
                      <a:pPr indent="0" marL="0">
                        <a:buNone/>
                      </a:pPr>
                      <a:r>
                        <a:rPr lang="en-US" sz="1300" b="1" dirty="0">
                          <a:solidFill>
                            <a:srgbClr val="12345A"/>
                          </a:solidFill>
                          <a:latin typeface="Calibri" pitchFamily="34" charset="0"/>
                          <a:ea typeface="Calibri" pitchFamily="34" charset="-122"/>
                          <a:cs typeface="Calibri" pitchFamily="34" charset="-120"/>
                        </a:rPr>
                        <a:t>Larocque et al. (2025)</a:t>
                      </a:r>
                      <a:endParaRPr lang="en-US" sz="1300" dirty="0">
                        <a:latin typeface="Calibri" charset="0"/>
                        <a:ea typeface="Calibri" charset="0"/>
                        <a:cs typeface="Calibri" charset="0"/>
                      </a:endParaRPr>
                    </a:p>
                  </a:txBody>
                  <a:tcPr marL="91440" marR="91440" marT="45720" marB="4572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indent="0" marL="0">
                        <a:buNone/>
                      </a:pPr>
                      <a:r>
                        <a:rPr lang="en-US" sz="1300" dirty="0">
                          <a:solidFill>
                            <a:srgbClr val="14202E"/>
                          </a:solidFill>
                          <a:latin typeface="Calibri" pitchFamily="34" charset="0"/>
                          <a:ea typeface="Calibri" pitchFamily="34" charset="-122"/>
                          <a:cs typeface="Calibri" pitchFamily="34" charset="-120"/>
                        </a:rPr>
                        <a:t>Explainable ML, 11,646 road contracts</a:t>
                      </a:r>
                      <a:endParaRPr lang="en-US" sz="1300" dirty="0">
                        <a:latin typeface="Calibri" charset="0"/>
                        <a:ea typeface="Calibri" charset="0"/>
                        <a:cs typeface="Calibri" charset="0"/>
                      </a:endParaRPr>
                    </a:p>
                  </a:txBody>
                  <a:tcPr marL="91440" marR="91440" marT="45720" marB="4572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indent="0" marL="0">
                        <a:buNone/>
                      </a:pPr>
                      <a:r>
                        <a:rPr lang="en-US" sz="1300" dirty="0">
                          <a:solidFill>
                            <a:srgbClr val="14202E"/>
                          </a:solidFill>
                          <a:latin typeface="Calibri" pitchFamily="34" charset="0"/>
                          <a:ea typeface="Calibri" pitchFamily="34" charset="-122"/>
                          <a:cs typeface="Calibri" pitchFamily="34" charset="-120"/>
                        </a:rPr>
                        <a:t>Accurate, explainable road cost estimates</a:t>
                      </a:r>
                      <a:endParaRPr lang="en-US" sz="1300" dirty="0">
                        <a:latin typeface="Calibri" charset="0"/>
                        <a:ea typeface="Calibri" charset="0"/>
                        <a:cs typeface="Calibri" charset="0"/>
                      </a:endParaRPr>
                    </a:p>
                  </a:txBody>
                  <a:tcPr marL="91440" marR="91440" marT="45720" marB="4572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indent="0" marL="0">
                        <a:buNone/>
                      </a:pPr>
                      <a:r>
                        <a:rPr lang="en-US" sz="1300" dirty="0">
                          <a:solidFill>
                            <a:srgbClr val="B8322A"/>
                          </a:solidFill>
                          <a:latin typeface="Calibri" pitchFamily="34" charset="0"/>
                          <a:ea typeface="Calibri" pitchFamily="34" charset="-122"/>
                          <a:cs typeface="Calibri" pitchFamily="34" charset="-120"/>
                        </a:rPr>
                        <a:t>Roads only</a:t>
                      </a:r>
                      <a:endParaRPr lang="en-US" sz="1300" dirty="0">
                        <a:latin typeface="Calibri" charset="0"/>
                        <a:ea typeface="Calibri" charset="0"/>
                        <a:cs typeface="Calibri" charset="0"/>
                      </a:endParaRPr>
                    </a:p>
                  </a:txBody>
                  <a:tcPr marL="91440" marR="91440" marT="45720" marB="4572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r>
              <a:tr h="548640">
                <a:tc>
                  <a:txBody>
                    <a:bodyPr/>
                    <a:lstStyle/>
                    <a:p>
                      <a:pPr indent="0" marL="0">
                        <a:buNone/>
                      </a:pPr>
                      <a:r>
                        <a:rPr lang="en-US" sz="1300" b="1" dirty="0">
                          <a:solidFill>
                            <a:srgbClr val="12345A"/>
                          </a:solidFill>
                          <a:latin typeface="Calibri" pitchFamily="34" charset="0"/>
                          <a:ea typeface="Calibri" pitchFamily="34" charset="-122"/>
                          <a:cs typeface="Calibri" pitchFamily="34" charset="-120"/>
                        </a:rPr>
                        <a:t>Liu et al. (2008)</a:t>
                      </a:r>
                      <a:endParaRPr lang="en-US" sz="1300" dirty="0">
                        <a:latin typeface="Calibri" charset="0"/>
                        <a:ea typeface="Calibri" charset="0"/>
                        <a:cs typeface="Calibri" charset="0"/>
                      </a:endParaRPr>
                    </a:p>
                  </a:txBody>
                  <a:tcPr marL="91440" marR="91440" marT="45720" marB="4572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indent="0" marL="0">
                        <a:buNone/>
                      </a:pPr>
                      <a:r>
                        <a:rPr lang="en-US" sz="1300" dirty="0">
                          <a:solidFill>
                            <a:srgbClr val="14202E"/>
                          </a:solidFill>
                          <a:latin typeface="Calibri" pitchFamily="34" charset="0"/>
                          <a:ea typeface="Calibri" pitchFamily="34" charset="-122"/>
                          <a:cs typeface="Calibri" pitchFamily="34" charset="-120"/>
                        </a:rPr>
                        <a:t>Isolation Forest</a:t>
                      </a:r>
                      <a:endParaRPr lang="en-US" sz="1300" dirty="0">
                        <a:latin typeface="Calibri" charset="0"/>
                        <a:ea typeface="Calibri" charset="0"/>
                        <a:cs typeface="Calibri" charset="0"/>
                      </a:endParaRPr>
                    </a:p>
                  </a:txBody>
                  <a:tcPr marL="91440" marR="91440" marT="45720" marB="4572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indent="0" marL="0">
                        <a:buNone/>
                      </a:pPr>
                      <a:r>
                        <a:rPr lang="en-US" sz="1300" dirty="0">
                          <a:solidFill>
                            <a:srgbClr val="14202E"/>
                          </a:solidFill>
                          <a:latin typeface="Calibri" pitchFamily="34" charset="0"/>
                          <a:ea typeface="Calibri" pitchFamily="34" charset="-122"/>
                          <a:cs typeface="Calibri" pitchFamily="34" charset="-120"/>
                        </a:rPr>
                        <a:t>Unsupervised anomaly detection by short paths</a:t>
                      </a:r>
                      <a:endParaRPr lang="en-US" sz="1300" dirty="0">
                        <a:latin typeface="Calibri" charset="0"/>
                        <a:ea typeface="Calibri" charset="0"/>
                        <a:cs typeface="Calibri" charset="0"/>
                      </a:endParaRPr>
                    </a:p>
                  </a:txBody>
                  <a:tcPr marL="91440" marR="91440" marT="45720" marB="4572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indent="0" marL="0">
                        <a:buNone/>
                      </a:pPr>
                      <a:r>
                        <a:rPr lang="en-US" sz="1300" dirty="0">
                          <a:solidFill>
                            <a:srgbClr val="B8322A"/>
                          </a:solidFill>
                          <a:latin typeface="Calibri" pitchFamily="34" charset="0"/>
                          <a:ea typeface="Calibri" pitchFamily="34" charset="-122"/>
                          <a:cs typeface="Calibri" pitchFamily="34" charset="-120"/>
                        </a:rPr>
                        <a:t>Misses ordinary-looking padding</a:t>
                      </a:r>
                      <a:endParaRPr lang="en-US" sz="1300" dirty="0">
                        <a:latin typeface="Calibri" charset="0"/>
                        <a:ea typeface="Calibri" charset="0"/>
                        <a:cs typeface="Calibri" charset="0"/>
                      </a:endParaRPr>
                    </a:p>
                  </a:txBody>
                  <a:tcPr marL="91440" marR="91440" marT="45720" marB="4572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r>
              <a:tr h="548640">
                <a:tc>
                  <a:txBody>
                    <a:bodyPr/>
                    <a:lstStyle/>
                    <a:p>
                      <a:pPr indent="0" marL="0">
                        <a:buNone/>
                      </a:pPr>
                      <a:r>
                        <a:rPr lang="en-US" sz="1300" b="1" dirty="0">
                          <a:solidFill>
                            <a:srgbClr val="12345A"/>
                          </a:solidFill>
                          <a:latin typeface="Calibri" pitchFamily="34" charset="0"/>
                          <a:ea typeface="Calibri" pitchFamily="34" charset="-122"/>
                          <a:cs typeface="Calibri" pitchFamily="34" charset="-120"/>
                        </a:rPr>
                        <a:t>Buban (2026), CORA</a:t>
                      </a:r>
                      <a:endParaRPr lang="en-US" sz="1300" dirty="0">
                        <a:latin typeface="Calibri" charset="0"/>
                        <a:ea typeface="Calibri" charset="0"/>
                        <a:cs typeface="Calibri" charset="0"/>
                      </a:endParaRPr>
                    </a:p>
                  </a:txBody>
                  <a:tcPr marL="91440" marR="91440" marT="45720" marB="4572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indent="0" marL="0">
                        <a:buNone/>
                      </a:pPr>
                      <a:r>
                        <a:rPr lang="en-US" sz="1300" dirty="0">
                          <a:solidFill>
                            <a:srgbClr val="14202E"/>
                          </a:solidFill>
                          <a:latin typeface="Calibri" pitchFamily="34" charset="0"/>
                          <a:ea typeface="Calibri" pitchFamily="34" charset="-122"/>
                          <a:cs typeface="Calibri" pitchFamily="34" charset="-120"/>
                        </a:rPr>
                        <a:t>MLR, XGBoost, Isolation Forest, Bicol roads</a:t>
                      </a:r>
                      <a:endParaRPr lang="en-US" sz="1300" dirty="0">
                        <a:latin typeface="Calibri" charset="0"/>
                        <a:ea typeface="Calibri" charset="0"/>
                        <a:cs typeface="Calibri" charset="0"/>
                      </a:endParaRPr>
                    </a:p>
                  </a:txBody>
                  <a:tcPr marL="91440" marR="91440" marT="45720" marB="4572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indent="0" marL="0">
                        <a:buNone/>
                      </a:pPr>
                      <a:r>
                        <a:rPr lang="en-US" sz="1300" dirty="0">
                          <a:solidFill>
                            <a:srgbClr val="14202E"/>
                          </a:solidFill>
                          <a:latin typeface="Calibri" pitchFamily="34" charset="0"/>
                          <a:ea typeface="Calibri" pitchFamily="34" charset="-122"/>
                          <a:cs typeface="Calibri" pitchFamily="34" charset="-120"/>
                        </a:rPr>
                        <a:t>R² 0.8723, MAPE 29.20%; three flags</a:t>
                      </a:r>
                      <a:endParaRPr lang="en-US" sz="1300" dirty="0">
                        <a:latin typeface="Calibri" charset="0"/>
                        <a:ea typeface="Calibri" charset="0"/>
                        <a:cs typeface="Calibri" charset="0"/>
                      </a:endParaRPr>
                    </a:p>
                  </a:txBody>
                  <a:tcPr marL="91440" marR="91440" marT="45720" marB="4572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indent="0" marL="0">
                        <a:buNone/>
                      </a:pPr>
                      <a:r>
                        <a:rPr lang="en-US" sz="1300" dirty="0">
                          <a:solidFill>
                            <a:srgbClr val="B8322A"/>
                          </a:solidFill>
                          <a:latin typeface="Calibri" pitchFamily="34" charset="0"/>
                          <a:ea typeface="Calibri" pitchFamily="34" charset="-122"/>
                          <a:cs typeface="Calibri" pitchFamily="34" charset="-120"/>
                        </a:rPr>
                        <a:t>Recall unknown, roads only</a:t>
                      </a:r>
                      <a:endParaRPr lang="en-US" sz="1300" dirty="0">
                        <a:latin typeface="Calibri" charset="0"/>
                        <a:ea typeface="Calibri" charset="0"/>
                        <a:cs typeface="Calibri" charset="0"/>
                      </a:endParaRPr>
                    </a:p>
                  </a:txBody>
                  <a:tcPr marL="91440" marR="91440" marT="45720" marB="4572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r>
              <a:tr h="548640">
                <a:tc>
                  <a:txBody>
                    <a:bodyPr/>
                    <a:lstStyle/>
                    <a:p>
                      <a:pPr indent="0" marL="0">
                        <a:buNone/>
                      </a:pPr>
                      <a:r>
                        <a:rPr lang="en-US" sz="1300" b="1" dirty="0">
                          <a:solidFill>
                            <a:srgbClr val="12345A"/>
                          </a:solidFill>
                          <a:latin typeface="Calibri" pitchFamily="34" charset="0"/>
                          <a:ea typeface="Calibri" pitchFamily="34" charset="-122"/>
                          <a:cs typeface="Calibri" pitchFamily="34" charset="-120"/>
                        </a:rPr>
                        <a:t>GAO (2020); Flyvbjerg et al. (2002)</a:t>
                      </a:r>
                      <a:endParaRPr lang="en-US" sz="1300" dirty="0">
                        <a:latin typeface="Calibri" charset="0"/>
                        <a:ea typeface="Calibri" charset="0"/>
                        <a:cs typeface="Calibri" charset="0"/>
                      </a:endParaRPr>
                    </a:p>
                  </a:txBody>
                  <a:tcPr marL="91440" marR="91440" marT="45720" marB="4572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indent="0" marL="0">
                        <a:buNone/>
                      </a:pPr>
                      <a:r>
                        <a:rPr lang="en-US" sz="1300" dirty="0">
                          <a:solidFill>
                            <a:srgbClr val="14202E"/>
                          </a:solidFill>
                          <a:latin typeface="Calibri" pitchFamily="34" charset="0"/>
                          <a:ea typeface="Calibri" pitchFamily="34" charset="-122"/>
                          <a:cs typeface="Calibri" pitchFamily="34" charset="-120"/>
                        </a:rPr>
                        <a:t>Should-cost estimating; cost underestimation</a:t>
                      </a:r>
                      <a:endParaRPr lang="en-US" sz="1300" dirty="0">
                        <a:latin typeface="Calibri" charset="0"/>
                        <a:ea typeface="Calibri" charset="0"/>
                        <a:cs typeface="Calibri" charset="0"/>
                      </a:endParaRPr>
                    </a:p>
                  </a:txBody>
                  <a:tcPr marL="91440" marR="91440" marT="45720" marB="4572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indent="0" marL="0">
                        <a:buNone/>
                      </a:pPr>
                      <a:r>
                        <a:rPr lang="en-US" sz="1300" dirty="0">
                          <a:solidFill>
                            <a:srgbClr val="14202E"/>
                          </a:solidFill>
                          <a:latin typeface="Calibri" pitchFamily="34" charset="0"/>
                          <a:ea typeface="Calibri" pitchFamily="34" charset="-122"/>
                          <a:cs typeface="Calibri" pitchFamily="34" charset="-120"/>
                        </a:rPr>
                        <a:t>Bottom-up estimates expose misrepresentation</a:t>
                      </a:r>
                      <a:endParaRPr lang="en-US" sz="1300" dirty="0">
                        <a:latin typeface="Calibri" charset="0"/>
                        <a:ea typeface="Calibri" charset="0"/>
                        <a:cs typeface="Calibri" charset="0"/>
                      </a:endParaRPr>
                    </a:p>
                  </a:txBody>
                  <a:tcPr marL="91440" marR="91440" marT="45720" marB="4572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indent="0" marL="0">
                        <a:buNone/>
                      </a:pPr>
                      <a:r>
                        <a:rPr lang="en-US" sz="1300" dirty="0">
                          <a:solidFill>
                            <a:srgbClr val="B8322A"/>
                          </a:solidFill>
                          <a:latin typeface="Calibri" pitchFamily="34" charset="0"/>
                          <a:ea typeface="Calibri" pitchFamily="34" charset="-122"/>
                          <a:cs typeface="Calibri" pitchFamily="34" charset="-120"/>
                        </a:rPr>
                        <a:t>No open tool</a:t>
                      </a:r>
                      <a:endParaRPr lang="en-US" sz="1300" dirty="0">
                        <a:latin typeface="Calibri" charset="0"/>
                        <a:ea typeface="Calibri" charset="0"/>
                        <a:cs typeface="Calibri" charset="0"/>
                      </a:endParaRPr>
                    </a:p>
                  </a:txBody>
                  <a:tcPr marL="91440" marR="91440" marT="45720" marB="4572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1064240" y="642823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A8C"/>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body" hasCustomPrompt="1"/>
          </p:nvPr>
        </p:nvSpPr>
        <p:spPr>
          <a:xfrm>
            <a:off x="548640" y="256032"/>
            <a:ext cx="8229600" cy="292608"/>
          </a:xfrm>
          <a:prstGeom prst="rect">
            <a:avLst/>
          </a:prstGeom>
          <a:noFill/>
          <a:ln/>
        </p:spPr>
        <p:txBody>
          <a:bodyPr wrap="square" lIns="0" tIns="0" rIns="0" bIns="0" rtlCol="0"/>
          <a:lstStyle/>
          <a:p>
            <a:pPr indent="0" marL="0">
              <a:buNone/>
            </a:pPr>
            <a:r>
              <a:rPr lang="en-US" sz="1200" b="1" spc="200" kern="0" dirty="0">
                <a:solidFill>
                  <a:schemeClr val="accent5"/>
                </a:solidFill>
              </a:rPr>
              <a:t>THEORETICAL FRAMEWORK</a:t>
            </a:r>
            <a:endParaRPr lang="en-US" sz="1200" dirty="0"/>
          </a:p>
        </p:txBody>
      </p:sp>
      <p:sp>
        <p:nvSpPr>
          <p:cNvPr id="3" name="Text 0"/>
          <p:cNvSpPr/>
          <p:nvPr>
            <p:ph idx="101" type="title" hasCustomPrompt="1"/>
          </p:nvPr>
        </p:nvSpPr>
        <p:spPr>
          <a:xfrm>
            <a:off x="548640" y="530352"/>
            <a:ext cx="11064240" cy="731520"/>
          </a:xfrm>
          <a:prstGeom prst="rect">
            <a:avLst/>
          </a:prstGeom>
          <a:noFill/>
          <a:ln/>
        </p:spPr>
        <p:txBody>
          <a:bodyPr wrap="square" lIns="0" tIns="0" rIns="0" bIns="0" rtlCol="0" anchor="ctr"/>
          <a:lstStyle/>
          <a:p>
            <a:pPr algn="l" indent="0" marL="0">
              <a:buNone/>
            </a:pPr>
            <a:r>
              <a:rPr lang="en-US" sz="3200" b="1" dirty="0">
                <a:solidFill>
                  <a:schemeClr val="tx2"/>
                </a:solidFill>
                <a:latin typeface="Cambria" pitchFamily="34" charset="0"/>
                <a:ea typeface="Cambria" pitchFamily="34" charset="-122"/>
                <a:cs typeface="Cambria" pitchFamily="34" charset="-120"/>
              </a:rPr>
              <a:t>Five Theories Behind BUHAY-AH</a:t>
            </a:r>
            <a:endParaRPr lang="en-US" sz="3200" dirty="0"/>
          </a:p>
        </p:txBody>
      </p:sp>
      <p:pic>
        <p:nvPicPr>
          <p:cNvPr id="5" name="diagram_theoretical.png" descr="Theoretical paradigm: five theories feeding BUHAY-AH">    </p:cNvPr>
          <p:cNvPicPr>
            <a:picLocks noChangeAspect="1"/>
          </p:cNvPicPr>
          <p:nvPr/>
        </p:nvPicPr>
        <p:blipFill>
          <a:blip r:embed="rId1"/>
          <a:stretch>
            <a:fillRect/>
          </a:stretch>
        </p:blipFill>
        <p:spPr>
          <a:xfrm>
            <a:off x="548640" y="1473864"/>
            <a:ext cx="11091672" cy="4093152"/>
          </a:xfrm>
          <a:prstGeom prst="rect">
            <a:avLst/>
          </a:prstGeom>
        </p:spPr>
      </p:pic>
      <p:sp>
        <p:nvSpPr>
          <p:cNvPr id="6" name="Text 2"/>
          <p:cNvSpPr txBox="1"/>
          <p:nvPr/>
        </p:nvSpPr>
        <p:spPr>
          <a:xfrm>
            <a:off x="548640" y="5715000"/>
            <a:ext cx="11091672" cy="502920"/>
          </a:xfrm>
          <a:prstGeom prst="rect">
            <a:avLst/>
          </a:prstGeom>
          <a:noFill/>
          <a:ln/>
        </p:spPr>
        <p:txBody>
          <a:bodyPr wrap="square" lIns="0" tIns="0" rIns="0" bIns="0" rtlCol="0" anchor="ctr"/>
          <a:lstStyle/>
          <a:p>
            <a:pPr algn="ctr" indent="0" marL="0">
              <a:buNone/>
            </a:pPr>
            <a:r>
              <a:rPr lang="en-US" sz="1300" b="1" dirty="0">
                <a:solidFill>
                  <a:srgbClr val="44505E"/>
                </a:solidFill>
              </a:rPr>
              <a:t>Agency (Jensen &amp; Meckling, 1976) · Should-Cost (GAO, 2020) · Optimization (Pareto, 1906; Nemhauser &amp; Wolsey, 1988) · Statistical Learning (Vapnik, 1998) · Cooperative Games (Shapley, 1953)</a:t>
            </a:r>
            <a:endParaRPr lang="en-US" sz="1300" dirty="0"/>
          </a:p>
        </p:txBody>
      </p:sp>
      <p:sp>
        <p:nvSpPr>
          <p:cNvPr id="25" name="Slide Number Placeholder 0"/>
          <p:cNvSpPr>
            <a:spLocks noGrp="1"/>
          </p:cNvSpPr>
          <p:nvPr>
            <p:ph type="sldNum" sz="quarter" idx="4294967295"/>
          </p:nvPr>
        </p:nvSpPr>
        <p:spPr>
          <a:xfrm>
            <a:off x="11064240" y="642823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A8C"/>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body" hasCustomPrompt="1"/>
          </p:nvPr>
        </p:nvSpPr>
        <p:spPr>
          <a:xfrm>
            <a:off x="548640" y="256032"/>
            <a:ext cx="8229600" cy="292608"/>
          </a:xfrm>
          <a:prstGeom prst="rect">
            <a:avLst/>
          </a:prstGeom>
          <a:noFill/>
          <a:ln/>
        </p:spPr>
        <p:txBody>
          <a:bodyPr wrap="square" lIns="0" tIns="0" rIns="0" bIns="0" rtlCol="0"/>
          <a:lstStyle/>
          <a:p>
            <a:pPr indent="0" marL="0">
              <a:buNone/>
            </a:pPr>
            <a:r>
              <a:rPr lang="en-US" sz="1200" b="1" spc="200" kern="0" dirty="0">
                <a:solidFill>
                  <a:schemeClr val="accent5"/>
                </a:solidFill>
              </a:rPr>
              <a:t>CONCEPTUAL FRAMEWORK</a:t>
            </a:r>
            <a:endParaRPr lang="en-US" sz="1200" dirty="0"/>
          </a:p>
        </p:txBody>
      </p:sp>
      <p:sp>
        <p:nvSpPr>
          <p:cNvPr id="3" name="Text 0"/>
          <p:cNvSpPr/>
          <p:nvPr>
            <p:ph idx="101" type="title" hasCustomPrompt="1"/>
          </p:nvPr>
        </p:nvSpPr>
        <p:spPr>
          <a:xfrm>
            <a:off x="548640" y="530352"/>
            <a:ext cx="11064240" cy="731520"/>
          </a:xfrm>
          <a:prstGeom prst="rect">
            <a:avLst/>
          </a:prstGeom>
          <a:noFill/>
          <a:ln/>
        </p:spPr>
        <p:txBody>
          <a:bodyPr wrap="square" lIns="0" tIns="0" rIns="0" bIns="0" rtlCol="0" anchor="ctr"/>
          <a:lstStyle/>
          <a:p>
            <a:pPr algn="l" indent="0" marL="0">
              <a:buNone/>
            </a:pPr>
            <a:r>
              <a:rPr lang="en-US" sz="3200" b="1" dirty="0">
                <a:solidFill>
                  <a:schemeClr val="tx2"/>
                </a:solidFill>
                <a:latin typeface="Cambria" pitchFamily="34" charset="0"/>
                <a:ea typeface="Cambria" pitchFamily="34" charset="-122"/>
                <a:cs typeface="Cambria" pitchFamily="34" charset="-120"/>
              </a:rPr>
              <a:t>Input–Process–Output–Feedback</a:t>
            </a:r>
            <a:endParaRPr lang="en-US" sz="3200" dirty="0"/>
          </a:p>
        </p:txBody>
      </p:sp>
      <p:pic>
        <p:nvPicPr>
          <p:cNvPr id="5" name="diagram_conceptual.png" descr="Conceptual paradigm: input, process, output, feedback">    </p:cNvPr>
          <p:cNvPicPr>
            <a:picLocks noChangeAspect="1"/>
          </p:cNvPicPr>
          <p:nvPr/>
        </p:nvPicPr>
        <p:blipFill>
          <a:blip r:embed="rId1"/>
          <a:stretch>
            <a:fillRect/>
          </a:stretch>
        </p:blipFill>
        <p:spPr>
          <a:xfrm>
            <a:off x="548640" y="1473355"/>
            <a:ext cx="11091672" cy="4734250"/>
          </a:xfrm>
          <a:prstGeom prst="rect">
            <a:avLst/>
          </a:prstGeom>
        </p:spPr>
      </p:pic>
      <p:sp>
        <p:nvSpPr>
          <p:cNvPr id="25" name="Slide Number Placeholder 0"/>
          <p:cNvSpPr>
            <a:spLocks noGrp="1"/>
          </p:cNvSpPr>
          <p:nvPr>
            <p:ph type="sldNum" sz="quarter" idx="4294967295"/>
          </p:nvPr>
        </p:nvSpPr>
        <p:spPr>
          <a:xfrm>
            <a:off x="11064240" y="642823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A8C"/>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body" hasCustomPrompt="1"/>
          </p:nvPr>
        </p:nvSpPr>
        <p:spPr>
          <a:xfrm>
            <a:off x="640080" y="1463040"/>
            <a:ext cx="3657600" cy="1188720"/>
          </a:xfrm>
          <a:prstGeom prst="rect">
            <a:avLst/>
          </a:prstGeom>
          <a:noFill/>
          <a:ln/>
        </p:spPr>
        <p:txBody>
          <a:bodyPr wrap="square" rtlCol="0"/>
          <a:lstStyle/>
          <a:p>
            <a:pPr indent="0" marL="0">
              <a:buNone/>
            </a:pPr>
            <a:r>
              <a:rPr lang="en-US" sz="8000" b="1" dirty="0">
                <a:solidFill>
                  <a:schemeClr val="accent1"/>
                </a:solidFill>
                <a:latin typeface="Cambria" pitchFamily="34" charset="0"/>
                <a:ea typeface="Cambria" pitchFamily="34" charset="-122"/>
                <a:cs typeface="Cambria" pitchFamily="34" charset="-120"/>
              </a:rPr>
              <a:t>03</a:t>
            </a:r>
            <a:endParaRPr lang="en-US" sz="8000" dirty="0"/>
          </a:p>
        </p:txBody>
      </p:sp>
      <p:sp>
        <p:nvSpPr>
          <p:cNvPr id="3" name="Text 0"/>
          <p:cNvSpPr/>
          <p:nvPr>
            <p:ph idx="101" type="title" hasCustomPrompt="1"/>
          </p:nvPr>
        </p:nvSpPr>
        <p:spPr>
          <a:xfrm>
            <a:off x="640080" y="2743200"/>
            <a:ext cx="10515600" cy="1005840"/>
          </a:xfrm>
          <a:prstGeom prst="rect">
            <a:avLst/>
          </a:prstGeom>
          <a:noFill/>
          <a:ln/>
        </p:spPr>
        <p:txBody>
          <a:bodyPr wrap="square" rtlCol="0"/>
          <a:lstStyle/>
          <a:p>
            <a:pPr algn="l" indent="0" marL="0">
              <a:buNone/>
            </a:pPr>
            <a:r>
              <a:rPr lang="en-US" sz="4400" b="1" dirty="0">
                <a:solidFill>
                  <a:schemeClr val="bg1"/>
                </a:solidFill>
                <a:latin typeface="Cambria" pitchFamily="34" charset="0"/>
                <a:ea typeface="Cambria" pitchFamily="34" charset="-122"/>
                <a:cs typeface="Cambria" pitchFamily="34" charset="-120"/>
              </a:rPr>
              <a:t>Methodology</a:t>
            </a:r>
            <a:endParaRPr lang="en-US" sz="4400" dirty="0"/>
          </a:p>
        </p:txBody>
      </p:sp>
      <p:sp>
        <p:nvSpPr>
          <p:cNvPr id="4" name="Text 0"/>
          <p:cNvSpPr/>
          <p:nvPr>
            <p:ph idx="102" type="body" hasCustomPrompt="1"/>
          </p:nvPr>
        </p:nvSpPr>
        <p:spPr>
          <a:xfrm>
            <a:off x="640080" y="3840480"/>
            <a:ext cx="9601200" cy="1097280"/>
          </a:xfrm>
          <a:prstGeom prst="rect">
            <a:avLst/>
          </a:prstGeom>
          <a:noFill/>
          <a:ln/>
        </p:spPr>
        <p:txBody>
          <a:bodyPr wrap="square" rtlCol="0" anchor="t"/>
          <a:lstStyle/>
          <a:p>
            <a:pPr indent="0" marL="0">
              <a:buNone/>
            </a:pPr>
            <a:r>
              <a:rPr lang="en-US" sz="1800" dirty="0">
                <a:solidFill>
                  <a:schemeClr val="bg2"/>
                </a:solidFill>
              </a:rPr>
              <a:t>Research design, locale and data, instruments, procedure, models, validation and ethical considerations</a:t>
            </a:r>
            <a:endParaRPr lang="en-US" sz="18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body" hasCustomPrompt="1"/>
          </p:nvPr>
        </p:nvSpPr>
        <p:spPr>
          <a:xfrm>
            <a:off x="548640" y="256032"/>
            <a:ext cx="8229600" cy="292608"/>
          </a:xfrm>
          <a:prstGeom prst="rect">
            <a:avLst/>
          </a:prstGeom>
          <a:noFill/>
          <a:ln/>
        </p:spPr>
        <p:txBody>
          <a:bodyPr wrap="square" lIns="0" tIns="0" rIns="0" bIns="0" rtlCol="0"/>
          <a:lstStyle/>
          <a:p>
            <a:pPr indent="0" marL="0">
              <a:buNone/>
            </a:pPr>
            <a:r>
              <a:rPr lang="en-US" sz="1200" b="1" spc="200" kern="0" dirty="0">
                <a:solidFill>
                  <a:schemeClr val="accent5"/>
                </a:solidFill>
              </a:rPr>
              <a:t>RESEARCH DESIGN</a:t>
            </a:r>
            <a:endParaRPr lang="en-US" sz="1200" dirty="0"/>
          </a:p>
        </p:txBody>
      </p:sp>
      <p:sp>
        <p:nvSpPr>
          <p:cNvPr id="3" name="Text 0"/>
          <p:cNvSpPr/>
          <p:nvPr>
            <p:ph idx="101" type="title" hasCustomPrompt="1"/>
          </p:nvPr>
        </p:nvSpPr>
        <p:spPr>
          <a:xfrm>
            <a:off x="548640" y="530352"/>
            <a:ext cx="11064240" cy="731520"/>
          </a:xfrm>
          <a:prstGeom prst="rect">
            <a:avLst/>
          </a:prstGeom>
          <a:noFill/>
          <a:ln/>
        </p:spPr>
        <p:txBody>
          <a:bodyPr wrap="square" lIns="0" tIns="0" rIns="0" bIns="0" rtlCol="0" anchor="ctr"/>
          <a:lstStyle/>
          <a:p>
            <a:pPr algn="l" indent="0" marL="0">
              <a:buNone/>
            </a:pPr>
            <a:r>
              <a:rPr lang="en-US" sz="3200" b="1" dirty="0">
                <a:solidFill>
                  <a:schemeClr val="tx2"/>
                </a:solidFill>
                <a:latin typeface="Cambria" pitchFamily="34" charset="0"/>
                <a:ea typeface="Cambria" pitchFamily="34" charset="-122"/>
                <a:cs typeface="Cambria" pitchFamily="34" charset="-120"/>
              </a:rPr>
              <a:t>Quantitative Developmental Design</a:t>
            </a:r>
            <a:endParaRPr lang="en-US" sz="3200" dirty="0"/>
          </a:p>
        </p:txBody>
      </p:sp>
      <p:sp>
        <p:nvSpPr>
          <p:cNvPr id="5" name="Text 2"/>
          <p:cNvSpPr txBox="1"/>
          <p:nvPr/>
        </p:nvSpPr>
        <p:spPr>
          <a:xfrm>
            <a:off x="548640" y="1417320"/>
            <a:ext cx="11091672" cy="685800"/>
          </a:xfrm>
          <a:prstGeom prst="rect">
            <a:avLst/>
          </a:prstGeom>
          <a:noFill/>
          <a:ln/>
        </p:spPr>
        <p:txBody>
          <a:bodyPr wrap="square" lIns="0" tIns="0" rIns="0" bIns="0" rtlCol="0" anchor="t"/>
          <a:lstStyle/>
          <a:p>
            <a:pPr indent="0" marL="0">
              <a:buNone/>
            </a:pPr>
            <a:r>
              <a:rPr lang="en-US" sz="1600" dirty="0">
                <a:solidFill>
                  <a:schemeClr val="tx1"/>
                </a:solidFill>
              </a:rPr>
              <a:t>A quantitative developmental design with a simulation-based computational experiment: the problem is expressed as mathematical models, solved as algorithms and validated with statistics.</a:t>
            </a:r>
            <a:endParaRPr lang="en-US" sz="1600" dirty="0"/>
          </a:p>
        </p:txBody>
      </p:sp>
      <p:sp>
        <p:nvSpPr>
          <p:cNvPr id="6" name="card"/>
          <p:cNvSpPr/>
          <p:nvPr/>
        </p:nvSpPr>
        <p:spPr>
          <a:xfrm>
            <a:off x="548640" y="2240280"/>
            <a:ext cx="2606040" cy="1828800"/>
          </a:xfrm>
          <a:prstGeom prst="roundRect">
            <a:avLst>
              <a:gd name="adj" fmla="val 4000"/>
            </a:avLst>
          </a:prstGeom>
          <a:solidFill>
            <a:schemeClr val="bg2"/>
          </a:solidFill>
          <a:ln/>
        </p:spPr>
      </p:sp>
      <p:sp>
        <p:nvSpPr>
          <p:cNvPr id="7" name="icon circle"/>
          <p:cNvSpPr/>
          <p:nvPr/>
        </p:nvSpPr>
        <p:spPr>
          <a:xfrm>
            <a:off x="749808" y="2423160"/>
            <a:ext cx="594360" cy="594360"/>
          </a:xfrm>
          <a:prstGeom prst="ellipse">
            <a:avLst/>
          </a:prstGeom>
          <a:solidFill>
            <a:schemeClr val="tx2"/>
          </a:solidFill>
          <a:ln/>
        </p:spPr>
      </p:sp>
      <p:pic>
        <p:nvPicPr>
          <p:cNvPr id="8" name="icon FaCalculator" descr="Calculator icon">    </p:cNvPr>
          <p:cNvPicPr>
            <a:picLocks noChangeAspect="1"/>
          </p:cNvPicPr>
          <p:nvPr/>
        </p:nvPicPr>
        <p:blipFill>
          <a:blip r:embed="rId1"/>
          <a:stretch>
            <a:fillRect/>
          </a:stretch>
        </p:blipFill>
        <p:spPr>
          <a:xfrm>
            <a:off x="892454" y="2565806"/>
            <a:ext cx="309067" cy="309067"/>
          </a:xfrm>
          <a:prstGeom prst="rect">
            <a:avLst/>
          </a:prstGeom>
        </p:spPr>
      </p:pic>
      <p:sp>
        <p:nvSpPr>
          <p:cNvPr id="9" name="Text 5"/>
          <p:cNvSpPr txBox="1"/>
          <p:nvPr/>
        </p:nvSpPr>
        <p:spPr>
          <a:xfrm>
            <a:off x="1463040" y="2377440"/>
            <a:ext cx="1600200" cy="685800"/>
          </a:xfrm>
          <a:prstGeom prst="rect">
            <a:avLst/>
          </a:prstGeom>
          <a:noFill/>
          <a:ln/>
        </p:spPr>
        <p:txBody>
          <a:bodyPr wrap="square" lIns="0" tIns="0" rIns="0" bIns="0" rtlCol="0" anchor="ctr"/>
          <a:lstStyle/>
          <a:p>
            <a:pPr indent="0" marL="0">
              <a:buNone/>
            </a:pPr>
            <a:r>
              <a:rPr lang="en-US" sz="1500" b="1" dirty="0">
                <a:solidFill>
                  <a:schemeClr val="tx2"/>
                </a:solidFill>
              </a:rPr>
              <a:t>Deterministic modeling</a:t>
            </a:r>
            <a:endParaRPr lang="en-US" sz="1500" dirty="0"/>
          </a:p>
        </p:txBody>
      </p:sp>
      <p:sp>
        <p:nvSpPr>
          <p:cNvPr id="10" name="Text 6"/>
          <p:cNvSpPr txBox="1"/>
          <p:nvPr/>
        </p:nvSpPr>
        <p:spPr>
          <a:xfrm>
            <a:off x="749808" y="3154680"/>
            <a:ext cx="2240280" cy="868680"/>
          </a:xfrm>
          <a:prstGeom prst="rect">
            <a:avLst/>
          </a:prstGeom>
          <a:noFill/>
          <a:ln/>
        </p:spPr>
        <p:txBody>
          <a:bodyPr wrap="square" lIns="0" tIns="0" rIns="0" bIns="0" rtlCol="0" anchor="t"/>
          <a:lstStyle/>
          <a:p>
            <a:pPr indent="0" marL="0">
              <a:buNone/>
            </a:pPr>
            <a:r>
              <a:rPr lang="en-US" sz="1350" dirty="0">
                <a:solidFill>
                  <a:schemeClr val="tx1"/>
                </a:solidFill>
              </a:rPr>
              <a:t>Quantity take-off and ABC from NSCP, DPWH and AASHTO</a:t>
            </a:r>
            <a:endParaRPr lang="en-US" sz="1350" dirty="0"/>
          </a:p>
        </p:txBody>
      </p:sp>
      <p:sp>
        <p:nvSpPr>
          <p:cNvPr id="11" name="card"/>
          <p:cNvSpPr/>
          <p:nvPr/>
        </p:nvSpPr>
        <p:spPr>
          <a:xfrm>
            <a:off x="3383280" y="2240280"/>
            <a:ext cx="2606040" cy="1828800"/>
          </a:xfrm>
          <a:prstGeom prst="roundRect">
            <a:avLst>
              <a:gd name="adj" fmla="val 4000"/>
            </a:avLst>
          </a:prstGeom>
          <a:solidFill>
            <a:schemeClr val="bg2"/>
          </a:solidFill>
          <a:ln/>
        </p:spPr>
      </p:sp>
      <p:sp>
        <p:nvSpPr>
          <p:cNvPr id="12" name="icon circle"/>
          <p:cNvSpPr/>
          <p:nvPr/>
        </p:nvSpPr>
        <p:spPr>
          <a:xfrm>
            <a:off x="3584448" y="2423160"/>
            <a:ext cx="594360" cy="594360"/>
          </a:xfrm>
          <a:prstGeom prst="ellipse">
            <a:avLst/>
          </a:prstGeom>
          <a:solidFill>
            <a:schemeClr val="tx2"/>
          </a:solidFill>
          <a:ln/>
        </p:spPr>
      </p:sp>
      <p:pic>
        <p:nvPicPr>
          <p:cNvPr id="13" name="icon FaPuzzlePiece" descr="PuzzlePiece icon">    </p:cNvPr>
          <p:cNvPicPr>
            <a:picLocks noChangeAspect="1"/>
          </p:cNvPicPr>
          <p:nvPr/>
        </p:nvPicPr>
        <p:blipFill>
          <a:blip r:embed="rId2"/>
          <a:stretch>
            <a:fillRect/>
          </a:stretch>
        </p:blipFill>
        <p:spPr>
          <a:xfrm>
            <a:off x="3727094" y="2565806"/>
            <a:ext cx="309067" cy="309067"/>
          </a:xfrm>
          <a:prstGeom prst="rect">
            <a:avLst/>
          </a:prstGeom>
        </p:spPr>
      </p:pic>
      <p:sp>
        <p:nvSpPr>
          <p:cNvPr id="14" name="Text 9"/>
          <p:cNvSpPr txBox="1"/>
          <p:nvPr/>
        </p:nvSpPr>
        <p:spPr>
          <a:xfrm>
            <a:off x="4297680" y="2377440"/>
            <a:ext cx="1600200" cy="685800"/>
          </a:xfrm>
          <a:prstGeom prst="rect">
            <a:avLst/>
          </a:prstGeom>
          <a:noFill/>
          <a:ln/>
        </p:spPr>
        <p:txBody>
          <a:bodyPr wrap="square" lIns="0" tIns="0" rIns="0" bIns="0" rtlCol="0" anchor="ctr"/>
          <a:lstStyle/>
          <a:p>
            <a:pPr indent="0" marL="0">
              <a:buNone/>
            </a:pPr>
            <a:r>
              <a:rPr lang="en-US" sz="1500" b="1" dirty="0">
                <a:solidFill>
                  <a:schemeClr val="tx2"/>
                </a:solidFill>
              </a:rPr>
              <a:t>Combinatorial optimization</a:t>
            </a:r>
            <a:endParaRPr lang="en-US" sz="1500" dirty="0"/>
          </a:p>
        </p:txBody>
      </p:sp>
      <p:sp>
        <p:nvSpPr>
          <p:cNvPr id="15" name="Text 10"/>
          <p:cNvSpPr txBox="1"/>
          <p:nvPr/>
        </p:nvSpPr>
        <p:spPr>
          <a:xfrm>
            <a:off x="3584448" y="3154680"/>
            <a:ext cx="2240280" cy="868680"/>
          </a:xfrm>
          <a:prstGeom prst="rect">
            <a:avLst/>
          </a:prstGeom>
          <a:noFill/>
          <a:ln/>
        </p:spPr>
        <p:txBody>
          <a:bodyPr wrap="square" lIns="0" tIns="0" rIns="0" bIns="0" rtlCol="0" anchor="t"/>
          <a:lstStyle/>
          <a:p>
            <a:pPr indent="0" marL="0">
              <a:buNone/>
            </a:pPr>
            <a:r>
              <a:rPr lang="en-US" sz="1350" dirty="0">
                <a:solidFill>
                  <a:schemeClr val="tx1"/>
                </a:solidFill>
              </a:rPr>
              <a:t>Budget-to-design integer program and Pareto filter</a:t>
            </a:r>
            <a:endParaRPr lang="en-US" sz="1350" dirty="0"/>
          </a:p>
        </p:txBody>
      </p:sp>
      <p:sp>
        <p:nvSpPr>
          <p:cNvPr id="16" name="card"/>
          <p:cNvSpPr/>
          <p:nvPr/>
        </p:nvSpPr>
        <p:spPr>
          <a:xfrm>
            <a:off x="6217920" y="2240280"/>
            <a:ext cx="2606040" cy="1828800"/>
          </a:xfrm>
          <a:prstGeom prst="roundRect">
            <a:avLst>
              <a:gd name="adj" fmla="val 4000"/>
            </a:avLst>
          </a:prstGeom>
          <a:solidFill>
            <a:schemeClr val="bg2"/>
          </a:solidFill>
          <a:ln/>
        </p:spPr>
      </p:sp>
      <p:sp>
        <p:nvSpPr>
          <p:cNvPr id="17" name="icon circle"/>
          <p:cNvSpPr/>
          <p:nvPr/>
        </p:nvSpPr>
        <p:spPr>
          <a:xfrm>
            <a:off x="6419088" y="2423160"/>
            <a:ext cx="594360" cy="594360"/>
          </a:xfrm>
          <a:prstGeom prst="ellipse">
            <a:avLst/>
          </a:prstGeom>
          <a:solidFill>
            <a:schemeClr val="tx2"/>
          </a:solidFill>
          <a:ln/>
        </p:spPr>
      </p:sp>
      <p:pic>
        <p:nvPicPr>
          <p:cNvPr id="18" name="icon FaChartLine" descr="ChartLine icon">    </p:cNvPr>
          <p:cNvPicPr>
            <a:picLocks noChangeAspect="1"/>
          </p:cNvPicPr>
          <p:nvPr/>
        </p:nvPicPr>
        <p:blipFill>
          <a:blip r:embed="rId3"/>
          <a:stretch>
            <a:fillRect/>
          </a:stretch>
        </p:blipFill>
        <p:spPr>
          <a:xfrm>
            <a:off x="6561734" y="2565806"/>
            <a:ext cx="309067" cy="309067"/>
          </a:xfrm>
          <a:prstGeom prst="rect">
            <a:avLst/>
          </a:prstGeom>
        </p:spPr>
      </p:pic>
      <p:sp>
        <p:nvSpPr>
          <p:cNvPr id="19" name="Text 13"/>
          <p:cNvSpPr txBox="1"/>
          <p:nvPr/>
        </p:nvSpPr>
        <p:spPr>
          <a:xfrm>
            <a:off x="7132320" y="2377440"/>
            <a:ext cx="1600200" cy="685800"/>
          </a:xfrm>
          <a:prstGeom prst="rect">
            <a:avLst/>
          </a:prstGeom>
          <a:noFill/>
          <a:ln/>
        </p:spPr>
        <p:txBody>
          <a:bodyPr wrap="square" lIns="0" tIns="0" rIns="0" bIns="0" rtlCol="0" anchor="ctr"/>
          <a:lstStyle/>
          <a:p>
            <a:pPr indent="0" marL="0">
              <a:buNone/>
            </a:pPr>
            <a:r>
              <a:rPr lang="en-US" sz="1500" b="1" dirty="0">
                <a:solidFill>
                  <a:schemeClr val="tx2"/>
                </a:solidFill>
              </a:rPr>
              <a:t>Statistical and machine learning</a:t>
            </a:r>
            <a:endParaRPr lang="en-US" sz="1500" dirty="0"/>
          </a:p>
        </p:txBody>
      </p:sp>
      <p:sp>
        <p:nvSpPr>
          <p:cNvPr id="20" name="Text 14"/>
          <p:cNvSpPr txBox="1"/>
          <p:nvPr/>
        </p:nvSpPr>
        <p:spPr>
          <a:xfrm>
            <a:off x="6419088" y="3154680"/>
            <a:ext cx="2240280" cy="868680"/>
          </a:xfrm>
          <a:prstGeom prst="rect">
            <a:avLst/>
          </a:prstGeom>
          <a:noFill/>
          <a:ln/>
        </p:spPr>
        <p:txBody>
          <a:bodyPr wrap="square" lIns="0" tIns="0" rIns="0" bIns="0" rtlCol="0" anchor="t"/>
          <a:lstStyle/>
          <a:p>
            <a:pPr indent="0" marL="0">
              <a:buNone/>
            </a:pPr>
            <a:r>
              <a:rPr lang="en-US" sz="1350" dirty="0">
                <a:solidFill>
                  <a:schemeClr val="tx1"/>
                </a:solidFill>
              </a:rPr>
              <a:t>MLR, XGBoost, Isolation Forest, SHAP</a:t>
            </a:r>
            <a:endParaRPr lang="en-US" sz="1350" dirty="0"/>
          </a:p>
        </p:txBody>
      </p:sp>
      <p:sp>
        <p:nvSpPr>
          <p:cNvPr id="21" name="card"/>
          <p:cNvSpPr/>
          <p:nvPr/>
        </p:nvSpPr>
        <p:spPr>
          <a:xfrm>
            <a:off x="9052560" y="2240280"/>
            <a:ext cx="2606040" cy="1828800"/>
          </a:xfrm>
          <a:prstGeom prst="roundRect">
            <a:avLst>
              <a:gd name="adj" fmla="val 4000"/>
            </a:avLst>
          </a:prstGeom>
          <a:solidFill>
            <a:schemeClr val="bg2"/>
          </a:solidFill>
          <a:ln/>
        </p:spPr>
      </p:sp>
      <p:sp>
        <p:nvSpPr>
          <p:cNvPr id="22" name="icon circle"/>
          <p:cNvSpPr/>
          <p:nvPr/>
        </p:nvSpPr>
        <p:spPr>
          <a:xfrm>
            <a:off x="9253728" y="2423160"/>
            <a:ext cx="594360" cy="594360"/>
          </a:xfrm>
          <a:prstGeom prst="ellipse">
            <a:avLst/>
          </a:prstGeom>
          <a:solidFill>
            <a:schemeClr val="tx2"/>
          </a:solidFill>
          <a:ln/>
        </p:spPr>
      </p:sp>
      <p:pic>
        <p:nvPicPr>
          <p:cNvPr id="23" name="icon FaDice" descr="Dice icon">    </p:cNvPr>
          <p:cNvPicPr>
            <a:picLocks noChangeAspect="1"/>
          </p:cNvPicPr>
          <p:nvPr/>
        </p:nvPicPr>
        <p:blipFill>
          <a:blip r:embed="rId4"/>
          <a:stretch>
            <a:fillRect/>
          </a:stretch>
        </p:blipFill>
        <p:spPr>
          <a:xfrm>
            <a:off x="9396374" y="2565806"/>
            <a:ext cx="309067" cy="309067"/>
          </a:xfrm>
          <a:prstGeom prst="rect">
            <a:avLst/>
          </a:prstGeom>
        </p:spPr>
      </p:pic>
      <p:sp>
        <p:nvSpPr>
          <p:cNvPr id="24" name="Text 17"/>
          <p:cNvSpPr txBox="1"/>
          <p:nvPr/>
        </p:nvSpPr>
        <p:spPr>
          <a:xfrm>
            <a:off x="9966960" y="2377440"/>
            <a:ext cx="1600200" cy="685800"/>
          </a:xfrm>
          <a:prstGeom prst="rect">
            <a:avLst/>
          </a:prstGeom>
          <a:noFill/>
          <a:ln/>
        </p:spPr>
        <p:txBody>
          <a:bodyPr wrap="square" lIns="0" tIns="0" rIns="0" bIns="0" rtlCol="0" anchor="ctr"/>
          <a:lstStyle/>
          <a:p>
            <a:pPr indent="0" marL="0">
              <a:buNone/>
            </a:pPr>
            <a:r>
              <a:rPr lang="en-US" sz="1500" b="1" dirty="0">
                <a:solidFill>
                  <a:schemeClr val="tx2"/>
                </a:solidFill>
              </a:rPr>
              <a:t>Monte Carlo simulation</a:t>
            </a:r>
            <a:endParaRPr lang="en-US" sz="1500" dirty="0"/>
          </a:p>
        </p:txBody>
      </p:sp>
      <p:sp>
        <p:nvSpPr>
          <p:cNvPr id="25" name="Text 18"/>
          <p:cNvSpPr txBox="1"/>
          <p:nvPr/>
        </p:nvSpPr>
        <p:spPr>
          <a:xfrm>
            <a:off x="9253728" y="3154680"/>
            <a:ext cx="2240280" cy="868680"/>
          </a:xfrm>
          <a:prstGeom prst="rect">
            <a:avLst/>
          </a:prstGeom>
          <a:noFill/>
          <a:ln/>
        </p:spPr>
        <p:txBody>
          <a:bodyPr wrap="square" lIns="0" tIns="0" rIns="0" bIns="0" rtlCol="0" anchor="t"/>
          <a:lstStyle/>
          <a:p>
            <a:pPr indent="0" marL="0">
              <a:buNone/>
            </a:pPr>
            <a:r>
              <a:rPr lang="en-US" sz="1350" dirty="0">
                <a:solidFill>
                  <a:schemeClr val="tx1"/>
                </a:solidFill>
              </a:rPr>
              <a:t>SBD-300 benchmark with known overpricing</a:t>
            </a:r>
            <a:endParaRPr lang="en-US" sz="1350" dirty="0"/>
          </a:p>
        </p:txBody>
      </p:sp>
      <p:pic>
        <p:nvPicPr>
          <p:cNvPr id="26" name="diagram_method.png" descr="Methodological paradigm">    </p:cNvPr>
          <p:cNvPicPr>
            <a:picLocks noChangeAspect="1"/>
          </p:cNvPicPr>
          <p:nvPr/>
        </p:nvPicPr>
        <p:blipFill>
          <a:blip r:embed="rId5"/>
          <a:stretch>
            <a:fillRect/>
          </a:stretch>
        </p:blipFill>
        <p:spPr>
          <a:xfrm>
            <a:off x="2166910" y="4251960"/>
            <a:ext cx="7855131" cy="2011680"/>
          </a:xfrm>
          <a:prstGeom prst="rect">
            <a:avLst/>
          </a:prstGeom>
        </p:spPr>
      </p:pic>
      <p:sp>
        <p:nvSpPr>
          <p:cNvPr id="25" name="Slide Number Placeholder 0"/>
          <p:cNvSpPr>
            <a:spLocks noGrp="1"/>
          </p:cNvSpPr>
          <p:nvPr>
            <p:ph type="sldNum" sz="quarter" idx="4294967295"/>
          </p:nvPr>
        </p:nvSpPr>
        <p:spPr>
          <a:xfrm>
            <a:off x="11064240" y="642823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A8C"/>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body" hasCustomPrompt="1"/>
          </p:nvPr>
        </p:nvSpPr>
        <p:spPr>
          <a:xfrm>
            <a:off x="548640" y="256032"/>
            <a:ext cx="8229600" cy="292608"/>
          </a:xfrm>
          <a:prstGeom prst="rect">
            <a:avLst/>
          </a:prstGeom>
          <a:noFill/>
          <a:ln/>
        </p:spPr>
        <p:txBody>
          <a:bodyPr wrap="square" lIns="0" tIns="0" rIns="0" bIns="0" rtlCol="0"/>
          <a:lstStyle/>
          <a:p>
            <a:pPr indent="0" marL="0">
              <a:buNone/>
            </a:pPr>
            <a:r>
              <a:rPr lang="en-US" sz="1200" b="1" spc="200" kern="0" dirty="0">
                <a:solidFill>
                  <a:schemeClr val="accent5"/>
                </a:solidFill>
              </a:rPr>
              <a:t>RESEARCH LOCALE AND DATA SOURCES</a:t>
            </a:r>
            <a:endParaRPr lang="en-US" sz="1200" dirty="0"/>
          </a:p>
        </p:txBody>
      </p:sp>
      <p:sp>
        <p:nvSpPr>
          <p:cNvPr id="3" name="Text 0"/>
          <p:cNvSpPr/>
          <p:nvPr>
            <p:ph idx="101" type="title" hasCustomPrompt="1"/>
          </p:nvPr>
        </p:nvSpPr>
        <p:spPr>
          <a:xfrm>
            <a:off x="548640" y="530352"/>
            <a:ext cx="11064240" cy="731520"/>
          </a:xfrm>
          <a:prstGeom prst="rect">
            <a:avLst/>
          </a:prstGeom>
          <a:noFill/>
          <a:ln/>
        </p:spPr>
        <p:txBody>
          <a:bodyPr wrap="square" lIns="0" tIns="0" rIns="0" bIns="0" rtlCol="0" anchor="ctr"/>
          <a:lstStyle/>
          <a:p>
            <a:pPr algn="l" indent="0" marL="0">
              <a:buNone/>
            </a:pPr>
            <a:r>
              <a:rPr lang="en-US" sz="3200" b="1" dirty="0">
                <a:solidFill>
                  <a:schemeClr val="tx2"/>
                </a:solidFill>
                <a:latin typeface="Cambria" pitchFamily="34" charset="0"/>
                <a:ea typeface="Cambria" pitchFamily="34" charset="-122"/>
                <a:cs typeface="Cambria" pitchFamily="34" charset="-120"/>
              </a:rPr>
              <a:t>Bicol Region V, Standards and Prices</a:t>
            </a:r>
            <a:endParaRPr lang="en-US" sz="3200" dirty="0"/>
          </a:p>
        </p:txBody>
      </p:sp>
      <p:graphicFrame>
        <p:nvGraphicFramePr>
          <p:cNvPr id="20" name="locale table"/>
          <p:cNvGraphicFramePr>
            <a:graphicFrameLocks noGrp="1"/>
          </p:cNvGraphicFramePr>
          <p:nvPr>
            <p:extLst>
              <p:ext uri="{D42A27DB-BD31-4B8C-83A1-F6EECF244321}">
                <p14:modId xmlns:p14="http://schemas.microsoft.com/office/powerpoint/2010/main" val="1579011935"/>
              </p:ext>
            </p:extLst>
          </p:nvPr>
        </p:nvGraphicFramePr>
        <p:xfrm>
          <a:off x="548640" y="1508760"/>
          <a:ext cx="5120640" cy="914400"/>
        </p:xfrm>
        <a:graphic>
          <a:graphicData uri="http://schemas.openxmlformats.org/drawingml/2006/table">
            <a:tbl>
              <a:tblPr/>
              <a:tblGrid>
                <a:gridCol w="2194560"/>
                <a:gridCol w="1371600"/>
                <a:gridCol w="1554480"/>
              </a:tblGrid>
              <a:tr h="438912">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Province</a:t>
                      </a:r>
                      <a:endParaRPr lang="en-US" sz="1300" dirty="0">
                        <a:latin typeface="Calibri" charset="0"/>
                        <a:ea typeface="Calibri" charset="0"/>
                        <a:cs typeface="Calibri" charset="0"/>
                      </a:endParaRPr>
                    </a:p>
                  </a:txBody>
                  <a:tcPr marL="91440" marR="91440" marT="45720" marB="4572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rgbClr val="12345A"/>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Location factor</a:t>
                      </a:r>
                      <a:endParaRPr lang="en-US" sz="1300" dirty="0">
                        <a:latin typeface="Calibri" charset="0"/>
                        <a:ea typeface="Calibri" charset="0"/>
                        <a:cs typeface="Calibri" charset="0"/>
                      </a:endParaRPr>
                    </a:p>
                  </a:txBody>
                  <a:tcPr marL="91440" marR="91440" marT="45720" marB="4572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rgbClr val="12345A"/>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Cost index</a:t>
                      </a:r>
                      <a:endParaRPr lang="en-US" sz="1300" dirty="0">
                        <a:latin typeface="Calibri" charset="0"/>
                        <a:ea typeface="Calibri" charset="0"/>
                        <a:cs typeface="Calibri" charset="0"/>
                      </a:endParaRPr>
                    </a:p>
                  </a:txBody>
                  <a:tcPr marL="91440" marR="91440" marT="45720" marB="4572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rgbClr val="12345A"/>
                    </a:solidFill>
                  </a:tcPr>
                </a:tc>
              </a:tr>
              <a:tr h="438912">
                <a:tc>
                  <a:txBody>
                    <a:bodyPr/>
                    <a:lstStyle/>
                    <a:p>
                      <a:pPr indent="0" marL="0">
                        <a:buNone/>
                      </a:pPr>
                      <a:r>
                        <a:rPr lang="en-US" sz="1400" b="1" dirty="0">
                          <a:solidFill>
                            <a:srgbClr val="12345A"/>
                          </a:solidFill>
                          <a:latin typeface="Calibri" pitchFamily="34" charset="0"/>
                          <a:ea typeface="Calibri" pitchFamily="34" charset="-122"/>
                          <a:cs typeface="Calibri" pitchFamily="34" charset="-120"/>
                        </a:rPr>
                        <a:t>Albay</a:t>
                      </a:r>
                      <a:endParaRPr lang="en-US" sz="1400" dirty="0">
                        <a:latin typeface="Calibri" charset="0"/>
                        <a:ea typeface="Calibri" charset="0"/>
                        <a:cs typeface="Calibri" charset="0"/>
                      </a:endParaRPr>
                    </a:p>
                  </a:txBody>
                  <a:tcPr marL="91440" marR="91440" marT="45720" marB="4572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r" indent="0" marL="0">
                        <a:buNone/>
                      </a:pPr>
                      <a:r>
                        <a:rPr lang="en-US" sz="1400" dirty="0">
                          <a:solidFill>
                            <a:srgbClr val="14202E"/>
                          </a:solidFill>
                          <a:latin typeface="Calibri" pitchFamily="34" charset="0"/>
                          <a:ea typeface="Calibri" pitchFamily="34" charset="-122"/>
                          <a:cs typeface="Calibri" pitchFamily="34" charset="-120"/>
                        </a:rPr>
                        <a:t>1.00</a:t>
                      </a:r>
                      <a:endParaRPr lang="en-US" sz="1400" dirty="0">
                        <a:latin typeface="Calibri" charset="0"/>
                        <a:ea typeface="Calibri" charset="0"/>
                        <a:cs typeface="Calibri" charset="0"/>
                      </a:endParaRPr>
                    </a:p>
                  </a:txBody>
                  <a:tcPr marL="91440" marR="91440" marT="45720" marB="4572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r" indent="0" marL="0">
                        <a:buNone/>
                      </a:pPr>
                      <a:r>
                        <a:rPr lang="en-US" sz="1400" dirty="0">
                          <a:solidFill>
                            <a:srgbClr val="14202E"/>
                          </a:solidFill>
                          <a:latin typeface="Calibri" pitchFamily="34" charset="0"/>
                          <a:ea typeface="Calibri" pitchFamily="34" charset="-122"/>
                          <a:cs typeface="Calibri" pitchFamily="34" charset="-120"/>
                        </a:rPr>
                        <a:t>0.90 (2022)</a:t>
                      </a:r>
                      <a:endParaRPr lang="en-US" sz="1400" dirty="0">
                        <a:latin typeface="Calibri" charset="0"/>
                        <a:ea typeface="Calibri" charset="0"/>
                        <a:cs typeface="Calibri" charset="0"/>
                      </a:endParaRPr>
                    </a:p>
                  </a:txBody>
                  <a:tcPr marL="91440" marR="91440" marT="45720" marB="4572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r>
              <a:tr h="438912">
                <a:tc>
                  <a:txBody>
                    <a:bodyPr/>
                    <a:lstStyle/>
                    <a:p>
                      <a:pPr indent="0" marL="0">
                        <a:buNone/>
                      </a:pPr>
                      <a:r>
                        <a:rPr lang="en-US" sz="1400" b="1" dirty="0">
                          <a:solidFill>
                            <a:srgbClr val="12345A"/>
                          </a:solidFill>
                          <a:latin typeface="Calibri" pitchFamily="34" charset="0"/>
                          <a:ea typeface="Calibri" pitchFamily="34" charset="-122"/>
                          <a:cs typeface="Calibri" pitchFamily="34" charset="-120"/>
                        </a:rPr>
                        <a:t>Camarines Sur</a:t>
                      </a:r>
                      <a:endParaRPr lang="en-US" sz="1400" dirty="0">
                        <a:latin typeface="Calibri" charset="0"/>
                        <a:ea typeface="Calibri" charset="0"/>
                        <a:cs typeface="Calibri" charset="0"/>
                      </a:endParaRPr>
                    </a:p>
                  </a:txBody>
                  <a:tcPr marL="91440" marR="91440" marT="45720" marB="4572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r" indent="0" marL="0">
                        <a:buNone/>
                      </a:pPr>
                      <a:r>
                        <a:rPr lang="en-US" sz="1400" dirty="0">
                          <a:solidFill>
                            <a:srgbClr val="14202E"/>
                          </a:solidFill>
                          <a:latin typeface="Calibri" pitchFamily="34" charset="0"/>
                          <a:ea typeface="Calibri" pitchFamily="34" charset="-122"/>
                          <a:cs typeface="Calibri" pitchFamily="34" charset="-120"/>
                        </a:rPr>
                        <a:t>1.00</a:t>
                      </a:r>
                      <a:endParaRPr lang="en-US" sz="1400" dirty="0">
                        <a:latin typeface="Calibri" charset="0"/>
                        <a:ea typeface="Calibri" charset="0"/>
                        <a:cs typeface="Calibri" charset="0"/>
                      </a:endParaRPr>
                    </a:p>
                  </a:txBody>
                  <a:tcPr marL="91440" marR="91440" marT="45720" marB="4572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r" indent="0" marL="0">
                        <a:buNone/>
                      </a:pPr>
                      <a:r>
                        <a:rPr lang="en-US" sz="1400" dirty="0">
                          <a:solidFill>
                            <a:srgbClr val="14202E"/>
                          </a:solidFill>
                          <a:latin typeface="Calibri" pitchFamily="34" charset="0"/>
                          <a:ea typeface="Calibri" pitchFamily="34" charset="-122"/>
                          <a:cs typeface="Calibri" pitchFamily="34" charset="-120"/>
                        </a:rPr>
                        <a:t>0.94 (2023)</a:t>
                      </a:r>
                      <a:endParaRPr lang="en-US" sz="1400" dirty="0">
                        <a:latin typeface="Calibri" charset="0"/>
                        <a:ea typeface="Calibri" charset="0"/>
                        <a:cs typeface="Calibri" charset="0"/>
                      </a:endParaRPr>
                    </a:p>
                  </a:txBody>
                  <a:tcPr marL="91440" marR="91440" marT="45720" marB="4572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r>
              <a:tr h="438912">
                <a:tc>
                  <a:txBody>
                    <a:bodyPr/>
                    <a:lstStyle/>
                    <a:p>
                      <a:pPr indent="0" marL="0">
                        <a:buNone/>
                      </a:pPr>
                      <a:r>
                        <a:rPr lang="en-US" sz="1400" b="1" dirty="0">
                          <a:solidFill>
                            <a:srgbClr val="12345A"/>
                          </a:solidFill>
                          <a:latin typeface="Calibri" pitchFamily="34" charset="0"/>
                          <a:ea typeface="Calibri" pitchFamily="34" charset="-122"/>
                          <a:cs typeface="Calibri" pitchFamily="34" charset="-120"/>
                        </a:rPr>
                        <a:t>Camarines Norte</a:t>
                      </a:r>
                      <a:endParaRPr lang="en-US" sz="1400" dirty="0">
                        <a:latin typeface="Calibri" charset="0"/>
                        <a:ea typeface="Calibri" charset="0"/>
                        <a:cs typeface="Calibri" charset="0"/>
                      </a:endParaRPr>
                    </a:p>
                  </a:txBody>
                  <a:tcPr marL="91440" marR="91440" marT="45720" marB="4572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r" indent="0" marL="0">
                        <a:buNone/>
                      </a:pPr>
                      <a:r>
                        <a:rPr lang="en-US" sz="1400" dirty="0">
                          <a:solidFill>
                            <a:srgbClr val="14202E"/>
                          </a:solidFill>
                          <a:latin typeface="Calibri" pitchFamily="34" charset="0"/>
                          <a:ea typeface="Calibri" pitchFamily="34" charset="-122"/>
                          <a:cs typeface="Calibri" pitchFamily="34" charset="-120"/>
                        </a:rPr>
                        <a:t>1.03</a:t>
                      </a:r>
                      <a:endParaRPr lang="en-US" sz="1400" dirty="0">
                        <a:latin typeface="Calibri" charset="0"/>
                        <a:ea typeface="Calibri" charset="0"/>
                        <a:cs typeface="Calibri" charset="0"/>
                      </a:endParaRPr>
                    </a:p>
                  </a:txBody>
                  <a:tcPr marL="91440" marR="91440" marT="45720" marB="4572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r" indent="0" marL="0">
                        <a:buNone/>
                      </a:pPr>
                      <a:r>
                        <a:rPr lang="en-US" sz="1400" dirty="0">
                          <a:solidFill>
                            <a:srgbClr val="14202E"/>
                          </a:solidFill>
                          <a:latin typeface="Calibri" pitchFamily="34" charset="0"/>
                          <a:ea typeface="Calibri" pitchFamily="34" charset="-122"/>
                          <a:cs typeface="Calibri" pitchFamily="34" charset="-120"/>
                        </a:rPr>
                        <a:t>0.97 (2024)</a:t>
                      </a:r>
                      <a:endParaRPr lang="en-US" sz="1400" dirty="0">
                        <a:latin typeface="Calibri" charset="0"/>
                        <a:ea typeface="Calibri" charset="0"/>
                        <a:cs typeface="Calibri" charset="0"/>
                      </a:endParaRPr>
                    </a:p>
                  </a:txBody>
                  <a:tcPr marL="91440" marR="91440" marT="45720" marB="4572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r>
              <a:tr h="438912">
                <a:tc>
                  <a:txBody>
                    <a:bodyPr/>
                    <a:lstStyle/>
                    <a:p>
                      <a:pPr indent="0" marL="0">
                        <a:buNone/>
                      </a:pPr>
                      <a:r>
                        <a:rPr lang="en-US" sz="1400" b="1" dirty="0">
                          <a:solidFill>
                            <a:srgbClr val="12345A"/>
                          </a:solidFill>
                          <a:latin typeface="Calibri" pitchFamily="34" charset="0"/>
                          <a:ea typeface="Calibri" pitchFamily="34" charset="-122"/>
                          <a:cs typeface="Calibri" pitchFamily="34" charset="-120"/>
                        </a:rPr>
                        <a:t>Sorsogon</a:t>
                      </a:r>
                      <a:endParaRPr lang="en-US" sz="1400" dirty="0">
                        <a:latin typeface="Calibri" charset="0"/>
                        <a:ea typeface="Calibri" charset="0"/>
                        <a:cs typeface="Calibri" charset="0"/>
                      </a:endParaRPr>
                    </a:p>
                  </a:txBody>
                  <a:tcPr marL="91440" marR="91440" marT="45720" marB="4572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r" indent="0" marL="0">
                        <a:buNone/>
                      </a:pPr>
                      <a:r>
                        <a:rPr lang="en-US" sz="1400" dirty="0">
                          <a:solidFill>
                            <a:srgbClr val="14202E"/>
                          </a:solidFill>
                          <a:latin typeface="Calibri" pitchFamily="34" charset="0"/>
                          <a:ea typeface="Calibri" pitchFamily="34" charset="-122"/>
                          <a:cs typeface="Calibri" pitchFamily="34" charset="-120"/>
                        </a:rPr>
                        <a:t>1.03</a:t>
                      </a:r>
                      <a:endParaRPr lang="en-US" sz="1400" dirty="0">
                        <a:latin typeface="Calibri" charset="0"/>
                        <a:ea typeface="Calibri" charset="0"/>
                        <a:cs typeface="Calibri" charset="0"/>
                      </a:endParaRPr>
                    </a:p>
                  </a:txBody>
                  <a:tcPr marL="91440" marR="91440" marT="45720" marB="4572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r" indent="0" marL="0">
                        <a:buNone/>
                      </a:pPr>
                      <a:r>
                        <a:rPr lang="en-US" sz="1400" dirty="0">
                          <a:solidFill>
                            <a:srgbClr val="14202E"/>
                          </a:solidFill>
                          <a:latin typeface="Calibri" pitchFamily="34" charset="0"/>
                          <a:ea typeface="Calibri" pitchFamily="34" charset="-122"/>
                          <a:cs typeface="Calibri" pitchFamily="34" charset="-120"/>
                        </a:rPr>
                        <a:t>1.00 (2025)</a:t>
                      </a:r>
                      <a:endParaRPr lang="en-US" sz="1400" dirty="0">
                        <a:latin typeface="Calibri" charset="0"/>
                        <a:ea typeface="Calibri" charset="0"/>
                        <a:cs typeface="Calibri" charset="0"/>
                      </a:endParaRPr>
                    </a:p>
                  </a:txBody>
                  <a:tcPr marL="91440" marR="91440" marT="45720" marB="4572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r>
              <a:tr h="438912">
                <a:tc>
                  <a:txBody>
                    <a:bodyPr/>
                    <a:lstStyle/>
                    <a:p>
                      <a:pPr indent="0" marL="0">
                        <a:buNone/>
                      </a:pPr>
                      <a:r>
                        <a:rPr lang="en-US" sz="1400" b="1" dirty="0">
                          <a:solidFill>
                            <a:srgbClr val="12345A"/>
                          </a:solidFill>
                          <a:latin typeface="Calibri" pitchFamily="34" charset="0"/>
                          <a:ea typeface="Calibri" pitchFamily="34" charset="-122"/>
                          <a:cs typeface="Calibri" pitchFamily="34" charset="-120"/>
                        </a:rPr>
                        <a:t>Masbate</a:t>
                      </a:r>
                      <a:endParaRPr lang="en-US" sz="1400" dirty="0">
                        <a:latin typeface="Calibri" charset="0"/>
                        <a:ea typeface="Calibri" charset="0"/>
                        <a:cs typeface="Calibri" charset="0"/>
                      </a:endParaRPr>
                    </a:p>
                  </a:txBody>
                  <a:tcPr marL="91440" marR="91440" marT="45720" marB="4572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r" indent="0" marL="0">
                        <a:buNone/>
                      </a:pPr>
                      <a:r>
                        <a:rPr lang="en-US" sz="1400" dirty="0">
                          <a:solidFill>
                            <a:srgbClr val="14202E"/>
                          </a:solidFill>
                          <a:latin typeface="Calibri" pitchFamily="34" charset="0"/>
                          <a:ea typeface="Calibri" pitchFamily="34" charset="-122"/>
                          <a:cs typeface="Calibri" pitchFamily="34" charset="-120"/>
                        </a:rPr>
                        <a:t>1.10</a:t>
                      </a:r>
                      <a:endParaRPr lang="en-US" sz="1400" dirty="0">
                        <a:latin typeface="Calibri" charset="0"/>
                        <a:ea typeface="Calibri" charset="0"/>
                        <a:cs typeface="Calibri" charset="0"/>
                      </a:endParaRPr>
                    </a:p>
                  </a:txBody>
                  <a:tcPr marL="91440" marR="91440" marT="45720" marB="4572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r" indent="0" marL="0">
                        <a:buNone/>
                      </a:pPr>
                      <a:r>
                        <a:rPr lang="en-US" sz="1400" dirty="0">
                          <a:solidFill>
                            <a:srgbClr val="14202E"/>
                          </a:solidFill>
                          <a:latin typeface="Calibri" pitchFamily="34" charset="0"/>
                          <a:ea typeface="Calibri" pitchFamily="34" charset="-122"/>
                          <a:cs typeface="Calibri" pitchFamily="34" charset="-120"/>
                        </a:rPr>
                        <a:t>1.03 (2026)</a:t>
                      </a:r>
                      <a:endParaRPr lang="en-US" sz="1400" dirty="0">
                        <a:latin typeface="Calibri" charset="0"/>
                        <a:ea typeface="Calibri" charset="0"/>
                        <a:cs typeface="Calibri" charset="0"/>
                      </a:endParaRPr>
                    </a:p>
                  </a:txBody>
                  <a:tcPr marL="91440" marR="91440" marT="45720" marB="4572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r>
              <a:tr h="438912">
                <a:tc>
                  <a:txBody>
                    <a:bodyPr/>
                    <a:lstStyle/>
                    <a:p>
                      <a:pPr indent="0" marL="0">
                        <a:buNone/>
                      </a:pPr>
                      <a:r>
                        <a:rPr lang="en-US" sz="1400" b="1" dirty="0">
                          <a:solidFill>
                            <a:srgbClr val="12345A"/>
                          </a:solidFill>
                          <a:latin typeface="Calibri" pitchFamily="34" charset="0"/>
                          <a:ea typeface="Calibri" pitchFamily="34" charset="-122"/>
                          <a:cs typeface="Calibri" pitchFamily="34" charset="-120"/>
                        </a:rPr>
                        <a:t>Catanduanes</a:t>
                      </a:r>
                      <a:endParaRPr lang="en-US" sz="1400" dirty="0">
                        <a:latin typeface="Calibri" charset="0"/>
                        <a:ea typeface="Calibri" charset="0"/>
                        <a:cs typeface="Calibri" charset="0"/>
                      </a:endParaRPr>
                    </a:p>
                  </a:txBody>
                  <a:tcPr marL="91440" marR="91440" marT="45720" marB="4572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r" indent="0" marL="0">
                        <a:buNone/>
                      </a:pPr>
                      <a:r>
                        <a:rPr lang="en-US" sz="1400" dirty="0">
                          <a:solidFill>
                            <a:srgbClr val="14202E"/>
                          </a:solidFill>
                          <a:latin typeface="Calibri" pitchFamily="34" charset="0"/>
                          <a:ea typeface="Calibri" pitchFamily="34" charset="-122"/>
                          <a:cs typeface="Calibri" pitchFamily="34" charset="-120"/>
                        </a:rPr>
                        <a:t>1.12</a:t>
                      </a:r>
                      <a:endParaRPr lang="en-US" sz="1400" dirty="0">
                        <a:latin typeface="Calibri" charset="0"/>
                        <a:ea typeface="Calibri" charset="0"/>
                        <a:cs typeface="Calibri" charset="0"/>
                      </a:endParaRPr>
                    </a:p>
                  </a:txBody>
                  <a:tcPr marL="91440" marR="91440" marT="45720" marB="4572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r" indent="0" marL="0">
                        <a:buNone/>
                      </a:pPr>
                      <a:r>
                        <a:rPr lang="en-US" sz="1400" dirty="0">
                          <a:solidFill>
                            <a:srgbClr val="14202E"/>
                          </a:solidFill>
                          <a:latin typeface="Calibri" pitchFamily="34" charset="0"/>
                          <a:ea typeface="Calibri" pitchFamily="34" charset="-122"/>
                          <a:cs typeface="Calibri" pitchFamily="34" charset="-120"/>
                        </a:rPr>
                        <a:t>—</a:t>
                      </a:r>
                      <a:endParaRPr lang="en-US" sz="1400" dirty="0">
                        <a:latin typeface="Calibri" charset="0"/>
                        <a:ea typeface="Calibri" charset="0"/>
                        <a:cs typeface="Calibri" charset="0"/>
                      </a:endParaRPr>
                    </a:p>
                  </a:txBody>
                  <a:tcPr marL="91440" marR="91440" marT="45720" marB="4572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r>
            </a:tbl>
          </a:graphicData>
        </a:graphic>
      </p:graphicFrame>
      <p:sp>
        <p:nvSpPr>
          <p:cNvPr id="6" name="Text 2"/>
          <p:cNvSpPr txBox="1"/>
          <p:nvPr/>
        </p:nvSpPr>
        <p:spPr>
          <a:xfrm>
            <a:off x="548640" y="4754880"/>
            <a:ext cx="5120640" cy="548640"/>
          </a:xfrm>
          <a:prstGeom prst="rect">
            <a:avLst/>
          </a:prstGeom>
          <a:noFill/>
          <a:ln/>
        </p:spPr>
        <p:txBody>
          <a:bodyPr wrap="square" lIns="0" tIns="0" rIns="0" bIns="0" rtlCol="0" anchor="t"/>
          <a:lstStyle/>
          <a:p>
            <a:pPr indent="0" marL="0">
              <a:buNone/>
            </a:pPr>
            <a:r>
              <a:rPr lang="en-US" sz="1300" i="1" dirty="0">
                <a:solidFill>
                  <a:srgbClr val="6B7A8C"/>
                </a:solidFill>
              </a:rPr>
              <a:t>Location factors and yearly cost index bring each price to 2025 Albay levels.</a:t>
            </a:r>
            <a:endParaRPr lang="en-US" sz="1300" dirty="0"/>
          </a:p>
        </p:txBody>
      </p:sp>
      <p:sp>
        <p:nvSpPr>
          <p:cNvPr id="7" name="card"/>
          <p:cNvSpPr/>
          <p:nvPr/>
        </p:nvSpPr>
        <p:spPr>
          <a:xfrm>
            <a:off x="5943600" y="1508760"/>
            <a:ext cx="5696712" cy="4709160"/>
          </a:xfrm>
          <a:prstGeom prst="roundRect">
            <a:avLst>
              <a:gd name="adj" fmla="val 1553"/>
            </a:avLst>
          </a:prstGeom>
          <a:solidFill>
            <a:schemeClr val="bg2"/>
          </a:solidFill>
          <a:ln/>
        </p:spPr>
      </p:sp>
      <p:sp>
        <p:nvSpPr>
          <p:cNvPr id="8" name="icon circle"/>
          <p:cNvSpPr/>
          <p:nvPr/>
        </p:nvSpPr>
        <p:spPr>
          <a:xfrm>
            <a:off x="6172200" y="1691640"/>
            <a:ext cx="594360" cy="594360"/>
          </a:xfrm>
          <a:prstGeom prst="ellipse">
            <a:avLst/>
          </a:prstGeom>
          <a:solidFill>
            <a:schemeClr val="tx2"/>
          </a:solidFill>
          <a:ln/>
        </p:spPr>
      </p:sp>
      <p:pic>
        <p:nvPicPr>
          <p:cNvPr id="9" name="icon FaBookBookmark" descr="BookBookmark icon">    </p:cNvPr>
          <p:cNvPicPr>
            <a:picLocks noChangeAspect="1"/>
          </p:cNvPicPr>
          <p:nvPr/>
        </p:nvPicPr>
        <p:blipFill>
          <a:blip r:embed="rId1"/>
          <a:stretch>
            <a:fillRect/>
          </a:stretch>
        </p:blipFill>
        <p:spPr>
          <a:xfrm>
            <a:off x="6314846" y="1834286"/>
            <a:ext cx="309067" cy="309067"/>
          </a:xfrm>
          <a:prstGeom prst="rect">
            <a:avLst/>
          </a:prstGeom>
        </p:spPr>
      </p:pic>
      <p:sp>
        <p:nvSpPr>
          <p:cNvPr id="10" name="Text 5"/>
          <p:cNvSpPr txBox="1"/>
          <p:nvPr/>
        </p:nvSpPr>
        <p:spPr>
          <a:xfrm>
            <a:off x="6949440" y="1691640"/>
            <a:ext cx="4480560" cy="594360"/>
          </a:xfrm>
          <a:prstGeom prst="rect">
            <a:avLst/>
          </a:prstGeom>
          <a:noFill/>
          <a:ln/>
        </p:spPr>
        <p:txBody>
          <a:bodyPr wrap="square" lIns="0" tIns="0" rIns="0" bIns="0" rtlCol="0" anchor="ctr"/>
          <a:lstStyle/>
          <a:p>
            <a:pPr indent="0" marL="0">
              <a:buNone/>
            </a:pPr>
            <a:r>
              <a:rPr lang="en-US" sz="1800" b="1" dirty="0">
                <a:solidFill>
                  <a:schemeClr val="tx2"/>
                </a:solidFill>
              </a:rPr>
              <a:t>Standards codified</a:t>
            </a:r>
            <a:endParaRPr lang="en-US" sz="1800" dirty="0"/>
          </a:p>
        </p:txBody>
      </p:sp>
      <p:sp>
        <p:nvSpPr>
          <p:cNvPr id="11" name="Text 6"/>
          <p:cNvSpPr txBox="1"/>
          <p:nvPr/>
        </p:nvSpPr>
        <p:spPr>
          <a:xfrm>
            <a:off x="6172200" y="2423160"/>
            <a:ext cx="5303520" cy="365760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chemeClr val="tx1"/>
                </a:solidFill>
              </a:rPr>
              <a:t>NSCP 2015 Vol. I (buildings); AASHTO LRFD 9th ed. (bridges)</a:t>
            </a:r>
            <a:endParaRPr lang="en-US" sz="1400" dirty="0"/>
          </a:p>
          <a:p>
            <a:pPr marL="342900" indent="-342900">
              <a:spcAft>
                <a:spcPts val="600"/>
              </a:spcAft>
              <a:buSzPct val="100000"/>
              <a:buChar char="•"/>
            </a:pPr>
            <a:r>
              <a:rPr lang="en-US" sz="1400" dirty="0">
                <a:solidFill>
                  <a:schemeClr val="tx1"/>
                </a:solidFill>
              </a:rPr>
              <a:t>DPWH Standard Specifications Vol. II (2013) and Vol. III (2019)</a:t>
            </a:r>
            <a:endParaRPr lang="en-US" sz="1400" dirty="0"/>
          </a:p>
          <a:p>
            <a:pPr marL="342900" indent="-342900">
              <a:spcAft>
                <a:spcPts val="600"/>
              </a:spcAft>
              <a:buSzPct val="100000"/>
              <a:buChar char="•"/>
            </a:pPr>
            <a:r>
              <a:rPr lang="en-US" sz="1400" dirty="0">
                <a:solidFill>
                  <a:schemeClr val="tx1"/>
                </a:solidFill>
              </a:rPr>
              <a:t>DPWH D.O. 197 s. 2016 and D.O. 30 s. 2025 (indirect costs)</a:t>
            </a:r>
            <a:endParaRPr lang="en-US" sz="1400" dirty="0"/>
          </a:p>
          <a:p>
            <a:pPr marL="342900" indent="-342900">
              <a:spcAft>
                <a:spcPts val="600"/>
              </a:spcAft>
              <a:buSzPct val="100000"/>
              <a:buChar char="•"/>
            </a:pPr>
            <a:r>
              <a:rPr lang="en-US" sz="1400" dirty="0">
                <a:solidFill>
                  <a:schemeClr val="tx1"/>
                </a:solidFill>
              </a:rPr>
              <a:t>PD 1096, BP 344 accessibility, RA 9514 fire code</a:t>
            </a:r>
            <a:endParaRPr lang="en-US" sz="1400" dirty="0"/>
          </a:p>
          <a:p>
            <a:pPr marL="342900" indent="-342900">
              <a:spcAft>
                <a:spcPts val="600"/>
              </a:spcAft>
              <a:buSzPct val="100000"/>
              <a:buChar char="•"/>
            </a:pPr>
            <a:r>
              <a:rPr lang="en-US" sz="1400" dirty="0">
                <a:solidFill>
                  <a:schemeClr val="tx1"/>
                </a:solidFill>
              </a:rPr>
              <a:t>DepEd Educational Facilities Manual; DOH AO 2016-0042; Sphere</a:t>
            </a:r>
            <a:endParaRPr lang="en-US" sz="1400" dirty="0"/>
          </a:p>
          <a:p>
            <a:pPr marL="342900" indent="-342900">
              <a:spcAft>
                <a:spcPts val="600"/>
              </a:spcAft>
              <a:buSzPct val="100000"/>
              <a:buChar char="•"/>
            </a:pPr>
            <a:r>
              <a:rPr lang="en-US" sz="1400" dirty="0">
                <a:solidFill>
                  <a:schemeClr val="tx1"/>
                </a:solidFill>
              </a:rPr>
              <a:t>BUHAY-AH price book: DPWH pay items and 2025 unit costs</a:t>
            </a:r>
            <a:endParaRPr lang="en-US" sz="1400" dirty="0"/>
          </a:p>
        </p:txBody>
      </p:sp>
      <p:sp>
        <p:nvSpPr>
          <p:cNvPr id="25" name="Slide Number Placeholder 0"/>
          <p:cNvSpPr>
            <a:spLocks noGrp="1"/>
          </p:cNvSpPr>
          <p:nvPr>
            <p:ph type="sldNum" sz="quarter" idx="4294967295"/>
          </p:nvPr>
        </p:nvSpPr>
        <p:spPr>
          <a:xfrm>
            <a:off x="11064240" y="642823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A8C"/>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body" hasCustomPrompt="1"/>
          </p:nvPr>
        </p:nvSpPr>
        <p:spPr>
          <a:xfrm>
            <a:off x="548640" y="256032"/>
            <a:ext cx="8229600" cy="292608"/>
          </a:xfrm>
          <a:prstGeom prst="rect">
            <a:avLst/>
          </a:prstGeom>
          <a:noFill/>
          <a:ln/>
        </p:spPr>
        <p:txBody>
          <a:bodyPr wrap="square" lIns="0" tIns="0" rIns="0" bIns="0" rtlCol="0"/>
          <a:lstStyle/>
          <a:p>
            <a:pPr indent="0" marL="0">
              <a:buNone/>
            </a:pPr>
            <a:r>
              <a:rPr lang="en-US" sz="1200" b="1" spc="200" kern="0" dirty="0">
                <a:solidFill>
                  <a:schemeClr val="accent5"/>
                </a:solidFill>
              </a:rPr>
              <a:t>RESEARCH INSTRUMENTS</a:t>
            </a:r>
            <a:endParaRPr lang="en-US" sz="1200" dirty="0"/>
          </a:p>
        </p:txBody>
      </p:sp>
      <p:sp>
        <p:nvSpPr>
          <p:cNvPr id="3" name="Text 0"/>
          <p:cNvSpPr/>
          <p:nvPr>
            <p:ph idx="101" type="title" hasCustomPrompt="1"/>
          </p:nvPr>
        </p:nvSpPr>
        <p:spPr>
          <a:xfrm>
            <a:off x="548640" y="530352"/>
            <a:ext cx="11064240" cy="731520"/>
          </a:xfrm>
          <a:prstGeom prst="rect">
            <a:avLst/>
          </a:prstGeom>
          <a:noFill/>
          <a:ln/>
        </p:spPr>
        <p:txBody>
          <a:bodyPr wrap="square" lIns="0" tIns="0" rIns="0" bIns="0" rtlCol="0" anchor="ctr"/>
          <a:lstStyle/>
          <a:p>
            <a:pPr algn="l" indent="0" marL="0">
              <a:buNone/>
            </a:pPr>
            <a:r>
              <a:rPr lang="en-US" sz="3200" b="1" dirty="0">
                <a:solidFill>
                  <a:schemeClr val="tx2"/>
                </a:solidFill>
                <a:latin typeface="Cambria" pitchFamily="34" charset="0"/>
                <a:ea typeface="Cambria" pitchFamily="34" charset="-122"/>
                <a:cs typeface="Cambria" pitchFamily="34" charset="-120"/>
              </a:rPr>
              <a:t>Plan Variables Extracted</a:t>
            </a:r>
            <a:endParaRPr lang="en-US" sz="3200" dirty="0"/>
          </a:p>
        </p:txBody>
      </p:sp>
      <p:graphicFrame>
        <p:nvGraphicFramePr>
          <p:cNvPr id="21" name="building variables"/>
          <p:cNvGraphicFramePr>
            <a:graphicFrameLocks noGrp="1"/>
          </p:cNvGraphicFramePr>
          <p:nvPr>
            <p:extLst>
              <p:ext uri="{D42A27DB-BD31-4B8C-83A1-F6EECF244321}">
                <p14:modId xmlns:p14="http://schemas.microsoft.com/office/powerpoint/2010/main" val="1579011935"/>
              </p:ext>
            </p:extLst>
          </p:nvPr>
        </p:nvGraphicFramePr>
        <p:xfrm>
          <a:off x="548640" y="1508760"/>
          <a:ext cx="5394960" cy="914400"/>
        </p:xfrm>
        <a:graphic>
          <a:graphicData uri="http://schemas.openxmlformats.org/drawingml/2006/table">
            <a:tbl>
              <a:tblPr/>
              <a:tblGrid>
                <a:gridCol w="4023360"/>
                <a:gridCol w="1371600"/>
              </a:tblGrid>
              <a:tr h="420624">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Building variables (9)</a:t>
                      </a:r>
                      <a:endParaRPr lang="en-US" sz="1300" dirty="0">
                        <a:latin typeface="Calibri" charset="0"/>
                        <a:ea typeface="Calibri" charset="0"/>
                        <a:cs typeface="Calibri" charset="0"/>
                      </a:endParaRPr>
                    </a:p>
                  </a:txBody>
                  <a:tcPr marL="91440" marR="91440" marT="45720" marB="4572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rgbClr val="12345A"/>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Unit</a:t>
                      </a:r>
                      <a:endParaRPr lang="en-US" sz="1300" dirty="0">
                        <a:latin typeface="Calibri" charset="0"/>
                        <a:ea typeface="Calibri" charset="0"/>
                        <a:cs typeface="Calibri" charset="0"/>
                      </a:endParaRPr>
                    </a:p>
                  </a:txBody>
                  <a:tcPr marL="91440" marR="91440" marT="45720" marB="4572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rgbClr val="12345A"/>
                    </a:solidFill>
                  </a:tcPr>
                </a:tc>
              </a:tr>
              <a:tr h="420624">
                <a:tc>
                  <a:txBody>
                    <a:bodyPr/>
                    <a:lstStyle/>
                    <a:p>
                      <a:pPr indent="0" marL="0">
                        <a:buNone/>
                      </a:pPr>
                      <a:r>
                        <a:rPr lang="en-US" sz="1400" dirty="0">
                          <a:solidFill>
                            <a:srgbClr val="14202E"/>
                          </a:solidFill>
                          <a:latin typeface="Calibri" pitchFamily="34" charset="0"/>
                          <a:ea typeface="Calibri" pitchFamily="34" charset="-122"/>
                          <a:cs typeface="Calibri" pitchFamily="34" charset="-120"/>
                        </a:rPr>
                        <a:t>Gross floor area, footprint</a:t>
                      </a:r>
                      <a:endParaRPr lang="en-US" sz="1400" dirty="0">
                        <a:latin typeface="Calibri" charset="0"/>
                        <a:ea typeface="Calibri" charset="0"/>
                        <a:cs typeface="Calibri" charset="0"/>
                      </a:endParaRPr>
                    </a:p>
                  </a:txBody>
                  <a:tcPr marL="91440" marR="91440" marT="45720" marB="4572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ctr" indent="0" marL="0">
                        <a:buNone/>
                      </a:pPr>
                      <a:r>
                        <a:rPr lang="en-US" sz="1400" dirty="0">
                          <a:solidFill>
                            <a:srgbClr val="14202E"/>
                          </a:solidFill>
                          <a:latin typeface="Calibri" pitchFamily="34" charset="0"/>
                          <a:ea typeface="Calibri" pitchFamily="34" charset="-122"/>
                          <a:cs typeface="Calibri" pitchFamily="34" charset="-120"/>
                        </a:rPr>
                        <a:t>m²</a:t>
                      </a:r>
                      <a:endParaRPr lang="en-US" sz="1400" dirty="0">
                        <a:latin typeface="Calibri" charset="0"/>
                        <a:ea typeface="Calibri" charset="0"/>
                        <a:cs typeface="Calibri" charset="0"/>
                      </a:endParaRPr>
                    </a:p>
                  </a:txBody>
                  <a:tcPr marL="91440" marR="91440" marT="45720" marB="4572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r>
              <a:tr h="420624">
                <a:tc>
                  <a:txBody>
                    <a:bodyPr/>
                    <a:lstStyle/>
                    <a:p>
                      <a:pPr indent="0" marL="0">
                        <a:buNone/>
                      </a:pPr>
                      <a:r>
                        <a:rPr lang="en-US" sz="1400" dirty="0">
                          <a:solidFill>
                            <a:srgbClr val="14202E"/>
                          </a:solidFill>
                          <a:latin typeface="Calibri" pitchFamily="34" charset="0"/>
                          <a:ea typeface="Calibri" pitchFamily="34" charset="-122"/>
                          <a:cs typeface="Calibri" pitchFamily="34" charset="-120"/>
                        </a:rPr>
                        <a:t>Number of storeys</a:t>
                      </a:r>
                      <a:endParaRPr lang="en-US" sz="1400" dirty="0">
                        <a:latin typeface="Calibri" charset="0"/>
                        <a:ea typeface="Calibri" charset="0"/>
                        <a:cs typeface="Calibri" charset="0"/>
                      </a:endParaRPr>
                    </a:p>
                  </a:txBody>
                  <a:tcPr marL="91440" marR="91440" marT="45720" marB="4572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ctr" indent="0" marL="0">
                        <a:buNone/>
                      </a:pPr>
                      <a:r>
                        <a:rPr lang="en-US" sz="1400" dirty="0">
                          <a:solidFill>
                            <a:srgbClr val="14202E"/>
                          </a:solidFill>
                          <a:latin typeface="Calibri" pitchFamily="34" charset="0"/>
                          <a:ea typeface="Calibri" pitchFamily="34" charset="-122"/>
                          <a:cs typeface="Calibri" pitchFamily="34" charset="-120"/>
                        </a:rPr>
                        <a:t>—</a:t>
                      </a:r>
                      <a:endParaRPr lang="en-US" sz="1400" dirty="0">
                        <a:latin typeface="Calibri" charset="0"/>
                        <a:ea typeface="Calibri" charset="0"/>
                        <a:cs typeface="Calibri" charset="0"/>
                      </a:endParaRPr>
                    </a:p>
                  </a:txBody>
                  <a:tcPr marL="91440" marR="91440" marT="45720" marB="4572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r>
              <a:tr h="420624">
                <a:tc>
                  <a:txBody>
                    <a:bodyPr/>
                    <a:lstStyle/>
                    <a:p>
                      <a:pPr indent="0" marL="0">
                        <a:buNone/>
                      </a:pPr>
                      <a:r>
                        <a:rPr lang="en-US" sz="1400" dirty="0">
                          <a:solidFill>
                            <a:srgbClr val="14202E"/>
                          </a:solidFill>
                          <a:latin typeface="Calibri" pitchFamily="34" charset="0"/>
                          <a:ea typeface="Calibri" pitchFamily="34" charset="-122"/>
                          <a:cs typeface="Calibri" pitchFamily="34" charset="-120"/>
                        </a:rPr>
                        <a:t>Structural span (bay)</a:t>
                      </a:r>
                      <a:endParaRPr lang="en-US" sz="1400" dirty="0">
                        <a:latin typeface="Calibri" charset="0"/>
                        <a:ea typeface="Calibri" charset="0"/>
                        <a:cs typeface="Calibri" charset="0"/>
                      </a:endParaRPr>
                    </a:p>
                  </a:txBody>
                  <a:tcPr marL="91440" marR="91440" marT="45720" marB="4572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ctr" indent="0" marL="0">
                        <a:buNone/>
                      </a:pPr>
                      <a:r>
                        <a:rPr lang="en-US" sz="1400" dirty="0">
                          <a:solidFill>
                            <a:srgbClr val="14202E"/>
                          </a:solidFill>
                          <a:latin typeface="Calibri" pitchFamily="34" charset="0"/>
                          <a:ea typeface="Calibri" pitchFamily="34" charset="-122"/>
                          <a:cs typeface="Calibri" pitchFamily="34" charset="-120"/>
                        </a:rPr>
                        <a:t>m</a:t>
                      </a:r>
                      <a:endParaRPr lang="en-US" sz="1400" dirty="0">
                        <a:latin typeface="Calibri" charset="0"/>
                        <a:ea typeface="Calibri" charset="0"/>
                        <a:cs typeface="Calibri" charset="0"/>
                      </a:endParaRPr>
                    </a:p>
                  </a:txBody>
                  <a:tcPr marL="91440" marR="91440" marT="45720" marB="4572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r>
              <a:tr h="420624">
                <a:tc>
                  <a:txBody>
                    <a:bodyPr/>
                    <a:lstStyle/>
                    <a:p>
                      <a:pPr indent="0" marL="0">
                        <a:buNone/>
                      </a:pPr>
                      <a:r>
                        <a:rPr lang="en-US" sz="1400" dirty="0">
                          <a:solidFill>
                            <a:srgbClr val="14202E"/>
                          </a:solidFill>
                          <a:latin typeface="Calibri" pitchFamily="34" charset="0"/>
                          <a:ea typeface="Calibri" pitchFamily="34" charset="-122"/>
                          <a:cs typeface="Calibri" pitchFamily="34" charset="-120"/>
                        </a:rPr>
                        <a:t>Floor-to-floor height</a:t>
                      </a:r>
                      <a:endParaRPr lang="en-US" sz="1400" dirty="0">
                        <a:latin typeface="Calibri" charset="0"/>
                        <a:ea typeface="Calibri" charset="0"/>
                        <a:cs typeface="Calibri" charset="0"/>
                      </a:endParaRPr>
                    </a:p>
                  </a:txBody>
                  <a:tcPr marL="91440" marR="91440" marT="45720" marB="4572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ctr" indent="0" marL="0">
                        <a:buNone/>
                      </a:pPr>
                      <a:r>
                        <a:rPr lang="en-US" sz="1400" dirty="0">
                          <a:solidFill>
                            <a:srgbClr val="14202E"/>
                          </a:solidFill>
                          <a:latin typeface="Calibri" pitchFamily="34" charset="0"/>
                          <a:ea typeface="Calibri" pitchFamily="34" charset="-122"/>
                          <a:cs typeface="Calibri" pitchFamily="34" charset="-120"/>
                        </a:rPr>
                        <a:t>m</a:t>
                      </a:r>
                      <a:endParaRPr lang="en-US" sz="1400" dirty="0">
                        <a:latin typeface="Calibri" charset="0"/>
                        <a:ea typeface="Calibri" charset="0"/>
                        <a:cs typeface="Calibri" charset="0"/>
                      </a:endParaRPr>
                    </a:p>
                  </a:txBody>
                  <a:tcPr marL="91440" marR="91440" marT="45720" marB="4572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r>
              <a:tr h="420624">
                <a:tc>
                  <a:txBody>
                    <a:bodyPr/>
                    <a:lstStyle/>
                    <a:p>
                      <a:pPr indent="0" marL="0">
                        <a:buNone/>
                      </a:pPr>
                      <a:r>
                        <a:rPr lang="en-US" sz="1400" dirty="0">
                          <a:solidFill>
                            <a:srgbClr val="14202E"/>
                          </a:solidFill>
                          <a:latin typeface="Calibri" pitchFamily="34" charset="0"/>
                          <a:ea typeface="Calibri" pitchFamily="34" charset="-122"/>
                          <a:cs typeface="Calibri" pitchFamily="34" charset="-120"/>
                        </a:rPr>
                        <a:t>Facility type, roof system</a:t>
                      </a:r>
                      <a:endParaRPr lang="en-US" sz="1400" dirty="0">
                        <a:latin typeface="Calibri" charset="0"/>
                        <a:ea typeface="Calibri" charset="0"/>
                        <a:cs typeface="Calibri" charset="0"/>
                      </a:endParaRPr>
                    </a:p>
                  </a:txBody>
                  <a:tcPr marL="91440" marR="91440" marT="45720" marB="4572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ctr" indent="0" marL="0">
                        <a:buNone/>
                      </a:pPr>
                      <a:r>
                        <a:rPr lang="en-US" sz="1400" dirty="0">
                          <a:solidFill>
                            <a:srgbClr val="14202E"/>
                          </a:solidFill>
                          <a:latin typeface="Calibri" pitchFamily="34" charset="0"/>
                          <a:ea typeface="Calibri" pitchFamily="34" charset="-122"/>
                          <a:cs typeface="Calibri" pitchFamily="34" charset="-120"/>
                        </a:rPr>
                        <a:t>category</a:t>
                      </a:r>
                      <a:endParaRPr lang="en-US" sz="1400" dirty="0">
                        <a:latin typeface="Calibri" charset="0"/>
                        <a:ea typeface="Calibri" charset="0"/>
                        <a:cs typeface="Calibri" charset="0"/>
                      </a:endParaRPr>
                    </a:p>
                  </a:txBody>
                  <a:tcPr marL="91440" marR="91440" marT="45720" marB="4572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r>
              <a:tr h="420624">
                <a:tc>
                  <a:txBody>
                    <a:bodyPr/>
                    <a:lstStyle/>
                    <a:p>
                      <a:pPr indent="0" marL="0">
                        <a:buNone/>
                      </a:pPr>
                      <a:r>
                        <a:rPr lang="en-US" sz="1400" dirty="0">
                          <a:solidFill>
                            <a:srgbClr val="14202E"/>
                          </a:solidFill>
                          <a:latin typeface="Calibri" pitchFamily="34" charset="0"/>
                          <a:ea typeface="Calibri" pitchFamily="34" charset="-122"/>
                          <a:cs typeface="Calibri" pitchFamily="34" charset="-120"/>
                        </a:rPr>
                        <a:t>Location factor, cost index</a:t>
                      </a:r>
                      <a:endParaRPr lang="en-US" sz="1400" dirty="0">
                        <a:latin typeface="Calibri" charset="0"/>
                        <a:ea typeface="Calibri" charset="0"/>
                        <a:cs typeface="Calibri" charset="0"/>
                      </a:endParaRPr>
                    </a:p>
                  </a:txBody>
                  <a:tcPr marL="91440" marR="91440" marT="45720" marB="4572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ctr" indent="0" marL="0">
                        <a:buNone/>
                      </a:pPr>
                      <a:r>
                        <a:rPr lang="en-US" sz="1400" dirty="0">
                          <a:solidFill>
                            <a:srgbClr val="14202E"/>
                          </a:solidFill>
                          <a:latin typeface="Calibri" pitchFamily="34" charset="0"/>
                          <a:ea typeface="Calibri" pitchFamily="34" charset="-122"/>
                          <a:cs typeface="Calibri" pitchFamily="34" charset="-120"/>
                        </a:rPr>
                        <a:t>factor</a:t>
                      </a:r>
                      <a:endParaRPr lang="en-US" sz="1400" dirty="0">
                        <a:latin typeface="Calibri" charset="0"/>
                        <a:ea typeface="Calibri" charset="0"/>
                        <a:cs typeface="Calibri" charset="0"/>
                      </a:endParaRPr>
                    </a:p>
                  </a:txBody>
                  <a:tcPr marL="91440" marR="91440" marT="45720" marB="4572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r>
            </a:tbl>
          </a:graphicData>
        </a:graphic>
      </p:graphicFrame>
      <p:graphicFrame>
        <p:nvGraphicFramePr>
          <p:cNvPr id="41" name="bridge variables"/>
          <p:cNvGraphicFramePr>
            <a:graphicFrameLocks noGrp="1"/>
          </p:cNvGraphicFramePr>
          <p:nvPr>
            <p:extLst>
              <p:ext uri="{D42A27DB-BD31-4B8C-83A1-F6EECF244321}">
                <p14:modId xmlns:p14="http://schemas.microsoft.com/office/powerpoint/2010/main" val="1579011935"/>
              </p:ext>
            </p:extLst>
          </p:nvPr>
        </p:nvGraphicFramePr>
        <p:xfrm>
          <a:off x="6245352" y="1508760"/>
          <a:ext cx="5394960" cy="914400"/>
        </p:xfrm>
        <a:graphic>
          <a:graphicData uri="http://schemas.openxmlformats.org/drawingml/2006/table">
            <a:tbl>
              <a:tblPr/>
              <a:tblGrid>
                <a:gridCol w="4023360"/>
                <a:gridCol w="1371600"/>
              </a:tblGrid>
              <a:tr h="420624">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Bridge variables (11)</a:t>
                      </a:r>
                      <a:endParaRPr lang="en-US" sz="1300" dirty="0">
                        <a:latin typeface="Calibri" charset="0"/>
                        <a:ea typeface="Calibri" charset="0"/>
                        <a:cs typeface="Calibri" charset="0"/>
                      </a:endParaRPr>
                    </a:p>
                  </a:txBody>
                  <a:tcPr marL="91440" marR="91440" marT="45720" marB="4572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rgbClr val="12345A"/>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Unit</a:t>
                      </a:r>
                      <a:endParaRPr lang="en-US" sz="1300" dirty="0">
                        <a:latin typeface="Calibri" charset="0"/>
                        <a:ea typeface="Calibri" charset="0"/>
                        <a:cs typeface="Calibri" charset="0"/>
                      </a:endParaRPr>
                    </a:p>
                  </a:txBody>
                  <a:tcPr marL="91440" marR="91440" marT="45720" marB="4572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rgbClr val="12345A"/>
                    </a:solidFill>
                  </a:tcPr>
                </a:tc>
              </a:tr>
              <a:tr h="420624">
                <a:tc>
                  <a:txBody>
                    <a:bodyPr/>
                    <a:lstStyle/>
                    <a:p>
                      <a:pPr indent="0" marL="0">
                        <a:buNone/>
                      </a:pPr>
                      <a:r>
                        <a:rPr lang="en-US" sz="1400" dirty="0">
                          <a:solidFill>
                            <a:srgbClr val="14202E"/>
                          </a:solidFill>
                          <a:latin typeface="Calibri" pitchFamily="34" charset="0"/>
                          <a:ea typeface="Calibri" pitchFamily="34" charset="-122"/>
                          <a:cs typeface="Calibri" pitchFamily="34" charset="-120"/>
                        </a:rPr>
                        <a:t>Total length, span length</a:t>
                      </a:r>
                      <a:endParaRPr lang="en-US" sz="1400" dirty="0">
                        <a:latin typeface="Calibri" charset="0"/>
                        <a:ea typeface="Calibri" charset="0"/>
                        <a:cs typeface="Calibri" charset="0"/>
                      </a:endParaRPr>
                    </a:p>
                  </a:txBody>
                  <a:tcPr marL="91440" marR="91440" marT="45720" marB="4572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ctr" indent="0" marL="0">
                        <a:buNone/>
                      </a:pPr>
                      <a:r>
                        <a:rPr lang="en-US" sz="1400" dirty="0">
                          <a:solidFill>
                            <a:srgbClr val="14202E"/>
                          </a:solidFill>
                          <a:latin typeface="Calibri" pitchFamily="34" charset="0"/>
                          <a:ea typeface="Calibri" pitchFamily="34" charset="-122"/>
                          <a:cs typeface="Calibri" pitchFamily="34" charset="-120"/>
                        </a:rPr>
                        <a:t>m</a:t>
                      </a:r>
                      <a:endParaRPr lang="en-US" sz="1400" dirty="0">
                        <a:latin typeface="Calibri" charset="0"/>
                        <a:ea typeface="Calibri" charset="0"/>
                        <a:cs typeface="Calibri" charset="0"/>
                      </a:endParaRPr>
                    </a:p>
                  </a:txBody>
                  <a:tcPr marL="91440" marR="91440" marT="45720" marB="4572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r>
              <a:tr h="420624">
                <a:tc>
                  <a:txBody>
                    <a:bodyPr/>
                    <a:lstStyle/>
                    <a:p>
                      <a:pPr indent="0" marL="0">
                        <a:buNone/>
                      </a:pPr>
                      <a:r>
                        <a:rPr lang="en-US" sz="1400" dirty="0">
                          <a:solidFill>
                            <a:srgbClr val="14202E"/>
                          </a:solidFill>
                          <a:latin typeface="Calibri" pitchFamily="34" charset="0"/>
                          <a:ea typeface="Calibri" pitchFamily="34" charset="-122"/>
                          <a:cs typeface="Calibri" pitchFamily="34" charset="-120"/>
                        </a:rPr>
                        <a:t>Deck width, deck area</a:t>
                      </a:r>
                      <a:endParaRPr lang="en-US" sz="1400" dirty="0">
                        <a:latin typeface="Calibri" charset="0"/>
                        <a:ea typeface="Calibri" charset="0"/>
                        <a:cs typeface="Calibri" charset="0"/>
                      </a:endParaRPr>
                    </a:p>
                  </a:txBody>
                  <a:tcPr marL="91440" marR="91440" marT="45720" marB="4572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ctr" indent="0" marL="0">
                        <a:buNone/>
                      </a:pPr>
                      <a:r>
                        <a:rPr lang="en-US" sz="1400" dirty="0">
                          <a:solidFill>
                            <a:srgbClr val="14202E"/>
                          </a:solidFill>
                          <a:latin typeface="Calibri" pitchFamily="34" charset="0"/>
                          <a:ea typeface="Calibri" pitchFamily="34" charset="-122"/>
                          <a:cs typeface="Calibri" pitchFamily="34" charset="-120"/>
                        </a:rPr>
                        <a:t>m, m²</a:t>
                      </a:r>
                      <a:endParaRPr lang="en-US" sz="1400" dirty="0">
                        <a:latin typeface="Calibri" charset="0"/>
                        <a:ea typeface="Calibri" charset="0"/>
                        <a:cs typeface="Calibri" charset="0"/>
                      </a:endParaRPr>
                    </a:p>
                  </a:txBody>
                  <a:tcPr marL="91440" marR="91440" marT="45720" marB="4572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r>
              <a:tr h="420624">
                <a:tc>
                  <a:txBody>
                    <a:bodyPr/>
                    <a:lstStyle/>
                    <a:p>
                      <a:pPr indent="0" marL="0">
                        <a:buNone/>
                      </a:pPr>
                      <a:r>
                        <a:rPr lang="en-US" sz="1400" dirty="0">
                          <a:solidFill>
                            <a:srgbClr val="14202E"/>
                          </a:solidFill>
                          <a:latin typeface="Calibri" pitchFamily="34" charset="0"/>
                          <a:ea typeface="Calibri" pitchFamily="34" charset="-122"/>
                          <a:cs typeface="Calibri" pitchFamily="34" charset="-120"/>
                        </a:rPr>
                        <a:t>Pier and abutment heights</a:t>
                      </a:r>
                      <a:endParaRPr lang="en-US" sz="1400" dirty="0">
                        <a:latin typeface="Calibri" charset="0"/>
                        <a:ea typeface="Calibri" charset="0"/>
                        <a:cs typeface="Calibri" charset="0"/>
                      </a:endParaRPr>
                    </a:p>
                  </a:txBody>
                  <a:tcPr marL="91440" marR="91440" marT="45720" marB="4572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ctr" indent="0" marL="0">
                        <a:buNone/>
                      </a:pPr>
                      <a:r>
                        <a:rPr lang="en-US" sz="1400" dirty="0">
                          <a:solidFill>
                            <a:srgbClr val="14202E"/>
                          </a:solidFill>
                          <a:latin typeface="Calibri" pitchFamily="34" charset="0"/>
                          <a:ea typeface="Calibri" pitchFamily="34" charset="-122"/>
                          <a:cs typeface="Calibri" pitchFamily="34" charset="-120"/>
                        </a:rPr>
                        <a:t>m</a:t>
                      </a:r>
                      <a:endParaRPr lang="en-US" sz="1400" dirty="0">
                        <a:latin typeface="Calibri" charset="0"/>
                        <a:ea typeface="Calibri" charset="0"/>
                        <a:cs typeface="Calibri" charset="0"/>
                      </a:endParaRPr>
                    </a:p>
                  </a:txBody>
                  <a:tcPr marL="91440" marR="91440" marT="45720" marB="4572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r>
              <a:tr h="420624">
                <a:tc>
                  <a:txBody>
                    <a:bodyPr/>
                    <a:lstStyle/>
                    <a:p>
                      <a:pPr indent="0" marL="0">
                        <a:buNone/>
                      </a:pPr>
                      <a:r>
                        <a:rPr lang="en-US" sz="1400" dirty="0">
                          <a:solidFill>
                            <a:srgbClr val="14202E"/>
                          </a:solidFill>
                          <a:latin typeface="Calibri" pitchFamily="34" charset="0"/>
                          <a:ea typeface="Calibri" pitchFamily="34" charset="-122"/>
                          <a:cs typeface="Calibri" pitchFamily="34" charset="-120"/>
                        </a:rPr>
                        <a:t>Superstructure type</a:t>
                      </a:r>
                      <a:endParaRPr lang="en-US" sz="1400" dirty="0">
                        <a:latin typeface="Calibri" charset="0"/>
                        <a:ea typeface="Calibri" charset="0"/>
                        <a:cs typeface="Calibri" charset="0"/>
                      </a:endParaRPr>
                    </a:p>
                  </a:txBody>
                  <a:tcPr marL="91440" marR="91440" marT="45720" marB="4572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ctr" indent="0" marL="0">
                        <a:buNone/>
                      </a:pPr>
                      <a:r>
                        <a:rPr lang="en-US" sz="1400" dirty="0">
                          <a:solidFill>
                            <a:srgbClr val="14202E"/>
                          </a:solidFill>
                          <a:latin typeface="Calibri" pitchFamily="34" charset="0"/>
                          <a:ea typeface="Calibri" pitchFamily="34" charset="-122"/>
                          <a:cs typeface="Calibri" pitchFamily="34" charset="-120"/>
                        </a:rPr>
                        <a:t>category</a:t>
                      </a:r>
                      <a:endParaRPr lang="en-US" sz="1400" dirty="0">
                        <a:latin typeface="Calibri" charset="0"/>
                        <a:ea typeface="Calibri" charset="0"/>
                        <a:cs typeface="Calibri" charset="0"/>
                      </a:endParaRPr>
                    </a:p>
                  </a:txBody>
                  <a:tcPr marL="91440" marR="91440" marT="45720" marB="4572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r>
              <a:tr h="420624">
                <a:tc>
                  <a:txBody>
                    <a:bodyPr/>
                    <a:lstStyle/>
                    <a:p>
                      <a:pPr indent="0" marL="0">
                        <a:buNone/>
                      </a:pPr>
                      <a:r>
                        <a:rPr lang="en-US" sz="1400" dirty="0">
                          <a:solidFill>
                            <a:srgbClr val="14202E"/>
                          </a:solidFill>
                          <a:latin typeface="Calibri" pitchFamily="34" charset="0"/>
                          <a:ea typeface="Calibri" pitchFamily="34" charset="-122"/>
                          <a:cs typeface="Calibri" pitchFamily="34" charset="-120"/>
                        </a:rPr>
                        <a:t>Foundation type, pile length</a:t>
                      </a:r>
                      <a:endParaRPr lang="en-US" sz="1400" dirty="0">
                        <a:latin typeface="Calibri" charset="0"/>
                        <a:ea typeface="Calibri" charset="0"/>
                        <a:cs typeface="Calibri" charset="0"/>
                      </a:endParaRPr>
                    </a:p>
                  </a:txBody>
                  <a:tcPr marL="91440" marR="91440" marT="45720" marB="4572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ctr" indent="0" marL="0">
                        <a:buNone/>
                      </a:pPr>
                      <a:r>
                        <a:rPr lang="en-US" sz="1400" dirty="0">
                          <a:solidFill>
                            <a:srgbClr val="14202E"/>
                          </a:solidFill>
                          <a:latin typeface="Calibri" pitchFamily="34" charset="0"/>
                          <a:ea typeface="Calibri" pitchFamily="34" charset="-122"/>
                          <a:cs typeface="Calibri" pitchFamily="34" charset="-120"/>
                        </a:rPr>
                        <a:t>category, m</a:t>
                      </a:r>
                      <a:endParaRPr lang="en-US" sz="1400" dirty="0">
                        <a:latin typeface="Calibri" charset="0"/>
                        <a:ea typeface="Calibri" charset="0"/>
                        <a:cs typeface="Calibri" charset="0"/>
                      </a:endParaRPr>
                    </a:p>
                  </a:txBody>
                  <a:tcPr marL="91440" marR="91440" marT="45720" marB="4572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r>
              <a:tr h="420624">
                <a:tc>
                  <a:txBody>
                    <a:bodyPr/>
                    <a:lstStyle/>
                    <a:p>
                      <a:pPr indent="0" marL="0">
                        <a:buNone/>
                      </a:pPr>
                      <a:r>
                        <a:rPr lang="en-US" sz="1400" dirty="0">
                          <a:solidFill>
                            <a:srgbClr val="14202E"/>
                          </a:solidFill>
                          <a:latin typeface="Calibri" pitchFamily="34" charset="0"/>
                          <a:ea typeface="Calibri" pitchFamily="34" charset="-122"/>
                          <a:cs typeface="Calibri" pitchFamily="34" charset="-120"/>
                        </a:rPr>
                        <a:t>Location factor, cost index</a:t>
                      </a:r>
                      <a:endParaRPr lang="en-US" sz="1400" dirty="0">
                        <a:latin typeface="Calibri" charset="0"/>
                        <a:ea typeface="Calibri" charset="0"/>
                        <a:cs typeface="Calibri" charset="0"/>
                      </a:endParaRPr>
                    </a:p>
                  </a:txBody>
                  <a:tcPr marL="91440" marR="91440" marT="45720" marB="4572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ctr" indent="0" marL="0">
                        <a:buNone/>
                      </a:pPr>
                      <a:r>
                        <a:rPr lang="en-US" sz="1400" dirty="0">
                          <a:solidFill>
                            <a:srgbClr val="14202E"/>
                          </a:solidFill>
                          <a:latin typeface="Calibri" pitchFamily="34" charset="0"/>
                          <a:ea typeface="Calibri" pitchFamily="34" charset="-122"/>
                          <a:cs typeface="Calibri" pitchFamily="34" charset="-120"/>
                        </a:rPr>
                        <a:t>factor</a:t>
                      </a:r>
                      <a:endParaRPr lang="en-US" sz="1400" dirty="0">
                        <a:latin typeface="Calibri" charset="0"/>
                        <a:ea typeface="Calibri" charset="0"/>
                        <a:cs typeface="Calibri" charset="0"/>
                      </a:endParaRPr>
                    </a:p>
                  </a:txBody>
                  <a:tcPr marL="91440" marR="91440" marT="45720" marB="4572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r>
            </a:tbl>
          </a:graphicData>
        </a:graphic>
      </p:graphicFrame>
      <p:sp>
        <p:nvSpPr>
          <p:cNvPr id="7" name="card"/>
          <p:cNvSpPr/>
          <p:nvPr/>
        </p:nvSpPr>
        <p:spPr>
          <a:xfrm>
            <a:off x="548640" y="4709160"/>
            <a:ext cx="11091672" cy="1463040"/>
          </a:xfrm>
          <a:prstGeom prst="roundRect">
            <a:avLst>
              <a:gd name="adj" fmla="val 5000"/>
            </a:avLst>
          </a:prstGeom>
          <a:solidFill>
            <a:schemeClr val="bg2"/>
          </a:solidFill>
          <a:ln/>
        </p:spPr>
      </p:sp>
      <p:sp>
        <p:nvSpPr>
          <p:cNvPr id="8" name="icon circle"/>
          <p:cNvSpPr/>
          <p:nvPr/>
        </p:nvSpPr>
        <p:spPr>
          <a:xfrm>
            <a:off x="777240" y="4983480"/>
            <a:ext cx="731520" cy="731520"/>
          </a:xfrm>
          <a:prstGeom prst="ellipse">
            <a:avLst/>
          </a:prstGeom>
          <a:solidFill>
            <a:schemeClr val="accent1"/>
          </a:solidFill>
          <a:ln/>
        </p:spPr>
      </p:sp>
      <p:pic>
        <p:nvPicPr>
          <p:cNvPr id="9" name="icon FaFileImport" descr="FileImport icon">    </p:cNvPr>
          <p:cNvPicPr>
            <a:picLocks noChangeAspect="1"/>
          </p:cNvPicPr>
          <p:nvPr/>
        </p:nvPicPr>
        <p:blipFill>
          <a:blip r:embed="rId1"/>
          <a:stretch>
            <a:fillRect/>
          </a:stretch>
        </p:blipFill>
        <p:spPr>
          <a:xfrm>
            <a:off x="952805" y="5159045"/>
            <a:ext cx="380390" cy="380390"/>
          </a:xfrm>
          <a:prstGeom prst="rect">
            <a:avLst/>
          </a:prstGeom>
        </p:spPr>
      </p:pic>
      <p:sp>
        <p:nvSpPr>
          <p:cNvPr id="10" name="Text 4"/>
          <p:cNvSpPr txBox="1"/>
          <p:nvPr/>
        </p:nvSpPr>
        <p:spPr>
          <a:xfrm>
            <a:off x="1737360" y="4846320"/>
            <a:ext cx="9692640" cy="1188720"/>
          </a:xfrm>
          <a:prstGeom prst="rect">
            <a:avLst/>
          </a:prstGeom>
          <a:noFill/>
          <a:ln/>
        </p:spPr>
        <p:txBody>
          <a:bodyPr wrap="square" lIns="0" tIns="0" rIns="0" bIns="0" rtlCol="0" anchor="ctr"/>
          <a:lstStyle/>
          <a:p>
            <a:pPr indent="0" marL="0">
              <a:buNone/>
            </a:pPr>
            <a:r>
              <a:rPr lang="en-US" sz="1500" b="1" dirty="0">
                <a:solidFill>
                  <a:schemeClr val="tx1"/>
                </a:solidFill>
              </a:rPr>
              <a:t>Plan sources: </a:t>
            </a:r>
            <a:pPr indent="0" marL="0">
              <a:buNone/>
            </a:pPr>
            <a:r>
              <a:rPr lang="en-US" sz="1500" dirty="0">
                <a:solidFill>
                  <a:schemeClr val="tx1"/>
                </a:solidFill>
              </a:rPr>
              <a:t>dimensions typed in, 19 reference plans, generated designs, or a DXF file. The largest closed polyline is the outline; area and perimeter come from the shoelace formula; walls on WALL or PARTITION layers are measured, and $INSUNITS sets the scale.</a:t>
            </a:r>
            <a:endParaRPr lang="en-US" sz="1500" dirty="0"/>
          </a:p>
        </p:txBody>
      </p:sp>
      <p:sp>
        <p:nvSpPr>
          <p:cNvPr id="25" name="Slide Number Placeholder 0"/>
          <p:cNvSpPr>
            <a:spLocks noGrp="1"/>
          </p:cNvSpPr>
          <p:nvPr>
            <p:ph type="sldNum" sz="quarter" idx="4294967295"/>
          </p:nvPr>
        </p:nvSpPr>
        <p:spPr>
          <a:xfrm>
            <a:off x="11064240" y="642823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A8C"/>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body" hasCustomPrompt="1"/>
          </p:nvPr>
        </p:nvSpPr>
        <p:spPr>
          <a:xfrm>
            <a:off x="548640" y="256032"/>
            <a:ext cx="8229600" cy="292608"/>
          </a:xfrm>
          <a:prstGeom prst="rect">
            <a:avLst/>
          </a:prstGeom>
          <a:noFill/>
          <a:ln/>
        </p:spPr>
        <p:txBody>
          <a:bodyPr wrap="square" lIns="0" tIns="0" rIns="0" bIns="0" rtlCol="0"/>
          <a:lstStyle/>
          <a:p>
            <a:pPr indent="0" marL="0">
              <a:buNone/>
            </a:pPr>
            <a:r>
              <a:rPr lang="en-US" sz="1200" b="1" spc="200" kern="0" dirty="0">
                <a:solidFill>
                  <a:schemeClr val="accent5"/>
                </a:solidFill>
              </a:rPr>
              <a:t>DATA GATHERING PROCEDURE</a:t>
            </a:r>
            <a:endParaRPr lang="en-US" sz="1200" dirty="0"/>
          </a:p>
        </p:txBody>
      </p:sp>
      <p:sp>
        <p:nvSpPr>
          <p:cNvPr id="3" name="Text 0"/>
          <p:cNvSpPr/>
          <p:nvPr>
            <p:ph idx="101" type="title" hasCustomPrompt="1"/>
          </p:nvPr>
        </p:nvSpPr>
        <p:spPr>
          <a:xfrm>
            <a:off x="548640" y="530352"/>
            <a:ext cx="11064240" cy="731520"/>
          </a:xfrm>
          <a:prstGeom prst="rect">
            <a:avLst/>
          </a:prstGeom>
          <a:noFill/>
          <a:ln/>
        </p:spPr>
        <p:txBody>
          <a:bodyPr wrap="square" lIns="0" tIns="0" rIns="0" bIns="0" rtlCol="0" anchor="ctr"/>
          <a:lstStyle/>
          <a:p>
            <a:pPr algn="l" indent="0" marL="0">
              <a:buNone/>
            </a:pPr>
            <a:r>
              <a:rPr lang="en-US" sz="3200" b="1" dirty="0">
                <a:solidFill>
                  <a:schemeClr val="tx2"/>
                </a:solidFill>
                <a:latin typeface="Cambria" pitchFamily="34" charset="0"/>
                <a:ea typeface="Cambria" pitchFamily="34" charset="-122"/>
                <a:cs typeface="Cambria" pitchFamily="34" charset="-120"/>
              </a:rPr>
              <a:t>Design Generation from a Budget</a:t>
            </a:r>
            <a:endParaRPr lang="en-US" sz="3200" dirty="0"/>
          </a:p>
        </p:txBody>
      </p:sp>
      <p:sp>
        <p:nvSpPr>
          <p:cNvPr id="5" name="Text 2"/>
          <p:cNvSpPr txBox="1"/>
          <p:nvPr/>
        </p:nvSpPr>
        <p:spPr>
          <a:xfrm>
            <a:off x="548640" y="1463040"/>
            <a:ext cx="5120640" cy="3108960"/>
          </a:xfrm>
          <a:prstGeom prst="rect">
            <a:avLst/>
          </a:prstGeom>
          <a:noFill/>
          <a:ln/>
        </p:spPr>
        <p:txBody>
          <a:bodyPr wrap="square" lIns="0" tIns="0" rIns="0" bIns="0" rtlCol="0" anchor="t"/>
          <a:lstStyle/>
          <a:p>
            <a:pPr marL="342900" indent="-342900">
              <a:spcAft>
                <a:spcPts val="800"/>
              </a:spcAft>
              <a:buSzPct val="100000"/>
              <a:buChar char="•"/>
            </a:pPr>
            <a:r>
              <a:rPr lang="en-US" sz="1500" b="1" dirty="0">
                <a:solidFill>
                  <a:schemeClr val="tx1"/>
                </a:solidFill>
              </a:rPr>
              <a:t>55 space modules </a:t>
            </a:r>
            <a:pPr indent="0" marL="0">
              <a:buNone/>
            </a:pPr>
            <a:r>
              <a:rPr lang="en-US" sz="1500" dirty="0">
                <a:solidFill>
                  <a:schemeClr val="tx1"/>
                </a:solidFill>
              </a:rPr>
              <a:t>(7 × 9 m DepEd classroom, 6-bed ward, 20-person evacuation bay…) laid out in rows and floors</a:t>
            </a:r>
            <a:endParaRPr lang="en-US" sz="1500" dirty="0"/>
          </a:p>
          <a:p>
            <a:pPr marL="342900" indent="-342900">
              <a:spcAft>
                <a:spcPts val="800"/>
              </a:spcAft>
              <a:buSzPct val="100000"/>
              <a:buChar char="•"/>
            </a:pPr>
            <a:r>
              <a:rPr lang="en-US" sz="1500" b="1" dirty="0">
                <a:solidFill>
                  <a:schemeClr val="tx1"/>
                </a:solidFill>
              </a:rPr>
              <a:t>41 building + 13 bridge templates, </a:t>
            </a:r>
            <a:pPr indent="0" marL="0">
              <a:buNone/>
            </a:pPr>
            <a:r>
              <a:rPr lang="en-US" sz="1500" dirty="0">
                <a:solidFill>
                  <a:schemeClr val="tx1"/>
                </a:solidFill>
              </a:rPr>
              <a:t>customizable and combinable as wings</a:t>
            </a:r>
            <a:endParaRPr lang="en-US" sz="1500" dirty="0"/>
          </a:p>
          <a:p>
            <a:pPr marL="342900" indent="-342900">
              <a:spcAft>
                <a:spcPts val="800"/>
              </a:spcAft>
              <a:buSzPct val="100000"/>
              <a:buChar char="•"/>
            </a:pPr>
            <a:r>
              <a:rPr lang="en-US" sz="1500" b="1" dirty="0">
                <a:solidFill>
                  <a:schemeClr val="tx1"/>
                </a:solidFill>
              </a:rPr>
              <a:t>Budget-to-design: </a:t>
            </a:r>
            <a:pPr indent="0" marL="0">
              <a:buNone/>
            </a:pPr>
            <a:r>
              <a:rPr lang="en-US" sz="1500" dirty="0">
                <a:solidFill>
                  <a:schemeClr val="tx1"/>
                </a:solidFill>
              </a:rPr>
              <a:t>maximize capacity κ subject to ABC ≤ budget, length ≤ lot, storeys ≤ limit</a:t>
            </a:r>
            <a:endParaRPr lang="en-US" sz="1500" dirty="0"/>
          </a:p>
          <a:p>
            <a:pPr marL="342900" indent="-342900">
              <a:spcAft>
                <a:spcPts val="800"/>
              </a:spcAft>
              <a:buSzPct val="100000"/>
              <a:buChar char="•"/>
            </a:pPr>
            <a:r>
              <a:rPr lang="en-US" sz="1500" b="1" dirty="0">
                <a:solidFill>
                  <a:schemeClr val="tx1"/>
                </a:solidFill>
              </a:rPr>
              <a:t>Exhaustive enumeration + Pareto filter, </a:t>
            </a:r>
            <a:pPr indent="0" marL="0">
              <a:buNone/>
            </a:pPr>
            <a:r>
              <a:rPr lang="en-US" sz="1500" dirty="0">
                <a:solidFill>
                  <a:schemeClr val="tx1"/>
                </a:solidFill>
              </a:rPr>
              <a:t>because cost jumps with new stairs, floors and footings</a:t>
            </a:r>
            <a:endParaRPr lang="en-US" sz="1500" dirty="0"/>
          </a:p>
        </p:txBody>
      </p:sp>
      <p:sp>
        <p:nvSpPr>
          <p:cNvPr id="6" name="card"/>
          <p:cNvSpPr/>
          <p:nvPr/>
        </p:nvSpPr>
        <p:spPr>
          <a:xfrm>
            <a:off x="548640" y="4617720"/>
            <a:ext cx="5120640" cy="1600200"/>
          </a:xfrm>
          <a:prstGeom prst="roundRect">
            <a:avLst>
              <a:gd name="adj" fmla="val 4571"/>
            </a:avLst>
          </a:prstGeom>
          <a:solidFill>
            <a:schemeClr val="bg2"/>
          </a:solidFill>
          <a:ln/>
        </p:spPr>
      </p:sp>
      <p:pic>
        <p:nvPicPr>
          <p:cNvPr id="7" name="equation opt.png" descr="Budget-to-design integer program">    </p:cNvPr>
          <p:cNvPicPr>
            <a:picLocks noChangeAspect="1"/>
          </p:cNvPicPr>
          <p:nvPr/>
        </p:nvPicPr>
        <p:blipFill>
          <a:blip r:embed="rId1"/>
          <a:stretch>
            <a:fillRect/>
          </a:stretch>
        </p:blipFill>
        <p:spPr>
          <a:xfrm>
            <a:off x="685800" y="4859668"/>
            <a:ext cx="4846320" cy="339064"/>
          </a:xfrm>
          <a:prstGeom prst="rect">
            <a:avLst/>
          </a:prstGeom>
        </p:spPr>
      </p:pic>
      <p:pic>
        <p:nvPicPr>
          <p:cNvPr id="8" name="equation pareto.png" descr="Pareto dominance">    </p:cNvPr>
          <p:cNvPicPr>
            <a:picLocks noChangeAspect="1"/>
          </p:cNvPicPr>
          <p:nvPr/>
        </p:nvPicPr>
        <p:blipFill>
          <a:blip r:embed="rId2"/>
          <a:stretch>
            <a:fillRect/>
          </a:stretch>
        </p:blipFill>
        <p:spPr>
          <a:xfrm>
            <a:off x="685800" y="5565720"/>
            <a:ext cx="4846320" cy="298560"/>
          </a:xfrm>
          <a:prstGeom prst="rect">
            <a:avLst/>
          </a:prstGeom>
        </p:spPr>
      </p:pic>
      <p:pic>
        <p:nvPicPr>
          <p:cNvPr id="9" name="plan_school_gf.png" descr="Generated ground floor plan of a 2-storey 6-classroom school">    </p:cNvPr>
          <p:cNvPicPr>
            <a:picLocks noChangeAspect="1"/>
          </p:cNvPicPr>
          <p:nvPr/>
        </p:nvPicPr>
        <p:blipFill>
          <a:blip r:embed="rId3"/>
          <a:stretch>
            <a:fillRect/>
          </a:stretch>
        </p:blipFill>
        <p:spPr>
          <a:xfrm>
            <a:off x="5943600" y="1523373"/>
            <a:ext cx="5696712" cy="2256774"/>
          </a:xfrm>
          <a:prstGeom prst="rect">
            <a:avLst/>
          </a:prstGeom>
        </p:spPr>
      </p:pic>
      <p:pic>
        <p:nvPicPr>
          <p:cNvPr id="10" name="plan_evac.png" descr="Generated plan of an evacuation center for 200 persons">    </p:cNvPr>
          <p:cNvPicPr>
            <a:picLocks noChangeAspect="1"/>
          </p:cNvPicPr>
          <p:nvPr/>
        </p:nvPicPr>
        <p:blipFill>
          <a:blip r:embed="rId4"/>
          <a:stretch>
            <a:fillRect/>
          </a:stretch>
        </p:blipFill>
        <p:spPr>
          <a:xfrm>
            <a:off x="7033494" y="3931920"/>
            <a:ext cx="3516923" cy="2286000"/>
          </a:xfrm>
          <a:prstGeom prst="rect">
            <a:avLst/>
          </a:prstGeom>
        </p:spPr>
      </p:pic>
      <p:sp>
        <p:nvSpPr>
          <p:cNvPr id="25" name="Slide Number Placeholder 0"/>
          <p:cNvSpPr>
            <a:spLocks noGrp="1"/>
          </p:cNvSpPr>
          <p:nvPr>
            <p:ph type="sldNum" sz="quarter" idx="4294967295"/>
          </p:nvPr>
        </p:nvSpPr>
        <p:spPr>
          <a:xfrm>
            <a:off x="11064240" y="642823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A8C"/>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0" type="body" hasCustomPrompt="1"/>
          </p:nvPr>
        </p:nvSpPr>
        <p:spPr>
          <a:xfrm>
            <a:off x="548640" y="256032"/>
            <a:ext cx="8229600" cy="292608"/>
          </a:xfrm>
          <a:prstGeom prst="rect">
            <a:avLst/>
          </a:prstGeom>
          <a:noFill/>
          <a:ln/>
        </p:spPr>
        <p:txBody>
          <a:bodyPr wrap="square" lIns="0" tIns="0" rIns="0" bIns="0" rtlCol="0"/>
          <a:lstStyle/>
          <a:p>
            <a:pPr indent="0" marL="0">
              <a:buNone/>
            </a:pPr>
            <a:r>
              <a:rPr lang="en-US" sz="1200" b="1" spc="200" kern="0" dirty="0">
                <a:solidFill>
                  <a:schemeClr val="accent5"/>
                </a:solidFill>
              </a:rPr>
              <a:t>DATA GATHERING PROCEDURE</a:t>
            </a:r>
            <a:endParaRPr lang="en-US" sz="1200" dirty="0"/>
          </a:p>
        </p:txBody>
      </p:sp>
      <p:sp>
        <p:nvSpPr>
          <p:cNvPr id="3" name="Text 0"/>
          <p:cNvSpPr/>
          <p:nvPr>
            <p:ph idx="101" type="title" hasCustomPrompt="1"/>
          </p:nvPr>
        </p:nvSpPr>
        <p:spPr>
          <a:xfrm>
            <a:off x="548640" y="530352"/>
            <a:ext cx="11064240" cy="731520"/>
          </a:xfrm>
          <a:prstGeom prst="rect">
            <a:avLst/>
          </a:prstGeom>
          <a:noFill/>
          <a:ln/>
        </p:spPr>
        <p:txBody>
          <a:bodyPr wrap="square" lIns="0" tIns="0" rIns="0" bIns="0" rtlCol="0" anchor="ctr"/>
          <a:lstStyle/>
          <a:p>
            <a:pPr algn="l" indent="0" marL="0">
              <a:buNone/>
            </a:pPr>
            <a:r>
              <a:rPr lang="en-US" sz="3200" b="1" dirty="0">
                <a:solidFill>
                  <a:schemeClr val="tx2"/>
                </a:solidFill>
                <a:latin typeface="Cambria" pitchFamily="34" charset="0"/>
                <a:ea typeface="Cambria" pitchFamily="34" charset="-122"/>
                <a:cs typeface="Cambria" pitchFamily="34" charset="-120"/>
              </a:rPr>
              <a:t>Quantity Take-Off and Quotation</a:t>
            </a:r>
            <a:endParaRPr lang="en-US" sz="3200" dirty="0"/>
          </a:p>
        </p:txBody>
      </p:sp>
      <p:sp>
        <p:nvSpPr>
          <p:cNvPr id="5" name="card"/>
          <p:cNvSpPr/>
          <p:nvPr/>
        </p:nvSpPr>
        <p:spPr>
          <a:xfrm>
            <a:off x="548640" y="1508760"/>
            <a:ext cx="5486400" cy="2423160"/>
          </a:xfrm>
          <a:prstGeom prst="roundRect">
            <a:avLst>
              <a:gd name="adj" fmla="val 3019"/>
            </a:avLst>
          </a:prstGeom>
          <a:solidFill>
            <a:schemeClr val="bg2"/>
          </a:solidFill>
          <a:ln/>
        </p:spPr>
      </p:sp>
      <p:sp>
        <p:nvSpPr>
          <p:cNvPr id="6" name="Text 3"/>
          <p:cNvSpPr txBox="1"/>
          <p:nvPr/>
        </p:nvSpPr>
        <p:spPr>
          <a:xfrm>
            <a:off x="777240" y="1645920"/>
            <a:ext cx="5029200" cy="365760"/>
          </a:xfrm>
          <a:prstGeom prst="rect">
            <a:avLst/>
          </a:prstGeom>
          <a:noFill/>
          <a:ln/>
        </p:spPr>
        <p:txBody>
          <a:bodyPr wrap="square" lIns="0" tIns="0" rIns="0" bIns="0" rtlCol="0" anchor="t"/>
          <a:lstStyle/>
          <a:p>
            <a:pPr indent="0" marL="0">
              <a:buNone/>
            </a:pPr>
            <a:r>
              <a:rPr lang="en-US" sz="1600" b="1" dirty="0">
                <a:solidFill>
                  <a:schemeClr val="tx2"/>
                </a:solidFill>
              </a:rPr>
              <a:t>Estimated direct cost and ABC</a:t>
            </a:r>
            <a:endParaRPr lang="en-US" sz="1600" dirty="0"/>
          </a:p>
        </p:txBody>
      </p:sp>
      <p:pic>
        <p:nvPicPr>
          <p:cNvPr id="7" name="equation edc.png" descr="EDC equation">    </p:cNvPr>
          <p:cNvPicPr>
            <a:picLocks noChangeAspect="1"/>
          </p:cNvPicPr>
          <p:nvPr/>
        </p:nvPicPr>
        <p:blipFill>
          <a:blip r:embed="rId1"/>
          <a:stretch>
            <a:fillRect/>
          </a:stretch>
        </p:blipFill>
        <p:spPr>
          <a:xfrm>
            <a:off x="777240" y="2141113"/>
            <a:ext cx="2190811" cy="609813"/>
          </a:xfrm>
          <a:prstGeom prst="rect">
            <a:avLst/>
          </a:prstGeom>
        </p:spPr>
      </p:pic>
      <p:pic>
        <p:nvPicPr>
          <p:cNvPr id="8" name="equation abc.png" descr="ABC equation">    </p:cNvPr>
          <p:cNvPicPr>
            <a:picLocks noChangeAspect="1"/>
          </p:cNvPicPr>
          <p:nvPr/>
        </p:nvPicPr>
        <p:blipFill>
          <a:blip r:embed="rId2"/>
          <a:stretch>
            <a:fillRect/>
          </a:stretch>
        </p:blipFill>
        <p:spPr>
          <a:xfrm>
            <a:off x="777240" y="3128368"/>
            <a:ext cx="3034010" cy="372664"/>
          </a:xfrm>
          <a:prstGeom prst="rect">
            <a:avLst/>
          </a:prstGeom>
        </p:spPr>
      </p:pic>
      <p:sp>
        <p:nvSpPr>
          <p:cNvPr id="9" name="card"/>
          <p:cNvSpPr/>
          <p:nvPr/>
        </p:nvSpPr>
        <p:spPr>
          <a:xfrm>
            <a:off x="548640" y="4114800"/>
            <a:ext cx="5486400" cy="2103120"/>
          </a:xfrm>
          <a:prstGeom prst="roundRect">
            <a:avLst>
              <a:gd name="adj" fmla="val 3478"/>
            </a:avLst>
          </a:prstGeom>
          <a:solidFill>
            <a:schemeClr val="bg2"/>
          </a:solidFill>
          <a:ln/>
        </p:spPr>
      </p:sp>
      <p:sp>
        <p:nvSpPr>
          <p:cNvPr id="10" name="Text 5"/>
          <p:cNvSpPr txBox="1"/>
          <p:nvPr/>
        </p:nvSpPr>
        <p:spPr>
          <a:xfrm>
            <a:off x="777240" y="4224528"/>
            <a:ext cx="5029200" cy="365760"/>
          </a:xfrm>
          <a:prstGeom prst="rect">
            <a:avLst/>
          </a:prstGeom>
          <a:noFill/>
          <a:ln/>
        </p:spPr>
        <p:txBody>
          <a:bodyPr wrap="square" lIns="0" tIns="0" rIns="0" bIns="0" rtlCol="0" anchor="t"/>
          <a:lstStyle/>
          <a:p>
            <a:pPr indent="0" marL="0">
              <a:buNone/>
            </a:pPr>
            <a:r>
              <a:rPr lang="en-US" sz="1600" b="1" dirty="0">
                <a:solidFill>
                  <a:schemeClr val="tx2"/>
                </a:solidFill>
              </a:rPr>
              <a:t>Structural quantities from engineering formulas</a:t>
            </a:r>
            <a:endParaRPr lang="en-US" sz="1600" dirty="0"/>
          </a:p>
        </p:txBody>
      </p:sp>
      <p:pic>
        <p:nvPicPr>
          <p:cNvPr id="11" name="equation footing.png" descr="Footing width">    </p:cNvPr>
          <p:cNvPicPr>
            <a:picLocks noChangeAspect="1"/>
          </p:cNvPicPr>
          <p:nvPr/>
        </p:nvPicPr>
        <p:blipFill>
          <a:blip r:embed="rId3"/>
          <a:stretch>
            <a:fillRect/>
          </a:stretch>
        </p:blipFill>
        <p:spPr>
          <a:xfrm>
            <a:off x="777240" y="4681278"/>
            <a:ext cx="1750390" cy="741563"/>
          </a:xfrm>
          <a:prstGeom prst="rect">
            <a:avLst/>
          </a:prstGeom>
        </p:spPr>
      </p:pic>
      <p:pic>
        <p:nvPicPr>
          <p:cNvPr id="12" name="equation rebar.png" descr="Reinforcing steel">    </p:cNvPr>
          <p:cNvPicPr>
            <a:picLocks noChangeAspect="1"/>
          </p:cNvPicPr>
          <p:nvPr/>
        </p:nvPicPr>
        <p:blipFill>
          <a:blip r:embed="rId4"/>
          <a:stretch>
            <a:fillRect/>
          </a:stretch>
        </p:blipFill>
        <p:spPr>
          <a:xfrm>
            <a:off x="3291840" y="4803618"/>
            <a:ext cx="1554648" cy="496885"/>
          </a:xfrm>
          <a:prstGeom prst="rect">
            <a:avLst/>
          </a:prstGeom>
        </p:spPr>
      </p:pic>
      <p:sp>
        <p:nvSpPr>
          <p:cNvPr id="13" name="Text 6"/>
          <p:cNvSpPr txBox="1"/>
          <p:nvPr/>
        </p:nvSpPr>
        <p:spPr>
          <a:xfrm>
            <a:off x="777240" y="5577840"/>
            <a:ext cx="5029200" cy="502920"/>
          </a:xfrm>
          <a:prstGeom prst="rect">
            <a:avLst/>
          </a:prstGeom>
          <a:noFill/>
          <a:ln/>
        </p:spPr>
        <p:txBody>
          <a:bodyPr wrap="square" lIns="0" tIns="0" rIns="0" bIns="0" rtlCol="0" anchor="t"/>
          <a:lstStyle/>
          <a:p>
            <a:pPr indent="0" marL="0">
              <a:buNone/>
            </a:pPr>
            <a:r>
              <a:rPr lang="en-US" sz="1300" dirty="0">
                <a:solidFill>
                  <a:srgbClr val="44505E"/>
                </a:solidFill>
              </a:rPr>
              <a:t>Footing width from load and soil bearing; steel from volume × intensity.</a:t>
            </a:r>
            <a:endParaRPr lang="en-US" sz="1300" dirty="0"/>
          </a:p>
        </p:txBody>
      </p:sp>
      <p:graphicFrame>
        <p:nvGraphicFramePr>
          <p:cNvPr id="23" name="tier table"/>
          <p:cNvGraphicFramePr>
            <a:graphicFrameLocks noGrp="1"/>
          </p:cNvGraphicFramePr>
          <p:nvPr>
            <p:extLst>
              <p:ext uri="{D42A27DB-BD31-4B8C-83A1-F6EECF244321}">
                <p14:modId xmlns:p14="http://schemas.microsoft.com/office/powerpoint/2010/main" val="1579011935"/>
              </p:ext>
            </p:extLst>
          </p:nvPr>
        </p:nvGraphicFramePr>
        <p:xfrm>
          <a:off x="6263640" y="1508760"/>
          <a:ext cx="5376672" cy="914400"/>
        </p:xfrm>
        <a:graphic>
          <a:graphicData uri="http://schemas.openxmlformats.org/drawingml/2006/table">
            <a:tbl>
              <a:tblPr/>
              <a:tblGrid>
                <a:gridCol w="1920240"/>
                <a:gridCol w="1188720"/>
                <a:gridCol w="1097280"/>
                <a:gridCol w="1170432"/>
              </a:tblGrid>
              <a:tr h="457200">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Setting</a:t>
                      </a:r>
                      <a:endParaRPr lang="en-US" sz="1300" dirty="0">
                        <a:latin typeface="Calibri" charset="0"/>
                        <a:ea typeface="Calibri" charset="0"/>
                        <a:cs typeface="Calibri" charset="0"/>
                      </a:endParaRPr>
                    </a:p>
                  </a:txBody>
                  <a:tcPr marL="73152" marR="73152" marT="45720" marB="4572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rgbClr val="12345A"/>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Lean (start)</a:t>
                      </a:r>
                      <a:endParaRPr lang="en-US" sz="1300" dirty="0">
                        <a:latin typeface="Calibri" charset="0"/>
                        <a:ea typeface="Calibri" charset="0"/>
                        <a:cs typeface="Calibri" charset="0"/>
                      </a:endParaRPr>
                    </a:p>
                  </a:txBody>
                  <a:tcPr marL="73152" marR="73152" marT="45720" marB="4572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rgbClr val="12345A"/>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Standard</a:t>
                      </a:r>
                      <a:endParaRPr lang="en-US" sz="1300" dirty="0">
                        <a:latin typeface="Calibri" charset="0"/>
                        <a:ea typeface="Calibri" charset="0"/>
                        <a:cs typeface="Calibri" charset="0"/>
                      </a:endParaRPr>
                    </a:p>
                  </a:txBody>
                  <a:tcPr marL="73152" marR="73152" marT="45720" marB="4572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rgbClr val="12345A"/>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Ceiling</a:t>
                      </a:r>
                      <a:endParaRPr lang="en-US" sz="1300" dirty="0">
                        <a:latin typeface="Calibri" charset="0"/>
                        <a:ea typeface="Calibri" charset="0"/>
                        <a:cs typeface="Calibri" charset="0"/>
                      </a:endParaRPr>
                    </a:p>
                  </a:txBody>
                  <a:tcPr marL="73152" marR="73152" marT="45720" marB="4572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rgbClr val="12345A"/>
                    </a:solidFill>
                  </a:tcPr>
                </a:tc>
              </a:tr>
              <a:tr h="457200">
                <a:tc>
                  <a:txBody>
                    <a:bodyPr/>
                    <a:lstStyle/>
                    <a:p>
                      <a:pPr indent="0" marL="0">
                        <a:buNone/>
                      </a:pPr>
                      <a:r>
                        <a:rPr lang="en-US" sz="1300" dirty="0">
                          <a:solidFill>
                            <a:srgbClr val="14202E"/>
                          </a:solidFill>
                          <a:latin typeface="Calibri" pitchFamily="34" charset="0"/>
                          <a:ea typeface="Calibri" pitchFamily="34" charset="-122"/>
                          <a:cs typeface="Calibri" pitchFamily="34" charset="-120"/>
                        </a:rPr>
                        <a:t>Reinforcement factor τ</a:t>
                      </a:r>
                      <a:endParaRPr lang="en-US" sz="1300" dirty="0">
                        <a:latin typeface="Calibri" charset="0"/>
                        <a:ea typeface="Calibri" charset="0"/>
                        <a:cs typeface="Calibri" charset="0"/>
                      </a:endParaRPr>
                    </a:p>
                  </a:txBody>
                  <a:tcPr marL="73152" marR="73152" marT="45720" marB="4572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indent="0" marL="0">
                        <a:buNone/>
                      </a:pPr>
                      <a:r>
                        <a:rPr lang="en-US" sz="1300" dirty="0">
                          <a:solidFill>
                            <a:srgbClr val="14202E"/>
                          </a:solidFill>
                          <a:latin typeface="Calibri" pitchFamily="34" charset="0"/>
                          <a:ea typeface="Calibri" pitchFamily="34" charset="-122"/>
                          <a:cs typeface="Calibri" pitchFamily="34" charset="-120"/>
                        </a:rPr>
                        <a:t>0.80</a:t>
                      </a:r>
                      <a:endParaRPr lang="en-US" sz="1300" dirty="0">
                        <a:latin typeface="Calibri" charset="0"/>
                        <a:ea typeface="Calibri" charset="0"/>
                        <a:cs typeface="Calibri" charset="0"/>
                      </a:endParaRPr>
                    </a:p>
                  </a:txBody>
                  <a:tcPr marL="73152" marR="73152" marT="45720" marB="4572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indent="0" marL="0">
                        <a:buNone/>
                      </a:pPr>
                      <a:r>
                        <a:rPr lang="en-US" sz="1300" dirty="0">
                          <a:solidFill>
                            <a:srgbClr val="14202E"/>
                          </a:solidFill>
                          <a:latin typeface="Calibri" pitchFamily="34" charset="0"/>
                          <a:ea typeface="Calibri" pitchFamily="34" charset="-122"/>
                          <a:cs typeface="Calibri" pitchFamily="34" charset="-120"/>
                        </a:rPr>
                        <a:t>1.00</a:t>
                      </a:r>
                      <a:endParaRPr lang="en-US" sz="1300" dirty="0">
                        <a:latin typeface="Calibri" charset="0"/>
                        <a:ea typeface="Calibri" charset="0"/>
                        <a:cs typeface="Calibri" charset="0"/>
                      </a:endParaRPr>
                    </a:p>
                  </a:txBody>
                  <a:tcPr marL="73152" marR="73152" marT="45720" marB="4572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indent="0" marL="0">
                        <a:buNone/>
                      </a:pPr>
                      <a:r>
                        <a:rPr lang="en-US" sz="1300" dirty="0">
                          <a:solidFill>
                            <a:srgbClr val="14202E"/>
                          </a:solidFill>
                          <a:latin typeface="Calibri" pitchFamily="34" charset="0"/>
                          <a:ea typeface="Calibri" pitchFamily="34" charset="-122"/>
                          <a:cs typeface="Calibri" pitchFamily="34" charset="-120"/>
                        </a:rPr>
                        <a:t>1.25</a:t>
                      </a:r>
                      <a:endParaRPr lang="en-US" sz="1300" dirty="0">
                        <a:latin typeface="Calibri" charset="0"/>
                        <a:ea typeface="Calibri" charset="0"/>
                        <a:cs typeface="Calibri" charset="0"/>
                      </a:endParaRPr>
                    </a:p>
                  </a:txBody>
                  <a:tcPr marL="73152" marR="73152" marT="45720" marB="4572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r>
              <a:tr h="457200">
                <a:tc>
                  <a:txBody>
                    <a:bodyPr/>
                    <a:lstStyle/>
                    <a:p>
                      <a:pPr indent="0" marL="0">
                        <a:buNone/>
                      </a:pPr>
                      <a:r>
                        <a:rPr lang="en-US" sz="1300" dirty="0">
                          <a:solidFill>
                            <a:srgbClr val="14202E"/>
                          </a:solidFill>
                          <a:latin typeface="Calibri" pitchFamily="34" charset="0"/>
                          <a:ea typeface="Calibri" pitchFamily="34" charset="-122"/>
                          <a:cs typeface="Calibri" pitchFamily="34" charset="-120"/>
                        </a:rPr>
                        <a:t>Structural steel factor</a:t>
                      </a:r>
                      <a:endParaRPr lang="en-US" sz="1300" dirty="0">
                        <a:latin typeface="Calibri" charset="0"/>
                        <a:ea typeface="Calibri" charset="0"/>
                        <a:cs typeface="Calibri" charset="0"/>
                      </a:endParaRPr>
                    </a:p>
                  </a:txBody>
                  <a:tcPr marL="73152" marR="73152" marT="45720" marB="4572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indent="0" marL="0">
                        <a:buNone/>
                      </a:pPr>
                      <a:r>
                        <a:rPr lang="en-US" sz="1300" dirty="0">
                          <a:solidFill>
                            <a:srgbClr val="14202E"/>
                          </a:solidFill>
                          <a:latin typeface="Calibri" pitchFamily="34" charset="0"/>
                          <a:ea typeface="Calibri" pitchFamily="34" charset="-122"/>
                          <a:cs typeface="Calibri" pitchFamily="34" charset="-120"/>
                        </a:rPr>
                        <a:t>0.92</a:t>
                      </a:r>
                      <a:endParaRPr lang="en-US" sz="1300" dirty="0">
                        <a:latin typeface="Calibri" charset="0"/>
                        <a:ea typeface="Calibri" charset="0"/>
                        <a:cs typeface="Calibri" charset="0"/>
                      </a:endParaRPr>
                    </a:p>
                  </a:txBody>
                  <a:tcPr marL="73152" marR="73152" marT="45720" marB="4572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indent="0" marL="0">
                        <a:buNone/>
                      </a:pPr>
                      <a:r>
                        <a:rPr lang="en-US" sz="1300" dirty="0">
                          <a:solidFill>
                            <a:srgbClr val="14202E"/>
                          </a:solidFill>
                          <a:latin typeface="Calibri" pitchFamily="34" charset="0"/>
                          <a:ea typeface="Calibri" pitchFamily="34" charset="-122"/>
                          <a:cs typeface="Calibri" pitchFamily="34" charset="-120"/>
                        </a:rPr>
                        <a:t>1.00</a:t>
                      </a:r>
                      <a:endParaRPr lang="en-US" sz="1300" dirty="0">
                        <a:latin typeface="Calibri" charset="0"/>
                        <a:ea typeface="Calibri" charset="0"/>
                        <a:cs typeface="Calibri" charset="0"/>
                      </a:endParaRPr>
                    </a:p>
                  </a:txBody>
                  <a:tcPr marL="73152" marR="73152" marT="45720" marB="4572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indent="0" marL="0">
                        <a:buNone/>
                      </a:pPr>
                      <a:r>
                        <a:rPr lang="en-US" sz="1300" dirty="0">
                          <a:solidFill>
                            <a:srgbClr val="14202E"/>
                          </a:solidFill>
                          <a:latin typeface="Calibri" pitchFamily="34" charset="0"/>
                          <a:ea typeface="Calibri" pitchFamily="34" charset="-122"/>
                          <a:cs typeface="Calibri" pitchFamily="34" charset="-120"/>
                        </a:rPr>
                        <a:t>1.15</a:t>
                      </a:r>
                      <a:endParaRPr lang="en-US" sz="1300" dirty="0">
                        <a:latin typeface="Calibri" charset="0"/>
                        <a:ea typeface="Calibri" charset="0"/>
                        <a:cs typeface="Calibri" charset="0"/>
                      </a:endParaRPr>
                    </a:p>
                  </a:txBody>
                  <a:tcPr marL="73152" marR="73152" marT="45720" marB="4572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r>
              <a:tr h="457200">
                <a:tc>
                  <a:txBody>
                    <a:bodyPr/>
                    <a:lstStyle/>
                    <a:p>
                      <a:pPr indent="0" marL="0">
                        <a:buNone/>
                      </a:pPr>
                      <a:r>
                        <a:rPr lang="en-US" sz="1300" dirty="0">
                          <a:solidFill>
                            <a:srgbClr val="14202E"/>
                          </a:solidFill>
                          <a:latin typeface="Calibri" pitchFamily="34" charset="0"/>
                          <a:ea typeface="Calibri" pitchFamily="34" charset="-122"/>
                          <a:cs typeface="Calibri" pitchFamily="34" charset="-120"/>
                        </a:rPr>
                        <a:t>Floor finish</a:t>
                      </a:r>
                      <a:endParaRPr lang="en-US" sz="1300" dirty="0">
                        <a:latin typeface="Calibri" charset="0"/>
                        <a:ea typeface="Calibri" charset="0"/>
                        <a:cs typeface="Calibri" charset="0"/>
                      </a:endParaRPr>
                    </a:p>
                  </a:txBody>
                  <a:tcPr marL="73152" marR="73152" marT="45720" marB="4572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indent="0" marL="0">
                        <a:buNone/>
                      </a:pPr>
                      <a:r>
                        <a:rPr lang="en-US" sz="1300" dirty="0">
                          <a:solidFill>
                            <a:srgbClr val="14202E"/>
                          </a:solidFill>
                          <a:latin typeface="Calibri" pitchFamily="34" charset="0"/>
                          <a:ea typeface="Calibri" pitchFamily="34" charset="-122"/>
                          <a:cs typeface="Calibri" pitchFamily="34" charset="-120"/>
                        </a:rPr>
                        <a:t>Cement topping</a:t>
                      </a:r>
                      <a:endParaRPr lang="en-US" sz="1300" dirty="0">
                        <a:latin typeface="Calibri" charset="0"/>
                        <a:ea typeface="Calibri" charset="0"/>
                        <a:cs typeface="Calibri" charset="0"/>
                      </a:endParaRPr>
                    </a:p>
                  </a:txBody>
                  <a:tcPr marL="73152" marR="73152" marT="45720" marB="4572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indent="0" marL="0">
                        <a:buNone/>
                      </a:pPr>
                      <a:r>
                        <a:rPr lang="en-US" sz="1300" dirty="0">
                          <a:solidFill>
                            <a:srgbClr val="14202E"/>
                          </a:solidFill>
                          <a:latin typeface="Calibri" pitchFamily="34" charset="0"/>
                          <a:ea typeface="Calibri" pitchFamily="34" charset="-122"/>
                          <a:cs typeface="Calibri" pitchFamily="34" charset="-120"/>
                        </a:rPr>
                        <a:t>Ceramic tiles</a:t>
                      </a:r>
                      <a:endParaRPr lang="en-US" sz="1300" dirty="0">
                        <a:latin typeface="Calibri" charset="0"/>
                        <a:ea typeface="Calibri" charset="0"/>
                        <a:cs typeface="Calibri" charset="0"/>
                      </a:endParaRPr>
                    </a:p>
                  </a:txBody>
                  <a:tcPr marL="73152" marR="73152" marT="45720" marB="4572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indent="0" marL="0">
                        <a:buNone/>
                      </a:pPr>
                      <a:r>
                        <a:rPr lang="en-US" sz="1300" dirty="0">
                          <a:solidFill>
                            <a:srgbClr val="14202E"/>
                          </a:solidFill>
                          <a:latin typeface="Calibri" pitchFamily="34" charset="0"/>
                          <a:ea typeface="Calibri" pitchFamily="34" charset="-122"/>
                          <a:cs typeface="Calibri" pitchFamily="34" charset="-120"/>
                        </a:rPr>
                        <a:t>Porcelain / granite</a:t>
                      </a:r>
                      <a:endParaRPr lang="en-US" sz="1300" dirty="0">
                        <a:latin typeface="Calibri" charset="0"/>
                        <a:ea typeface="Calibri" charset="0"/>
                        <a:cs typeface="Calibri" charset="0"/>
                      </a:endParaRPr>
                    </a:p>
                  </a:txBody>
                  <a:tcPr marL="73152" marR="73152" marT="45720" marB="4572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r>
              <a:tr h="457200">
                <a:tc>
                  <a:txBody>
                    <a:bodyPr/>
                    <a:lstStyle/>
                    <a:p>
                      <a:pPr indent="0" marL="0">
                        <a:buNone/>
                      </a:pPr>
                      <a:r>
                        <a:rPr lang="en-US" sz="1300" dirty="0">
                          <a:solidFill>
                            <a:srgbClr val="14202E"/>
                          </a:solidFill>
                          <a:latin typeface="Calibri" pitchFamily="34" charset="0"/>
                          <a:ea typeface="Calibri" pitchFamily="34" charset="-122"/>
                          <a:cs typeface="Calibri" pitchFamily="34" charset="-120"/>
                        </a:rPr>
                        <a:t>MEPF allowance factor</a:t>
                      </a:r>
                      <a:endParaRPr lang="en-US" sz="1300" dirty="0">
                        <a:latin typeface="Calibri" charset="0"/>
                        <a:ea typeface="Calibri" charset="0"/>
                        <a:cs typeface="Calibri" charset="0"/>
                      </a:endParaRPr>
                    </a:p>
                  </a:txBody>
                  <a:tcPr marL="73152" marR="73152" marT="45720" marB="4572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indent="0" marL="0">
                        <a:buNone/>
                      </a:pPr>
                      <a:r>
                        <a:rPr lang="en-US" sz="1300" dirty="0">
                          <a:solidFill>
                            <a:srgbClr val="14202E"/>
                          </a:solidFill>
                          <a:latin typeface="Calibri" pitchFamily="34" charset="0"/>
                          <a:ea typeface="Calibri" pitchFamily="34" charset="-122"/>
                          <a:cs typeface="Calibri" pitchFamily="34" charset="-120"/>
                        </a:rPr>
                        <a:t>0.85</a:t>
                      </a:r>
                      <a:endParaRPr lang="en-US" sz="1300" dirty="0">
                        <a:latin typeface="Calibri" charset="0"/>
                        <a:ea typeface="Calibri" charset="0"/>
                        <a:cs typeface="Calibri" charset="0"/>
                      </a:endParaRPr>
                    </a:p>
                  </a:txBody>
                  <a:tcPr marL="73152" marR="73152" marT="45720" marB="4572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indent="0" marL="0">
                        <a:buNone/>
                      </a:pPr>
                      <a:r>
                        <a:rPr lang="en-US" sz="1300" dirty="0">
                          <a:solidFill>
                            <a:srgbClr val="14202E"/>
                          </a:solidFill>
                          <a:latin typeface="Calibri" pitchFamily="34" charset="0"/>
                          <a:ea typeface="Calibri" pitchFamily="34" charset="-122"/>
                          <a:cs typeface="Calibri" pitchFamily="34" charset="-120"/>
                        </a:rPr>
                        <a:t>1.00</a:t>
                      </a:r>
                      <a:endParaRPr lang="en-US" sz="1300" dirty="0">
                        <a:latin typeface="Calibri" charset="0"/>
                        <a:ea typeface="Calibri" charset="0"/>
                        <a:cs typeface="Calibri" charset="0"/>
                      </a:endParaRPr>
                    </a:p>
                  </a:txBody>
                  <a:tcPr marL="73152" marR="73152" marT="45720" marB="4572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indent="0" marL="0">
                        <a:buNone/>
                      </a:pPr>
                      <a:r>
                        <a:rPr lang="en-US" sz="1300" dirty="0">
                          <a:solidFill>
                            <a:srgbClr val="14202E"/>
                          </a:solidFill>
                          <a:latin typeface="Calibri" pitchFamily="34" charset="0"/>
                          <a:ea typeface="Calibri" pitchFamily="34" charset="-122"/>
                          <a:cs typeface="Calibri" pitchFamily="34" charset="-120"/>
                        </a:rPr>
                        <a:t>1.25</a:t>
                      </a:r>
                      <a:endParaRPr lang="en-US" sz="1300" dirty="0">
                        <a:latin typeface="Calibri" charset="0"/>
                        <a:ea typeface="Calibri" charset="0"/>
                        <a:cs typeface="Calibri" charset="0"/>
                      </a:endParaRPr>
                    </a:p>
                  </a:txBody>
                  <a:tcPr marL="73152" marR="73152" marT="45720" marB="4572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r>
              <a:tr h="457200">
                <a:tc>
                  <a:txBody>
                    <a:bodyPr/>
                    <a:lstStyle/>
                    <a:p>
                      <a:pPr indent="0" marL="0">
                        <a:buNone/>
                      </a:pPr>
                      <a:r>
                        <a:rPr lang="en-US" sz="1300" dirty="0">
                          <a:solidFill>
                            <a:srgbClr val="14202E"/>
                          </a:solidFill>
                          <a:latin typeface="Calibri" pitchFamily="34" charset="0"/>
                          <a:ea typeface="Calibri" pitchFamily="34" charset="-122"/>
                          <a:cs typeface="Calibri" pitchFamily="34" charset="-120"/>
                        </a:rPr>
                        <a:t>Mobilization / OSH</a:t>
                      </a:r>
                      <a:endParaRPr lang="en-US" sz="1300" dirty="0">
                        <a:latin typeface="Calibri" charset="0"/>
                        <a:ea typeface="Calibri" charset="0"/>
                        <a:cs typeface="Calibri" charset="0"/>
                      </a:endParaRPr>
                    </a:p>
                  </a:txBody>
                  <a:tcPr marL="73152" marR="73152" marT="45720" marB="4572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indent="0" marL="0">
                        <a:buNone/>
                      </a:pPr>
                      <a:r>
                        <a:rPr lang="en-US" sz="1300" dirty="0">
                          <a:solidFill>
                            <a:srgbClr val="14202E"/>
                          </a:solidFill>
                          <a:latin typeface="Calibri" pitchFamily="34" charset="0"/>
                          <a:ea typeface="Calibri" pitchFamily="34" charset="-122"/>
                          <a:cs typeface="Calibri" pitchFamily="34" charset="-120"/>
                        </a:rPr>
                        <a:t>1.0% / 1.0%</a:t>
                      </a:r>
                      <a:endParaRPr lang="en-US" sz="1300" dirty="0">
                        <a:latin typeface="Calibri" charset="0"/>
                        <a:ea typeface="Calibri" charset="0"/>
                        <a:cs typeface="Calibri" charset="0"/>
                      </a:endParaRPr>
                    </a:p>
                  </a:txBody>
                  <a:tcPr marL="73152" marR="73152" marT="45720" marB="4572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indent="0" marL="0">
                        <a:buNone/>
                      </a:pPr>
                      <a:r>
                        <a:rPr lang="en-US" sz="1300" dirty="0">
                          <a:solidFill>
                            <a:srgbClr val="14202E"/>
                          </a:solidFill>
                          <a:latin typeface="Calibri" pitchFamily="34" charset="0"/>
                          <a:ea typeface="Calibri" pitchFamily="34" charset="-122"/>
                          <a:cs typeface="Calibri" pitchFamily="34" charset="-120"/>
                        </a:rPr>
                        <a:t>1.2% / 1.5%</a:t>
                      </a:r>
                      <a:endParaRPr lang="en-US" sz="1300" dirty="0">
                        <a:latin typeface="Calibri" charset="0"/>
                        <a:ea typeface="Calibri" charset="0"/>
                        <a:cs typeface="Calibri" charset="0"/>
                      </a:endParaRPr>
                    </a:p>
                  </a:txBody>
                  <a:tcPr marL="73152" marR="73152" marT="45720" marB="4572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indent="0" marL="0">
                        <a:buNone/>
                      </a:pPr>
                      <a:r>
                        <a:rPr lang="en-US" sz="1300" dirty="0">
                          <a:solidFill>
                            <a:srgbClr val="14202E"/>
                          </a:solidFill>
                          <a:latin typeface="Calibri" pitchFamily="34" charset="0"/>
                          <a:ea typeface="Calibri" pitchFamily="34" charset="-122"/>
                          <a:cs typeface="Calibri" pitchFamily="34" charset="-120"/>
                        </a:rPr>
                        <a:t>1.5% / 2.0%</a:t>
                      </a:r>
                      <a:endParaRPr lang="en-US" sz="1300" dirty="0">
                        <a:latin typeface="Calibri" charset="0"/>
                        <a:ea typeface="Calibri" charset="0"/>
                        <a:cs typeface="Calibri" charset="0"/>
                      </a:endParaRPr>
                    </a:p>
                  </a:txBody>
                  <a:tcPr marL="73152" marR="73152" marT="45720" marB="4572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r>
              <a:tr h="457200">
                <a:tc>
                  <a:txBody>
                    <a:bodyPr/>
                    <a:lstStyle/>
                    <a:p>
                      <a:pPr indent="0" marL="0">
                        <a:buNone/>
                      </a:pPr>
                      <a:r>
                        <a:rPr lang="en-US" sz="1300" dirty="0">
                          <a:solidFill>
                            <a:srgbClr val="14202E"/>
                          </a:solidFill>
                          <a:latin typeface="Calibri" pitchFamily="34" charset="0"/>
                          <a:ea typeface="Calibri" pitchFamily="34" charset="-122"/>
                          <a:cs typeface="Calibri" pitchFamily="34" charset="-120"/>
                        </a:rPr>
                        <a:t>Scope contingency</a:t>
                      </a:r>
                      <a:endParaRPr lang="en-US" sz="1300" dirty="0">
                        <a:latin typeface="Calibri" charset="0"/>
                        <a:ea typeface="Calibri" charset="0"/>
                        <a:cs typeface="Calibri" charset="0"/>
                      </a:endParaRPr>
                    </a:p>
                  </a:txBody>
                  <a:tcPr marL="73152" marR="73152" marT="45720" marB="4572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indent="0" marL="0">
                        <a:buNone/>
                      </a:pPr>
                      <a:r>
                        <a:rPr lang="en-US" sz="1300" dirty="0">
                          <a:solidFill>
                            <a:srgbClr val="14202E"/>
                          </a:solidFill>
                          <a:latin typeface="Calibri" pitchFamily="34" charset="0"/>
                          <a:ea typeface="Calibri" pitchFamily="34" charset="-122"/>
                          <a:cs typeface="Calibri" pitchFamily="34" charset="-120"/>
                        </a:rPr>
                        <a:t>—</a:t>
                      </a:r>
                      <a:endParaRPr lang="en-US" sz="1300" dirty="0">
                        <a:latin typeface="Calibri" charset="0"/>
                        <a:ea typeface="Calibri" charset="0"/>
                        <a:cs typeface="Calibri" charset="0"/>
                      </a:endParaRPr>
                    </a:p>
                  </a:txBody>
                  <a:tcPr marL="73152" marR="73152" marT="45720" marB="4572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indent="0" marL="0">
                        <a:buNone/>
                      </a:pPr>
                      <a:r>
                        <a:rPr lang="en-US" sz="1300" dirty="0">
                          <a:solidFill>
                            <a:srgbClr val="14202E"/>
                          </a:solidFill>
                          <a:latin typeface="Calibri" pitchFamily="34" charset="0"/>
                          <a:ea typeface="Calibri" pitchFamily="34" charset="-122"/>
                          <a:cs typeface="Calibri" pitchFamily="34" charset="-120"/>
                        </a:rPr>
                        <a:t>—</a:t>
                      </a:r>
                      <a:endParaRPr lang="en-US" sz="1300" dirty="0">
                        <a:latin typeface="Calibri" charset="0"/>
                        <a:ea typeface="Calibri" charset="0"/>
                        <a:cs typeface="Calibri" charset="0"/>
                      </a:endParaRPr>
                    </a:p>
                  </a:txBody>
                  <a:tcPr marL="73152" marR="73152" marT="45720" marB="4572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indent="0" marL="0">
                        <a:buNone/>
                      </a:pPr>
                      <a:r>
                        <a:rPr lang="en-US" sz="1300" dirty="0">
                          <a:solidFill>
                            <a:srgbClr val="14202E"/>
                          </a:solidFill>
                          <a:latin typeface="Calibri" pitchFamily="34" charset="0"/>
                          <a:ea typeface="Calibri" pitchFamily="34" charset="-122"/>
                          <a:cs typeface="Calibri" pitchFamily="34" charset="-120"/>
                        </a:rPr>
                        <a:t>8% of works</a:t>
                      </a:r>
                      <a:endParaRPr lang="en-US" sz="1300" dirty="0">
                        <a:latin typeface="Calibri" charset="0"/>
                        <a:ea typeface="Calibri" charset="0"/>
                        <a:cs typeface="Calibri" charset="0"/>
                      </a:endParaRPr>
                    </a:p>
                  </a:txBody>
                  <a:tcPr marL="73152" marR="73152" marT="45720" marB="4572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r>
            </a:tbl>
          </a:graphicData>
        </a:graphic>
      </p:graphicFrame>
      <p:graphicFrame>
        <p:nvGraphicFramePr>
          <p:cNvPr id="45" name="indirect cost table"/>
          <p:cNvGraphicFramePr>
            <a:graphicFrameLocks noGrp="1"/>
          </p:cNvGraphicFramePr>
          <p:nvPr>
            <p:extLst>
              <p:ext uri="{D42A27DB-BD31-4B8C-83A1-F6EECF244321}">
                <p14:modId xmlns:p14="http://schemas.microsoft.com/office/powerpoint/2010/main" val="1579011935"/>
              </p:ext>
            </p:extLst>
          </p:nvPr>
        </p:nvGraphicFramePr>
        <p:xfrm>
          <a:off x="6263640" y="4892040"/>
          <a:ext cx="5376672" cy="914400"/>
        </p:xfrm>
        <a:graphic>
          <a:graphicData uri="http://schemas.openxmlformats.org/drawingml/2006/table">
            <a:tbl>
              <a:tblPr/>
              <a:tblGrid>
                <a:gridCol w="2651760"/>
                <a:gridCol w="1371600"/>
                <a:gridCol w="1353312"/>
              </a:tblGrid>
              <a:tr h="265176">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EDC bracket</a:t>
                      </a:r>
                      <a:endParaRPr lang="en-US" sz="1300" dirty="0">
                        <a:latin typeface="Calibri" charset="0"/>
                        <a:ea typeface="Calibri" charset="0"/>
                        <a:cs typeface="Calibri" charset="0"/>
                      </a:endParaRPr>
                    </a:p>
                  </a:txBody>
                  <a:tcPr marL="73152" marR="73152" marT="18288" marB="18288"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rgbClr val="12345A"/>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OCM</a:t>
                      </a:r>
                      <a:endParaRPr lang="en-US" sz="1300" dirty="0">
                        <a:latin typeface="Calibri" charset="0"/>
                        <a:ea typeface="Calibri" charset="0"/>
                        <a:cs typeface="Calibri" charset="0"/>
                      </a:endParaRPr>
                    </a:p>
                  </a:txBody>
                  <a:tcPr marL="73152" marR="73152" marT="18288" marB="18288"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rgbClr val="12345A"/>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Profit</a:t>
                      </a:r>
                      <a:endParaRPr lang="en-US" sz="1300" dirty="0">
                        <a:latin typeface="Calibri" charset="0"/>
                        <a:ea typeface="Calibri" charset="0"/>
                        <a:cs typeface="Calibri" charset="0"/>
                      </a:endParaRPr>
                    </a:p>
                  </a:txBody>
                  <a:tcPr marL="73152" marR="73152" marT="18288" marB="18288"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rgbClr val="12345A"/>
                    </a:solidFill>
                  </a:tcPr>
                </a:tc>
              </a:tr>
              <a:tr h="265176">
                <a:tc>
                  <a:txBody>
                    <a:bodyPr/>
                    <a:lstStyle/>
                    <a:p>
                      <a:pPr indent="0" marL="0">
                        <a:buNone/>
                      </a:pPr>
                      <a:r>
                        <a:rPr lang="en-US" sz="1200" dirty="0">
                          <a:solidFill>
                            <a:srgbClr val="14202E"/>
                          </a:solidFill>
                          <a:latin typeface="Calibri" pitchFamily="34" charset="0"/>
                          <a:ea typeface="Calibri" pitchFamily="34" charset="-122"/>
                          <a:cs typeface="Calibri" pitchFamily="34" charset="-120"/>
                        </a:rPr>
                        <a:t>Up to ₱5 million</a:t>
                      </a:r>
                      <a:endParaRPr lang="en-US" sz="1200" dirty="0">
                        <a:latin typeface="Calibri" charset="0"/>
                        <a:ea typeface="Calibri" charset="0"/>
                        <a:cs typeface="Calibri" charset="0"/>
                      </a:endParaRPr>
                    </a:p>
                  </a:txBody>
                  <a:tcPr marL="73152" marR="73152" marT="18288" marB="18288"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indent="0" marL="0">
                        <a:buNone/>
                      </a:pPr>
                      <a:r>
                        <a:rPr lang="en-US" sz="1200" dirty="0">
                          <a:solidFill>
                            <a:srgbClr val="14202E"/>
                          </a:solidFill>
                          <a:latin typeface="Calibri" pitchFamily="34" charset="0"/>
                          <a:ea typeface="Calibri" pitchFamily="34" charset="-122"/>
                          <a:cs typeface="Calibri" pitchFamily="34" charset="-120"/>
                        </a:rPr>
                        <a:t>15%</a:t>
                      </a:r>
                      <a:endParaRPr lang="en-US" sz="1200" dirty="0">
                        <a:latin typeface="Calibri" charset="0"/>
                        <a:ea typeface="Calibri" charset="0"/>
                        <a:cs typeface="Calibri" charset="0"/>
                      </a:endParaRPr>
                    </a:p>
                  </a:txBody>
                  <a:tcPr marL="73152" marR="73152" marT="18288" marB="18288"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indent="0" marL="0">
                        <a:buNone/>
                      </a:pPr>
                      <a:r>
                        <a:rPr lang="en-US" sz="1200" dirty="0">
                          <a:solidFill>
                            <a:srgbClr val="14202E"/>
                          </a:solidFill>
                          <a:latin typeface="Calibri" pitchFamily="34" charset="0"/>
                          <a:ea typeface="Calibri" pitchFamily="34" charset="-122"/>
                          <a:cs typeface="Calibri" pitchFamily="34" charset="-120"/>
                        </a:rPr>
                        <a:t>10%</a:t>
                      </a:r>
                      <a:endParaRPr lang="en-US" sz="1200" dirty="0">
                        <a:latin typeface="Calibri" charset="0"/>
                        <a:ea typeface="Calibri" charset="0"/>
                        <a:cs typeface="Calibri" charset="0"/>
                      </a:endParaRPr>
                    </a:p>
                  </a:txBody>
                  <a:tcPr marL="73152" marR="73152" marT="18288" marB="18288"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r>
              <a:tr h="265176">
                <a:tc>
                  <a:txBody>
                    <a:bodyPr/>
                    <a:lstStyle/>
                    <a:p>
                      <a:pPr indent="0" marL="0">
                        <a:buNone/>
                      </a:pPr>
                      <a:r>
                        <a:rPr lang="en-US" sz="1200" dirty="0">
                          <a:solidFill>
                            <a:srgbClr val="14202E"/>
                          </a:solidFill>
                          <a:latin typeface="Calibri" pitchFamily="34" charset="0"/>
                          <a:ea typeface="Calibri" pitchFamily="34" charset="-122"/>
                          <a:cs typeface="Calibri" pitchFamily="34" charset="-120"/>
                        </a:rPr>
                        <a:t>₱5M – ₱50M</a:t>
                      </a:r>
                      <a:endParaRPr lang="en-US" sz="1200" dirty="0">
                        <a:latin typeface="Calibri" charset="0"/>
                        <a:ea typeface="Calibri" charset="0"/>
                        <a:cs typeface="Calibri" charset="0"/>
                      </a:endParaRPr>
                    </a:p>
                  </a:txBody>
                  <a:tcPr marL="73152" marR="73152" marT="18288" marB="18288"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indent="0" marL="0">
                        <a:buNone/>
                      </a:pPr>
                      <a:r>
                        <a:rPr lang="en-US" sz="1200" dirty="0">
                          <a:solidFill>
                            <a:srgbClr val="14202E"/>
                          </a:solidFill>
                          <a:latin typeface="Calibri" pitchFamily="34" charset="0"/>
                          <a:ea typeface="Calibri" pitchFamily="34" charset="-122"/>
                          <a:cs typeface="Calibri" pitchFamily="34" charset="-120"/>
                        </a:rPr>
                        <a:t>12%</a:t>
                      </a:r>
                      <a:endParaRPr lang="en-US" sz="1200" dirty="0">
                        <a:latin typeface="Calibri" charset="0"/>
                        <a:ea typeface="Calibri" charset="0"/>
                        <a:cs typeface="Calibri" charset="0"/>
                      </a:endParaRPr>
                    </a:p>
                  </a:txBody>
                  <a:tcPr marL="73152" marR="73152" marT="18288" marB="18288"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indent="0" marL="0">
                        <a:buNone/>
                      </a:pPr>
                      <a:r>
                        <a:rPr lang="en-US" sz="1200" dirty="0">
                          <a:solidFill>
                            <a:srgbClr val="14202E"/>
                          </a:solidFill>
                          <a:latin typeface="Calibri" pitchFamily="34" charset="0"/>
                          <a:ea typeface="Calibri" pitchFamily="34" charset="-122"/>
                          <a:cs typeface="Calibri" pitchFamily="34" charset="-120"/>
                        </a:rPr>
                        <a:t>8%</a:t>
                      </a:r>
                      <a:endParaRPr lang="en-US" sz="1200" dirty="0">
                        <a:latin typeface="Calibri" charset="0"/>
                        <a:ea typeface="Calibri" charset="0"/>
                        <a:cs typeface="Calibri" charset="0"/>
                      </a:endParaRPr>
                    </a:p>
                  </a:txBody>
                  <a:tcPr marL="73152" marR="73152" marT="18288" marB="18288"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r>
              <a:tr h="265176">
                <a:tc>
                  <a:txBody>
                    <a:bodyPr/>
                    <a:lstStyle/>
                    <a:p>
                      <a:pPr indent="0" marL="0">
                        <a:buNone/>
                      </a:pPr>
                      <a:r>
                        <a:rPr lang="en-US" sz="1200" dirty="0">
                          <a:solidFill>
                            <a:srgbClr val="14202E"/>
                          </a:solidFill>
                          <a:latin typeface="Calibri" pitchFamily="34" charset="0"/>
                          <a:ea typeface="Calibri" pitchFamily="34" charset="-122"/>
                          <a:cs typeface="Calibri" pitchFamily="34" charset="-120"/>
                        </a:rPr>
                        <a:t>₱50M – ₱150M</a:t>
                      </a:r>
                      <a:endParaRPr lang="en-US" sz="1200" dirty="0">
                        <a:latin typeface="Calibri" charset="0"/>
                        <a:ea typeface="Calibri" charset="0"/>
                        <a:cs typeface="Calibri" charset="0"/>
                      </a:endParaRPr>
                    </a:p>
                  </a:txBody>
                  <a:tcPr marL="73152" marR="73152" marT="18288" marB="18288"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indent="0" marL="0">
                        <a:buNone/>
                      </a:pPr>
                      <a:r>
                        <a:rPr lang="en-US" sz="1200" dirty="0">
                          <a:solidFill>
                            <a:srgbClr val="14202E"/>
                          </a:solidFill>
                          <a:latin typeface="Calibri" pitchFamily="34" charset="0"/>
                          <a:ea typeface="Calibri" pitchFamily="34" charset="-122"/>
                          <a:cs typeface="Calibri" pitchFamily="34" charset="-120"/>
                        </a:rPr>
                        <a:t>10%</a:t>
                      </a:r>
                      <a:endParaRPr lang="en-US" sz="1200" dirty="0">
                        <a:latin typeface="Calibri" charset="0"/>
                        <a:ea typeface="Calibri" charset="0"/>
                        <a:cs typeface="Calibri" charset="0"/>
                      </a:endParaRPr>
                    </a:p>
                  </a:txBody>
                  <a:tcPr marL="73152" marR="73152" marT="18288" marB="18288"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indent="0" marL="0">
                        <a:buNone/>
                      </a:pPr>
                      <a:r>
                        <a:rPr lang="en-US" sz="1200" dirty="0">
                          <a:solidFill>
                            <a:srgbClr val="14202E"/>
                          </a:solidFill>
                          <a:latin typeface="Calibri" pitchFamily="34" charset="0"/>
                          <a:ea typeface="Calibri" pitchFamily="34" charset="-122"/>
                          <a:cs typeface="Calibri" pitchFamily="34" charset="-120"/>
                        </a:rPr>
                        <a:t>8%</a:t>
                      </a:r>
                      <a:endParaRPr lang="en-US" sz="1200" dirty="0">
                        <a:latin typeface="Calibri" charset="0"/>
                        <a:ea typeface="Calibri" charset="0"/>
                        <a:cs typeface="Calibri" charset="0"/>
                      </a:endParaRPr>
                    </a:p>
                  </a:txBody>
                  <a:tcPr marL="73152" marR="73152" marT="18288" marB="18288"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r>
              <a:tr h="265176">
                <a:tc>
                  <a:txBody>
                    <a:bodyPr/>
                    <a:lstStyle/>
                    <a:p>
                      <a:pPr indent="0" marL="0">
                        <a:buNone/>
                      </a:pPr>
                      <a:r>
                        <a:rPr lang="en-US" sz="1200" dirty="0">
                          <a:solidFill>
                            <a:srgbClr val="14202E"/>
                          </a:solidFill>
                          <a:latin typeface="Calibri" pitchFamily="34" charset="0"/>
                          <a:ea typeface="Calibri" pitchFamily="34" charset="-122"/>
                          <a:cs typeface="Calibri" pitchFamily="34" charset="-120"/>
                        </a:rPr>
                        <a:t>Above ₱150M</a:t>
                      </a:r>
                      <a:endParaRPr lang="en-US" sz="1200" dirty="0">
                        <a:latin typeface="Calibri" charset="0"/>
                        <a:ea typeface="Calibri" charset="0"/>
                        <a:cs typeface="Calibri" charset="0"/>
                      </a:endParaRPr>
                    </a:p>
                  </a:txBody>
                  <a:tcPr marL="73152" marR="73152" marT="18288" marB="18288"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indent="0" marL="0">
                        <a:buNone/>
                      </a:pPr>
                      <a:r>
                        <a:rPr lang="en-US" sz="1200" dirty="0">
                          <a:solidFill>
                            <a:srgbClr val="14202E"/>
                          </a:solidFill>
                          <a:latin typeface="Calibri" pitchFamily="34" charset="0"/>
                          <a:ea typeface="Calibri" pitchFamily="34" charset="-122"/>
                          <a:cs typeface="Calibri" pitchFamily="34" charset="-120"/>
                        </a:rPr>
                        <a:t>8%</a:t>
                      </a:r>
                      <a:endParaRPr lang="en-US" sz="1200" dirty="0">
                        <a:latin typeface="Calibri" charset="0"/>
                        <a:ea typeface="Calibri" charset="0"/>
                        <a:cs typeface="Calibri" charset="0"/>
                      </a:endParaRPr>
                    </a:p>
                  </a:txBody>
                  <a:tcPr marL="73152" marR="73152" marT="18288" marB="18288"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indent="0" marL="0">
                        <a:buNone/>
                      </a:pPr>
                      <a:r>
                        <a:rPr lang="en-US" sz="1200" dirty="0">
                          <a:solidFill>
                            <a:srgbClr val="14202E"/>
                          </a:solidFill>
                          <a:latin typeface="Calibri" pitchFamily="34" charset="0"/>
                          <a:ea typeface="Calibri" pitchFamily="34" charset="-122"/>
                          <a:cs typeface="Calibri" pitchFamily="34" charset="-120"/>
                        </a:rPr>
                        <a:t>8%</a:t>
                      </a:r>
                      <a:endParaRPr lang="en-US" sz="1200" dirty="0">
                        <a:latin typeface="Calibri" charset="0"/>
                        <a:ea typeface="Calibri" charset="0"/>
                        <a:cs typeface="Calibri" charset="0"/>
                      </a:endParaRPr>
                    </a:p>
                  </a:txBody>
                  <a:tcPr marL="73152" marR="73152" marT="18288" marB="18288"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1064240" y="642823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A8C"/>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ph idx="100" type="body" hasCustomPrompt="1"/>
          </p:nvPr>
        </p:nvSpPr>
        <p:spPr>
          <a:xfrm>
            <a:off x="548640" y="256032"/>
            <a:ext cx="8229600" cy="292608"/>
          </a:xfrm>
          <a:prstGeom prst="rect">
            <a:avLst/>
          </a:prstGeom>
          <a:noFill/>
          <a:ln/>
        </p:spPr>
        <p:txBody>
          <a:bodyPr wrap="square" lIns="0" tIns="0" rIns="0" bIns="0" rtlCol="0"/>
          <a:lstStyle/>
          <a:p>
            <a:pPr indent="0" marL="0">
              <a:buNone/>
            </a:pPr>
            <a:r>
              <a:rPr lang="en-US" sz="1200" b="1" spc="200" kern="0" dirty="0">
                <a:solidFill>
                  <a:schemeClr val="accent5"/>
                </a:solidFill>
              </a:rPr>
              <a:t>DATA GATHERING PROCEDURE</a:t>
            </a:r>
            <a:endParaRPr lang="en-US" sz="1200" dirty="0"/>
          </a:p>
        </p:txBody>
      </p:sp>
      <p:sp>
        <p:nvSpPr>
          <p:cNvPr id="3" name="Text 0"/>
          <p:cNvSpPr/>
          <p:nvPr>
            <p:ph idx="101" type="title" hasCustomPrompt="1"/>
          </p:nvPr>
        </p:nvSpPr>
        <p:spPr>
          <a:xfrm>
            <a:off x="548640" y="530352"/>
            <a:ext cx="11064240" cy="731520"/>
          </a:xfrm>
          <a:prstGeom prst="rect">
            <a:avLst/>
          </a:prstGeom>
          <a:noFill/>
          <a:ln/>
        </p:spPr>
        <p:txBody>
          <a:bodyPr wrap="square" lIns="0" tIns="0" rIns="0" bIns="0" rtlCol="0" anchor="ctr"/>
          <a:lstStyle/>
          <a:p>
            <a:pPr algn="l" indent="0" marL="0">
              <a:buNone/>
            </a:pPr>
            <a:r>
              <a:rPr lang="en-US" sz="3200" b="1" dirty="0">
                <a:solidFill>
                  <a:schemeClr val="tx2"/>
                </a:solidFill>
                <a:latin typeface="Cambria" pitchFamily="34" charset="0"/>
                <a:ea typeface="Cambria" pitchFamily="34" charset="-122"/>
                <a:cs typeface="Cambria" pitchFamily="34" charset="-120"/>
              </a:rPr>
              <a:t>Simulated Benchmark SBD-300</a:t>
            </a:r>
            <a:endParaRPr lang="en-US" sz="3200" dirty="0"/>
          </a:p>
        </p:txBody>
      </p:sp>
      <p:sp>
        <p:nvSpPr>
          <p:cNvPr id="5" name="card"/>
          <p:cNvSpPr/>
          <p:nvPr/>
        </p:nvSpPr>
        <p:spPr>
          <a:xfrm>
            <a:off x="548640" y="1508760"/>
            <a:ext cx="2606040" cy="1417320"/>
          </a:xfrm>
          <a:prstGeom prst="roundRect">
            <a:avLst>
              <a:gd name="adj" fmla="val 5161"/>
            </a:avLst>
          </a:prstGeom>
          <a:solidFill>
            <a:schemeClr val="bg2"/>
          </a:solidFill>
          <a:ln/>
        </p:spPr>
      </p:sp>
      <p:sp>
        <p:nvSpPr>
          <p:cNvPr id="6" name="Text 3"/>
          <p:cNvSpPr txBox="1"/>
          <p:nvPr/>
        </p:nvSpPr>
        <p:spPr>
          <a:xfrm>
            <a:off x="777240" y="1572768"/>
            <a:ext cx="2194560" cy="777240"/>
          </a:xfrm>
          <a:prstGeom prst="rect">
            <a:avLst/>
          </a:prstGeom>
          <a:noFill/>
          <a:ln/>
        </p:spPr>
        <p:txBody>
          <a:bodyPr wrap="square" lIns="0" tIns="0" rIns="0" bIns="0" rtlCol="0" anchor="t"/>
          <a:lstStyle/>
          <a:p>
            <a:pPr indent="0" marL="0">
              <a:buNone/>
            </a:pPr>
            <a:r>
              <a:rPr lang="en-US" sz="4000" b="1" dirty="0">
                <a:solidFill>
                  <a:schemeClr val="tx2"/>
                </a:solidFill>
                <a:latin typeface="Cambria" pitchFamily="34" charset="0"/>
                <a:ea typeface="Cambria" pitchFamily="34" charset="-122"/>
                <a:cs typeface="Cambria" pitchFamily="34" charset="-120"/>
              </a:rPr>
              <a:t>300</a:t>
            </a:r>
            <a:endParaRPr lang="en-US" sz="4000" dirty="0"/>
          </a:p>
        </p:txBody>
      </p:sp>
      <p:sp>
        <p:nvSpPr>
          <p:cNvPr id="7" name="Text 4"/>
          <p:cNvSpPr txBox="1"/>
          <p:nvPr/>
        </p:nvSpPr>
        <p:spPr>
          <a:xfrm>
            <a:off x="777240" y="2377440"/>
            <a:ext cx="2194560" cy="411480"/>
          </a:xfrm>
          <a:prstGeom prst="rect">
            <a:avLst/>
          </a:prstGeom>
          <a:noFill/>
          <a:ln/>
        </p:spPr>
        <p:txBody>
          <a:bodyPr wrap="square" lIns="0" tIns="0" rIns="0" bIns="0" rtlCol="0" anchor="t"/>
          <a:lstStyle/>
          <a:p>
            <a:pPr indent="0" marL="0">
              <a:buNone/>
            </a:pPr>
            <a:r>
              <a:rPr lang="en-US" sz="1500" dirty="0">
                <a:solidFill>
                  <a:schemeClr val="tx1"/>
                </a:solidFill>
              </a:rPr>
              <a:t>simulated projects</a:t>
            </a:r>
            <a:endParaRPr lang="en-US" sz="1500" dirty="0"/>
          </a:p>
        </p:txBody>
      </p:sp>
      <p:sp>
        <p:nvSpPr>
          <p:cNvPr id="8" name="card"/>
          <p:cNvSpPr/>
          <p:nvPr/>
        </p:nvSpPr>
        <p:spPr>
          <a:xfrm>
            <a:off x="3383280" y="1508760"/>
            <a:ext cx="2606040" cy="1417320"/>
          </a:xfrm>
          <a:prstGeom prst="roundRect">
            <a:avLst>
              <a:gd name="adj" fmla="val 5161"/>
            </a:avLst>
          </a:prstGeom>
          <a:solidFill>
            <a:schemeClr val="bg2"/>
          </a:solidFill>
          <a:ln/>
        </p:spPr>
      </p:sp>
      <p:sp>
        <p:nvSpPr>
          <p:cNvPr id="9" name="Text 6"/>
          <p:cNvSpPr txBox="1"/>
          <p:nvPr/>
        </p:nvSpPr>
        <p:spPr>
          <a:xfrm>
            <a:off x="3611880" y="1572768"/>
            <a:ext cx="2194560" cy="777240"/>
          </a:xfrm>
          <a:prstGeom prst="rect">
            <a:avLst/>
          </a:prstGeom>
          <a:noFill/>
          <a:ln/>
        </p:spPr>
        <p:txBody>
          <a:bodyPr wrap="square" lIns="0" tIns="0" rIns="0" bIns="0" rtlCol="0" anchor="t"/>
          <a:lstStyle/>
          <a:p>
            <a:pPr indent="0" marL="0">
              <a:buNone/>
            </a:pPr>
            <a:r>
              <a:rPr lang="en-US" sz="4000" b="1" dirty="0">
                <a:solidFill>
                  <a:schemeClr val="tx2"/>
                </a:solidFill>
                <a:latin typeface="Cambria" pitchFamily="34" charset="0"/>
                <a:ea typeface="Cambria" pitchFamily="34" charset="-122"/>
                <a:cs typeface="Cambria" pitchFamily="34" charset="-120"/>
              </a:rPr>
              <a:t>160</a:t>
            </a:r>
            <a:endParaRPr lang="en-US" sz="4000" dirty="0"/>
          </a:p>
        </p:txBody>
      </p:sp>
      <p:sp>
        <p:nvSpPr>
          <p:cNvPr id="10" name="Text 7"/>
          <p:cNvSpPr txBox="1"/>
          <p:nvPr/>
        </p:nvSpPr>
        <p:spPr>
          <a:xfrm>
            <a:off x="3611880" y="2377440"/>
            <a:ext cx="2194560" cy="411480"/>
          </a:xfrm>
          <a:prstGeom prst="rect">
            <a:avLst/>
          </a:prstGeom>
          <a:noFill/>
          <a:ln/>
        </p:spPr>
        <p:txBody>
          <a:bodyPr wrap="square" lIns="0" tIns="0" rIns="0" bIns="0" rtlCol="0" anchor="t"/>
          <a:lstStyle/>
          <a:p>
            <a:pPr indent="0" marL="0">
              <a:buNone/>
            </a:pPr>
            <a:r>
              <a:rPr lang="en-US" sz="1500" dirty="0">
                <a:solidFill>
                  <a:schemeClr val="tx1"/>
                </a:solidFill>
              </a:rPr>
              <a:t>buildings</a:t>
            </a:r>
            <a:endParaRPr lang="en-US" sz="1500" dirty="0"/>
          </a:p>
        </p:txBody>
      </p:sp>
      <p:sp>
        <p:nvSpPr>
          <p:cNvPr id="11" name="card"/>
          <p:cNvSpPr/>
          <p:nvPr/>
        </p:nvSpPr>
        <p:spPr>
          <a:xfrm>
            <a:off x="6217920" y="1508760"/>
            <a:ext cx="2606040" cy="1417320"/>
          </a:xfrm>
          <a:prstGeom prst="roundRect">
            <a:avLst>
              <a:gd name="adj" fmla="val 5161"/>
            </a:avLst>
          </a:prstGeom>
          <a:solidFill>
            <a:schemeClr val="bg2"/>
          </a:solidFill>
          <a:ln/>
        </p:spPr>
      </p:sp>
      <p:sp>
        <p:nvSpPr>
          <p:cNvPr id="12" name="Text 9"/>
          <p:cNvSpPr txBox="1"/>
          <p:nvPr/>
        </p:nvSpPr>
        <p:spPr>
          <a:xfrm>
            <a:off x="6446520" y="1572768"/>
            <a:ext cx="2194560" cy="777240"/>
          </a:xfrm>
          <a:prstGeom prst="rect">
            <a:avLst/>
          </a:prstGeom>
          <a:noFill/>
          <a:ln/>
        </p:spPr>
        <p:txBody>
          <a:bodyPr wrap="square" lIns="0" tIns="0" rIns="0" bIns="0" rtlCol="0" anchor="t"/>
          <a:lstStyle/>
          <a:p>
            <a:pPr indent="0" marL="0">
              <a:buNone/>
            </a:pPr>
            <a:r>
              <a:rPr lang="en-US" sz="4000" b="1" dirty="0">
                <a:solidFill>
                  <a:schemeClr val="tx2"/>
                </a:solidFill>
                <a:latin typeface="Cambria" pitchFamily="34" charset="0"/>
                <a:ea typeface="Cambria" pitchFamily="34" charset="-122"/>
                <a:cs typeface="Cambria" pitchFamily="34" charset="-120"/>
              </a:rPr>
              <a:t>140</a:t>
            </a:r>
            <a:endParaRPr lang="en-US" sz="4000" dirty="0"/>
          </a:p>
        </p:txBody>
      </p:sp>
      <p:sp>
        <p:nvSpPr>
          <p:cNvPr id="13" name="Text 10"/>
          <p:cNvSpPr txBox="1"/>
          <p:nvPr/>
        </p:nvSpPr>
        <p:spPr>
          <a:xfrm>
            <a:off x="6446520" y="2377440"/>
            <a:ext cx="2194560" cy="411480"/>
          </a:xfrm>
          <a:prstGeom prst="rect">
            <a:avLst/>
          </a:prstGeom>
          <a:noFill/>
          <a:ln/>
        </p:spPr>
        <p:txBody>
          <a:bodyPr wrap="square" lIns="0" tIns="0" rIns="0" bIns="0" rtlCol="0" anchor="t"/>
          <a:lstStyle/>
          <a:p>
            <a:pPr indent="0" marL="0">
              <a:buNone/>
            </a:pPr>
            <a:r>
              <a:rPr lang="en-US" sz="1500" dirty="0">
                <a:solidFill>
                  <a:schemeClr val="tx1"/>
                </a:solidFill>
              </a:rPr>
              <a:t>bridges</a:t>
            </a:r>
            <a:endParaRPr lang="en-US" sz="1500" dirty="0"/>
          </a:p>
        </p:txBody>
      </p:sp>
      <p:sp>
        <p:nvSpPr>
          <p:cNvPr id="14" name="card"/>
          <p:cNvSpPr/>
          <p:nvPr/>
        </p:nvSpPr>
        <p:spPr>
          <a:xfrm>
            <a:off x="9052560" y="1508760"/>
            <a:ext cx="2606040" cy="1417320"/>
          </a:xfrm>
          <a:prstGeom prst="roundRect">
            <a:avLst>
              <a:gd name="adj" fmla="val 5161"/>
            </a:avLst>
          </a:prstGeom>
          <a:solidFill>
            <a:schemeClr val="tx2"/>
          </a:solidFill>
          <a:ln/>
        </p:spPr>
      </p:sp>
      <p:sp>
        <p:nvSpPr>
          <p:cNvPr id="15" name="Text 12"/>
          <p:cNvSpPr txBox="1"/>
          <p:nvPr/>
        </p:nvSpPr>
        <p:spPr>
          <a:xfrm>
            <a:off x="9281160" y="1572768"/>
            <a:ext cx="2194560" cy="777240"/>
          </a:xfrm>
          <a:prstGeom prst="rect">
            <a:avLst/>
          </a:prstGeom>
          <a:noFill/>
          <a:ln/>
        </p:spPr>
        <p:txBody>
          <a:bodyPr wrap="square" lIns="0" tIns="0" rIns="0" bIns="0" rtlCol="0" anchor="t"/>
          <a:lstStyle/>
          <a:p>
            <a:pPr indent="0" marL="0">
              <a:buNone/>
            </a:pPr>
            <a:r>
              <a:rPr lang="en-US" sz="4000" b="1" dirty="0">
                <a:solidFill>
                  <a:schemeClr val="accent1"/>
                </a:solidFill>
                <a:latin typeface="Cambria" pitchFamily="34" charset="0"/>
                <a:ea typeface="Cambria" pitchFamily="34" charset="-122"/>
                <a:cs typeface="Cambria" pitchFamily="34" charset="-120"/>
              </a:rPr>
              <a:t>36</a:t>
            </a:r>
            <a:endParaRPr lang="en-US" sz="4000" dirty="0"/>
          </a:p>
        </p:txBody>
      </p:sp>
      <p:sp>
        <p:nvSpPr>
          <p:cNvPr id="16" name="Text 13"/>
          <p:cNvSpPr txBox="1"/>
          <p:nvPr/>
        </p:nvSpPr>
        <p:spPr>
          <a:xfrm>
            <a:off x="9281160" y="2377440"/>
            <a:ext cx="2194560" cy="411480"/>
          </a:xfrm>
          <a:prstGeom prst="rect">
            <a:avLst/>
          </a:prstGeom>
          <a:noFill/>
          <a:ln/>
        </p:spPr>
        <p:txBody>
          <a:bodyPr wrap="square" lIns="0" tIns="0" rIns="0" bIns="0" rtlCol="0" anchor="t"/>
          <a:lstStyle/>
          <a:p>
            <a:pPr indent="0" marL="0">
              <a:buNone/>
            </a:pPr>
            <a:r>
              <a:rPr lang="en-US" sz="1500" dirty="0">
                <a:solidFill>
                  <a:schemeClr val="bg1"/>
                </a:solidFill>
              </a:rPr>
              <a:t>injected overpricing</a:t>
            </a:r>
            <a:endParaRPr lang="en-US" sz="1500" dirty="0"/>
          </a:p>
        </p:txBody>
      </p:sp>
      <p:sp>
        <p:nvSpPr>
          <p:cNvPr id="17" name="card"/>
          <p:cNvSpPr/>
          <p:nvPr/>
        </p:nvSpPr>
        <p:spPr>
          <a:xfrm>
            <a:off x="548640" y="3154680"/>
            <a:ext cx="5486400" cy="3063240"/>
          </a:xfrm>
          <a:prstGeom prst="roundRect">
            <a:avLst>
              <a:gd name="adj" fmla="val 2388"/>
            </a:avLst>
          </a:prstGeom>
          <a:solidFill>
            <a:schemeClr val="bg2"/>
          </a:solidFill>
          <a:ln/>
        </p:spPr>
      </p:sp>
      <p:sp>
        <p:nvSpPr>
          <p:cNvPr id="18" name="Text 15"/>
          <p:cNvSpPr txBox="1"/>
          <p:nvPr/>
        </p:nvSpPr>
        <p:spPr>
          <a:xfrm>
            <a:off x="777240" y="3291840"/>
            <a:ext cx="5029200" cy="365760"/>
          </a:xfrm>
          <a:prstGeom prst="rect">
            <a:avLst/>
          </a:prstGeom>
          <a:noFill/>
          <a:ln/>
        </p:spPr>
        <p:txBody>
          <a:bodyPr wrap="square" lIns="0" tIns="0" rIns="0" bIns="0" rtlCol="0" anchor="t"/>
          <a:lstStyle/>
          <a:p>
            <a:pPr indent="0" marL="0">
              <a:buNone/>
            </a:pPr>
            <a:r>
              <a:rPr lang="en-US" sz="1600" b="1" dirty="0">
                <a:solidFill>
                  <a:schemeClr val="tx2"/>
                </a:solidFill>
              </a:rPr>
              <a:t>Awarded cost</a:t>
            </a:r>
            <a:endParaRPr lang="en-US" sz="1600" dirty="0"/>
          </a:p>
        </p:txBody>
      </p:sp>
      <p:pic>
        <p:nvPicPr>
          <p:cNvPr id="19" name="equation sim.png" descr="Simulated awarded cost">    </p:cNvPr>
          <p:cNvPicPr>
            <a:picLocks noChangeAspect="1"/>
          </p:cNvPicPr>
          <p:nvPr/>
        </p:nvPicPr>
        <p:blipFill>
          <a:blip r:embed="rId1"/>
          <a:stretch>
            <a:fillRect/>
          </a:stretch>
        </p:blipFill>
        <p:spPr>
          <a:xfrm>
            <a:off x="777240" y="3882748"/>
            <a:ext cx="4791928" cy="372664"/>
          </a:xfrm>
          <a:prstGeom prst="rect">
            <a:avLst/>
          </a:prstGeom>
        </p:spPr>
      </p:pic>
      <p:sp>
        <p:nvSpPr>
          <p:cNvPr id="20" name="Text 16"/>
          <p:cNvSpPr txBox="1"/>
          <p:nvPr/>
        </p:nvSpPr>
        <p:spPr>
          <a:xfrm>
            <a:off x="777240" y="4572000"/>
            <a:ext cx="5074920" cy="155448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chemeClr val="tx1"/>
                </a:solidFill>
              </a:rPr>
              <a:t>η: lognormal bid competition (fair bids slightly below standard)</a:t>
            </a:r>
            <a:endParaRPr lang="en-US" sz="1400" dirty="0"/>
          </a:p>
          <a:p>
            <a:pPr marL="342900" indent="-342900">
              <a:spcAft>
                <a:spcPts val="600"/>
              </a:spcAft>
              <a:buSzPct val="100000"/>
              <a:buChar char="•"/>
            </a:pPr>
            <a:r>
              <a:rPr lang="en-US" sz="1400" dirty="0">
                <a:solidFill>
                  <a:schemeClr val="tx1"/>
                </a:solidFill>
              </a:rPr>
              <a:t>μ = 1 for fair projects; 1.20–1.40 moderate, 1.40–2.10 severe padding</a:t>
            </a:r>
            <a:endParaRPr lang="en-US" sz="1400" dirty="0"/>
          </a:p>
        </p:txBody>
      </p:sp>
      <p:sp>
        <p:nvSpPr>
          <p:cNvPr id="21" name="card"/>
          <p:cNvSpPr/>
          <p:nvPr/>
        </p:nvSpPr>
        <p:spPr>
          <a:xfrm>
            <a:off x="6263640" y="3154680"/>
            <a:ext cx="5376672" cy="3063240"/>
          </a:xfrm>
          <a:prstGeom prst="roundRect">
            <a:avLst>
              <a:gd name="adj" fmla="val 2388"/>
            </a:avLst>
          </a:prstGeom>
          <a:solidFill>
            <a:schemeClr val="bg2"/>
          </a:solidFill>
          <a:ln/>
        </p:spPr>
      </p:sp>
      <p:sp>
        <p:nvSpPr>
          <p:cNvPr id="22" name="Text 18"/>
          <p:cNvSpPr txBox="1"/>
          <p:nvPr/>
        </p:nvSpPr>
        <p:spPr>
          <a:xfrm>
            <a:off x="6492240" y="3291840"/>
            <a:ext cx="4937760" cy="365760"/>
          </a:xfrm>
          <a:prstGeom prst="rect">
            <a:avLst/>
          </a:prstGeom>
          <a:noFill/>
          <a:ln/>
        </p:spPr>
        <p:txBody>
          <a:bodyPr wrap="square" lIns="0" tIns="0" rIns="0" bIns="0" rtlCol="0" anchor="t"/>
          <a:lstStyle/>
          <a:p>
            <a:pPr indent="0" marL="0">
              <a:buNone/>
            </a:pPr>
            <a:r>
              <a:rPr lang="en-US" sz="1600" b="1" dirty="0">
                <a:solidFill>
                  <a:schemeClr val="tx2"/>
                </a:solidFill>
              </a:rPr>
              <a:t>Hidden variation the plan cannot see</a:t>
            </a:r>
            <a:endParaRPr lang="en-US" sz="1600" dirty="0"/>
          </a:p>
        </p:txBody>
      </p:sp>
      <p:sp>
        <p:nvSpPr>
          <p:cNvPr id="23" name="Text 19"/>
          <p:cNvSpPr txBox="1"/>
          <p:nvPr/>
        </p:nvSpPr>
        <p:spPr>
          <a:xfrm>
            <a:off x="6492240" y="3749040"/>
            <a:ext cx="4937760" cy="237744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chemeClr val="tx1"/>
                </a:solidFill>
              </a:rPr>
              <a:t>Unit prices ±7% per project</a:t>
            </a:r>
            <a:endParaRPr lang="en-US" sz="1400" dirty="0"/>
          </a:p>
          <a:p>
            <a:pPr marL="342900" indent="-342900">
              <a:spcAft>
                <a:spcPts val="600"/>
              </a:spcAft>
              <a:buSzPct val="100000"/>
              <a:buChar char="•"/>
            </a:pPr>
            <a:r>
              <a:rPr lang="en-US" sz="1400" dirty="0">
                <a:solidFill>
                  <a:schemeClr val="tx1"/>
                </a:solidFill>
              </a:rPr>
              <a:t>Reinforcement ±10%, concrete ±6%</a:t>
            </a:r>
            <a:endParaRPr lang="en-US" sz="1400" dirty="0"/>
          </a:p>
          <a:p>
            <a:pPr marL="342900" indent="-342900">
              <a:spcAft>
                <a:spcPts val="600"/>
              </a:spcAft>
              <a:buSzPct val="100000"/>
              <a:buChar char="•"/>
            </a:pPr>
            <a:r>
              <a:rPr lang="en-US" sz="1400" dirty="0">
                <a:solidFill>
                  <a:schemeClr val="tx1"/>
                </a:solidFill>
              </a:rPr>
              <a:t>MEPF ±8%, earthworks +5–15%</a:t>
            </a:r>
            <a:endParaRPr lang="en-US" sz="1400" dirty="0"/>
          </a:p>
          <a:p>
            <a:pPr marL="342900" indent="-342900">
              <a:spcAft>
                <a:spcPts val="600"/>
              </a:spcAft>
              <a:buSzPct val="100000"/>
              <a:buChar char="•"/>
            </a:pPr>
            <a:r>
              <a:rPr lang="en-US" sz="1400" dirty="0">
                <a:solidFill>
                  <a:schemeClr val="tx1"/>
                </a:solidFill>
              </a:rPr>
              <a:t>Pile lengths 0.95–1.35 × planned</a:t>
            </a:r>
            <a:endParaRPr lang="en-US" sz="1400" dirty="0"/>
          </a:p>
          <a:p>
            <a:pPr marL="342900" indent="-342900">
              <a:spcAft>
                <a:spcPts val="600"/>
              </a:spcAft>
              <a:buSzPct val="100000"/>
              <a:buChar char="•"/>
            </a:pPr>
            <a:r>
              <a:rPr lang="en-US" sz="1400" dirty="0">
                <a:solidFill>
                  <a:schemeClr val="tx1"/>
                </a:solidFill>
              </a:rPr>
              <a:t>Provinces weighted by size; award years 2022–2025</a:t>
            </a:r>
            <a:endParaRPr lang="en-US" sz="1400" dirty="0"/>
          </a:p>
        </p:txBody>
      </p:sp>
      <p:sp>
        <p:nvSpPr>
          <p:cNvPr id="25" name="Slide Number Placeholder 0"/>
          <p:cNvSpPr>
            <a:spLocks noGrp="1"/>
          </p:cNvSpPr>
          <p:nvPr>
            <p:ph type="sldNum" sz="quarter" idx="4294967295"/>
          </p:nvPr>
        </p:nvSpPr>
        <p:spPr>
          <a:xfrm>
            <a:off x="11064240" y="642823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A8C"/>
                </a:solidFil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ph idx="100" type="body" hasCustomPrompt="1"/>
          </p:nvPr>
        </p:nvSpPr>
        <p:spPr>
          <a:xfrm>
            <a:off x="548640" y="256032"/>
            <a:ext cx="8229600" cy="292608"/>
          </a:xfrm>
          <a:prstGeom prst="rect">
            <a:avLst/>
          </a:prstGeom>
          <a:noFill/>
          <a:ln/>
        </p:spPr>
        <p:txBody>
          <a:bodyPr wrap="square" lIns="0" tIns="0" rIns="0" bIns="0" rtlCol="0"/>
          <a:lstStyle/>
          <a:p>
            <a:pPr indent="0" marL="0">
              <a:buNone/>
            </a:pPr>
            <a:r>
              <a:rPr lang="en-US" sz="1200" b="1" spc="200" kern="0" dirty="0">
                <a:solidFill>
                  <a:schemeClr val="accent5"/>
                </a:solidFill>
              </a:rPr>
              <a:t>DATA ANALYSIS</a:t>
            </a:r>
            <a:endParaRPr lang="en-US" sz="1200" dirty="0"/>
          </a:p>
        </p:txBody>
      </p:sp>
      <p:sp>
        <p:nvSpPr>
          <p:cNvPr id="3" name="Text 0"/>
          <p:cNvSpPr/>
          <p:nvPr>
            <p:ph idx="101" type="title" hasCustomPrompt="1"/>
          </p:nvPr>
        </p:nvSpPr>
        <p:spPr>
          <a:xfrm>
            <a:off x="548640" y="530352"/>
            <a:ext cx="11064240" cy="731520"/>
          </a:xfrm>
          <a:prstGeom prst="rect">
            <a:avLst/>
          </a:prstGeom>
          <a:noFill/>
          <a:ln/>
        </p:spPr>
        <p:txBody>
          <a:bodyPr wrap="square" lIns="0" tIns="0" rIns="0" bIns="0" rtlCol="0" anchor="ctr"/>
          <a:lstStyle/>
          <a:p>
            <a:pPr algn="l" indent="0" marL="0">
              <a:buNone/>
            </a:pPr>
            <a:r>
              <a:rPr lang="en-US" sz="3200" b="1" dirty="0">
                <a:solidFill>
                  <a:schemeClr val="tx2"/>
                </a:solidFill>
                <a:latin typeface="Cambria" pitchFamily="34" charset="0"/>
                <a:ea typeface="Cambria" pitchFamily="34" charset="-122"/>
                <a:cs typeface="Cambria" pitchFamily="34" charset="-120"/>
              </a:rPr>
              <a:t>Model Development</a:t>
            </a:r>
            <a:endParaRPr lang="en-US" sz="3200" dirty="0"/>
          </a:p>
        </p:txBody>
      </p:sp>
      <p:sp>
        <p:nvSpPr>
          <p:cNvPr id="5" name="card"/>
          <p:cNvSpPr/>
          <p:nvPr/>
        </p:nvSpPr>
        <p:spPr>
          <a:xfrm>
            <a:off x="548640" y="1508760"/>
            <a:ext cx="5422392" cy="2194560"/>
          </a:xfrm>
          <a:prstGeom prst="roundRect">
            <a:avLst>
              <a:gd name="adj" fmla="val 3333"/>
            </a:avLst>
          </a:prstGeom>
          <a:solidFill>
            <a:schemeClr val="bg2"/>
          </a:solidFill>
          <a:ln/>
        </p:spPr>
      </p:sp>
      <p:sp>
        <p:nvSpPr>
          <p:cNvPr id="6" name="Text 3"/>
          <p:cNvSpPr txBox="1"/>
          <p:nvPr/>
        </p:nvSpPr>
        <p:spPr>
          <a:xfrm>
            <a:off x="777240" y="1645920"/>
            <a:ext cx="4937760" cy="384048"/>
          </a:xfrm>
          <a:prstGeom prst="rect">
            <a:avLst/>
          </a:prstGeom>
          <a:noFill/>
          <a:ln/>
        </p:spPr>
        <p:txBody>
          <a:bodyPr wrap="square" lIns="0" tIns="0" rIns="0" bIns="0" rtlCol="0" anchor="t"/>
          <a:lstStyle/>
          <a:p>
            <a:pPr indent="0" marL="0">
              <a:buNone/>
            </a:pPr>
            <a:r>
              <a:rPr lang="en-US" sz="1800" b="1" dirty="0">
                <a:solidFill>
                  <a:schemeClr val="tx2"/>
                </a:solidFill>
              </a:rPr>
              <a:t>Multiple Linear Regression</a:t>
            </a:r>
            <a:endParaRPr lang="en-US" sz="1800" dirty="0"/>
          </a:p>
        </p:txBody>
      </p:sp>
      <p:pic>
        <p:nvPicPr>
          <p:cNvPr id="7" name="equation mlr.png" descr="equation">    </p:cNvPr>
          <p:cNvPicPr>
            <a:picLocks noChangeAspect="1"/>
          </p:cNvPicPr>
          <p:nvPr/>
        </p:nvPicPr>
        <p:blipFill>
          <a:blip r:embed="rId1"/>
          <a:stretch>
            <a:fillRect/>
          </a:stretch>
        </p:blipFill>
        <p:spPr>
          <a:xfrm>
            <a:off x="777240" y="2188182"/>
            <a:ext cx="2202104" cy="643692"/>
          </a:xfrm>
          <a:prstGeom prst="rect">
            <a:avLst/>
          </a:prstGeom>
        </p:spPr>
      </p:pic>
      <p:pic>
        <p:nvPicPr>
          <p:cNvPr id="8" name="equation vif.png" descr="equation">    </p:cNvPr>
          <p:cNvPicPr>
            <a:picLocks noChangeAspect="1"/>
          </p:cNvPicPr>
          <p:nvPr/>
        </p:nvPicPr>
        <p:blipFill>
          <a:blip r:embed="rId2"/>
          <a:stretch>
            <a:fillRect/>
          </a:stretch>
        </p:blipFill>
        <p:spPr>
          <a:xfrm>
            <a:off x="3749040" y="2143011"/>
            <a:ext cx="1449248" cy="734035"/>
          </a:xfrm>
          <a:prstGeom prst="rect">
            <a:avLst/>
          </a:prstGeom>
        </p:spPr>
      </p:pic>
      <p:sp>
        <p:nvSpPr>
          <p:cNvPr id="9" name="Text 4"/>
          <p:cNvSpPr txBox="1"/>
          <p:nvPr/>
        </p:nvSpPr>
        <p:spPr>
          <a:xfrm>
            <a:off x="777240" y="3108960"/>
            <a:ext cx="4937760" cy="457200"/>
          </a:xfrm>
          <a:prstGeom prst="rect">
            <a:avLst/>
          </a:prstGeom>
          <a:noFill/>
          <a:ln/>
        </p:spPr>
        <p:txBody>
          <a:bodyPr wrap="square" lIns="0" tIns="0" rIns="0" bIns="0" rtlCol="0" anchor="t"/>
          <a:lstStyle/>
          <a:p>
            <a:pPr indent="0" marL="0">
              <a:buNone/>
            </a:pPr>
            <a:r>
              <a:rPr lang="en-US" sz="1400" dirty="0">
                <a:solidFill>
                  <a:srgbClr val="44505E"/>
                </a:solidFill>
              </a:rPr>
              <a:t>Interpretable baseline; VIF &gt; 10 removed</a:t>
            </a:r>
            <a:endParaRPr lang="en-US" sz="1400" dirty="0"/>
          </a:p>
        </p:txBody>
      </p:sp>
      <p:sp>
        <p:nvSpPr>
          <p:cNvPr id="10" name="card"/>
          <p:cNvSpPr/>
          <p:nvPr/>
        </p:nvSpPr>
        <p:spPr>
          <a:xfrm>
            <a:off x="6217920" y="1508760"/>
            <a:ext cx="5422392" cy="2194560"/>
          </a:xfrm>
          <a:prstGeom prst="roundRect">
            <a:avLst>
              <a:gd name="adj" fmla="val 3333"/>
            </a:avLst>
          </a:prstGeom>
          <a:solidFill>
            <a:schemeClr val="bg2"/>
          </a:solidFill>
          <a:ln/>
        </p:spPr>
      </p:sp>
      <p:sp>
        <p:nvSpPr>
          <p:cNvPr id="11" name="Text 6"/>
          <p:cNvSpPr txBox="1"/>
          <p:nvPr/>
        </p:nvSpPr>
        <p:spPr>
          <a:xfrm>
            <a:off x="6446520" y="1645920"/>
            <a:ext cx="4937760" cy="384048"/>
          </a:xfrm>
          <a:prstGeom prst="rect">
            <a:avLst/>
          </a:prstGeom>
          <a:noFill/>
          <a:ln/>
        </p:spPr>
        <p:txBody>
          <a:bodyPr wrap="square" lIns="0" tIns="0" rIns="0" bIns="0" rtlCol="0" anchor="t"/>
          <a:lstStyle/>
          <a:p>
            <a:pPr indent="0" marL="0">
              <a:buNone/>
            </a:pPr>
            <a:r>
              <a:rPr lang="en-US" sz="1800" b="1" dirty="0">
                <a:solidFill>
                  <a:schemeClr val="tx2"/>
                </a:solidFill>
              </a:rPr>
              <a:t>XGBoost</a:t>
            </a:r>
            <a:endParaRPr lang="en-US" sz="1800" dirty="0"/>
          </a:p>
        </p:txBody>
      </p:sp>
      <p:pic>
        <p:nvPicPr>
          <p:cNvPr id="12" name="equation xgb.png" descr="equation">    </p:cNvPr>
          <p:cNvPicPr>
            <a:picLocks noChangeAspect="1"/>
          </p:cNvPicPr>
          <p:nvPr/>
        </p:nvPicPr>
        <p:blipFill>
          <a:blip r:embed="rId3"/>
          <a:stretch>
            <a:fillRect/>
          </a:stretch>
        </p:blipFill>
        <p:spPr>
          <a:xfrm>
            <a:off x="6446520" y="2240438"/>
            <a:ext cx="4937760" cy="539181"/>
          </a:xfrm>
          <a:prstGeom prst="rect">
            <a:avLst/>
          </a:prstGeom>
        </p:spPr>
      </p:pic>
      <p:sp>
        <p:nvSpPr>
          <p:cNvPr id="13" name="Text 7"/>
          <p:cNvSpPr txBox="1"/>
          <p:nvPr/>
        </p:nvSpPr>
        <p:spPr>
          <a:xfrm>
            <a:off x="6446520" y="3108960"/>
            <a:ext cx="4937760" cy="457200"/>
          </a:xfrm>
          <a:prstGeom prst="rect">
            <a:avLst/>
          </a:prstGeom>
          <a:noFill/>
          <a:ln/>
        </p:spPr>
        <p:txBody>
          <a:bodyPr wrap="square" lIns="0" tIns="0" rIns="0" bIns="0" rtlCol="0" anchor="t"/>
          <a:lstStyle/>
          <a:p>
            <a:pPr indent="0" marL="0">
              <a:buNone/>
            </a:pPr>
            <a:r>
              <a:rPr lang="en-US" sz="1400" dirty="0">
                <a:solidFill>
                  <a:srgbClr val="44505E"/>
                </a:solidFill>
              </a:rPr>
              <a:t>Regularized trees on log cost; randomized search, 5-fold CV</a:t>
            </a:r>
            <a:endParaRPr lang="en-US" sz="1400" dirty="0"/>
          </a:p>
        </p:txBody>
      </p:sp>
      <p:sp>
        <p:nvSpPr>
          <p:cNvPr id="14" name="card"/>
          <p:cNvSpPr/>
          <p:nvPr/>
        </p:nvSpPr>
        <p:spPr>
          <a:xfrm>
            <a:off x="548640" y="3904488"/>
            <a:ext cx="5422392" cy="2194560"/>
          </a:xfrm>
          <a:prstGeom prst="roundRect">
            <a:avLst>
              <a:gd name="adj" fmla="val 3333"/>
            </a:avLst>
          </a:prstGeom>
          <a:solidFill>
            <a:schemeClr val="bg2"/>
          </a:solidFill>
          <a:ln/>
        </p:spPr>
      </p:sp>
      <p:sp>
        <p:nvSpPr>
          <p:cNvPr id="15" name="Text 9"/>
          <p:cNvSpPr txBox="1"/>
          <p:nvPr/>
        </p:nvSpPr>
        <p:spPr>
          <a:xfrm>
            <a:off x="777240" y="4041648"/>
            <a:ext cx="4937760" cy="384048"/>
          </a:xfrm>
          <a:prstGeom prst="rect">
            <a:avLst/>
          </a:prstGeom>
          <a:noFill/>
          <a:ln/>
        </p:spPr>
        <p:txBody>
          <a:bodyPr wrap="square" lIns="0" tIns="0" rIns="0" bIns="0" rtlCol="0" anchor="t"/>
          <a:lstStyle/>
          <a:p>
            <a:pPr indent="0" marL="0">
              <a:buNone/>
            </a:pPr>
            <a:r>
              <a:rPr lang="en-US" sz="1800" b="1" dirty="0">
                <a:solidFill>
                  <a:schemeClr val="tx2"/>
                </a:solidFill>
              </a:rPr>
              <a:t>Isolation Forest</a:t>
            </a:r>
            <a:endParaRPr lang="en-US" sz="1800" dirty="0"/>
          </a:p>
        </p:txBody>
      </p:sp>
      <p:pic>
        <p:nvPicPr>
          <p:cNvPr id="16" name="equation iforest.png" descr="equation">    </p:cNvPr>
          <p:cNvPicPr>
            <a:picLocks noChangeAspect="1"/>
          </p:cNvPicPr>
          <p:nvPr/>
        </p:nvPicPr>
        <p:blipFill>
          <a:blip r:embed="rId4"/>
          <a:stretch>
            <a:fillRect/>
          </a:stretch>
        </p:blipFill>
        <p:spPr>
          <a:xfrm>
            <a:off x="777240" y="4615193"/>
            <a:ext cx="4937760" cy="581125"/>
          </a:xfrm>
          <a:prstGeom prst="rect">
            <a:avLst/>
          </a:prstGeom>
        </p:spPr>
      </p:pic>
      <p:sp>
        <p:nvSpPr>
          <p:cNvPr id="17" name="Text 10"/>
          <p:cNvSpPr txBox="1"/>
          <p:nvPr/>
        </p:nvSpPr>
        <p:spPr>
          <a:xfrm>
            <a:off x="777240" y="5504688"/>
            <a:ext cx="4937760" cy="457200"/>
          </a:xfrm>
          <a:prstGeom prst="rect">
            <a:avLst/>
          </a:prstGeom>
          <a:noFill/>
          <a:ln/>
        </p:spPr>
        <p:txBody>
          <a:bodyPr wrap="square" lIns="0" tIns="0" rIns="0" bIns="0" rtlCol="0" anchor="t"/>
          <a:lstStyle/>
          <a:p>
            <a:pPr indent="0" marL="0">
              <a:buNone/>
            </a:pPr>
            <a:r>
              <a:rPr lang="en-US" sz="1400" dirty="0">
                <a:solidFill>
                  <a:srgbClr val="44505E"/>
                </a:solidFill>
              </a:rPr>
              <a:t>Short average path → unusual contract</a:t>
            </a:r>
            <a:endParaRPr lang="en-US" sz="1400" dirty="0"/>
          </a:p>
        </p:txBody>
      </p:sp>
      <p:sp>
        <p:nvSpPr>
          <p:cNvPr id="18" name="card"/>
          <p:cNvSpPr/>
          <p:nvPr/>
        </p:nvSpPr>
        <p:spPr>
          <a:xfrm>
            <a:off x="6217920" y="3904488"/>
            <a:ext cx="5422392" cy="2194560"/>
          </a:xfrm>
          <a:prstGeom prst="roundRect">
            <a:avLst>
              <a:gd name="adj" fmla="val 3333"/>
            </a:avLst>
          </a:prstGeom>
          <a:solidFill>
            <a:schemeClr val="bg2"/>
          </a:solidFill>
          <a:ln/>
        </p:spPr>
      </p:sp>
      <p:sp>
        <p:nvSpPr>
          <p:cNvPr id="19" name="Text 12"/>
          <p:cNvSpPr txBox="1"/>
          <p:nvPr/>
        </p:nvSpPr>
        <p:spPr>
          <a:xfrm>
            <a:off x="6446520" y="4041648"/>
            <a:ext cx="4937760" cy="384048"/>
          </a:xfrm>
          <a:prstGeom prst="rect">
            <a:avLst/>
          </a:prstGeom>
          <a:noFill/>
          <a:ln/>
        </p:spPr>
        <p:txBody>
          <a:bodyPr wrap="square" lIns="0" tIns="0" rIns="0" bIns="0" rtlCol="0" anchor="t"/>
          <a:lstStyle/>
          <a:p>
            <a:pPr indent="0" marL="0">
              <a:buNone/>
            </a:pPr>
            <a:r>
              <a:rPr lang="en-US" sz="1800" b="1" dirty="0">
                <a:solidFill>
                  <a:schemeClr val="tx2"/>
                </a:solidFill>
              </a:rPr>
              <a:t>SHAP (Shapley values)</a:t>
            </a:r>
            <a:endParaRPr lang="en-US" sz="1800" dirty="0"/>
          </a:p>
        </p:txBody>
      </p:sp>
      <p:pic>
        <p:nvPicPr>
          <p:cNvPr id="20" name="equation shap.png" descr="equation">    </p:cNvPr>
          <p:cNvPicPr>
            <a:picLocks noChangeAspect="1"/>
          </p:cNvPicPr>
          <p:nvPr/>
        </p:nvPicPr>
        <p:blipFill>
          <a:blip r:embed="rId5"/>
          <a:stretch>
            <a:fillRect/>
          </a:stretch>
        </p:blipFill>
        <p:spPr>
          <a:xfrm>
            <a:off x="6446520" y="4568853"/>
            <a:ext cx="1836969" cy="673806"/>
          </a:xfrm>
          <a:prstGeom prst="rect">
            <a:avLst/>
          </a:prstGeom>
        </p:spPr>
      </p:pic>
      <p:sp>
        <p:nvSpPr>
          <p:cNvPr id="21" name="Text 13"/>
          <p:cNvSpPr txBox="1"/>
          <p:nvPr/>
        </p:nvSpPr>
        <p:spPr>
          <a:xfrm>
            <a:off x="6446520" y="5504688"/>
            <a:ext cx="4937760" cy="457200"/>
          </a:xfrm>
          <a:prstGeom prst="rect">
            <a:avLst/>
          </a:prstGeom>
          <a:noFill/>
          <a:ln/>
        </p:spPr>
        <p:txBody>
          <a:bodyPr wrap="square" lIns="0" tIns="0" rIns="0" bIns="0" rtlCol="0" anchor="t"/>
          <a:lstStyle/>
          <a:p>
            <a:pPr indent="0" marL="0">
              <a:buNone/>
            </a:pPr>
            <a:r>
              <a:rPr lang="en-US" sz="1400" dirty="0">
                <a:solidFill>
                  <a:srgbClr val="44505E"/>
                </a:solidFill>
              </a:rPr>
              <a:t>Exact TreeSHAP, also run on the phone</a:t>
            </a:r>
            <a:endParaRPr lang="en-US" sz="1400" dirty="0"/>
          </a:p>
        </p:txBody>
      </p:sp>
      <p:sp>
        <p:nvSpPr>
          <p:cNvPr id="25" name="Slide Number Placeholder 0"/>
          <p:cNvSpPr>
            <a:spLocks noGrp="1"/>
          </p:cNvSpPr>
          <p:nvPr>
            <p:ph type="sldNum" sz="quarter" idx="4294967295"/>
          </p:nvPr>
        </p:nvSpPr>
        <p:spPr>
          <a:xfrm>
            <a:off x="11064240" y="642823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A8C"/>
                </a:solidFil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ph idx="100" type="body" hasCustomPrompt="1"/>
          </p:nvPr>
        </p:nvSpPr>
        <p:spPr>
          <a:xfrm>
            <a:off x="548640" y="256032"/>
            <a:ext cx="8229600" cy="292608"/>
          </a:xfrm>
          <a:prstGeom prst="rect">
            <a:avLst/>
          </a:prstGeom>
          <a:noFill/>
          <a:ln/>
        </p:spPr>
        <p:txBody>
          <a:bodyPr wrap="square" lIns="0" tIns="0" rIns="0" bIns="0" rtlCol="0"/>
          <a:lstStyle/>
          <a:p>
            <a:pPr indent="0" marL="0">
              <a:buNone/>
            </a:pPr>
            <a:r>
              <a:rPr lang="en-US" sz="1200" b="1" spc="200" kern="0" dirty="0">
                <a:solidFill>
                  <a:schemeClr val="accent5"/>
                </a:solidFill>
              </a:rPr>
              <a:t>DATA ANALYSIS</a:t>
            </a:r>
            <a:endParaRPr lang="en-US" sz="1200" dirty="0"/>
          </a:p>
        </p:txBody>
      </p:sp>
      <p:sp>
        <p:nvSpPr>
          <p:cNvPr id="3" name="Text 0"/>
          <p:cNvSpPr/>
          <p:nvPr>
            <p:ph idx="101" type="title" hasCustomPrompt="1"/>
          </p:nvPr>
        </p:nvSpPr>
        <p:spPr>
          <a:xfrm>
            <a:off x="548640" y="530352"/>
            <a:ext cx="11064240" cy="731520"/>
          </a:xfrm>
          <a:prstGeom prst="rect">
            <a:avLst/>
          </a:prstGeom>
          <a:noFill/>
          <a:ln/>
        </p:spPr>
        <p:txBody>
          <a:bodyPr wrap="square" lIns="0" tIns="0" rIns="0" bIns="0" rtlCol="0" anchor="ctr"/>
          <a:lstStyle/>
          <a:p>
            <a:pPr algn="l" indent="0" marL="0">
              <a:buNone/>
            </a:pPr>
            <a:r>
              <a:rPr lang="en-US" sz="3200" b="1" dirty="0">
                <a:solidFill>
                  <a:schemeClr val="tx2"/>
                </a:solidFill>
                <a:latin typeface="Cambria" pitchFamily="34" charset="0"/>
                <a:ea typeface="Cambria" pitchFamily="34" charset="-122"/>
                <a:cs typeface="Cambria" pitchFamily="34" charset="-120"/>
              </a:rPr>
              <a:t>The BUHAY-AH Risk Index</a:t>
            </a:r>
            <a:endParaRPr lang="en-US" sz="3200" dirty="0"/>
          </a:p>
        </p:txBody>
      </p:sp>
      <p:sp>
        <p:nvSpPr>
          <p:cNvPr id="5" name="card"/>
          <p:cNvSpPr/>
          <p:nvPr/>
        </p:nvSpPr>
        <p:spPr>
          <a:xfrm>
            <a:off x="548640" y="1508760"/>
            <a:ext cx="6766560" cy="4709160"/>
          </a:xfrm>
          <a:prstGeom prst="roundRect">
            <a:avLst>
              <a:gd name="adj" fmla="val 1553"/>
            </a:avLst>
          </a:prstGeom>
          <a:solidFill>
            <a:schemeClr val="bg2"/>
          </a:solidFill>
          <a:ln/>
        </p:spPr>
      </p:sp>
      <p:sp>
        <p:nvSpPr>
          <p:cNvPr id="6" name="Text 3"/>
          <p:cNvSpPr txBox="1"/>
          <p:nvPr/>
        </p:nvSpPr>
        <p:spPr>
          <a:xfrm>
            <a:off x="777240" y="1645920"/>
            <a:ext cx="6309360" cy="365760"/>
          </a:xfrm>
          <a:prstGeom prst="rect">
            <a:avLst/>
          </a:prstGeom>
          <a:noFill/>
          <a:ln/>
        </p:spPr>
        <p:txBody>
          <a:bodyPr wrap="square" lIns="0" tIns="0" rIns="0" bIns="0" rtlCol="0" anchor="t"/>
          <a:lstStyle/>
          <a:p>
            <a:pPr indent="0" marL="0">
              <a:buNone/>
            </a:pPr>
            <a:r>
              <a:rPr lang="en-US" sz="1600" b="1" dirty="0">
                <a:solidFill>
                  <a:schemeClr val="tx2"/>
                </a:solidFill>
              </a:rPr>
              <a:t>Over-budget ratio</a:t>
            </a:r>
            <a:endParaRPr lang="en-US" sz="1600" dirty="0"/>
          </a:p>
        </p:txBody>
      </p:sp>
      <p:pic>
        <p:nvPicPr>
          <p:cNvPr id="7" name="equation obr.png" descr="equation">    </p:cNvPr>
          <p:cNvPicPr>
            <a:picLocks noChangeAspect="1"/>
          </p:cNvPicPr>
          <p:nvPr/>
        </p:nvPicPr>
        <p:blipFill>
          <a:blip r:embed="rId1"/>
          <a:stretch>
            <a:fillRect/>
          </a:stretch>
        </p:blipFill>
        <p:spPr>
          <a:xfrm>
            <a:off x="777240" y="2101314"/>
            <a:ext cx="1558412" cy="643692"/>
          </a:xfrm>
          <a:prstGeom prst="rect">
            <a:avLst/>
          </a:prstGeom>
        </p:spPr>
      </p:pic>
      <p:sp>
        <p:nvSpPr>
          <p:cNvPr id="8" name="Text 4"/>
          <p:cNvSpPr txBox="1"/>
          <p:nvPr/>
        </p:nvSpPr>
        <p:spPr>
          <a:xfrm>
            <a:off x="777240" y="2971800"/>
            <a:ext cx="6309360" cy="365760"/>
          </a:xfrm>
          <a:prstGeom prst="rect">
            <a:avLst/>
          </a:prstGeom>
          <a:noFill/>
          <a:ln/>
        </p:spPr>
        <p:txBody>
          <a:bodyPr wrap="square" lIns="0" tIns="0" rIns="0" bIns="0" rtlCol="0" anchor="t"/>
          <a:lstStyle/>
          <a:p>
            <a:pPr indent="0" marL="0">
              <a:buNone/>
            </a:pPr>
            <a:r>
              <a:rPr lang="en-US" sz="1600" b="1" dirty="0">
                <a:solidFill>
                  <a:schemeClr val="tx2"/>
                </a:solidFill>
              </a:rPr>
              <a:t>Risk index and signal scaling</a:t>
            </a:r>
            <a:endParaRPr lang="en-US" sz="1600" dirty="0"/>
          </a:p>
        </p:txBody>
      </p:sp>
      <p:pic>
        <p:nvPicPr>
          <p:cNvPr id="9" name="equation bri.png" descr="equation">    </p:cNvPr>
          <p:cNvPicPr>
            <a:picLocks noChangeAspect="1"/>
          </p:cNvPicPr>
          <p:nvPr/>
        </p:nvPicPr>
        <p:blipFill>
          <a:blip r:embed="rId2"/>
          <a:stretch>
            <a:fillRect/>
          </a:stretch>
        </p:blipFill>
        <p:spPr>
          <a:xfrm>
            <a:off x="777240" y="3562708"/>
            <a:ext cx="4114358" cy="372664"/>
          </a:xfrm>
          <a:prstGeom prst="rect">
            <a:avLst/>
          </a:prstGeom>
        </p:spPr>
      </p:pic>
      <p:pic>
        <p:nvPicPr>
          <p:cNvPr id="10" name="equation bri_s.png" descr="equation">    </p:cNvPr>
          <p:cNvPicPr>
            <a:picLocks noChangeAspect="1"/>
          </p:cNvPicPr>
          <p:nvPr/>
        </p:nvPicPr>
        <p:blipFill>
          <a:blip r:embed="rId3"/>
          <a:stretch>
            <a:fillRect/>
          </a:stretch>
        </p:blipFill>
        <p:spPr>
          <a:xfrm>
            <a:off x="777240" y="4250703"/>
            <a:ext cx="6188476" cy="734035"/>
          </a:xfrm>
          <a:prstGeom prst="rect">
            <a:avLst/>
          </a:prstGeom>
        </p:spPr>
      </p:pic>
      <p:sp>
        <p:nvSpPr>
          <p:cNvPr id="11" name="Text 5"/>
          <p:cNvSpPr txBox="1"/>
          <p:nvPr/>
        </p:nvSpPr>
        <p:spPr>
          <a:xfrm>
            <a:off x="777240" y="5257800"/>
            <a:ext cx="6309360" cy="731520"/>
          </a:xfrm>
          <a:prstGeom prst="rect">
            <a:avLst/>
          </a:prstGeom>
          <a:noFill/>
          <a:ln/>
        </p:spPr>
        <p:txBody>
          <a:bodyPr wrap="square" lIns="0" tIns="0" rIns="0" bIns="0" rtlCol="0" anchor="t"/>
          <a:lstStyle/>
          <a:p>
            <a:pPr indent="0" marL="0">
              <a:buNone/>
            </a:pPr>
            <a:r>
              <a:rPr lang="en-US" sz="1400" dirty="0">
                <a:solidFill>
                  <a:srgbClr val="44505E"/>
                </a:solidFill>
              </a:rPr>
              <a:t>Each signal is clipped to [0, 1]; the over-budget signal does not inherit padding from past prices.</a:t>
            </a:r>
            <a:endParaRPr lang="en-US" sz="1400" dirty="0"/>
          </a:p>
        </p:txBody>
      </p:sp>
      <p:sp>
        <p:nvSpPr>
          <p:cNvPr id="12" name="BRI band Fair"/>
          <p:cNvSpPr/>
          <p:nvPr/>
        </p:nvSpPr>
        <p:spPr>
          <a:xfrm>
            <a:off x="7543800" y="1508760"/>
            <a:ext cx="4096512" cy="1371600"/>
          </a:xfrm>
          <a:prstGeom prst="roundRect">
            <a:avLst>
              <a:gd name="adj" fmla="val 5333"/>
            </a:avLst>
          </a:prstGeom>
          <a:solidFill>
            <a:schemeClr val="accent3"/>
          </a:solidFill>
          <a:ln/>
        </p:spPr>
      </p:sp>
      <p:sp>
        <p:nvSpPr>
          <p:cNvPr id="13" name="Text 7"/>
          <p:cNvSpPr txBox="1"/>
          <p:nvPr/>
        </p:nvSpPr>
        <p:spPr>
          <a:xfrm>
            <a:off x="7772400" y="1645920"/>
            <a:ext cx="3657600" cy="548640"/>
          </a:xfrm>
          <a:prstGeom prst="rect">
            <a:avLst/>
          </a:prstGeom>
          <a:noFill/>
          <a:ln/>
        </p:spPr>
        <p:txBody>
          <a:bodyPr wrap="square" lIns="0" tIns="0" rIns="0" bIns="0" rtlCol="0" anchor="t"/>
          <a:lstStyle/>
          <a:p>
            <a:pPr indent="0" marL="0">
              <a:buNone/>
            </a:pPr>
            <a:r>
              <a:rPr lang="en-US" sz="2400" b="1" dirty="0">
                <a:solidFill>
                  <a:srgbClr val="FFFFFF"/>
                </a:solidFill>
                <a:latin typeface="Cambria" pitchFamily="34" charset="0"/>
                <a:ea typeface="Cambria" pitchFamily="34" charset="-122"/>
                <a:cs typeface="Cambria" pitchFamily="34" charset="-120"/>
              </a:rPr>
              <a:t>BRI 0 – 20</a:t>
            </a:r>
            <a:endParaRPr lang="en-US" sz="2400" dirty="0"/>
          </a:p>
        </p:txBody>
      </p:sp>
      <p:sp>
        <p:nvSpPr>
          <p:cNvPr id="14" name="Text 8"/>
          <p:cNvSpPr txBox="1"/>
          <p:nvPr/>
        </p:nvSpPr>
        <p:spPr>
          <a:xfrm>
            <a:off x="7772400" y="2221992"/>
            <a:ext cx="3657600" cy="548640"/>
          </a:xfrm>
          <a:prstGeom prst="rect">
            <a:avLst/>
          </a:prstGeom>
          <a:noFill/>
          <a:ln/>
        </p:spPr>
        <p:txBody>
          <a:bodyPr wrap="square" lIns="0" tIns="0" rIns="0" bIns="0" rtlCol="0" anchor="t"/>
          <a:lstStyle/>
          <a:p>
            <a:pPr indent="0" marL="0">
              <a:buNone/>
            </a:pPr>
            <a:r>
              <a:rPr lang="en-US" sz="1500" dirty="0">
                <a:solidFill>
                  <a:srgbClr val="FFFFFF"/>
                </a:solidFill>
              </a:rPr>
              <a:t>Fair</a:t>
            </a:r>
            <a:endParaRPr lang="en-US" sz="1500" dirty="0"/>
          </a:p>
        </p:txBody>
      </p:sp>
      <p:sp>
        <p:nvSpPr>
          <p:cNvPr id="15" name="BRI band Review"/>
          <p:cNvSpPr/>
          <p:nvPr/>
        </p:nvSpPr>
        <p:spPr>
          <a:xfrm>
            <a:off x="7543800" y="3108960"/>
            <a:ext cx="4096512" cy="1371600"/>
          </a:xfrm>
          <a:prstGeom prst="roundRect">
            <a:avLst>
              <a:gd name="adj" fmla="val 5333"/>
            </a:avLst>
          </a:prstGeom>
          <a:solidFill>
            <a:schemeClr val="accent1"/>
          </a:solidFill>
          <a:ln/>
        </p:spPr>
      </p:sp>
      <p:sp>
        <p:nvSpPr>
          <p:cNvPr id="16" name="Text 10"/>
          <p:cNvSpPr txBox="1"/>
          <p:nvPr/>
        </p:nvSpPr>
        <p:spPr>
          <a:xfrm>
            <a:off x="7772400" y="3246120"/>
            <a:ext cx="3657600" cy="548640"/>
          </a:xfrm>
          <a:prstGeom prst="rect">
            <a:avLst/>
          </a:prstGeom>
          <a:noFill/>
          <a:ln/>
        </p:spPr>
        <p:txBody>
          <a:bodyPr wrap="square" lIns="0" tIns="0" rIns="0" bIns="0" rtlCol="0" anchor="t"/>
          <a:lstStyle/>
          <a:p>
            <a:pPr indent="0" marL="0">
              <a:buNone/>
            </a:pPr>
            <a:r>
              <a:rPr lang="en-US" sz="2400" b="1" dirty="0">
                <a:solidFill>
                  <a:srgbClr val="14202E"/>
                </a:solidFill>
                <a:latin typeface="Cambria" pitchFamily="34" charset="0"/>
                <a:ea typeface="Cambria" pitchFamily="34" charset="-122"/>
                <a:cs typeface="Cambria" pitchFamily="34" charset="-120"/>
              </a:rPr>
              <a:t>BRI 20 – 30</a:t>
            </a:r>
            <a:endParaRPr lang="en-US" sz="2400" dirty="0"/>
          </a:p>
        </p:txBody>
      </p:sp>
      <p:sp>
        <p:nvSpPr>
          <p:cNvPr id="17" name="Text 11"/>
          <p:cNvSpPr txBox="1"/>
          <p:nvPr/>
        </p:nvSpPr>
        <p:spPr>
          <a:xfrm>
            <a:off x="7772400" y="3822192"/>
            <a:ext cx="3657600" cy="548640"/>
          </a:xfrm>
          <a:prstGeom prst="rect">
            <a:avLst/>
          </a:prstGeom>
          <a:noFill/>
          <a:ln/>
        </p:spPr>
        <p:txBody>
          <a:bodyPr wrap="square" lIns="0" tIns="0" rIns="0" bIns="0" rtlCol="0" anchor="t"/>
          <a:lstStyle/>
          <a:p>
            <a:pPr indent="0" marL="0">
              <a:buNone/>
            </a:pPr>
            <a:r>
              <a:rPr lang="en-US" sz="1500" dirty="0">
                <a:solidFill>
                  <a:srgbClr val="14202E"/>
                </a:solidFill>
              </a:rPr>
              <a:t>Review</a:t>
            </a:r>
            <a:endParaRPr lang="en-US" sz="1500" dirty="0"/>
          </a:p>
        </p:txBody>
      </p:sp>
      <p:sp>
        <p:nvSpPr>
          <p:cNvPr id="18" name="BRI band Flag for review by COA, Ombudsman, ICI"/>
          <p:cNvSpPr/>
          <p:nvPr/>
        </p:nvSpPr>
        <p:spPr>
          <a:xfrm>
            <a:off x="7543800" y="4709160"/>
            <a:ext cx="4096512" cy="1371600"/>
          </a:xfrm>
          <a:prstGeom prst="roundRect">
            <a:avLst>
              <a:gd name="adj" fmla="val 5333"/>
            </a:avLst>
          </a:prstGeom>
          <a:solidFill>
            <a:schemeClr val="accent2"/>
          </a:solidFill>
          <a:ln/>
        </p:spPr>
      </p:sp>
      <p:sp>
        <p:nvSpPr>
          <p:cNvPr id="19" name="Text 13"/>
          <p:cNvSpPr txBox="1"/>
          <p:nvPr/>
        </p:nvSpPr>
        <p:spPr>
          <a:xfrm>
            <a:off x="7772400" y="4846320"/>
            <a:ext cx="3657600" cy="548640"/>
          </a:xfrm>
          <a:prstGeom prst="rect">
            <a:avLst/>
          </a:prstGeom>
          <a:noFill/>
          <a:ln/>
        </p:spPr>
        <p:txBody>
          <a:bodyPr wrap="square" lIns="0" tIns="0" rIns="0" bIns="0" rtlCol="0" anchor="t"/>
          <a:lstStyle/>
          <a:p>
            <a:pPr indent="0" marL="0">
              <a:buNone/>
            </a:pPr>
            <a:r>
              <a:rPr lang="en-US" sz="2400" b="1" dirty="0">
                <a:solidFill>
                  <a:srgbClr val="FFFFFF"/>
                </a:solidFill>
                <a:latin typeface="Cambria" pitchFamily="34" charset="0"/>
                <a:ea typeface="Cambria" pitchFamily="34" charset="-122"/>
                <a:cs typeface="Cambria" pitchFamily="34" charset="-120"/>
              </a:rPr>
              <a:t>BRI 30 – 100</a:t>
            </a:r>
            <a:endParaRPr lang="en-US" sz="2400" dirty="0"/>
          </a:p>
        </p:txBody>
      </p:sp>
      <p:sp>
        <p:nvSpPr>
          <p:cNvPr id="20" name="Text 14"/>
          <p:cNvSpPr txBox="1"/>
          <p:nvPr/>
        </p:nvSpPr>
        <p:spPr>
          <a:xfrm>
            <a:off x="7772400" y="5422392"/>
            <a:ext cx="3657600" cy="548640"/>
          </a:xfrm>
          <a:prstGeom prst="rect">
            <a:avLst/>
          </a:prstGeom>
          <a:noFill/>
          <a:ln/>
        </p:spPr>
        <p:txBody>
          <a:bodyPr wrap="square" lIns="0" tIns="0" rIns="0" bIns="0" rtlCol="0" anchor="t"/>
          <a:lstStyle/>
          <a:p>
            <a:pPr indent="0" marL="0">
              <a:buNone/>
            </a:pPr>
            <a:r>
              <a:rPr lang="en-US" sz="1500" dirty="0">
                <a:solidFill>
                  <a:srgbClr val="FFFFFF"/>
                </a:solidFill>
              </a:rPr>
              <a:t>Flag for review by COA, Ombudsman, ICI</a:t>
            </a:r>
            <a:endParaRPr lang="en-US" sz="1500" dirty="0"/>
          </a:p>
        </p:txBody>
      </p:sp>
      <p:sp>
        <p:nvSpPr>
          <p:cNvPr id="25" name="Slide Number Placeholder 0"/>
          <p:cNvSpPr>
            <a:spLocks noGrp="1"/>
          </p:cNvSpPr>
          <p:nvPr>
            <p:ph type="sldNum" sz="quarter" idx="4294967295"/>
          </p:nvPr>
        </p:nvSpPr>
        <p:spPr>
          <a:xfrm>
            <a:off x="11064240" y="642823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A8C"/>
                </a:solidFill>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ph idx="100" type="body" hasCustomPrompt="1"/>
          </p:nvPr>
        </p:nvSpPr>
        <p:spPr>
          <a:xfrm>
            <a:off x="548640" y="256032"/>
            <a:ext cx="8229600" cy="292608"/>
          </a:xfrm>
          <a:prstGeom prst="rect">
            <a:avLst/>
          </a:prstGeom>
          <a:noFill/>
          <a:ln/>
        </p:spPr>
        <p:txBody>
          <a:bodyPr wrap="square" lIns="0" tIns="0" rIns="0" bIns="0" rtlCol="0"/>
          <a:lstStyle/>
          <a:p>
            <a:pPr indent="0" marL="0">
              <a:buNone/>
            </a:pPr>
            <a:r>
              <a:rPr lang="en-US" sz="1200" b="1" spc="200" kern="0" dirty="0">
                <a:solidFill>
                  <a:schemeClr val="accent5"/>
                </a:solidFill>
              </a:rPr>
              <a:t>DATA ANALYSIS AND STATISTICAL TREATMENT</a:t>
            </a:r>
            <a:endParaRPr lang="en-US" sz="1200" dirty="0"/>
          </a:p>
        </p:txBody>
      </p:sp>
      <p:sp>
        <p:nvSpPr>
          <p:cNvPr id="3" name="Text 0"/>
          <p:cNvSpPr/>
          <p:nvPr>
            <p:ph idx="101" type="title" hasCustomPrompt="1"/>
          </p:nvPr>
        </p:nvSpPr>
        <p:spPr>
          <a:xfrm>
            <a:off x="548640" y="530352"/>
            <a:ext cx="11064240" cy="731520"/>
          </a:xfrm>
          <a:prstGeom prst="rect">
            <a:avLst/>
          </a:prstGeom>
          <a:noFill/>
          <a:ln/>
        </p:spPr>
        <p:txBody>
          <a:bodyPr wrap="square" lIns="0" tIns="0" rIns="0" bIns="0" rtlCol="0" anchor="ctr"/>
          <a:lstStyle/>
          <a:p>
            <a:pPr algn="l" indent="0" marL="0">
              <a:buNone/>
            </a:pPr>
            <a:r>
              <a:rPr lang="en-US" sz="3200" b="1" dirty="0">
                <a:solidFill>
                  <a:schemeClr val="tx2"/>
                </a:solidFill>
                <a:latin typeface="Cambria" pitchFamily="34" charset="0"/>
                <a:ea typeface="Cambria" pitchFamily="34" charset="-122"/>
                <a:cs typeface="Cambria" pitchFamily="34" charset="-120"/>
              </a:rPr>
              <a:t>Validation and Metrics</a:t>
            </a:r>
            <a:endParaRPr lang="en-US" sz="3200" dirty="0"/>
          </a:p>
        </p:txBody>
      </p:sp>
      <p:sp>
        <p:nvSpPr>
          <p:cNvPr id="5" name="card"/>
          <p:cNvSpPr/>
          <p:nvPr/>
        </p:nvSpPr>
        <p:spPr>
          <a:xfrm>
            <a:off x="548640" y="1508760"/>
            <a:ext cx="11091672" cy="914400"/>
          </a:xfrm>
          <a:prstGeom prst="roundRect">
            <a:avLst>
              <a:gd name="adj" fmla="val 8000"/>
            </a:avLst>
          </a:prstGeom>
          <a:solidFill>
            <a:schemeClr val="bg2"/>
          </a:solidFill>
          <a:ln/>
        </p:spPr>
      </p:sp>
      <p:sp>
        <p:nvSpPr>
          <p:cNvPr id="6" name="icon circle"/>
          <p:cNvSpPr/>
          <p:nvPr/>
        </p:nvSpPr>
        <p:spPr>
          <a:xfrm>
            <a:off x="731520" y="1645920"/>
            <a:ext cx="640080" cy="640080"/>
          </a:xfrm>
          <a:prstGeom prst="ellipse">
            <a:avLst/>
          </a:prstGeom>
          <a:solidFill>
            <a:schemeClr val="tx2"/>
          </a:solidFill>
          <a:ln/>
        </p:spPr>
      </p:sp>
      <p:pic>
        <p:nvPicPr>
          <p:cNvPr id="7" name="icon FaArrowsRotate" descr="ArrowsRotate icon">    </p:cNvPr>
          <p:cNvPicPr>
            <a:picLocks noChangeAspect="1"/>
          </p:cNvPicPr>
          <p:nvPr/>
        </p:nvPicPr>
        <p:blipFill>
          <a:blip r:embed="rId1"/>
          <a:stretch>
            <a:fillRect/>
          </a:stretch>
        </p:blipFill>
        <p:spPr>
          <a:xfrm>
            <a:off x="885139" y="1799539"/>
            <a:ext cx="332842" cy="332842"/>
          </a:xfrm>
          <a:prstGeom prst="rect">
            <a:avLst/>
          </a:prstGeom>
        </p:spPr>
      </p:pic>
      <p:sp>
        <p:nvSpPr>
          <p:cNvPr id="8" name="Text 4"/>
          <p:cNvSpPr txBox="1"/>
          <p:nvPr/>
        </p:nvSpPr>
        <p:spPr>
          <a:xfrm>
            <a:off x="1554480" y="1508760"/>
            <a:ext cx="9966960" cy="914400"/>
          </a:xfrm>
          <a:prstGeom prst="rect">
            <a:avLst/>
          </a:prstGeom>
          <a:noFill/>
          <a:ln/>
        </p:spPr>
        <p:txBody>
          <a:bodyPr wrap="square" lIns="0" tIns="0" rIns="0" bIns="0" rtlCol="0" anchor="ctr"/>
          <a:lstStyle/>
          <a:p>
            <a:pPr indent="0" marL="0">
              <a:buNone/>
            </a:pPr>
            <a:r>
              <a:rPr lang="en-US" sz="1500" b="1" dirty="0">
                <a:solidFill>
                  <a:schemeClr val="tx1"/>
                </a:solidFill>
              </a:rPr>
              <a:t>Leave-one-out cross-validation: </a:t>
            </a:r>
            <a:pPr indent="0" marL="0">
              <a:buNone/>
            </a:pPr>
            <a:r>
              <a:rPr lang="en-US" sz="1500" dirty="0">
                <a:solidFill>
                  <a:schemeClr val="tx1"/>
                </a:solidFill>
              </a:rPr>
              <a:t>Each of the 300 projects is predicted by a model that never saw it; honest error on a small sample.</a:t>
            </a:r>
            <a:endParaRPr lang="en-US" sz="1500" dirty="0"/>
          </a:p>
        </p:txBody>
      </p:sp>
      <p:sp>
        <p:nvSpPr>
          <p:cNvPr id="9" name="card"/>
          <p:cNvSpPr/>
          <p:nvPr/>
        </p:nvSpPr>
        <p:spPr>
          <a:xfrm>
            <a:off x="548640" y="2606040"/>
            <a:ext cx="11091672" cy="1691640"/>
          </a:xfrm>
          <a:prstGeom prst="roundRect">
            <a:avLst>
              <a:gd name="adj" fmla="val 4324"/>
            </a:avLst>
          </a:prstGeom>
          <a:solidFill>
            <a:schemeClr val="bg2"/>
          </a:solidFill>
          <a:ln/>
        </p:spPr>
      </p:sp>
      <p:sp>
        <p:nvSpPr>
          <p:cNvPr id="10" name="Text 6"/>
          <p:cNvSpPr txBox="1"/>
          <p:nvPr/>
        </p:nvSpPr>
        <p:spPr>
          <a:xfrm>
            <a:off x="777240" y="2697480"/>
            <a:ext cx="10607040" cy="411480"/>
          </a:xfrm>
          <a:prstGeom prst="rect">
            <a:avLst/>
          </a:prstGeom>
          <a:noFill/>
          <a:ln/>
        </p:spPr>
        <p:txBody>
          <a:bodyPr wrap="square" lIns="0" tIns="0" rIns="0" bIns="0" rtlCol="0" anchor="t"/>
          <a:lstStyle/>
          <a:p>
            <a:pPr indent="0" marL="0">
              <a:buNone/>
            </a:pPr>
            <a:r>
              <a:rPr lang="en-US" sz="1500" b="1" dirty="0">
                <a:solidFill>
                  <a:schemeClr val="tx1"/>
                </a:solidFill>
              </a:rPr>
              <a:t>Cost prediction: </a:t>
            </a:r>
            <a:pPr indent="0" marL="0">
              <a:buNone/>
            </a:pPr>
            <a:r>
              <a:rPr lang="en-US" sz="1500" dirty="0">
                <a:solidFill>
                  <a:schemeClr val="tx1"/>
                </a:solidFill>
              </a:rPr>
              <a:t>Typical error in pesos, share of variance explained, and error as a percentage of each project’s cost.</a:t>
            </a:r>
            <a:endParaRPr lang="en-US" sz="1500" dirty="0"/>
          </a:p>
        </p:txBody>
      </p:sp>
      <p:pic>
        <p:nvPicPr>
          <p:cNvPr id="11" name="equation rmse.png" descr="equation">    </p:cNvPr>
          <p:cNvPicPr>
            <a:picLocks noChangeAspect="1"/>
          </p:cNvPicPr>
          <p:nvPr/>
        </p:nvPicPr>
        <p:blipFill>
          <a:blip r:embed="rId2"/>
          <a:stretch>
            <a:fillRect/>
          </a:stretch>
        </p:blipFill>
        <p:spPr>
          <a:xfrm>
            <a:off x="777240" y="3290583"/>
            <a:ext cx="2552182" cy="734035"/>
          </a:xfrm>
          <a:prstGeom prst="rect">
            <a:avLst/>
          </a:prstGeom>
        </p:spPr>
      </p:pic>
      <p:pic>
        <p:nvPicPr>
          <p:cNvPr id="12" name="equation r2.png" descr="equation">    </p:cNvPr>
          <p:cNvPicPr>
            <a:picLocks noChangeAspect="1"/>
          </p:cNvPicPr>
          <p:nvPr/>
        </p:nvPicPr>
        <p:blipFill>
          <a:blip r:embed="rId3"/>
          <a:stretch>
            <a:fillRect/>
          </a:stretch>
        </p:blipFill>
        <p:spPr>
          <a:xfrm>
            <a:off x="4434840" y="3154680"/>
            <a:ext cx="2032711" cy="1042706"/>
          </a:xfrm>
          <a:prstGeom prst="rect">
            <a:avLst/>
          </a:prstGeom>
        </p:spPr>
      </p:pic>
      <p:pic>
        <p:nvPicPr>
          <p:cNvPr id="13" name="equation mape.png" descr="equation">    </p:cNvPr>
          <p:cNvPicPr>
            <a:picLocks noChangeAspect="1"/>
          </p:cNvPicPr>
          <p:nvPr/>
        </p:nvPicPr>
        <p:blipFill>
          <a:blip r:embed="rId4"/>
          <a:stretch>
            <a:fillRect/>
          </a:stretch>
        </p:blipFill>
        <p:spPr>
          <a:xfrm>
            <a:off x="7726680" y="3322579"/>
            <a:ext cx="2808153" cy="670042"/>
          </a:xfrm>
          <a:prstGeom prst="rect">
            <a:avLst/>
          </a:prstGeom>
        </p:spPr>
      </p:pic>
      <p:sp>
        <p:nvSpPr>
          <p:cNvPr id="14" name="card"/>
          <p:cNvSpPr/>
          <p:nvPr/>
        </p:nvSpPr>
        <p:spPr>
          <a:xfrm>
            <a:off x="548640" y="4480560"/>
            <a:ext cx="6583680" cy="1737360"/>
          </a:xfrm>
          <a:prstGeom prst="roundRect">
            <a:avLst>
              <a:gd name="adj" fmla="val 4211"/>
            </a:avLst>
          </a:prstGeom>
          <a:solidFill>
            <a:schemeClr val="bg2"/>
          </a:solidFill>
          <a:ln/>
        </p:spPr>
      </p:sp>
      <p:sp>
        <p:nvSpPr>
          <p:cNvPr id="15" name="Text 8"/>
          <p:cNvSpPr txBox="1"/>
          <p:nvPr/>
        </p:nvSpPr>
        <p:spPr>
          <a:xfrm>
            <a:off x="777240" y="4572000"/>
            <a:ext cx="6217920" cy="457200"/>
          </a:xfrm>
          <a:prstGeom prst="rect">
            <a:avLst/>
          </a:prstGeom>
          <a:noFill/>
          <a:ln/>
        </p:spPr>
        <p:txBody>
          <a:bodyPr wrap="square" lIns="0" tIns="0" rIns="0" bIns="0" rtlCol="0" anchor="t"/>
          <a:lstStyle/>
          <a:p>
            <a:pPr indent="0" marL="0">
              <a:buNone/>
            </a:pPr>
            <a:r>
              <a:rPr lang="en-US" sz="1500" b="1" dirty="0">
                <a:solidFill>
                  <a:schemeClr val="tx1"/>
                </a:solidFill>
              </a:rPr>
              <a:t>Detection: </a:t>
            </a:r>
            <a:pPr indent="0" marL="0">
              <a:buNone/>
            </a:pPr>
            <a:r>
              <a:rPr lang="en-US" sz="1500" dirty="0">
                <a:solidFill>
                  <a:schemeClr val="tx1"/>
                </a:solidFill>
              </a:rPr>
              <a:t>Against the 36 injected cases; threshold-free ROC AUC.</a:t>
            </a:r>
            <a:endParaRPr lang="en-US" sz="1500" dirty="0"/>
          </a:p>
        </p:txBody>
      </p:sp>
      <p:pic>
        <p:nvPicPr>
          <p:cNvPr id="16" name="equation prf.png" descr="equation">    </p:cNvPr>
          <p:cNvPicPr>
            <a:picLocks noChangeAspect="1"/>
          </p:cNvPicPr>
          <p:nvPr/>
        </p:nvPicPr>
        <p:blipFill>
          <a:blip r:embed="rId5"/>
          <a:stretch>
            <a:fillRect/>
          </a:stretch>
        </p:blipFill>
        <p:spPr>
          <a:xfrm>
            <a:off x="777240" y="5248191"/>
            <a:ext cx="4814514" cy="613578"/>
          </a:xfrm>
          <a:prstGeom prst="rect">
            <a:avLst/>
          </a:prstGeom>
        </p:spPr>
      </p:pic>
      <p:sp>
        <p:nvSpPr>
          <p:cNvPr id="17" name="card"/>
          <p:cNvSpPr/>
          <p:nvPr/>
        </p:nvSpPr>
        <p:spPr>
          <a:xfrm>
            <a:off x="7360920" y="4480560"/>
            <a:ext cx="4279392" cy="1737360"/>
          </a:xfrm>
          <a:prstGeom prst="roundRect">
            <a:avLst>
              <a:gd name="adj" fmla="val 4211"/>
            </a:avLst>
          </a:prstGeom>
          <a:solidFill>
            <a:schemeClr val="bg2"/>
          </a:solidFill>
          <a:ln/>
        </p:spPr>
      </p:sp>
      <p:sp>
        <p:nvSpPr>
          <p:cNvPr id="18" name="Text 10"/>
          <p:cNvSpPr txBox="1"/>
          <p:nvPr/>
        </p:nvSpPr>
        <p:spPr>
          <a:xfrm>
            <a:off x="7589520" y="4572000"/>
            <a:ext cx="3840480" cy="1554480"/>
          </a:xfrm>
          <a:prstGeom prst="rect">
            <a:avLst/>
          </a:prstGeom>
          <a:noFill/>
          <a:ln/>
        </p:spPr>
        <p:txBody>
          <a:bodyPr wrap="square" lIns="0" tIns="0" rIns="0" bIns="0" rtlCol="0" anchor="t"/>
          <a:lstStyle/>
          <a:p>
            <a:pPr indent="0" marL="0">
              <a:buNone/>
            </a:pPr>
            <a:r>
              <a:rPr lang="en-US" sz="1500" b="1" dirty="0">
                <a:solidFill>
                  <a:schemeClr val="tx1"/>
                </a:solidFill>
              </a:rPr>
              <a:t>Design generation: </a:t>
            </a:r>
            <a:pPr indent="0" marL="0">
              <a:buNone/>
            </a:pPr>
            <a:r>
              <a:rPr lang="en-US" sz="1500" dirty="0">
                <a:solidFill>
                  <a:schemeClr val="tx1"/>
                </a:solidFill>
              </a:rPr>
              <a:t>Space-standard checks passed; budget used; search time in milliseconds.</a:t>
            </a:r>
            <a:endParaRPr lang="en-US" sz="1500" dirty="0"/>
          </a:p>
        </p:txBody>
      </p:sp>
      <p:sp>
        <p:nvSpPr>
          <p:cNvPr id="25" name="Slide Number Placeholder 0"/>
          <p:cNvSpPr>
            <a:spLocks noGrp="1"/>
          </p:cNvSpPr>
          <p:nvPr>
            <p:ph type="sldNum" sz="quarter" idx="4294967295"/>
          </p:nvPr>
        </p:nvSpPr>
        <p:spPr>
          <a:xfrm>
            <a:off x="11064240" y="642823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A8C"/>
                </a:solidFill>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ph idx="100" type="body" hasCustomPrompt="1"/>
          </p:nvPr>
        </p:nvSpPr>
        <p:spPr>
          <a:xfrm>
            <a:off x="548640" y="256032"/>
            <a:ext cx="8229600" cy="292608"/>
          </a:xfrm>
          <a:prstGeom prst="rect">
            <a:avLst/>
          </a:prstGeom>
          <a:noFill/>
          <a:ln/>
        </p:spPr>
        <p:txBody>
          <a:bodyPr wrap="square" lIns="0" tIns="0" rIns="0" bIns="0" rtlCol="0"/>
          <a:lstStyle/>
          <a:p>
            <a:pPr indent="0" marL="0">
              <a:buNone/>
            </a:pPr>
            <a:r>
              <a:rPr lang="en-US" sz="1200" b="1" spc="200" kern="0" dirty="0">
                <a:solidFill>
                  <a:schemeClr val="accent5"/>
                </a:solidFill>
              </a:rPr>
              <a:t>DATA GATHERING PROCEDURE</a:t>
            </a:r>
            <a:endParaRPr lang="en-US" sz="1200" dirty="0"/>
          </a:p>
        </p:txBody>
      </p:sp>
      <p:sp>
        <p:nvSpPr>
          <p:cNvPr id="3" name="Text 0"/>
          <p:cNvSpPr/>
          <p:nvPr>
            <p:ph idx="101" type="title" hasCustomPrompt="1"/>
          </p:nvPr>
        </p:nvSpPr>
        <p:spPr>
          <a:xfrm>
            <a:off x="548640" y="530352"/>
            <a:ext cx="11064240" cy="731520"/>
          </a:xfrm>
          <a:prstGeom prst="rect">
            <a:avLst/>
          </a:prstGeom>
          <a:noFill/>
          <a:ln/>
        </p:spPr>
        <p:txBody>
          <a:bodyPr wrap="square" lIns="0" tIns="0" rIns="0" bIns="0" rtlCol="0" anchor="ctr"/>
          <a:lstStyle/>
          <a:p>
            <a:pPr algn="l" indent="0" marL="0">
              <a:buNone/>
            </a:pPr>
            <a:r>
              <a:rPr lang="en-US" sz="3200" b="1" dirty="0">
                <a:solidFill>
                  <a:schemeClr val="tx2"/>
                </a:solidFill>
                <a:latin typeface="Cambria" pitchFamily="34" charset="0"/>
                <a:ea typeface="Cambria" pitchFamily="34" charset="-122"/>
                <a:cs typeface="Cambria" pitchFamily="34" charset="-120"/>
              </a:rPr>
              <a:t>App and Website Development</a:t>
            </a:r>
            <a:endParaRPr lang="en-US" sz="3200" dirty="0"/>
          </a:p>
        </p:txBody>
      </p:sp>
      <p:pic>
        <p:nvPicPr>
          <p:cNvPr id="5" name="diagram_architecture.png" descr="System architecture">    </p:cNvPr>
          <p:cNvPicPr>
            <a:picLocks noChangeAspect="1"/>
          </p:cNvPicPr>
          <p:nvPr/>
        </p:nvPicPr>
        <p:blipFill>
          <a:blip r:embed="rId1"/>
          <a:stretch>
            <a:fillRect/>
          </a:stretch>
        </p:blipFill>
        <p:spPr>
          <a:xfrm>
            <a:off x="548640" y="1483291"/>
            <a:ext cx="11091672" cy="2656977"/>
          </a:xfrm>
          <a:prstGeom prst="rect">
            <a:avLst/>
          </a:prstGeom>
        </p:spPr>
      </p:pic>
      <p:sp>
        <p:nvSpPr>
          <p:cNvPr id="6" name="card"/>
          <p:cNvSpPr/>
          <p:nvPr/>
        </p:nvSpPr>
        <p:spPr>
          <a:xfrm>
            <a:off x="548640" y="4343400"/>
            <a:ext cx="2606040" cy="1874520"/>
          </a:xfrm>
          <a:prstGeom prst="roundRect">
            <a:avLst>
              <a:gd name="adj" fmla="val 3902"/>
            </a:avLst>
          </a:prstGeom>
          <a:solidFill>
            <a:schemeClr val="bg2"/>
          </a:solidFill>
          <a:ln/>
        </p:spPr>
      </p:sp>
      <p:sp>
        <p:nvSpPr>
          <p:cNvPr id="7" name="icon circle"/>
          <p:cNvSpPr/>
          <p:nvPr/>
        </p:nvSpPr>
        <p:spPr>
          <a:xfrm>
            <a:off x="749808" y="4526280"/>
            <a:ext cx="594360" cy="594360"/>
          </a:xfrm>
          <a:prstGeom prst="ellipse">
            <a:avLst/>
          </a:prstGeom>
          <a:solidFill>
            <a:schemeClr val="tx2"/>
          </a:solidFill>
          <a:ln/>
        </p:spPr>
      </p:sp>
      <p:pic>
        <p:nvPicPr>
          <p:cNvPr id="8" name="icon FaPython" descr="Python icon">    </p:cNvPr>
          <p:cNvPicPr>
            <a:picLocks noChangeAspect="1"/>
          </p:cNvPicPr>
          <p:nvPr/>
        </p:nvPicPr>
        <p:blipFill>
          <a:blip r:embed="rId2"/>
          <a:stretch>
            <a:fillRect/>
          </a:stretch>
        </p:blipFill>
        <p:spPr>
          <a:xfrm>
            <a:off x="892454" y="4668926"/>
            <a:ext cx="309067" cy="309067"/>
          </a:xfrm>
          <a:prstGeom prst="rect">
            <a:avLst/>
          </a:prstGeom>
        </p:spPr>
      </p:pic>
      <p:sp>
        <p:nvSpPr>
          <p:cNvPr id="9" name="Text 4"/>
          <p:cNvSpPr txBox="1"/>
          <p:nvPr/>
        </p:nvSpPr>
        <p:spPr>
          <a:xfrm>
            <a:off x="1463040" y="4480560"/>
            <a:ext cx="1600200" cy="685800"/>
          </a:xfrm>
          <a:prstGeom prst="rect">
            <a:avLst/>
          </a:prstGeom>
          <a:noFill/>
          <a:ln/>
        </p:spPr>
        <p:txBody>
          <a:bodyPr wrap="square" lIns="0" tIns="0" rIns="0" bIns="0" rtlCol="0" anchor="ctr"/>
          <a:lstStyle/>
          <a:p>
            <a:pPr indent="0" marL="0">
              <a:buNone/>
            </a:pPr>
            <a:r>
              <a:rPr lang="en-US" sz="1500" b="1" dirty="0">
                <a:solidFill>
                  <a:schemeClr val="tx2"/>
                </a:solidFill>
              </a:rPr>
              <a:t>Python research pipeline</a:t>
            </a:r>
            <a:endParaRPr lang="en-US" sz="1500" dirty="0"/>
          </a:p>
        </p:txBody>
      </p:sp>
      <p:sp>
        <p:nvSpPr>
          <p:cNvPr id="10" name="Text 5"/>
          <p:cNvSpPr txBox="1"/>
          <p:nvPr/>
        </p:nvSpPr>
        <p:spPr>
          <a:xfrm>
            <a:off x="749808" y="5303520"/>
            <a:ext cx="2240280" cy="822960"/>
          </a:xfrm>
          <a:prstGeom prst="rect">
            <a:avLst/>
          </a:prstGeom>
          <a:noFill/>
          <a:ln/>
        </p:spPr>
        <p:txBody>
          <a:bodyPr wrap="square" lIns="0" tIns="0" rIns="0" bIns="0" rtlCol="0" anchor="t"/>
          <a:lstStyle/>
          <a:p>
            <a:pPr indent="0" marL="0">
              <a:buNone/>
            </a:pPr>
            <a:r>
              <a:rPr lang="en-US" sz="1350" dirty="0">
                <a:solidFill>
                  <a:schemeClr val="tx1"/>
                </a:solidFill>
              </a:rPr>
              <a:t>NumPy, scikit-learn, statsmodels, XGBoost, SHAP</a:t>
            </a:r>
            <a:endParaRPr lang="en-US" sz="1350" dirty="0"/>
          </a:p>
        </p:txBody>
      </p:sp>
      <p:sp>
        <p:nvSpPr>
          <p:cNvPr id="11" name="card"/>
          <p:cNvSpPr/>
          <p:nvPr/>
        </p:nvSpPr>
        <p:spPr>
          <a:xfrm>
            <a:off x="3383280" y="4343400"/>
            <a:ext cx="2606040" cy="1874520"/>
          </a:xfrm>
          <a:prstGeom prst="roundRect">
            <a:avLst>
              <a:gd name="adj" fmla="val 3902"/>
            </a:avLst>
          </a:prstGeom>
          <a:solidFill>
            <a:schemeClr val="bg2"/>
          </a:solidFill>
          <a:ln/>
        </p:spPr>
      </p:sp>
      <p:sp>
        <p:nvSpPr>
          <p:cNvPr id="12" name="icon circle"/>
          <p:cNvSpPr/>
          <p:nvPr/>
        </p:nvSpPr>
        <p:spPr>
          <a:xfrm>
            <a:off x="3584448" y="4526280"/>
            <a:ext cx="594360" cy="594360"/>
          </a:xfrm>
          <a:prstGeom prst="ellipse">
            <a:avLst/>
          </a:prstGeom>
          <a:solidFill>
            <a:schemeClr val="tx2"/>
          </a:solidFill>
          <a:ln/>
        </p:spPr>
      </p:sp>
      <p:pic>
        <p:nvPicPr>
          <p:cNvPr id="13" name="icon FaJs" descr="Js icon">    </p:cNvPr>
          <p:cNvPicPr>
            <a:picLocks noChangeAspect="1"/>
          </p:cNvPicPr>
          <p:nvPr/>
        </p:nvPicPr>
        <p:blipFill>
          <a:blip r:embed="rId3"/>
          <a:stretch>
            <a:fillRect/>
          </a:stretch>
        </p:blipFill>
        <p:spPr>
          <a:xfrm>
            <a:off x="3727094" y="4668926"/>
            <a:ext cx="309067" cy="309067"/>
          </a:xfrm>
          <a:prstGeom prst="rect">
            <a:avLst/>
          </a:prstGeom>
        </p:spPr>
      </p:pic>
      <p:sp>
        <p:nvSpPr>
          <p:cNvPr id="14" name="Text 8"/>
          <p:cNvSpPr txBox="1"/>
          <p:nvPr/>
        </p:nvSpPr>
        <p:spPr>
          <a:xfrm>
            <a:off x="4297680" y="4480560"/>
            <a:ext cx="1600200" cy="685800"/>
          </a:xfrm>
          <a:prstGeom prst="rect">
            <a:avLst/>
          </a:prstGeom>
          <a:noFill/>
          <a:ln/>
        </p:spPr>
        <p:txBody>
          <a:bodyPr wrap="square" lIns="0" tIns="0" rIns="0" bIns="0" rtlCol="0" anchor="ctr"/>
          <a:lstStyle/>
          <a:p>
            <a:pPr indent="0" marL="0">
              <a:buNone/>
            </a:pPr>
            <a:r>
              <a:rPr lang="en-US" sz="1500" b="1" dirty="0">
                <a:solidFill>
                  <a:schemeClr val="tx2"/>
                </a:solidFill>
              </a:rPr>
              <a:t>One JavaScript engine</a:t>
            </a:r>
            <a:endParaRPr lang="en-US" sz="1500" dirty="0"/>
          </a:p>
        </p:txBody>
      </p:sp>
      <p:sp>
        <p:nvSpPr>
          <p:cNvPr id="15" name="Text 9"/>
          <p:cNvSpPr txBox="1"/>
          <p:nvPr/>
        </p:nvSpPr>
        <p:spPr>
          <a:xfrm>
            <a:off x="3584448" y="5303520"/>
            <a:ext cx="2240280" cy="822960"/>
          </a:xfrm>
          <a:prstGeom prst="rect">
            <a:avLst/>
          </a:prstGeom>
          <a:noFill/>
          <a:ln/>
        </p:spPr>
        <p:txBody>
          <a:bodyPr wrap="square" lIns="0" tIns="0" rIns="0" bIns="0" rtlCol="0" anchor="t"/>
          <a:lstStyle/>
          <a:p>
            <a:pPr indent="0" marL="0">
              <a:buNone/>
            </a:pPr>
            <a:r>
              <a:rPr lang="en-US" sz="1350" dirty="0">
                <a:solidFill>
                  <a:schemeClr val="tx1"/>
                </a:solidFill>
              </a:rPr>
              <a:t>Same take-off and models in app, site and paper</a:t>
            </a:r>
            <a:endParaRPr lang="en-US" sz="1350" dirty="0"/>
          </a:p>
        </p:txBody>
      </p:sp>
      <p:sp>
        <p:nvSpPr>
          <p:cNvPr id="16" name="card"/>
          <p:cNvSpPr/>
          <p:nvPr/>
        </p:nvSpPr>
        <p:spPr>
          <a:xfrm>
            <a:off x="6217920" y="4343400"/>
            <a:ext cx="2606040" cy="1874520"/>
          </a:xfrm>
          <a:prstGeom prst="roundRect">
            <a:avLst>
              <a:gd name="adj" fmla="val 3902"/>
            </a:avLst>
          </a:prstGeom>
          <a:solidFill>
            <a:schemeClr val="bg2"/>
          </a:solidFill>
          <a:ln/>
        </p:spPr>
      </p:sp>
      <p:sp>
        <p:nvSpPr>
          <p:cNvPr id="17" name="icon circle"/>
          <p:cNvSpPr/>
          <p:nvPr/>
        </p:nvSpPr>
        <p:spPr>
          <a:xfrm>
            <a:off x="6419088" y="4526280"/>
            <a:ext cx="594360" cy="594360"/>
          </a:xfrm>
          <a:prstGeom prst="ellipse">
            <a:avLst/>
          </a:prstGeom>
          <a:solidFill>
            <a:schemeClr val="tx2"/>
          </a:solidFill>
          <a:ln/>
        </p:spPr>
      </p:sp>
      <p:pic>
        <p:nvPicPr>
          <p:cNvPr id="18" name="icon FaAndroid" descr="Android icon">    </p:cNvPr>
          <p:cNvPicPr>
            <a:picLocks noChangeAspect="1"/>
          </p:cNvPicPr>
          <p:nvPr/>
        </p:nvPicPr>
        <p:blipFill>
          <a:blip r:embed="rId4"/>
          <a:stretch>
            <a:fillRect/>
          </a:stretch>
        </p:blipFill>
        <p:spPr>
          <a:xfrm>
            <a:off x="6561734" y="4668926"/>
            <a:ext cx="309067" cy="309067"/>
          </a:xfrm>
          <a:prstGeom prst="rect">
            <a:avLst/>
          </a:prstGeom>
        </p:spPr>
      </p:pic>
      <p:sp>
        <p:nvSpPr>
          <p:cNvPr id="19" name="Text 12"/>
          <p:cNvSpPr txBox="1"/>
          <p:nvPr/>
        </p:nvSpPr>
        <p:spPr>
          <a:xfrm>
            <a:off x="7132320" y="4480560"/>
            <a:ext cx="1600200" cy="685800"/>
          </a:xfrm>
          <a:prstGeom prst="rect">
            <a:avLst/>
          </a:prstGeom>
          <a:noFill/>
          <a:ln/>
        </p:spPr>
        <p:txBody>
          <a:bodyPr wrap="square" lIns="0" tIns="0" rIns="0" bIns="0" rtlCol="0" anchor="ctr"/>
          <a:lstStyle/>
          <a:p>
            <a:pPr indent="0" marL="0">
              <a:buNone/>
            </a:pPr>
            <a:r>
              <a:rPr lang="en-US" sz="1500" b="1" dirty="0">
                <a:solidFill>
                  <a:schemeClr val="tx2"/>
                </a:solidFill>
              </a:rPr>
              <a:t>Android + offline</a:t>
            </a:r>
            <a:endParaRPr lang="en-US" sz="1500" dirty="0"/>
          </a:p>
        </p:txBody>
      </p:sp>
      <p:sp>
        <p:nvSpPr>
          <p:cNvPr id="20" name="Text 13"/>
          <p:cNvSpPr txBox="1"/>
          <p:nvPr/>
        </p:nvSpPr>
        <p:spPr>
          <a:xfrm>
            <a:off x="6419088" y="5303520"/>
            <a:ext cx="2240280" cy="822960"/>
          </a:xfrm>
          <a:prstGeom prst="rect">
            <a:avLst/>
          </a:prstGeom>
          <a:noFill/>
          <a:ln/>
        </p:spPr>
        <p:txBody>
          <a:bodyPr wrap="square" lIns="0" tIns="0" rIns="0" bIns="0" rtlCol="0" anchor="t"/>
          <a:lstStyle/>
          <a:p>
            <a:pPr indent="0" marL="0">
              <a:buNone/>
            </a:pPr>
            <a:r>
              <a:rPr lang="en-US" sz="1350" dirty="0">
                <a:solidFill>
                  <a:schemeClr val="tx1"/>
                </a:solidFill>
              </a:rPr>
              <a:t>PWA, Capacitor APK, offline ZIP</a:t>
            </a:r>
            <a:endParaRPr lang="en-US" sz="1350" dirty="0"/>
          </a:p>
        </p:txBody>
      </p:sp>
      <p:sp>
        <p:nvSpPr>
          <p:cNvPr id="21" name="card"/>
          <p:cNvSpPr/>
          <p:nvPr/>
        </p:nvSpPr>
        <p:spPr>
          <a:xfrm>
            <a:off x="9052560" y="4343400"/>
            <a:ext cx="2606040" cy="1874520"/>
          </a:xfrm>
          <a:prstGeom prst="roundRect">
            <a:avLst>
              <a:gd name="adj" fmla="val 3902"/>
            </a:avLst>
          </a:prstGeom>
          <a:solidFill>
            <a:schemeClr val="bg2"/>
          </a:solidFill>
          <a:ln/>
        </p:spPr>
      </p:sp>
      <p:sp>
        <p:nvSpPr>
          <p:cNvPr id="22" name="icon circle"/>
          <p:cNvSpPr/>
          <p:nvPr/>
        </p:nvSpPr>
        <p:spPr>
          <a:xfrm>
            <a:off x="9253728" y="4526280"/>
            <a:ext cx="594360" cy="594360"/>
          </a:xfrm>
          <a:prstGeom prst="ellipse">
            <a:avLst/>
          </a:prstGeom>
          <a:solidFill>
            <a:schemeClr val="tx2"/>
          </a:solidFill>
          <a:ln/>
        </p:spPr>
      </p:sp>
      <p:pic>
        <p:nvPicPr>
          <p:cNvPr id="23" name="icon FaCode" descr="Code icon">    </p:cNvPr>
          <p:cNvPicPr>
            <a:picLocks noChangeAspect="1"/>
          </p:cNvPicPr>
          <p:nvPr/>
        </p:nvPicPr>
        <p:blipFill>
          <a:blip r:embed="rId5"/>
          <a:stretch>
            <a:fillRect/>
          </a:stretch>
        </p:blipFill>
        <p:spPr>
          <a:xfrm>
            <a:off x="9396374" y="4668926"/>
            <a:ext cx="309067" cy="309067"/>
          </a:xfrm>
          <a:prstGeom prst="rect">
            <a:avLst/>
          </a:prstGeom>
        </p:spPr>
      </p:pic>
      <p:sp>
        <p:nvSpPr>
          <p:cNvPr id="24" name="Text 16"/>
          <p:cNvSpPr txBox="1"/>
          <p:nvPr/>
        </p:nvSpPr>
        <p:spPr>
          <a:xfrm>
            <a:off x="9966960" y="4480560"/>
            <a:ext cx="1600200" cy="685800"/>
          </a:xfrm>
          <a:prstGeom prst="rect">
            <a:avLst/>
          </a:prstGeom>
          <a:noFill/>
          <a:ln/>
        </p:spPr>
        <p:txBody>
          <a:bodyPr wrap="square" lIns="0" tIns="0" rIns="0" bIns="0" rtlCol="0" anchor="ctr"/>
          <a:lstStyle/>
          <a:p>
            <a:pPr indent="0" marL="0">
              <a:buNone/>
            </a:pPr>
            <a:r>
              <a:rPr lang="en-US" sz="1500" b="1" dirty="0">
                <a:solidFill>
                  <a:schemeClr val="tx2"/>
                </a:solidFill>
              </a:rPr>
              <a:t>Float32 parity</a:t>
            </a:r>
            <a:endParaRPr lang="en-US" sz="1500" dirty="0"/>
          </a:p>
        </p:txBody>
      </p:sp>
      <p:sp>
        <p:nvSpPr>
          <p:cNvPr id="25" name="Text 17"/>
          <p:cNvSpPr txBox="1"/>
          <p:nvPr/>
        </p:nvSpPr>
        <p:spPr>
          <a:xfrm>
            <a:off x="9253728" y="5303520"/>
            <a:ext cx="2240280" cy="822960"/>
          </a:xfrm>
          <a:prstGeom prst="rect">
            <a:avLst/>
          </a:prstGeom>
          <a:noFill/>
          <a:ln/>
        </p:spPr>
        <p:txBody>
          <a:bodyPr wrap="square" lIns="0" tIns="0" rIns="0" bIns="0" rtlCol="0" anchor="t"/>
          <a:lstStyle/>
          <a:p>
            <a:pPr indent="0" marL="0">
              <a:buNone/>
            </a:pPr>
            <a:r>
              <a:rPr lang="en-US" sz="1350" dirty="0">
                <a:solidFill>
                  <a:schemeClr val="tx1"/>
                </a:solidFill>
              </a:rPr>
              <a:t>Math.fround thresholds; SHAP within 1e-5</a:t>
            </a:r>
            <a:endParaRPr lang="en-US" sz="1350" dirty="0"/>
          </a:p>
        </p:txBody>
      </p:sp>
      <p:sp>
        <p:nvSpPr>
          <p:cNvPr id="25" name="Slide Number Placeholder 0"/>
          <p:cNvSpPr>
            <a:spLocks noGrp="1"/>
          </p:cNvSpPr>
          <p:nvPr>
            <p:ph type="sldNum" sz="quarter" idx="4294967295"/>
          </p:nvPr>
        </p:nvSpPr>
        <p:spPr>
          <a:xfrm>
            <a:off x="11064240" y="642823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A8C"/>
                </a:solidFill>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ph idx="100" type="body" hasCustomPrompt="1"/>
          </p:nvPr>
        </p:nvSpPr>
        <p:spPr>
          <a:xfrm>
            <a:off x="548640" y="256032"/>
            <a:ext cx="8229600" cy="292608"/>
          </a:xfrm>
          <a:prstGeom prst="rect">
            <a:avLst/>
          </a:prstGeom>
          <a:noFill/>
          <a:ln/>
        </p:spPr>
        <p:txBody>
          <a:bodyPr wrap="square" lIns="0" tIns="0" rIns="0" bIns="0" rtlCol="0"/>
          <a:lstStyle/>
          <a:p>
            <a:pPr indent="0" marL="0">
              <a:buNone/>
            </a:pPr>
            <a:r>
              <a:rPr lang="en-US" sz="1200" b="1" spc="200" kern="0" dirty="0">
                <a:solidFill>
                  <a:schemeClr val="accent5"/>
                </a:solidFill>
              </a:rPr>
              <a:t>ETHICAL CONSIDERATIONS</a:t>
            </a:r>
            <a:endParaRPr lang="en-US" sz="1200" dirty="0"/>
          </a:p>
        </p:txBody>
      </p:sp>
      <p:sp>
        <p:nvSpPr>
          <p:cNvPr id="3" name="Text 0"/>
          <p:cNvSpPr/>
          <p:nvPr>
            <p:ph idx="101" type="title" hasCustomPrompt="1"/>
          </p:nvPr>
        </p:nvSpPr>
        <p:spPr>
          <a:xfrm>
            <a:off x="548640" y="530352"/>
            <a:ext cx="11064240" cy="731520"/>
          </a:xfrm>
          <a:prstGeom prst="rect">
            <a:avLst/>
          </a:prstGeom>
          <a:noFill/>
          <a:ln/>
        </p:spPr>
        <p:txBody>
          <a:bodyPr wrap="square" lIns="0" tIns="0" rIns="0" bIns="0" rtlCol="0" anchor="ctr"/>
          <a:lstStyle/>
          <a:p>
            <a:pPr algn="l" indent="0" marL="0">
              <a:buNone/>
            </a:pPr>
            <a:r>
              <a:rPr lang="en-US" sz="3200" b="1" dirty="0">
                <a:solidFill>
                  <a:schemeClr val="tx2"/>
                </a:solidFill>
                <a:latin typeface="Cambria" pitchFamily="34" charset="0"/>
                <a:ea typeface="Cambria" pitchFamily="34" charset="-122"/>
                <a:cs typeface="Cambria" pitchFamily="34" charset="-120"/>
              </a:rPr>
              <a:t>Risk, Safety and Responsible Use</a:t>
            </a:r>
            <a:endParaRPr lang="en-US" sz="3200" dirty="0"/>
          </a:p>
        </p:txBody>
      </p:sp>
      <p:sp>
        <p:nvSpPr>
          <p:cNvPr id="5" name="card"/>
          <p:cNvSpPr/>
          <p:nvPr/>
        </p:nvSpPr>
        <p:spPr>
          <a:xfrm>
            <a:off x="548640" y="1554480"/>
            <a:ext cx="5422392" cy="2148840"/>
          </a:xfrm>
          <a:prstGeom prst="roundRect">
            <a:avLst>
              <a:gd name="adj" fmla="val 3404"/>
            </a:avLst>
          </a:prstGeom>
          <a:solidFill>
            <a:schemeClr val="bg2"/>
          </a:solidFill>
          <a:ln/>
        </p:spPr>
      </p:sp>
      <p:sp>
        <p:nvSpPr>
          <p:cNvPr id="6" name="icon circle"/>
          <p:cNvSpPr/>
          <p:nvPr/>
        </p:nvSpPr>
        <p:spPr>
          <a:xfrm>
            <a:off x="822960" y="1828800"/>
            <a:ext cx="777240" cy="777240"/>
          </a:xfrm>
          <a:prstGeom prst="ellipse">
            <a:avLst/>
          </a:prstGeom>
          <a:solidFill>
            <a:schemeClr val="tx2"/>
          </a:solidFill>
          <a:ln/>
        </p:spPr>
      </p:sp>
      <p:pic>
        <p:nvPicPr>
          <p:cNvPr id="7" name="icon FaUserShield" descr="UserShield icon">    </p:cNvPr>
          <p:cNvPicPr>
            <a:picLocks noChangeAspect="1"/>
          </p:cNvPicPr>
          <p:nvPr/>
        </p:nvPicPr>
        <p:blipFill>
          <a:blip r:embed="rId1"/>
          <a:stretch>
            <a:fillRect/>
          </a:stretch>
        </p:blipFill>
        <p:spPr>
          <a:xfrm>
            <a:off x="1009498" y="2015338"/>
            <a:ext cx="404165" cy="404165"/>
          </a:xfrm>
          <a:prstGeom prst="rect">
            <a:avLst/>
          </a:prstGeom>
        </p:spPr>
      </p:pic>
      <p:sp>
        <p:nvSpPr>
          <p:cNvPr id="8" name="Text 4"/>
          <p:cNvSpPr txBox="1"/>
          <p:nvPr/>
        </p:nvSpPr>
        <p:spPr>
          <a:xfrm>
            <a:off x="1828800" y="1828800"/>
            <a:ext cx="3931920" cy="548640"/>
          </a:xfrm>
          <a:prstGeom prst="rect">
            <a:avLst/>
          </a:prstGeom>
          <a:noFill/>
          <a:ln/>
        </p:spPr>
        <p:txBody>
          <a:bodyPr wrap="square" lIns="0" tIns="0" rIns="0" bIns="0" rtlCol="0" anchor="ctr"/>
          <a:lstStyle/>
          <a:p>
            <a:pPr indent="0" marL="0">
              <a:buNone/>
            </a:pPr>
            <a:r>
              <a:rPr lang="en-US" sz="1900" b="1" dirty="0">
                <a:solidFill>
                  <a:schemeClr val="tx2"/>
                </a:solidFill>
              </a:rPr>
              <a:t>No human participants</a:t>
            </a:r>
            <a:endParaRPr lang="en-US" sz="1900" dirty="0"/>
          </a:p>
        </p:txBody>
      </p:sp>
      <p:sp>
        <p:nvSpPr>
          <p:cNvPr id="9" name="Text 5"/>
          <p:cNvSpPr txBox="1"/>
          <p:nvPr/>
        </p:nvSpPr>
        <p:spPr>
          <a:xfrm>
            <a:off x="1828800" y="2423160"/>
            <a:ext cx="3931920" cy="1097280"/>
          </a:xfrm>
          <a:prstGeom prst="rect">
            <a:avLst/>
          </a:prstGeom>
          <a:noFill/>
          <a:ln/>
        </p:spPr>
        <p:txBody>
          <a:bodyPr wrap="square" lIns="0" tIns="0" rIns="0" bIns="0" rtlCol="0" anchor="t"/>
          <a:lstStyle/>
          <a:p>
            <a:pPr indent="0" marL="0">
              <a:buNone/>
            </a:pPr>
            <a:r>
              <a:rPr lang="en-US" sz="1500" dirty="0">
                <a:solidFill>
                  <a:schemeClr val="tx1"/>
                </a:solidFill>
              </a:rPr>
              <a:t>No surveys, interviews or personal data; a purely computational study.</a:t>
            </a:r>
            <a:endParaRPr lang="en-US" sz="1500" dirty="0"/>
          </a:p>
        </p:txBody>
      </p:sp>
      <p:sp>
        <p:nvSpPr>
          <p:cNvPr id="10" name="card"/>
          <p:cNvSpPr/>
          <p:nvPr/>
        </p:nvSpPr>
        <p:spPr>
          <a:xfrm>
            <a:off x="6217920" y="1554480"/>
            <a:ext cx="5422392" cy="2148840"/>
          </a:xfrm>
          <a:prstGeom prst="roundRect">
            <a:avLst>
              <a:gd name="adj" fmla="val 3404"/>
            </a:avLst>
          </a:prstGeom>
          <a:solidFill>
            <a:schemeClr val="bg2"/>
          </a:solidFill>
          <a:ln/>
        </p:spPr>
      </p:sp>
      <p:sp>
        <p:nvSpPr>
          <p:cNvPr id="11" name="icon circle"/>
          <p:cNvSpPr/>
          <p:nvPr/>
        </p:nvSpPr>
        <p:spPr>
          <a:xfrm>
            <a:off x="6492240" y="1828800"/>
            <a:ext cx="777240" cy="777240"/>
          </a:xfrm>
          <a:prstGeom prst="ellipse">
            <a:avLst/>
          </a:prstGeom>
          <a:solidFill>
            <a:schemeClr val="tx2"/>
          </a:solidFill>
          <a:ln/>
        </p:spPr>
      </p:sp>
      <p:pic>
        <p:nvPicPr>
          <p:cNvPr id="12" name="icon FaDatabase" descr="Database icon">    </p:cNvPr>
          <p:cNvPicPr>
            <a:picLocks noChangeAspect="1"/>
          </p:cNvPicPr>
          <p:nvPr/>
        </p:nvPicPr>
        <p:blipFill>
          <a:blip r:embed="rId2"/>
          <a:stretch>
            <a:fillRect/>
          </a:stretch>
        </p:blipFill>
        <p:spPr>
          <a:xfrm>
            <a:off x="6678778" y="2015338"/>
            <a:ext cx="404165" cy="404165"/>
          </a:xfrm>
          <a:prstGeom prst="rect">
            <a:avLst/>
          </a:prstGeom>
        </p:spPr>
      </p:pic>
      <p:sp>
        <p:nvSpPr>
          <p:cNvPr id="13" name="Text 8"/>
          <p:cNvSpPr txBox="1"/>
          <p:nvPr/>
        </p:nvSpPr>
        <p:spPr>
          <a:xfrm>
            <a:off x="7498080" y="1828800"/>
            <a:ext cx="3931920" cy="548640"/>
          </a:xfrm>
          <a:prstGeom prst="rect">
            <a:avLst/>
          </a:prstGeom>
          <a:noFill/>
          <a:ln/>
        </p:spPr>
        <p:txBody>
          <a:bodyPr wrap="square" lIns="0" tIns="0" rIns="0" bIns="0" rtlCol="0" anchor="ctr"/>
          <a:lstStyle/>
          <a:p>
            <a:pPr indent="0" marL="0">
              <a:buNone/>
            </a:pPr>
            <a:r>
              <a:rPr lang="en-US" sz="1900" b="1" dirty="0">
                <a:solidFill>
                  <a:schemeClr val="tx2"/>
                </a:solidFill>
              </a:rPr>
              <a:t>Public and simulated data</a:t>
            </a:r>
            <a:endParaRPr lang="en-US" sz="1900" dirty="0"/>
          </a:p>
        </p:txBody>
      </p:sp>
      <p:sp>
        <p:nvSpPr>
          <p:cNvPr id="14" name="Text 9"/>
          <p:cNvSpPr txBox="1"/>
          <p:nvPr/>
        </p:nvSpPr>
        <p:spPr>
          <a:xfrm>
            <a:off x="7498080" y="2423160"/>
            <a:ext cx="3931920" cy="1097280"/>
          </a:xfrm>
          <a:prstGeom prst="rect">
            <a:avLst/>
          </a:prstGeom>
          <a:noFill/>
          <a:ln/>
        </p:spPr>
        <p:txBody>
          <a:bodyPr wrap="square" lIns="0" tIns="0" rIns="0" bIns="0" rtlCol="0" anchor="t"/>
          <a:lstStyle/>
          <a:p>
            <a:pPr indent="0" marL="0">
              <a:buNone/>
            </a:pPr>
            <a:r>
              <a:rPr lang="en-US" sz="1500" dirty="0">
                <a:solidFill>
                  <a:schemeClr val="tx1"/>
                </a:solidFill>
              </a:rPr>
              <a:t>Standards, price items and news reports are public; the benchmark is simulated.</a:t>
            </a:r>
            <a:endParaRPr lang="en-US" sz="1500" dirty="0"/>
          </a:p>
        </p:txBody>
      </p:sp>
      <p:sp>
        <p:nvSpPr>
          <p:cNvPr id="15" name="card"/>
          <p:cNvSpPr/>
          <p:nvPr/>
        </p:nvSpPr>
        <p:spPr>
          <a:xfrm>
            <a:off x="548640" y="3931920"/>
            <a:ext cx="5422392" cy="2148840"/>
          </a:xfrm>
          <a:prstGeom prst="roundRect">
            <a:avLst>
              <a:gd name="adj" fmla="val 3404"/>
            </a:avLst>
          </a:prstGeom>
          <a:solidFill>
            <a:schemeClr val="bg2"/>
          </a:solidFill>
          <a:ln/>
        </p:spPr>
      </p:sp>
      <p:sp>
        <p:nvSpPr>
          <p:cNvPr id="16" name="icon circle"/>
          <p:cNvSpPr/>
          <p:nvPr/>
        </p:nvSpPr>
        <p:spPr>
          <a:xfrm>
            <a:off x="822960" y="4206240"/>
            <a:ext cx="777240" cy="777240"/>
          </a:xfrm>
          <a:prstGeom prst="ellipse">
            <a:avLst/>
          </a:prstGeom>
          <a:solidFill>
            <a:schemeClr val="tx2"/>
          </a:solidFill>
          <a:ln/>
        </p:spPr>
      </p:sp>
      <p:pic>
        <p:nvPicPr>
          <p:cNvPr id="17" name="icon FaScaleBalanced" descr="ScaleBalanced icon">    </p:cNvPr>
          <p:cNvPicPr>
            <a:picLocks noChangeAspect="1"/>
          </p:cNvPicPr>
          <p:nvPr/>
        </p:nvPicPr>
        <p:blipFill>
          <a:blip r:embed="rId3"/>
          <a:stretch>
            <a:fillRect/>
          </a:stretch>
        </p:blipFill>
        <p:spPr>
          <a:xfrm>
            <a:off x="1009498" y="4392778"/>
            <a:ext cx="404165" cy="404165"/>
          </a:xfrm>
          <a:prstGeom prst="rect">
            <a:avLst/>
          </a:prstGeom>
        </p:spPr>
      </p:pic>
      <p:sp>
        <p:nvSpPr>
          <p:cNvPr id="18" name="Text 12"/>
          <p:cNvSpPr txBox="1"/>
          <p:nvPr/>
        </p:nvSpPr>
        <p:spPr>
          <a:xfrm>
            <a:off x="1828800" y="4206240"/>
            <a:ext cx="3931920" cy="548640"/>
          </a:xfrm>
          <a:prstGeom prst="rect">
            <a:avLst/>
          </a:prstGeom>
          <a:noFill/>
          <a:ln/>
        </p:spPr>
        <p:txBody>
          <a:bodyPr wrap="square" lIns="0" tIns="0" rIns="0" bIns="0" rtlCol="0" anchor="ctr"/>
          <a:lstStyle/>
          <a:p>
            <a:pPr indent="0" marL="0">
              <a:buNone/>
            </a:pPr>
            <a:r>
              <a:rPr lang="en-US" sz="1900" b="1" dirty="0">
                <a:solidFill>
                  <a:schemeClr val="tx2"/>
                </a:solidFill>
              </a:rPr>
              <a:t>Flags are not verdicts</a:t>
            </a:r>
            <a:endParaRPr lang="en-US" sz="1900" dirty="0"/>
          </a:p>
        </p:txBody>
      </p:sp>
      <p:sp>
        <p:nvSpPr>
          <p:cNvPr id="19" name="Text 13"/>
          <p:cNvSpPr txBox="1"/>
          <p:nvPr/>
        </p:nvSpPr>
        <p:spPr>
          <a:xfrm>
            <a:off x="1828800" y="4800600"/>
            <a:ext cx="3931920" cy="1097280"/>
          </a:xfrm>
          <a:prstGeom prst="rect">
            <a:avLst/>
          </a:prstGeom>
          <a:noFill/>
          <a:ln/>
        </p:spPr>
        <p:txBody>
          <a:bodyPr wrap="square" lIns="0" tIns="0" rIns="0" bIns="0" rtlCol="0" anchor="t"/>
          <a:lstStyle/>
          <a:p>
            <a:pPr indent="0" marL="0">
              <a:buNone/>
            </a:pPr>
            <a:r>
              <a:rPr lang="en-US" sz="1500" dirty="0">
                <a:solidFill>
                  <a:schemeClr val="tx1"/>
                </a:solidFill>
              </a:rPr>
              <a:t>A high BRI calls for review by the implementing office, COA, Ombudsman or ICI.</a:t>
            </a:r>
            <a:endParaRPr lang="en-US" sz="1500" dirty="0"/>
          </a:p>
        </p:txBody>
      </p:sp>
      <p:sp>
        <p:nvSpPr>
          <p:cNvPr id="20" name="card"/>
          <p:cNvSpPr/>
          <p:nvPr/>
        </p:nvSpPr>
        <p:spPr>
          <a:xfrm>
            <a:off x="6217920" y="3931920"/>
            <a:ext cx="5422392" cy="2148840"/>
          </a:xfrm>
          <a:prstGeom prst="roundRect">
            <a:avLst>
              <a:gd name="adj" fmla="val 3404"/>
            </a:avLst>
          </a:prstGeom>
          <a:solidFill>
            <a:schemeClr val="bg2"/>
          </a:solidFill>
          <a:ln/>
        </p:spPr>
      </p:sp>
      <p:sp>
        <p:nvSpPr>
          <p:cNvPr id="21" name="icon circle"/>
          <p:cNvSpPr/>
          <p:nvPr/>
        </p:nvSpPr>
        <p:spPr>
          <a:xfrm>
            <a:off x="6492240" y="4206240"/>
            <a:ext cx="777240" cy="777240"/>
          </a:xfrm>
          <a:prstGeom prst="ellipse">
            <a:avLst/>
          </a:prstGeom>
          <a:solidFill>
            <a:schemeClr val="tx2"/>
          </a:solidFill>
          <a:ln/>
        </p:spPr>
      </p:sp>
      <p:pic>
        <p:nvPicPr>
          <p:cNvPr id="22" name="icon FaCompassDrafting" descr="CompassDrafting icon">    </p:cNvPr>
          <p:cNvPicPr>
            <a:picLocks noChangeAspect="1"/>
          </p:cNvPicPr>
          <p:nvPr/>
        </p:nvPicPr>
        <p:blipFill>
          <a:blip r:embed="rId4"/>
          <a:stretch>
            <a:fillRect/>
          </a:stretch>
        </p:blipFill>
        <p:spPr>
          <a:xfrm>
            <a:off x="6678778" y="4392778"/>
            <a:ext cx="404165" cy="404165"/>
          </a:xfrm>
          <a:prstGeom prst="rect">
            <a:avLst/>
          </a:prstGeom>
        </p:spPr>
      </p:pic>
      <p:sp>
        <p:nvSpPr>
          <p:cNvPr id="23" name="Text 16"/>
          <p:cNvSpPr txBox="1"/>
          <p:nvPr/>
        </p:nvSpPr>
        <p:spPr>
          <a:xfrm>
            <a:off x="7498080" y="4206240"/>
            <a:ext cx="3931920" cy="548640"/>
          </a:xfrm>
          <a:prstGeom prst="rect">
            <a:avLst/>
          </a:prstGeom>
          <a:noFill/>
          <a:ln/>
        </p:spPr>
        <p:txBody>
          <a:bodyPr wrap="square" lIns="0" tIns="0" rIns="0" bIns="0" rtlCol="0" anchor="ctr"/>
          <a:lstStyle/>
          <a:p>
            <a:pPr indent="0" marL="0">
              <a:buNone/>
            </a:pPr>
            <a:r>
              <a:rPr lang="en-US" sz="1900" b="1" dirty="0">
                <a:solidFill>
                  <a:schemeClr val="tx2"/>
                </a:solidFill>
              </a:rPr>
              <a:t>Schematic designs</a:t>
            </a:r>
            <a:endParaRPr lang="en-US" sz="1900" dirty="0"/>
          </a:p>
        </p:txBody>
      </p:sp>
      <p:sp>
        <p:nvSpPr>
          <p:cNvPr id="24" name="Text 17"/>
          <p:cNvSpPr txBox="1"/>
          <p:nvPr/>
        </p:nvSpPr>
        <p:spPr>
          <a:xfrm>
            <a:off x="7498080" y="4800600"/>
            <a:ext cx="3931920" cy="1097280"/>
          </a:xfrm>
          <a:prstGeom prst="rect">
            <a:avLst/>
          </a:prstGeom>
          <a:noFill/>
          <a:ln/>
        </p:spPr>
        <p:txBody>
          <a:bodyPr wrap="square" lIns="0" tIns="0" rIns="0" bIns="0" rtlCol="0" anchor="t"/>
          <a:lstStyle/>
          <a:p>
            <a:pPr indent="0" marL="0">
              <a:buNone/>
            </a:pPr>
            <a:r>
              <a:rPr lang="en-US" sz="1500" dirty="0">
                <a:solidFill>
                  <a:schemeClr val="tx1"/>
                </a:solidFill>
              </a:rPr>
              <a:t>Designs are for estimating; licensed architects and engineers must develop them.</a:t>
            </a:r>
            <a:endParaRPr lang="en-US" sz="1500" dirty="0"/>
          </a:p>
        </p:txBody>
      </p:sp>
      <p:sp>
        <p:nvSpPr>
          <p:cNvPr id="25" name="Slide Number Placeholder 0"/>
          <p:cNvSpPr>
            <a:spLocks noGrp="1"/>
          </p:cNvSpPr>
          <p:nvPr>
            <p:ph type="sldNum" sz="quarter" idx="4294967295"/>
          </p:nvPr>
        </p:nvSpPr>
        <p:spPr>
          <a:xfrm>
            <a:off x="11064240" y="642823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A8C"/>
                </a:solidFill>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ph idx="100" type="body" hasCustomPrompt="1"/>
          </p:nvPr>
        </p:nvSpPr>
        <p:spPr>
          <a:xfrm>
            <a:off x="640080" y="1463040"/>
            <a:ext cx="3657600" cy="1188720"/>
          </a:xfrm>
          <a:prstGeom prst="rect">
            <a:avLst/>
          </a:prstGeom>
          <a:noFill/>
          <a:ln/>
        </p:spPr>
        <p:txBody>
          <a:bodyPr wrap="square" rtlCol="0"/>
          <a:lstStyle/>
          <a:p>
            <a:pPr indent="0" marL="0">
              <a:buNone/>
            </a:pPr>
            <a:r>
              <a:rPr lang="en-US" sz="8000" b="1" dirty="0">
                <a:solidFill>
                  <a:schemeClr val="accent1"/>
                </a:solidFill>
                <a:latin typeface="Cambria" pitchFamily="34" charset="0"/>
                <a:ea typeface="Cambria" pitchFamily="34" charset="-122"/>
                <a:cs typeface="Cambria" pitchFamily="34" charset="-120"/>
              </a:rPr>
              <a:t>04</a:t>
            </a:r>
            <a:endParaRPr lang="en-US" sz="8000" dirty="0"/>
          </a:p>
        </p:txBody>
      </p:sp>
      <p:sp>
        <p:nvSpPr>
          <p:cNvPr id="3" name="Text 0"/>
          <p:cNvSpPr/>
          <p:nvPr>
            <p:ph idx="101" type="title" hasCustomPrompt="1"/>
          </p:nvPr>
        </p:nvSpPr>
        <p:spPr>
          <a:xfrm>
            <a:off x="640080" y="2743200"/>
            <a:ext cx="10515600" cy="1005840"/>
          </a:xfrm>
          <a:prstGeom prst="rect">
            <a:avLst/>
          </a:prstGeom>
          <a:noFill/>
          <a:ln/>
        </p:spPr>
        <p:txBody>
          <a:bodyPr wrap="square" rtlCol="0"/>
          <a:lstStyle/>
          <a:p>
            <a:pPr algn="l" indent="0" marL="0">
              <a:buNone/>
            </a:pPr>
            <a:r>
              <a:rPr lang="en-US" sz="4400" b="1" dirty="0">
                <a:solidFill>
                  <a:schemeClr val="bg1"/>
                </a:solidFill>
                <a:latin typeface="Cambria" pitchFamily="34" charset="0"/>
                <a:ea typeface="Cambria" pitchFamily="34" charset="-122"/>
                <a:cs typeface="Cambria" pitchFamily="34" charset="-120"/>
              </a:rPr>
              <a:t>Results and Discussion</a:t>
            </a:r>
            <a:endParaRPr lang="en-US" sz="4400" dirty="0"/>
          </a:p>
        </p:txBody>
      </p:sp>
      <p:sp>
        <p:nvSpPr>
          <p:cNvPr id="4" name="Text 0"/>
          <p:cNvSpPr/>
          <p:nvPr>
            <p:ph idx="102" type="body" hasCustomPrompt="1"/>
          </p:nvPr>
        </p:nvSpPr>
        <p:spPr>
          <a:xfrm>
            <a:off x="640080" y="3840480"/>
            <a:ext cx="9601200" cy="1097280"/>
          </a:xfrm>
          <a:prstGeom prst="rect">
            <a:avLst/>
          </a:prstGeom>
          <a:noFill/>
          <a:ln/>
        </p:spPr>
        <p:txBody>
          <a:bodyPr wrap="square" rtlCol="0" anchor="t"/>
          <a:lstStyle/>
          <a:p>
            <a:pPr indent="0" marL="0">
              <a:buNone/>
            </a:pPr>
            <a:r>
              <a:rPr lang="en-US" sz="1800" dirty="0">
                <a:solidFill>
                  <a:schemeClr val="bg2"/>
                </a:solidFill>
              </a:rPr>
              <a:t>Findings for the six research questions, on the simulated benchmark SBD-300</a:t>
            </a:r>
            <a:endParaRPr lang="en-US" sz="18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ph idx="100" type="body" hasCustomPrompt="1"/>
          </p:nvPr>
        </p:nvSpPr>
        <p:spPr>
          <a:xfrm>
            <a:off x="548640" y="256032"/>
            <a:ext cx="8229600" cy="292608"/>
          </a:xfrm>
          <a:prstGeom prst="rect">
            <a:avLst/>
          </a:prstGeom>
          <a:noFill/>
          <a:ln/>
        </p:spPr>
        <p:txBody>
          <a:bodyPr wrap="square" lIns="0" tIns="0" rIns="0" bIns="0" rtlCol="0"/>
          <a:lstStyle/>
          <a:p>
            <a:pPr indent="0" marL="0">
              <a:buNone/>
            </a:pPr>
            <a:r>
              <a:rPr lang="en-US" sz="1200" b="1" spc="200" kern="0" dirty="0">
                <a:solidFill>
                  <a:schemeClr val="accent5"/>
                </a:solidFill>
              </a:rPr>
              <a:t>RQ1 · PLAN VARIABLES</a:t>
            </a:r>
            <a:endParaRPr lang="en-US" sz="1200" dirty="0"/>
          </a:p>
        </p:txBody>
      </p:sp>
      <p:sp>
        <p:nvSpPr>
          <p:cNvPr id="3" name="Text 0"/>
          <p:cNvSpPr/>
          <p:nvPr>
            <p:ph idx="101" type="title" hasCustomPrompt="1"/>
          </p:nvPr>
        </p:nvSpPr>
        <p:spPr>
          <a:xfrm>
            <a:off x="548640" y="530352"/>
            <a:ext cx="11064240" cy="731520"/>
          </a:xfrm>
          <a:prstGeom prst="rect">
            <a:avLst/>
          </a:prstGeom>
          <a:noFill/>
          <a:ln/>
        </p:spPr>
        <p:txBody>
          <a:bodyPr wrap="square" lIns="0" tIns="0" rIns="0" bIns="0" rtlCol="0" anchor="ctr"/>
          <a:lstStyle/>
          <a:p>
            <a:pPr algn="l" indent="0" marL="0">
              <a:buNone/>
            </a:pPr>
            <a:r>
              <a:rPr lang="en-US" sz="3200" b="1" dirty="0">
                <a:solidFill>
                  <a:schemeClr val="tx2"/>
                </a:solidFill>
                <a:latin typeface="Cambria" pitchFamily="34" charset="0"/>
                <a:ea typeface="Cambria" pitchFamily="34" charset="-122"/>
                <a:cs typeface="Cambria" pitchFamily="34" charset="-120"/>
              </a:rPr>
              <a:t>What the Benchmark Contains</a:t>
            </a:r>
            <a:endParaRPr lang="en-US" sz="3200" dirty="0"/>
          </a:p>
        </p:txBody>
      </p:sp>
      <p:graphicFrame>
        <p:nvGraphicFramePr>
          <p:cNvPr id="5" name="buildings by type chart" descr="Bar chart of buildings by type"/>
          <p:cNvGraphicFramePr/>
          <p:nvPr/>
        </p:nvGraphicFramePr>
        <p:xfrm>
          <a:off x="548640" y="1463040"/>
          <a:ext cx="5486400" cy="3291840"/>
        </p:xfrm>
        <a:graphic xmlns:a="http://schemas.openxmlformats.org/drawingml/2006/main">
          <a:graphicData uri="http://schemas.openxmlformats.org/drawingml/2006/chart">
            <c:chart xmlns:c="http://schemas.openxmlformats.org/drawingml/2006/chart" r:id="rId1"/>
          </a:graphicData>
        </a:graphic>
      </p:graphicFrame>
      <p:graphicFrame>
        <p:nvGraphicFramePr>
          <p:cNvPr id="6" name="bridges by type chart" descr="Bar chart of bridges by superstructure"/>
          <p:cNvGraphicFramePr/>
          <p:nvPr/>
        </p:nvGraphicFramePr>
        <p:xfrm>
          <a:off x="6263640" y="1463040"/>
          <a:ext cx="5376672" cy="3291840"/>
        </p:xfrm>
        <a:graphic xmlns:a="http://schemas.openxmlformats.org/drawingml/2006/main">
          <a:graphicData uri="http://schemas.openxmlformats.org/drawingml/2006/chart">
            <c:chart xmlns:c="http://schemas.openxmlformats.org/drawingml/2006/chart" r:id="rId2"/>
          </a:graphicData>
        </a:graphic>
      </p:graphicFrame>
      <p:sp>
        <p:nvSpPr>
          <p:cNvPr id="7" name="card"/>
          <p:cNvSpPr/>
          <p:nvPr/>
        </p:nvSpPr>
        <p:spPr>
          <a:xfrm>
            <a:off x="548640" y="4937760"/>
            <a:ext cx="2606040" cy="1280160"/>
          </a:xfrm>
          <a:prstGeom prst="roundRect">
            <a:avLst>
              <a:gd name="adj" fmla="val 5714"/>
            </a:avLst>
          </a:prstGeom>
          <a:solidFill>
            <a:schemeClr val="bg2"/>
          </a:solidFill>
          <a:ln/>
        </p:spPr>
      </p:sp>
      <p:sp>
        <p:nvSpPr>
          <p:cNvPr id="8" name="Text 3"/>
          <p:cNvSpPr txBox="1"/>
          <p:nvPr/>
        </p:nvSpPr>
        <p:spPr>
          <a:xfrm>
            <a:off x="731520" y="5029200"/>
            <a:ext cx="2286000" cy="594360"/>
          </a:xfrm>
          <a:prstGeom prst="rect">
            <a:avLst/>
          </a:prstGeom>
          <a:noFill/>
          <a:ln/>
        </p:spPr>
        <p:txBody>
          <a:bodyPr wrap="square" lIns="0" tIns="0" rIns="0" bIns="0" rtlCol="0" anchor="t"/>
          <a:lstStyle/>
          <a:p>
            <a:pPr indent="0" marL="0">
              <a:buNone/>
            </a:pPr>
            <a:r>
              <a:rPr lang="en-US" sz="2000" b="1" dirty="0">
                <a:solidFill>
                  <a:schemeClr val="tx2"/>
                </a:solidFill>
                <a:latin typeface="Cambria" pitchFamily="34" charset="0"/>
                <a:ea typeface="Cambria" pitchFamily="34" charset="-122"/>
                <a:cs typeface="Cambria" pitchFamily="34" charset="-120"/>
              </a:rPr>
              <a:t>₱5.37M – ₱56.77M</a:t>
            </a:r>
            <a:endParaRPr lang="en-US" sz="2000" dirty="0"/>
          </a:p>
        </p:txBody>
      </p:sp>
      <p:sp>
        <p:nvSpPr>
          <p:cNvPr id="9" name="Text 4"/>
          <p:cNvSpPr txBox="1"/>
          <p:nvPr/>
        </p:nvSpPr>
        <p:spPr>
          <a:xfrm>
            <a:off x="731520" y="5623560"/>
            <a:ext cx="2286000" cy="457200"/>
          </a:xfrm>
          <a:prstGeom prst="rect">
            <a:avLst/>
          </a:prstGeom>
          <a:noFill/>
          <a:ln/>
        </p:spPr>
        <p:txBody>
          <a:bodyPr wrap="square" lIns="0" tIns="0" rIns="0" bIns="0" rtlCol="0" anchor="t"/>
          <a:lstStyle/>
          <a:p>
            <a:pPr indent="0" marL="0">
              <a:buNone/>
            </a:pPr>
            <a:r>
              <a:rPr lang="en-US" sz="1400" dirty="0">
                <a:solidFill>
                  <a:schemeClr val="tx1"/>
                </a:solidFill>
              </a:rPr>
              <a:t>building contract range</a:t>
            </a:r>
            <a:endParaRPr lang="en-US" sz="1400" dirty="0"/>
          </a:p>
        </p:txBody>
      </p:sp>
      <p:sp>
        <p:nvSpPr>
          <p:cNvPr id="10" name="card"/>
          <p:cNvSpPr/>
          <p:nvPr/>
        </p:nvSpPr>
        <p:spPr>
          <a:xfrm>
            <a:off x="3383280" y="4937760"/>
            <a:ext cx="2606040" cy="1280160"/>
          </a:xfrm>
          <a:prstGeom prst="roundRect">
            <a:avLst>
              <a:gd name="adj" fmla="val 5714"/>
            </a:avLst>
          </a:prstGeom>
          <a:solidFill>
            <a:schemeClr val="bg2"/>
          </a:solidFill>
          <a:ln/>
        </p:spPr>
      </p:sp>
      <p:sp>
        <p:nvSpPr>
          <p:cNvPr id="11" name="Text 6"/>
          <p:cNvSpPr txBox="1"/>
          <p:nvPr/>
        </p:nvSpPr>
        <p:spPr>
          <a:xfrm>
            <a:off x="3566160" y="5029200"/>
            <a:ext cx="2286000" cy="594360"/>
          </a:xfrm>
          <a:prstGeom prst="rect">
            <a:avLst/>
          </a:prstGeom>
          <a:noFill/>
          <a:ln/>
        </p:spPr>
        <p:txBody>
          <a:bodyPr wrap="square" lIns="0" tIns="0" rIns="0" bIns="0" rtlCol="0" anchor="t"/>
          <a:lstStyle/>
          <a:p>
            <a:pPr indent="0" marL="0">
              <a:buNone/>
            </a:pPr>
            <a:r>
              <a:rPr lang="en-US" sz="2000" b="1" dirty="0">
                <a:solidFill>
                  <a:schemeClr val="tx2"/>
                </a:solidFill>
                <a:latin typeface="Cambria" pitchFamily="34" charset="0"/>
                <a:ea typeface="Cambria" pitchFamily="34" charset="-122"/>
                <a:cs typeface="Cambria" pitchFamily="34" charset="-120"/>
              </a:rPr>
              <a:t>672.3 m²</a:t>
            </a:r>
            <a:endParaRPr lang="en-US" sz="2000" dirty="0"/>
          </a:p>
        </p:txBody>
      </p:sp>
      <p:sp>
        <p:nvSpPr>
          <p:cNvPr id="12" name="Text 7"/>
          <p:cNvSpPr txBox="1"/>
          <p:nvPr/>
        </p:nvSpPr>
        <p:spPr>
          <a:xfrm>
            <a:off x="3566160" y="5623560"/>
            <a:ext cx="2286000" cy="457200"/>
          </a:xfrm>
          <a:prstGeom prst="rect">
            <a:avLst/>
          </a:prstGeom>
          <a:noFill/>
          <a:ln/>
        </p:spPr>
        <p:txBody>
          <a:bodyPr wrap="square" lIns="0" tIns="0" rIns="0" bIns="0" rtlCol="0" anchor="t"/>
          <a:lstStyle/>
          <a:p>
            <a:pPr indent="0" marL="0">
              <a:buNone/>
            </a:pPr>
            <a:r>
              <a:rPr lang="en-US" sz="1400" dirty="0">
                <a:solidFill>
                  <a:schemeClr val="tx1"/>
                </a:solidFill>
              </a:rPr>
              <a:t>mean building GFA</a:t>
            </a:r>
            <a:endParaRPr lang="en-US" sz="1400" dirty="0"/>
          </a:p>
        </p:txBody>
      </p:sp>
      <p:sp>
        <p:nvSpPr>
          <p:cNvPr id="13" name="card"/>
          <p:cNvSpPr/>
          <p:nvPr/>
        </p:nvSpPr>
        <p:spPr>
          <a:xfrm>
            <a:off x="6217920" y="4937760"/>
            <a:ext cx="2606040" cy="1280160"/>
          </a:xfrm>
          <a:prstGeom prst="roundRect">
            <a:avLst>
              <a:gd name="adj" fmla="val 5714"/>
            </a:avLst>
          </a:prstGeom>
          <a:solidFill>
            <a:schemeClr val="bg2"/>
          </a:solidFill>
          <a:ln/>
        </p:spPr>
      </p:sp>
      <p:sp>
        <p:nvSpPr>
          <p:cNvPr id="14" name="Text 9"/>
          <p:cNvSpPr txBox="1"/>
          <p:nvPr/>
        </p:nvSpPr>
        <p:spPr>
          <a:xfrm>
            <a:off x="6400800" y="5029200"/>
            <a:ext cx="2286000" cy="594360"/>
          </a:xfrm>
          <a:prstGeom prst="rect">
            <a:avLst/>
          </a:prstGeom>
          <a:noFill/>
          <a:ln/>
        </p:spPr>
        <p:txBody>
          <a:bodyPr wrap="square" lIns="0" tIns="0" rIns="0" bIns="0" rtlCol="0" anchor="t"/>
          <a:lstStyle/>
          <a:p>
            <a:pPr indent="0" marL="0">
              <a:buNone/>
            </a:pPr>
            <a:r>
              <a:rPr lang="en-US" sz="2000" b="1" dirty="0">
                <a:solidFill>
                  <a:schemeClr val="tx2"/>
                </a:solidFill>
                <a:latin typeface="Cambria" pitchFamily="34" charset="0"/>
                <a:ea typeface="Cambria" pitchFamily="34" charset="-122"/>
                <a:cs typeface="Cambria" pitchFamily="34" charset="-120"/>
              </a:rPr>
              <a:t>₱1.00M – ₱179.23M</a:t>
            </a:r>
            <a:endParaRPr lang="en-US" sz="2000" dirty="0"/>
          </a:p>
        </p:txBody>
      </p:sp>
      <p:sp>
        <p:nvSpPr>
          <p:cNvPr id="15" name="Text 10"/>
          <p:cNvSpPr txBox="1"/>
          <p:nvPr/>
        </p:nvSpPr>
        <p:spPr>
          <a:xfrm>
            <a:off x="6400800" y="5623560"/>
            <a:ext cx="2286000" cy="457200"/>
          </a:xfrm>
          <a:prstGeom prst="rect">
            <a:avLst/>
          </a:prstGeom>
          <a:noFill/>
          <a:ln/>
        </p:spPr>
        <p:txBody>
          <a:bodyPr wrap="square" lIns="0" tIns="0" rIns="0" bIns="0" rtlCol="0" anchor="t"/>
          <a:lstStyle/>
          <a:p>
            <a:pPr indent="0" marL="0">
              <a:buNone/>
            </a:pPr>
            <a:r>
              <a:rPr lang="en-US" sz="1400" dirty="0">
                <a:solidFill>
                  <a:schemeClr val="tx1"/>
                </a:solidFill>
              </a:rPr>
              <a:t>bridge contract range</a:t>
            </a:r>
            <a:endParaRPr lang="en-US" sz="1400" dirty="0"/>
          </a:p>
        </p:txBody>
      </p:sp>
      <p:sp>
        <p:nvSpPr>
          <p:cNvPr id="16" name="card"/>
          <p:cNvSpPr/>
          <p:nvPr/>
        </p:nvSpPr>
        <p:spPr>
          <a:xfrm>
            <a:off x="9052560" y="4937760"/>
            <a:ext cx="2606040" cy="1280160"/>
          </a:xfrm>
          <a:prstGeom prst="roundRect">
            <a:avLst>
              <a:gd name="adj" fmla="val 5714"/>
            </a:avLst>
          </a:prstGeom>
          <a:solidFill>
            <a:schemeClr val="bg2"/>
          </a:solidFill>
          <a:ln/>
        </p:spPr>
      </p:sp>
      <p:sp>
        <p:nvSpPr>
          <p:cNvPr id="17" name="Text 12"/>
          <p:cNvSpPr txBox="1"/>
          <p:nvPr/>
        </p:nvSpPr>
        <p:spPr>
          <a:xfrm>
            <a:off x="9235440" y="5029200"/>
            <a:ext cx="2286000" cy="594360"/>
          </a:xfrm>
          <a:prstGeom prst="rect">
            <a:avLst/>
          </a:prstGeom>
          <a:noFill/>
          <a:ln/>
        </p:spPr>
        <p:txBody>
          <a:bodyPr wrap="square" lIns="0" tIns="0" rIns="0" bIns="0" rtlCol="0" anchor="t"/>
          <a:lstStyle/>
          <a:p>
            <a:pPr indent="0" marL="0">
              <a:buNone/>
            </a:pPr>
            <a:r>
              <a:rPr lang="en-US" sz="2000" b="1" dirty="0">
                <a:solidFill>
                  <a:schemeClr val="tx2"/>
                </a:solidFill>
                <a:latin typeface="Cambria" pitchFamily="34" charset="0"/>
                <a:ea typeface="Cambria" pitchFamily="34" charset="-122"/>
                <a:cs typeface="Cambria" pitchFamily="34" charset="-120"/>
              </a:rPr>
              <a:t>40.9 m</a:t>
            </a:r>
            <a:endParaRPr lang="en-US" sz="2000" dirty="0"/>
          </a:p>
        </p:txBody>
      </p:sp>
      <p:sp>
        <p:nvSpPr>
          <p:cNvPr id="18" name="Text 13"/>
          <p:cNvSpPr txBox="1"/>
          <p:nvPr/>
        </p:nvSpPr>
        <p:spPr>
          <a:xfrm>
            <a:off x="9235440" y="5623560"/>
            <a:ext cx="2286000" cy="457200"/>
          </a:xfrm>
          <a:prstGeom prst="rect">
            <a:avLst/>
          </a:prstGeom>
          <a:noFill/>
          <a:ln/>
        </p:spPr>
        <p:txBody>
          <a:bodyPr wrap="square" lIns="0" tIns="0" rIns="0" bIns="0" rtlCol="0" anchor="t"/>
          <a:lstStyle/>
          <a:p>
            <a:pPr indent="0" marL="0">
              <a:buNone/>
            </a:pPr>
            <a:r>
              <a:rPr lang="en-US" sz="1400" dirty="0">
                <a:solidFill>
                  <a:schemeClr val="tx1"/>
                </a:solidFill>
              </a:rPr>
              <a:t>mean bridge length</a:t>
            </a:r>
            <a:endParaRPr lang="en-US" sz="1400" dirty="0"/>
          </a:p>
        </p:txBody>
      </p:sp>
      <p:sp>
        <p:nvSpPr>
          <p:cNvPr id="25" name="Slide Number Placeholder 0"/>
          <p:cNvSpPr>
            <a:spLocks noGrp="1"/>
          </p:cNvSpPr>
          <p:nvPr>
            <p:ph type="sldNum" sz="quarter" idx="4294967295"/>
          </p:nvPr>
        </p:nvSpPr>
        <p:spPr>
          <a:xfrm>
            <a:off x="11064240" y="642823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A8C"/>
                </a:solidFill>
              </a:defRPr>
            </a:lvl1pPr>
          </a:lstStyle>
          <a:p>
            <a:pPr algn="r"/>
            <a:fld id="{F7021451-1387-4CA6-816F-3879F97B5CBC}" type="slidenum">
              <a:rPr b="0"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ph idx="100" type="body" hasCustomPrompt="1"/>
          </p:nvPr>
        </p:nvSpPr>
        <p:spPr>
          <a:xfrm>
            <a:off x="548640" y="256032"/>
            <a:ext cx="8229600" cy="292608"/>
          </a:xfrm>
          <a:prstGeom prst="rect">
            <a:avLst/>
          </a:prstGeom>
          <a:noFill/>
          <a:ln/>
        </p:spPr>
        <p:txBody>
          <a:bodyPr wrap="square" lIns="0" tIns="0" rIns="0" bIns="0" rtlCol="0"/>
          <a:lstStyle/>
          <a:p>
            <a:pPr indent="0" marL="0">
              <a:buNone/>
            </a:pPr>
            <a:r>
              <a:rPr lang="en-US" sz="1200" b="1" spc="200" kern="0" dirty="0">
                <a:solidFill>
                  <a:schemeClr val="accent5"/>
                </a:solidFill>
              </a:rPr>
              <a:t>RQ2A · MODULAR DESIGN LIBRARY</a:t>
            </a:r>
            <a:endParaRPr lang="en-US" sz="1200" dirty="0"/>
          </a:p>
        </p:txBody>
      </p:sp>
      <p:sp>
        <p:nvSpPr>
          <p:cNvPr id="3" name="Text 0"/>
          <p:cNvSpPr/>
          <p:nvPr>
            <p:ph idx="101" type="title" hasCustomPrompt="1"/>
          </p:nvPr>
        </p:nvSpPr>
        <p:spPr>
          <a:xfrm>
            <a:off x="548640" y="530352"/>
            <a:ext cx="11064240" cy="731520"/>
          </a:xfrm>
          <a:prstGeom prst="rect">
            <a:avLst/>
          </a:prstGeom>
          <a:noFill/>
          <a:ln/>
        </p:spPr>
        <p:txBody>
          <a:bodyPr wrap="square" lIns="0" tIns="0" rIns="0" bIns="0" rtlCol="0" anchor="ctr"/>
          <a:lstStyle/>
          <a:p>
            <a:pPr algn="l" indent="0" marL="0">
              <a:buNone/>
            </a:pPr>
            <a:r>
              <a:rPr lang="en-US" sz="3200" b="1" dirty="0">
                <a:solidFill>
                  <a:schemeClr val="tx2"/>
                </a:solidFill>
                <a:latin typeface="Cambria" pitchFamily="34" charset="0"/>
                <a:ea typeface="Cambria" pitchFamily="34" charset="-122"/>
                <a:cs typeface="Cambria" pitchFamily="34" charset="-120"/>
              </a:rPr>
              <a:t>Designs Without a Blueprint</a:t>
            </a:r>
            <a:endParaRPr lang="en-US" sz="3200" dirty="0"/>
          </a:p>
        </p:txBody>
      </p:sp>
      <p:pic>
        <p:nvPicPr>
          <p:cNvPr id="5" name="app_design_templates.png" descr="Design studio with the template library">    </p:cNvPr>
          <p:cNvPicPr>
            <a:picLocks noChangeAspect="1"/>
          </p:cNvPicPr>
          <p:nvPr/>
        </p:nvPicPr>
        <p:blipFill>
          <a:blip r:embed="rId1"/>
          <a:stretch>
            <a:fillRect/>
          </a:stretch>
        </p:blipFill>
        <p:spPr>
          <a:xfrm>
            <a:off x="548640" y="1652882"/>
            <a:ext cx="6949440" cy="4375196"/>
          </a:xfrm>
          <a:prstGeom prst="rect">
            <a:avLst/>
          </a:prstGeom>
        </p:spPr>
      </p:pic>
      <p:sp>
        <p:nvSpPr>
          <p:cNvPr id="6" name="card"/>
          <p:cNvSpPr/>
          <p:nvPr/>
        </p:nvSpPr>
        <p:spPr>
          <a:xfrm>
            <a:off x="7726680" y="1463040"/>
            <a:ext cx="3913632" cy="1078992"/>
          </a:xfrm>
          <a:prstGeom prst="roundRect">
            <a:avLst>
              <a:gd name="adj" fmla="val 6780"/>
            </a:avLst>
          </a:prstGeom>
          <a:solidFill>
            <a:schemeClr val="bg2"/>
          </a:solidFill>
          <a:ln/>
        </p:spPr>
      </p:sp>
      <p:sp>
        <p:nvSpPr>
          <p:cNvPr id="7" name="Text 3"/>
          <p:cNvSpPr txBox="1"/>
          <p:nvPr/>
        </p:nvSpPr>
        <p:spPr>
          <a:xfrm>
            <a:off x="7909560" y="1554480"/>
            <a:ext cx="1737360" cy="868680"/>
          </a:xfrm>
          <a:prstGeom prst="rect">
            <a:avLst/>
          </a:prstGeom>
          <a:noFill/>
          <a:ln/>
        </p:spPr>
        <p:txBody>
          <a:bodyPr wrap="square" lIns="0" tIns="0" rIns="0" bIns="0" rtlCol="0" anchor="ctr"/>
          <a:lstStyle/>
          <a:p>
            <a:pPr indent="0" marL="0">
              <a:buNone/>
            </a:pPr>
            <a:r>
              <a:rPr lang="en-US" sz="2800" b="1" dirty="0">
                <a:solidFill>
                  <a:schemeClr val="tx2"/>
                </a:solidFill>
                <a:latin typeface="Cambria" pitchFamily="34" charset="0"/>
                <a:ea typeface="Cambria" pitchFamily="34" charset="-122"/>
                <a:cs typeface="Cambria" pitchFamily="34" charset="-120"/>
              </a:rPr>
              <a:t>55</a:t>
            </a:r>
            <a:endParaRPr lang="en-US" sz="2800" dirty="0"/>
          </a:p>
        </p:txBody>
      </p:sp>
      <p:sp>
        <p:nvSpPr>
          <p:cNvPr id="8" name="Text 4"/>
          <p:cNvSpPr txBox="1"/>
          <p:nvPr/>
        </p:nvSpPr>
        <p:spPr>
          <a:xfrm>
            <a:off x="9646920" y="1554480"/>
            <a:ext cx="1874520" cy="868680"/>
          </a:xfrm>
          <a:prstGeom prst="rect">
            <a:avLst/>
          </a:prstGeom>
          <a:noFill/>
          <a:ln/>
        </p:spPr>
        <p:txBody>
          <a:bodyPr wrap="square" lIns="0" tIns="0" rIns="0" bIns="0" rtlCol="0" anchor="ctr"/>
          <a:lstStyle/>
          <a:p>
            <a:pPr indent="0" marL="0">
              <a:buNone/>
            </a:pPr>
            <a:r>
              <a:rPr lang="en-US" sz="1350" dirty="0">
                <a:solidFill>
                  <a:schemeClr val="tx1"/>
                </a:solidFill>
              </a:rPr>
              <a:t>reusable space modules</a:t>
            </a:r>
            <a:endParaRPr lang="en-US" sz="1350" dirty="0"/>
          </a:p>
        </p:txBody>
      </p:sp>
      <p:sp>
        <p:nvSpPr>
          <p:cNvPr id="9" name="card"/>
          <p:cNvSpPr/>
          <p:nvPr/>
        </p:nvSpPr>
        <p:spPr>
          <a:xfrm>
            <a:off x="7726680" y="2670048"/>
            <a:ext cx="3913632" cy="1078992"/>
          </a:xfrm>
          <a:prstGeom prst="roundRect">
            <a:avLst>
              <a:gd name="adj" fmla="val 6780"/>
            </a:avLst>
          </a:prstGeom>
          <a:solidFill>
            <a:schemeClr val="bg2"/>
          </a:solidFill>
          <a:ln/>
        </p:spPr>
      </p:sp>
      <p:sp>
        <p:nvSpPr>
          <p:cNvPr id="10" name="Text 6"/>
          <p:cNvSpPr txBox="1"/>
          <p:nvPr/>
        </p:nvSpPr>
        <p:spPr>
          <a:xfrm>
            <a:off x="7909560" y="2761488"/>
            <a:ext cx="1737360" cy="868680"/>
          </a:xfrm>
          <a:prstGeom prst="rect">
            <a:avLst/>
          </a:prstGeom>
          <a:noFill/>
          <a:ln/>
        </p:spPr>
        <p:txBody>
          <a:bodyPr wrap="square" lIns="0" tIns="0" rIns="0" bIns="0" rtlCol="0" anchor="ctr"/>
          <a:lstStyle/>
          <a:p>
            <a:pPr indent="0" marL="0">
              <a:buNone/>
            </a:pPr>
            <a:r>
              <a:rPr lang="en-US" sz="2800" b="1" dirty="0">
                <a:solidFill>
                  <a:schemeClr val="tx2"/>
                </a:solidFill>
                <a:latin typeface="Cambria" pitchFamily="34" charset="0"/>
                <a:ea typeface="Cambria" pitchFamily="34" charset="-122"/>
                <a:cs typeface="Cambria" pitchFamily="34" charset="-120"/>
              </a:rPr>
              <a:t>41 + 13</a:t>
            </a:r>
            <a:endParaRPr lang="en-US" sz="2800" dirty="0"/>
          </a:p>
        </p:txBody>
      </p:sp>
      <p:sp>
        <p:nvSpPr>
          <p:cNvPr id="11" name="Text 7"/>
          <p:cNvSpPr txBox="1"/>
          <p:nvPr/>
        </p:nvSpPr>
        <p:spPr>
          <a:xfrm>
            <a:off x="9646920" y="2761488"/>
            <a:ext cx="1874520" cy="868680"/>
          </a:xfrm>
          <a:prstGeom prst="rect">
            <a:avLst/>
          </a:prstGeom>
          <a:noFill/>
          <a:ln/>
        </p:spPr>
        <p:txBody>
          <a:bodyPr wrap="square" lIns="0" tIns="0" rIns="0" bIns="0" rtlCol="0" anchor="ctr"/>
          <a:lstStyle/>
          <a:p>
            <a:pPr indent="0" marL="0">
              <a:buNone/>
            </a:pPr>
            <a:r>
              <a:rPr lang="en-US" sz="1350" dirty="0">
                <a:solidFill>
                  <a:schemeClr val="tx1"/>
                </a:solidFill>
              </a:rPr>
              <a:t>building and bridge templates</a:t>
            </a:r>
            <a:endParaRPr lang="en-US" sz="1350" dirty="0"/>
          </a:p>
        </p:txBody>
      </p:sp>
      <p:sp>
        <p:nvSpPr>
          <p:cNvPr id="12" name="card"/>
          <p:cNvSpPr/>
          <p:nvPr/>
        </p:nvSpPr>
        <p:spPr>
          <a:xfrm>
            <a:off x="7726680" y="3877056"/>
            <a:ext cx="3913632" cy="1078992"/>
          </a:xfrm>
          <a:prstGeom prst="roundRect">
            <a:avLst>
              <a:gd name="adj" fmla="val 6780"/>
            </a:avLst>
          </a:prstGeom>
          <a:solidFill>
            <a:schemeClr val="bg2"/>
          </a:solidFill>
          <a:ln/>
        </p:spPr>
      </p:sp>
      <p:sp>
        <p:nvSpPr>
          <p:cNvPr id="13" name="Text 9"/>
          <p:cNvSpPr txBox="1"/>
          <p:nvPr/>
        </p:nvSpPr>
        <p:spPr>
          <a:xfrm>
            <a:off x="7909560" y="3968496"/>
            <a:ext cx="1737360" cy="868680"/>
          </a:xfrm>
          <a:prstGeom prst="rect">
            <a:avLst/>
          </a:prstGeom>
          <a:noFill/>
          <a:ln/>
        </p:spPr>
        <p:txBody>
          <a:bodyPr wrap="square" lIns="0" tIns="0" rIns="0" bIns="0" rtlCol="0" anchor="ctr"/>
          <a:lstStyle/>
          <a:p>
            <a:pPr indent="0" marL="0">
              <a:buNone/>
            </a:pPr>
            <a:r>
              <a:rPr lang="en-US" sz="2800" b="1" dirty="0">
                <a:solidFill>
                  <a:schemeClr val="tx2"/>
                </a:solidFill>
                <a:latin typeface="Cambria" pitchFamily="34" charset="0"/>
                <a:ea typeface="Cambria" pitchFamily="34" charset="-122"/>
                <a:cs typeface="Cambria" pitchFamily="34" charset="-120"/>
              </a:rPr>
              <a:t>152 / 152</a:t>
            </a:r>
            <a:endParaRPr lang="en-US" sz="2800" dirty="0"/>
          </a:p>
        </p:txBody>
      </p:sp>
      <p:sp>
        <p:nvSpPr>
          <p:cNvPr id="14" name="Text 10"/>
          <p:cNvSpPr txBox="1"/>
          <p:nvPr/>
        </p:nvSpPr>
        <p:spPr>
          <a:xfrm>
            <a:off x="9646920" y="3968496"/>
            <a:ext cx="1874520" cy="868680"/>
          </a:xfrm>
          <a:prstGeom prst="rect">
            <a:avLst/>
          </a:prstGeom>
          <a:noFill/>
          <a:ln/>
        </p:spPr>
        <p:txBody>
          <a:bodyPr wrap="square" lIns="0" tIns="0" rIns="0" bIns="0" rtlCol="0" anchor="ctr"/>
          <a:lstStyle/>
          <a:p>
            <a:pPr indent="0" marL="0">
              <a:buNone/>
            </a:pPr>
            <a:r>
              <a:rPr lang="en-US" sz="1350" dirty="0">
                <a:solidFill>
                  <a:schemeClr val="tx1"/>
                </a:solidFill>
              </a:rPr>
              <a:t>space-standard checks passed</a:t>
            </a:r>
            <a:endParaRPr lang="en-US" sz="1350" dirty="0"/>
          </a:p>
        </p:txBody>
      </p:sp>
      <p:sp>
        <p:nvSpPr>
          <p:cNvPr id="15" name="card"/>
          <p:cNvSpPr/>
          <p:nvPr/>
        </p:nvSpPr>
        <p:spPr>
          <a:xfrm>
            <a:off x="7726680" y="5084064"/>
            <a:ext cx="3913632" cy="1078992"/>
          </a:xfrm>
          <a:prstGeom prst="roundRect">
            <a:avLst>
              <a:gd name="adj" fmla="val 6780"/>
            </a:avLst>
          </a:prstGeom>
          <a:solidFill>
            <a:schemeClr val="bg2"/>
          </a:solidFill>
          <a:ln/>
        </p:spPr>
      </p:sp>
      <p:sp>
        <p:nvSpPr>
          <p:cNvPr id="16" name="Text 12"/>
          <p:cNvSpPr txBox="1"/>
          <p:nvPr/>
        </p:nvSpPr>
        <p:spPr>
          <a:xfrm>
            <a:off x="7909560" y="5175504"/>
            <a:ext cx="1737360" cy="868680"/>
          </a:xfrm>
          <a:prstGeom prst="rect">
            <a:avLst/>
          </a:prstGeom>
          <a:noFill/>
          <a:ln/>
        </p:spPr>
        <p:txBody>
          <a:bodyPr wrap="square" lIns="0" tIns="0" rIns="0" bIns="0" rtlCol="0" anchor="ctr"/>
          <a:lstStyle/>
          <a:p>
            <a:pPr indent="0" marL="0">
              <a:buNone/>
            </a:pPr>
            <a:r>
              <a:rPr lang="en-US" sz="2800" b="1" dirty="0">
                <a:solidFill>
                  <a:schemeClr val="tx2"/>
                </a:solidFill>
                <a:latin typeface="Cambria" pitchFamily="34" charset="0"/>
                <a:ea typeface="Cambria" pitchFamily="34" charset="-122"/>
                <a:cs typeface="Cambria" pitchFamily="34" charset="-120"/>
              </a:rPr>
              <a:t>7</a:t>
            </a:r>
            <a:endParaRPr lang="en-US" sz="2800" dirty="0"/>
          </a:p>
        </p:txBody>
      </p:sp>
      <p:sp>
        <p:nvSpPr>
          <p:cNvPr id="17" name="Text 13"/>
          <p:cNvSpPr txBox="1"/>
          <p:nvPr/>
        </p:nvSpPr>
        <p:spPr>
          <a:xfrm>
            <a:off x="9646920" y="5175504"/>
            <a:ext cx="1874520" cy="868680"/>
          </a:xfrm>
          <a:prstGeom prst="rect">
            <a:avLst/>
          </a:prstGeom>
          <a:noFill/>
          <a:ln/>
        </p:spPr>
        <p:txBody>
          <a:bodyPr wrap="square" lIns="0" tIns="0" rIns="0" bIns="0" rtlCol="0" anchor="ctr"/>
          <a:lstStyle/>
          <a:p>
            <a:pPr indent="0" marL="0">
              <a:buNone/>
            </a:pPr>
            <a:r>
              <a:rPr lang="en-US" sz="1350" dirty="0">
                <a:solidFill>
                  <a:schemeClr val="tx1"/>
                </a:solidFill>
              </a:rPr>
              <a:t>facility uses: school, health, office, evacuation, market, dorm, court</a:t>
            </a:r>
            <a:endParaRPr lang="en-US" sz="1350" dirty="0"/>
          </a:p>
        </p:txBody>
      </p:sp>
      <p:sp>
        <p:nvSpPr>
          <p:cNvPr id="25" name="Slide Number Placeholder 0"/>
          <p:cNvSpPr>
            <a:spLocks noGrp="1"/>
          </p:cNvSpPr>
          <p:nvPr>
            <p:ph type="sldNum" sz="quarter" idx="4294967295"/>
          </p:nvPr>
        </p:nvSpPr>
        <p:spPr>
          <a:xfrm>
            <a:off x="11064240" y="642823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A8C"/>
                </a:solidFill>
              </a:defRPr>
            </a:lvl1pPr>
          </a:lstStyle>
          <a:p>
            <a:pPr algn="r"/>
            <a:fld id="{F7021451-1387-4CA6-816F-3879F97B5CBC}" type="slidenum">
              <a:rPr b="0"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ph idx="100" type="body" hasCustomPrompt="1"/>
          </p:nvPr>
        </p:nvSpPr>
        <p:spPr>
          <a:xfrm>
            <a:off x="548640" y="256032"/>
            <a:ext cx="8229600" cy="292608"/>
          </a:xfrm>
          <a:prstGeom prst="rect">
            <a:avLst/>
          </a:prstGeom>
          <a:noFill/>
          <a:ln/>
        </p:spPr>
        <p:txBody>
          <a:bodyPr wrap="square" lIns="0" tIns="0" rIns="0" bIns="0" rtlCol="0"/>
          <a:lstStyle/>
          <a:p>
            <a:pPr indent="0" marL="0">
              <a:buNone/>
            </a:pPr>
            <a:r>
              <a:rPr lang="en-US" sz="1200" b="1" spc="200" kern="0" dirty="0">
                <a:solidFill>
                  <a:schemeClr val="accent5"/>
                </a:solidFill>
              </a:rPr>
              <a:t>RQ2A · GENERATED PLANS</a:t>
            </a:r>
            <a:endParaRPr lang="en-US" sz="1200" dirty="0"/>
          </a:p>
        </p:txBody>
      </p:sp>
      <p:sp>
        <p:nvSpPr>
          <p:cNvPr id="3" name="Text 0"/>
          <p:cNvSpPr/>
          <p:nvPr>
            <p:ph idx="101" type="title" hasCustomPrompt="1"/>
          </p:nvPr>
        </p:nvSpPr>
        <p:spPr>
          <a:xfrm>
            <a:off x="548640" y="530352"/>
            <a:ext cx="11064240" cy="731520"/>
          </a:xfrm>
          <a:prstGeom prst="rect">
            <a:avLst/>
          </a:prstGeom>
          <a:noFill/>
          <a:ln/>
        </p:spPr>
        <p:txBody>
          <a:bodyPr wrap="square" lIns="0" tIns="0" rIns="0" bIns="0" rtlCol="0" anchor="ctr"/>
          <a:lstStyle/>
          <a:p>
            <a:pPr algn="l" indent="0" marL="0">
              <a:buNone/>
            </a:pPr>
            <a:r>
              <a:rPr lang="en-US" sz="3200" b="1" dirty="0">
                <a:solidFill>
                  <a:schemeClr val="tx2"/>
                </a:solidFill>
                <a:latin typeface="Cambria" pitchFamily="34" charset="0"/>
                <a:ea typeface="Cambria" pitchFamily="34" charset="-122"/>
                <a:cs typeface="Cambria" pitchFamily="34" charset="-120"/>
              </a:rPr>
              <a:t>Schematic Floor Plans</a:t>
            </a:r>
            <a:endParaRPr lang="en-US" sz="3200" dirty="0"/>
          </a:p>
        </p:txBody>
      </p:sp>
      <p:pic>
        <p:nvPicPr>
          <p:cNvPr id="5" name="plan_school_gf.png" descr="2-storey 6-classroom school ground floor">    </p:cNvPr>
          <p:cNvPicPr>
            <a:picLocks noChangeAspect="1"/>
          </p:cNvPicPr>
          <p:nvPr/>
        </p:nvPicPr>
        <p:blipFill>
          <a:blip r:embed="rId1"/>
          <a:stretch>
            <a:fillRect/>
          </a:stretch>
        </p:blipFill>
        <p:spPr>
          <a:xfrm>
            <a:off x="548640" y="1496451"/>
            <a:ext cx="5486400" cy="2173458"/>
          </a:xfrm>
          <a:prstGeom prst="rect">
            <a:avLst/>
          </a:prstGeom>
        </p:spPr>
      </p:pic>
      <p:pic>
        <p:nvPicPr>
          <p:cNvPr id="6" name="plan_hospital_gf.png" descr="25-bed hospital ground floor">    </p:cNvPr>
          <p:cNvPicPr>
            <a:picLocks noChangeAspect="1"/>
          </p:cNvPicPr>
          <p:nvPr/>
        </p:nvPicPr>
        <p:blipFill>
          <a:blip r:embed="rId2"/>
          <a:stretch>
            <a:fillRect/>
          </a:stretch>
        </p:blipFill>
        <p:spPr>
          <a:xfrm>
            <a:off x="6915912" y="1463040"/>
            <a:ext cx="3962400" cy="2240280"/>
          </a:xfrm>
          <a:prstGeom prst="rect">
            <a:avLst/>
          </a:prstGeom>
        </p:spPr>
      </p:pic>
      <p:sp>
        <p:nvSpPr>
          <p:cNvPr id="7" name="Text 2"/>
          <p:cNvSpPr txBox="1"/>
          <p:nvPr/>
        </p:nvSpPr>
        <p:spPr>
          <a:xfrm>
            <a:off x="548640" y="3749040"/>
            <a:ext cx="5486400" cy="457200"/>
          </a:xfrm>
          <a:prstGeom prst="rect">
            <a:avLst/>
          </a:prstGeom>
          <a:noFill/>
          <a:ln/>
        </p:spPr>
        <p:txBody>
          <a:bodyPr wrap="square" lIns="0" tIns="0" rIns="0" bIns="0" rtlCol="0" anchor="t"/>
          <a:lstStyle/>
          <a:p>
            <a:pPr algn="ctr" indent="0" marL="0">
              <a:buNone/>
            </a:pPr>
            <a:r>
              <a:rPr lang="en-US" sz="1200" dirty="0">
                <a:solidFill>
                  <a:srgbClr val="44505E"/>
                </a:solidFill>
              </a:rPr>
              <a:t>2-storey 6-classroom school · 38.5 × 9.5 m · 732 m² · start ₱16.25M · standard ₱18.77M</a:t>
            </a:r>
            <a:endParaRPr lang="en-US" sz="1200" dirty="0"/>
          </a:p>
        </p:txBody>
      </p:sp>
      <p:sp>
        <p:nvSpPr>
          <p:cNvPr id="8" name="Text 3"/>
          <p:cNvSpPr txBox="1"/>
          <p:nvPr/>
        </p:nvSpPr>
        <p:spPr>
          <a:xfrm>
            <a:off x="6153912" y="3749040"/>
            <a:ext cx="5486400" cy="457200"/>
          </a:xfrm>
          <a:prstGeom prst="rect">
            <a:avLst/>
          </a:prstGeom>
          <a:noFill/>
          <a:ln/>
        </p:spPr>
        <p:txBody>
          <a:bodyPr wrap="square" lIns="0" tIns="0" rIns="0" bIns="0" rtlCol="0" anchor="t"/>
          <a:lstStyle/>
          <a:p>
            <a:pPr algn="ctr" indent="0" marL="0">
              <a:buNone/>
            </a:pPr>
            <a:r>
              <a:rPr lang="en-US" sz="1200" dirty="0">
                <a:solidFill>
                  <a:srgbClr val="44505E"/>
                </a:solidFill>
              </a:rPr>
              <a:t>25-bed community hospital (2-storey) · 30 × 12.4 m · 744 m² · start ₱19.52M</a:t>
            </a:r>
            <a:endParaRPr lang="en-US" sz="1200" dirty="0"/>
          </a:p>
        </p:txBody>
      </p:sp>
      <p:pic>
        <p:nvPicPr>
          <p:cNvPr id="9" name="plan_market.png" descr="Public market plan">    </p:cNvPr>
          <p:cNvPicPr>
            <a:picLocks noChangeAspect="1"/>
          </p:cNvPicPr>
          <p:nvPr/>
        </p:nvPicPr>
        <p:blipFill>
          <a:blip r:embed="rId3"/>
          <a:stretch>
            <a:fillRect/>
          </a:stretch>
        </p:blipFill>
        <p:spPr>
          <a:xfrm>
            <a:off x="1811105" y="4251960"/>
            <a:ext cx="2961469" cy="1965960"/>
          </a:xfrm>
          <a:prstGeom prst="rect">
            <a:avLst/>
          </a:prstGeom>
        </p:spPr>
      </p:pic>
      <p:pic>
        <p:nvPicPr>
          <p:cNvPr id="10" name="plan_court.png" descr="Covered court plan">    </p:cNvPr>
          <p:cNvPicPr>
            <a:picLocks noChangeAspect="1"/>
          </p:cNvPicPr>
          <p:nvPr/>
        </p:nvPicPr>
        <p:blipFill>
          <a:blip r:embed="rId4"/>
          <a:stretch>
            <a:fillRect/>
          </a:stretch>
        </p:blipFill>
        <p:spPr>
          <a:xfrm>
            <a:off x="6829355" y="4251960"/>
            <a:ext cx="4135515" cy="1965960"/>
          </a:xfrm>
          <a:prstGeom prst="rect">
            <a:avLst/>
          </a:prstGeom>
        </p:spPr>
      </p:pic>
      <p:sp>
        <p:nvSpPr>
          <p:cNvPr id="25" name="Slide Number Placeholder 0"/>
          <p:cNvSpPr>
            <a:spLocks noGrp="1"/>
          </p:cNvSpPr>
          <p:nvPr>
            <p:ph type="sldNum" sz="quarter" idx="4294967295"/>
          </p:nvPr>
        </p:nvSpPr>
        <p:spPr>
          <a:xfrm>
            <a:off x="11064240" y="642823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A8C"/>
                </a:solidFill>
              </a:defRPr>
            </a:lvl1pPr>
          </a:lstStyle>
          <a:p>
            <a:pPr algn="r"/>
            <a:fld id="{F7021451-1387-4CA6-816F-3879F97B5CBC}" type="slidenum">
              <a:rPr b="0"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ph idx="100" type="body" hasCustomPrompt="1"/>
          </p:nvPr>
        </p:nvSpPr>
        <p:spPr>
          <a:xfrm>
            <a:off x="548640" y="256032"/>
            <a:ext cx="8229600" cy="292608"/>
          </a:xfrm>
          <a:prstGeom prst="rect">
            <a:avLst/>
          </a:prstGeom>
          <a:noFill/>
          <a:ln/>
        </p:spPr>
        <p:txBody>
          <a:bodyPr wrap="square" lIns="0" tIns="0" rIns="0" bIns="0" rtlCol="0"/>
          <a:lstStyle/>
          <a:p>
            <a:pPr indent="0" marL="0">
              <a:buNone/>
            </a:pPr>
            <a:r>
              <a:rPr lang="en-US" sz="1200" b="1" spc="200" kern="0" dirty="0">
                <a:solidFill>
                  <a:schemeClr val="accent5"/>
                </a:solidFill>
              </a:rPr>
              <a:t>RQ2B · BUDGET-TO-DESIGN OPTIMIZATION</a:t>
            </a:r>
            <a:endParaRPr lang="en-US" sz="1200" dirty="0"/>
          </a:p>
        </p:txBody>
      </p:sp>
      <p:sp>
        <p:nvSpPr>
          <p:cNvPr id="3" name="Text 0"/>
          <p:cNvSpPr/>
          <p:nvPr>
            <p:ph idx="101" type="title" hasCustomPrompt="1"/>
          </p:nvPr>
        </p:nvSpPr>
        <p:spPr>
          <a:xfrm>
            <a:off x="548640" y="530352"/>
            <a:ext cx="11064240" cy="731520"/>
          </a:xfrm>
          <a:prstGeom prst="rect">
            <a:avLst/>
          </a:prstGeom>
          <a:noFill/>
          <a:ln/>
        </p:spPr>
        <p:txBody>
          <a:bodyPr wrap="square" lIns="0" tIns="0" rIns="0" bIns="0" rtlCol="0" anchor="ctr"/>
          <a:lstStyle/>
          <a:p>
            <a:pPr algn="l" indent="0" marL="0">
              <a:buNone/>
            </a:pPr>
            <a:r>
              <a:rPr lang="en-US" sz="3200" b="1" dirty="0">
                <a:solidFill>
                  <a:schemeClr val="tx2"/>
                </a:solidFill>
                <a:latin typeface="Cambria" pitchFamily="34" charset="0"/>
                <a:ea typeface="Cambria" pitchFamily="34" charset="-122"/>
                <a:cs typeface="Cambria" pitchFamily="34" charset="-120"/>
              </a:rPr>
              <a:t>What a Budget Can Build</a:t>
            </a:r>
            <a:endParaRPr lang="en-US" sz="3200" dirty="0"/>
          </a:p>
        </p:txBody>
      </p:sp>
      <p:graphicFrame>
        <p:nvGraphicFramePr>
          <p:cNvPr id="5" name="frontier chart" descr="Line chart of classrooms against budget by storey limit"/>
          <p:cNvGraphicFramePr/>
          <p:nvPr/>
        </p:nvGraphicFramePr>
        <p:xfrm>
          <a:off x="548640" y="1463040"/>
          <a:ext cx="6949440" cy="4754880"/>
        </p:xfrm>
        <a:graphic xmlns:a="http://schemas.openxmlformats.org/drawingml/2006/main">
          <a:graphicData uri="http://schemas.openxmlformats.org/drawingml/2006/chart">
            <c:chart xmlns:c="http://schemas.openxmlformats.org/drawingml/2006/chart" r:id="rId1"/>
          </a:graphicData>
        </a:graphic>
      </p:graphicFrame>
      <p:sp>
        <p:nvSpPr>
          <p:cNvPr id="6" name="card"/>
          <p:cNvSpPr/>
          <p:nvPr/>
        </p:nvSpPr>
        <p:spPr>
          <a:xfrm>
            <a:off x="7726680" y="1463040"/>
            <a:ext cx="3913632" cy="1078992"/>
          </a:xfrm>
          <a:prstGeom prst="roundRect">
            <a:avLst>
              <a:gd name="adj" fmla="val 6780"/>
            </a:avLst>
          </a:prstGeom>
          <a:solidFill>
            <a:schemeClr val="bg2"/>
          </a:solidFill>
          <a:ln/>
        </p:spPr>
      </p:sp>
      <p:sp>
        <p:nvSpPr>
          <p:cNvPr id="7" name="Text 3"/>
          <p:cNvSpPr txBox="1"/>
          <p:nvPr/>
        </p:nvSpPr>
        <p:spPr>
          <a:xfrm>
            <a:off x="7909560" y="1554480"/>
            <a:ext cx="1417320" cy="868680"/>
          </a:xfrm>
          <a:prstGeom prst="rect">
            <a:avLst/>
          </a:prstGeom>
          <a:noFill/>
          <a:ln/>
        </p:spPr>
        <p:txBody>
          <a:bodyPr wrap="square" lIns="0" tIns="0" rIns="0" bIns="0" rtlCol="0" anchor="ctr"/>
          <a:lstStyle/>
          <a:p>
            <a:pPr indent="0" marL="0">
              <a:buNone/>
            </a:pPr>
            <a:r>
              <a:rPr lang="en-US" sz="2800" b="1" dirty="0">
                <a:solidFill>
                  <a:schemeClr val="tx2"/>
                </a:solidFill>
                <a:latin typeface="Cambria" pitchFamily="34" charset="0"/>
                <a:ea typeface="Cambria" pitchFamily="34" charset="-122"/>
                <a:cs typeface="Cambria" pitchFamily="34" charset="-120"/>
              </a:rPr>
              <a:t>4</a:t>
            </a:r>
            <a:endParaRPr lang="en-US" sz="2800" dirty="0"/>
          </a:p>
        </p:txBody>
      </p:sp>
      <p:sp>
        <p:nvSpPr>
          <p:cNvPr id="8" name="Text 4"/>
          <p:cNvSpPr txBox="1"/>
          <p:nvPr/>
        </p:nvSpPr>
        <p:spPr>
          <a:xfrm>
            <a:off x="9372600" y="1554480"/>
            <a:ext cx="2148840" cy="868680"/>
          </a:xfrm>
          <a:prstGeom prst="rect">
            <a:avLst/>
          </a:prstGeom>
          <a:noFill/>
          <a:ln/>
        </p:spPr>
        <p:txBody>
          <a:bodyPr wrap="square" lIns="0" tIns="0" rIns="0" bIns="0" rtlCol="0" anchor="ctr"/>
          <a:lstStyle/>
          <a:p>
            <a:pPr indent="0" marL="0">
              <a:buNone/>
            </a:pPr>
            <a:r>
              <a:rPr lang="en-US" sz="1350" dirty="0">
                <a:solidFill>
                  <a:schemeClr val="tx1"/>
                </a:solidFill>
              </a:rPr>
              <a:t>classrooms for ₱10M (1 storey)</a:t>
            </a:r>
            <a:endParaRPr lang="en-US" sz="1350" dirty="0"/>
          </a:p>
        </p:txBody>
      </p:sp>
      <p:sp>
        <p:nvSpPr>
          <p:cNvPr id="9" name="card"/>
          <p:cNvSpPr/>
          <p:nvPr/>
        </p:nvSpPr>
        <p:spPr>
          <a:xfrm>
            <a:off x="7726680" y="2670048"/>
            <a:ext cx="3913632" cy="1078992"/>
          </a:xfrm>
          <a:prstGeom prst="roundRect">
            <a:avLst>
              <a:gd name="adj" fmla="val 6780"/>
            </a:avLst>
          </a:prstGeom>
          <a:solidFill>
            <a:schemeClr val="bg2"/>
          </a:solidFill>
          <a:ln/>
        </p:spPr>
      </p:sp>
      <p:sp>
        <p:nvSpPr>
          <p:cNvPr id="10" name="Text 6"/>
          <p:cNvSpPr txBox="1"/>
          <p:nvPr/>
        </p:nvSpPr>
        <p:spPr>
          <a:xfrm>
            <a:off x="7909560" y="2761488"/>
            <a:ext cx="1417320" cy="868680"/>
          </a:xfrm>
          <a:prstGeom prst="rect">
            <a:avLst/>
          </a:prstGeom>
          <a:noFill/>
          <a:ln/>
        </p:spPr>
        <p:txBody>
          <a:bodyPr wrap="square" lIns="0" tIns="0" rIns="0" bIns="0" rtlCol="0" anchor="ctr"/>
          <a:lstStyle/>
          <a:p>
            <a:pPr indent="0" marL="0">
              <a:buNone/>
            </a:pPr>
            <a:r>
              <a:rPr lang="en-US" sz="2800" b="1" dirty="0">
                <a:solidFill>
                  <a:schemeClr val="tx2"/>
                </a:solidFill>
                <a:latin typeface="Cambria" pitchFamily="34" charset="0"/>
                <a:ea typeface="Cambria" pitchFamily="34" charset="-122"/>
                <a:cs typeface="Cambria" pitchFamily="34" charset="-120"/>
              </a:rPr>
              <a:t>9</a:t>
            </a:r>
            <a:endParaRPr lang="en-US" sz="2800" dirty="0"/>
          </a:p>
        </p:txBody>
      </p:sp>
      <p:sp>
        <p:nvSpPr>
          <p:cNvPr id="11" name="Text 7"/>
          <p:cNvSpPr txBox="1"/>
          <p:nvPr/>
        </p:nvSpPr>
        <p:spPr>
          <a:xfrm>
            <a:off x="9372600" y="2761488"/>
            <a:ext cx="2148840" cy="868680"/>
          </a:xfrm>
          <a:prstGeom prst="rect">
            <a:avLst/>
          </a:prstGeom>
          <a:noFill/>
          <a:ln/>
        </p:spPr>
        <p:txBody>
          <a:bodyPr wrap="square" lIns="0" tIns="0" rIns="0" bIns="0" rtlCol="0" anchor="ctr"/>
          <a:lstStyle/>
          <a:p>
            <a:pPr indent="0" marL="0">
              <a:buNone/>
            </a:pPr>
            <a:r>
              <a:rPr lang="en-US" sz="1350" dirty="0">
                <a:solidFill>
                  <a:schemeClr val="tx1"/>
                </a:solidFill>
              </a:rPr>
              <a:t>classrooms for ₱25M (2 storeys)</a:t>
            </a:r>
            <a:endParaRPr lang="en-US" sz="1350" dirty="0"/>
          </a:p>
        </p:txBody>
      </p:sp>
      <p:sp>
        <p:nvSpPr>
          <p:cNvPr id="12" name="card"/>
          <p:cNvSpPr/>
          <p:nvPr/>
        </p:nvSpPr>
        <p:spPr>
          <a:xfrm>
            <a:off x="7726680" y="3877056"/>
            <a:ext cx="3913632" cy="1078992"/>
          </a:xfrm>
          <a:prstGeom prst="roundRect">
            <a:avLst>
              <a:gd name="adj" fmla="val 6780"/>
            </a:avLst>
          </a:prstGeom>
          <a:solidFill>
            <a:schemeClr val="bg2"/>
          </a:solidFill>
          <a:ln/>
        </p:spPr>
      </p:sp>
      <p:sp>
        <p:nvSpPr>
          <p:cNvPr id="13" name="Text 9"/>
          <p:cNvSpPr txBox="1"/>
          <p:nvPr/>
        </p:nvSpPr>
        <p:spPr>
          <a:xfrm>
            <a:off x="7909560" y="3968496"/>
            <a:ext cx="1417320" cy="868680"/>
          </a:xfrm>
          <a:prstGeom prst="rect">
            <a:avLst/>
          </a:prstGeom>
          <a:noFill/>
          <a:ln/>
        </p:spPr>
        <p:txBody>
          <a:bodyPr wrap="square" lIns="0" tIns="0" rIns="0" bIns="0" rtlCol="0" anchor="ctr"/>
          <a:lstStyle/>
          <a:p>
            <a:pPr indent="0" marL="0">
              <a:buNone/>
            </a:pPr>
            <a:r>
              <a:rPr lang="en-US" sz="2800" b="1" dirty="0">
                <a:solidFill>
                  <a:schemeClr val="tx2"/>
                </a:solidFill>
                <a:latin typeface="Cambria" pitchFamily="34" charset="0"/>
                <a:ea typeface="Cambria" pitchFamily="34" charset="-122"/>
                <a:cs typeface="Cambria" pitchFamily="34" charset="-120"/>
              </a:rPr>
              <a:t>15</a:t>
            </a:r>
            <a:endParaRPr lang="en-US" sz="2800" dirty="0"/>
          </a:p>
        </p:txBody>
      </p:sp>
      <p:sp>
        <p:nvSpPr>
          <p:cNvPr id="14" name="Text 10"/>
          <p:cNvSpPr txBox="1"/>
          <p:nvPr/>
        </p:nvSpPr>
        <p:spPr>
          <a:xfrm>
            <a:off x="9372600" y="3968496"/>
            <a:ext cx="2148840" cy="868680"/>
          </a:xfrm>
          <a:prstGeom prst="rect">
            <a:avLst/>
          </a:prstGeom>
          <a:noFill/>
          <a:ln/>
        </p:spPr>
        <p:txBody>
          <a:bodyPr wrap="square" lIns="0" tIns="0" rIns="0" bIns="0" rtlCol="0" anchor="ctr"/>
          <a:lstStyle/>
          <a:p>
            <a:pPr indent="0" marL="0">
              <a:buNone/>
            </a:pPr>
            <a:r>
              <a:rPr lang="en-US" sz="1350" dirty="0">
                <a:solidFill>
                  <a:schemeClr val="tx1"/>
                </a:solidFill>
              </a:rPr>
              <a:t>classrooms for ₱50M (4 storeys)</a:t>
            </a:r>
            <a:endParaRPr lang="en-US" sz="1350" dirty="0"/>
          </a:p>
        </p:txBody>
      </p:sp>
      <p:sp>
        <p:nvSpPr>
          <p:cNvPr id="15" name="card"/>
          <p:cNvSpPr/>
          <p:nvPr/>
        </p:nvSpPr>
        <p:spPr>
          <a:xfrm>
            <a:off x="7726680" y="5084064"/>
            <a:ext cx="3913632" cy="1078992"/>
          </a:xfrm>
          <a:prstGeom prst="roundRect">
            <a:avLst>
              <a:gd name="adj" fmla="val 6780"/>
            </a:avLst>
          </a:prstGeom>
          <a:solidFill>
            <a:schemeClr val="bg2"/>
          </a:solidFill>
          <a:ln/>
        </p:spPr>
      </p:sp>
      <p:sp>
        <p:nvSpPr>
          <p:cNvPr id="16" name="Text 12"/>
          <p:cNvSpPr txBox="1"/>
          <p:nvPr/>
        </p:nvSpPr>
        <p:spPr>
          <a:xfrm>
            <a:off x="7909560" y="5175504"/>
            <a:ext cx="1417320" cy="868680"/>
          </a:xfrm>
          <a:prstGeom prst="rect">
            <a:avLst/>
          </a:prstGeom>
          <a:noFill/>
          <a:ln/>
        </p:spPr>
        <p:txBody>
          <a:bodyPr wrap="square" lIns="0" tIns="0" rIns="0" bIns="0" rtlCol="0" anchor="ctr"/>
          <a:lstStyle/>
          <a:p>
            <a:pPr indent="0" marL="0">
              <a:buNone/>
            </a:pPr>
            <a:r>
              <a:rPr lang="en-US" sz="2800" b="1" dirty="0">
                <a:solidFill>
                  <a:schemeClr val="tx2"/>
                </a:solidFill>
                <a:latin typeface="Cambria" pitchFamily="34" charset="0"/>
                <a:ea typeface="Cambria" pitchFamily="34" charset="-122"/>
                <a:cs typeface="Cambria" pitchFamily="34" charset="-120"/>
              </a:rPr>
              <a:t>3.6 ms</a:t>
            </a:r>
            <a:endParaRPr lang="en-US" sz="2800" dirty="0"/>
          </a:p>
        </p:txBody>
      </p:sp>
      <p:sp>
        <p:nvSpPr>
          <p:cNvPr id="17" name="Text 13"/>
          <p:cNvSpPr txBox="1"/>
          <p:nvPr/>
        </p:nvSpPr>
        <p:spPr>
          <a:xfrm>
            <a:off x="9372600" y="5175504"/>
            <a:ext cx="2148840" cy="868680"/>
          </a:xfrm>
          <a:prstGeom prst="rect">
            <a:avLst/>
          </a:prstGeom>
          <a:noFill/>
          <a:ln/>
        </p:spPr>
        <p:txBody>
          <a:bodyPr wrap="square" lIns="0" tIns="0" rIns="0" bIns="0" rtlCol="0" anchor="ctr"/>
          <a:lstStyle/>
          <a:p>
            <a:pPr indent="0" marL="0">
              <a:buNone/>
            </a:pPr>
            <a:r>
              <a:rPr lang="en-US" sz="1350" dirty="0">
                <a:solidFill>
                  <a:schemeClr val="tx1"/>
                </a:solidFill>
              </a:rPr>
              <a:t>median search time; +6.4 classrooms on average with multi-storey</a:t>
            </a:r>
            <a:endParaRPr lang="en-US" sz="1350" dirty="0"/>
          </a:p>
        </p:txBody>
      </p:sp>
      <p:sp>
        <p:nvSpPr>
          <p:cNvPr id="25" name="Slide Number Placeholder 0"/>
          <p:cNvSpPr>
            <a:spLocks noGrp="1"/>
          </p:cNvSpPr>
          <p:nvPr>
            <p:ph type="sldNum" sz="quarter" idx="4294967295"/>
          </p:nvPr>
        </p:nvSpPr>
        <p:spPr>
          <a:xfrm>
            <a:off x="11064240" y="642823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A8C"/>
                </a:solidFill>
              </a:defRPr>
            </a:lvl1pPr>
          </a:lstStyle>
          <a:p>
            <a:pPr algn="r"/>
            <a:fld id="{F7021451-1387-4CA6-816F-3879F97B5CBC}" type="slidenum">
              <a:rPr b="0"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ph idx="100" type="body" hasCustomPrompt="1"/>
          </p:nvPr>
        </p:nvSpPr>
        <p:spPr>
          <a:xfrm>
            <a:off x="548640" y="256032"/>
            <a:ext cx="8229600" cy="292608"/>
          </a:xfrm>
          <a:prstGeom prst="rect">
            <a:avLst/>
          </a:prstGeom>
          <a:noFill/>
          <a:ln/>
        </p:spPr>
        <p:txBody>
          <a:bodyPr wrap="square" lIns="0" tIns="0" rIns="0" bIns="0" rtlCol="0"/>
          <a:lstStyle/>
          <a:p>
            <a:pPr indent="0" marL="0">
              <a:buNone/>
            </a:pPr>
            <a:r>
              <a:rPr lang="en-US" sz="1200" b="1" spc="200" kern="0" dirty="0">
                <a:solidFill>
                  <a:schemeClr val="accent5"/>
                </a:solidFill>
              </a:rPr>
              <a:t>RQ2C · BRIDGE TYPE SELECTION</a:t>
            </a:r>
            <a:endParaRPr lang="en-US" sz="1200" dirty="0"/>
          </a:p>
        </p:txBody>
      </p:sp>
      <p:sp>
        <p:nvSpPr>
          <p:cNvPr id="3" name="Text 0"/>
          <p:cNvSpPr/>
          <p:nvPr>
            <p:ph idx="101" type="title" hasCustomPrompt="1"/>
          </p:nvPr>
        </p:nvSpPr>
        <p:spPr>
          <a:xfrm>
            <a:off x="548640" y="530352"/>
            <a:ext cx="11064240" cy="731520"/>
          </a:xfrm>
          <a:prstGeom prst="rect">
            <a:avLst/>
          </a:prstGeom>
          <a:noFill/>
          <a:ln/>
        </p:spPr>
        <p:txBody>
          <a:bodyPr wrap="square" lIns="0" tIns="0" rIns="0" bIns="0" rtlCol="0" anchor="ctr"/>
          <a:lstStyle/>
          <a:p>
            <a:pPr algn="l" indent="0" marL="0">
              <a:buNone/>
            </a:pPr>
            <a:r>
              <a:rPr lang="en-US" sz="3200" b="1" dirty="0">
                <a:solidFill>
                  <a:schemeClr val="tx2"/>
                </a:solidFill>
                <a:latin typeface="Cambria" pitchFamily="34" charset="0"/>
                <a:ea typeface="Cambria" pitchFamily="34" charset="-122"/>
                <a:cs typeface="Cambria" pitchFamily="34" charset="-120"/>
              </a:rPr>
              <a:t>Cheapest Bridge for Each Gap</a:t>
            </a:r>
            <a:endParaRPr lang="en-US" sz="3200" dirty="0"/>
          </a:p>
        </p:txBody>
      </p:sp>
      <p:graphicFrame>
        <p:nvGraphicFramePr>
          <p:cNvPr id="35" name="bridge selection table"/>
          <p:cNvGraphicFramePr>
            <a:graphicFrameLocks noGrp="1"/>
          </p:cNvGraphicFramePr>
          <p:nvPr>
            <p:extLst>
              <p:ext uri="{D42A27DB-BD31-4B8C-83A1-F6EECF244321}">
                <p14:modId xmlns:p14="http://schemas.microsoft.com/office/powerpoint/2010/main" val="1579011935"/>
              </p:ext>
            </p:extLst>
          </p:nvPr>
        </p:nvGraphicFramePr>
        <p:xfrm>
          <a:off x="548640" y="1463040"/>
          <a:ext cx="6035040" cy="914400"/>
        </p:xfrm>
        <a:graphic>
          <a:graphicData uri="http://schemas.openxmlformats.org/drawingml/2006/table">
            <a:tbl>
              <a:tblPr/>
              <a:tblGrid>
                <a:gridCol w="822960"/>
                <a:gridCol w="2286000"/>
                <a:gridCol w="1097280"/>
                <a:gridCol w="1005840"/>
                <a:gridCol w="822960"/>
              </a:tblGrid>
              <a:tr h="457200">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Gap</a:t>
                      </a:r>
                      <a:endParaRPr lang="en-US" sz="1300" dirty="0">
                        <a:latin typeface="Calibri" charset="0"/>
                        <a:ea typeface="Calibri" charset="0"/>
                        <a:cs typeface="Calibri" charset="0"/>
                      </a:endParaRPr>
                    </a:p>
                  </a:txBody>
                  <a:tcPr marL="73152" marR="73152" marT="36576" marB="36576"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rgbClr val="12345A"/>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Lowest-cost design</a:t>
                      </a:r>
                      <a:endParaRPr lang="en-US" sz="1300" dirty="0">
                        <a:latin typeface="Calibri" charset="0"/>
                        <a:ea typeface="Calibri" charset="0"/>
                        <a:cs typeface="Calibri" charset="0"/>
                      </a:endParaRPr>
                    </a:p>
                  </a:txBody>
                  <a:tcPr marL="73152" marR="73152" marT="36576" marB="36576"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rgbClr val="12345A"/>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Spans</a:t>
                      </a:r>
                      <a:endParaRPr lang="en-US" sz="1300" dirty="0">
                        <a:latin typeface="Calibri" charset="0"/>
                        <a:ea typeface="Calibri" charset="0"/>
                        <a:cs typeface="Calibri" charset="0"/>
                      </a:endParaRPr>
                    </a:p>
                  </a:txBody>
                  <a:tcPr marL="73152" marR="73152" marT="36576" marB="36576"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rgbClr val="12345A"/>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Standard</a:t>
                      </a:r>
                      <a:endParaRPr lang="en-US" sz="1300" dirty="0">
                        <a:latin typeface="Calibri" charset="0"/>
                        <a:ea typeface="Calibri" charset="0"/>
                        <a:cs typeface="Calibri" charset="0"/>
                      </a:endParaRPr>
                    </a:p>
                  </a:txBody>
                  <a:tcPr marL="73152" marR="73152" marT="36576" marB="36576"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rgbClr val="12345A"/>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Per m</a:t>
                      </a:r>
                      <a:endParaRPr lang="en-US" sz="1300" dirty="0">
                        <a:latin typeface="Calibri" charset="0"/>
                        <a:ea typeface="Calibri" charset="0"/>
                        <a:cs typeface="Calibri" charset="0"/>
                      </a:endParaRPr>
                    </a:p>
                  </a:txBody>
                  <a:tcPr marL="73152" marR="73152" marT="36576" marB="36576"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rgbClr val="12345A"/>
                    </a:solidFill>
                  </a:tcPr>
                </a:tc>
              </a:tr>
              <a:tr h="457200">
                <a:tc>
                  <a:txBody>
                    <a:bodyPr/>
                    <a:lstStyle/>
                    <a:p>
                      <a:pPr indent="0" marL="0">
                        <a:buNone/>
                      </a:pPr>
                      <a:r>
                        <a:rPr lang="en-US" sz="1300" dirty="0">
                          <a:solidFill>
                            <a:srgbClr val="14202E"/>
                          </a:solidFill>
                          <a:latin typeface="Calibri" pitchFamily="34" charset="0"/>
                          <a:ea typeface="Calibri" pitchFamily="34" charset="-122"/>
                          <a:cs typeface="Calibri" pitchFamily="34" charset="-120"/>
                        </a:rPr>
                        <a:t>6 m</a:t>
                      </a:r>
                      <a:endParaRPr lang="en-US" sz="1300" dirty="0">
                        <a:latin typeface="Calibri" charset="0"/>
                        <a:ea typeface="Calibri" charset="0"/>
                        <a:cs typeface="Calibri" charset="0"/>
                      </a:endParaRPr>
                    </a:p>
                  </a:txBody>
                  <a:tcPr marL="73152" marR="73152" marT="36576" marB="36576"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indent="0" marL="0">
                        <a:buNone/>
                      </a:pPr>
                      <a:r>
                        <a:rPr lang="en-US" sz="1300" dirty="0">
                          <a:solidFill>
                            <a:srgbClr val="14202E"/>
                          </a:solidFill>
                          <a:latin typeface="Calibri" pitchFamily="34" charset="0"/>
                          <a:ea typeface="Calibri" pitchFamily="34" charset="-122"/>
                          <a:cs typeface="Calibri" pitchFamily="34" charset="-120"/>
                        </a:rPr>
                        <a:t>RC box culvert</a:t>
                      </a:r>
                      <a:endParaRPr lang="en-US" sz="1300" dirty="0">
                        <a:latin typeface="Calibri" charset="0"/>
                        <a:ea typeface="Calibri" charset="0"/>
                        <a:cs typeface="Calibri" charset="0"/>
                      </a:endParaRPr>
                    </a:p>
                  </a:txBody>
                  <a:tcPr marL="73152" marR="73152" marT="36576" marB="36576"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indent="0" marL="0">
                        <a:buNone/>
                      </a:pPr>
                      <a:r>
                        <a:rPr lang="en-US" sz="1300" dirty="0">
                          <a:solidFill>
                            <a:srgbClr val="14202E"/>
                          </a:solidFill>
                          <a:latin typeface="Calibri" pitchFamily="34" charset="0"/>
                          <a:ea typeface="Calibri" pitchFamily="34" charset="-122"/>
                          <a:cs typeface="Calibri" pitchFamily="34" charset="-120"/>
                        </a:rPr>
                        <a:t>2 × 3.0 m</a:t>
                      </a:r>
                      <a:endParaRPr lang="en-US" sz="1300" dirty="0">
                        <a:latin typeface="Calibri" charset="0"/>
                        <a:ea typeface="Calibri" charset="0"/>
                        <a:cs typeface="Calibri" charset="0"/>
                      </a:endParaRPr>
                    </a:p>
                  </a:txBody>
                  <a:tcPr marL="73152" marR="73152" marT="36576" marB="36576"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r" indent="0" marL="0">
                        <a:buNone/>
                      </a:pPr>
                      <a:r>
                        <a:rPr lang="en-US" sz="1300" dirty="0">
                          <a:solidFill>
                            <a:srgbClr val="14202E"/>
                          </a:solidFill>
                          <a:latin typeface="Calibri" pitchFamily="34" charset="0"/>
                          <a:ea typeface="Calibri" pitchFamily="34" charset="-122"/>
                          <a:cs typeface="Calibri" pitchFamily="34" charset="-120"/>
                        </a:rPr>
                        <a:t>₱3.33M</a:t>
                      </a:r>
                      <a:endParaRPr lang="en-US" sz="1300" dirty="0">
                        <a:latin typeface="Calibri" charset="0"/>
                        <a:ea typeface="Calibri" charset="0"/>
                        <a:cs typeface="Calibri" charset="0"/>
                      </a:endParaRPr>
                    </a:p>
                  </a:txBody>
                  <a:tcPr marL="73152" marR="73152" marT="36576" marB="36576"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r" indent="0" marL="0">
                        <a:buNone/>
                      </a:pPr>
                      <a:r>
                        <a:rPr lang="en-US" sz="1300" dirty="0">
                          <a:solidFill>
                            <a:srgbClr val="14202E"/>
                          </a:solidFill>
                          <a:latin typeface="Calibri" pitchFamily="34" charset="0"/>
                          <a:ea typeface="Calibri" pitchFamily="34" charset="-122"/>
                          <a:cs typeface="Calibri" pitchFamily="34" charset="-120"/>
                        </a:rPr>
                        <a:t>₱555k</a:t>
                      </a:r>
                      <a:endParaRPr lang="en-US" sz="1300" dirty="0">
                        <a:latin typeface="Calibri" charset="0"/>
                        <a:ea typeface="Calibri" charset="0"/>
                        <a:cs typeface="Calibri" charset="0"/>
                      </a:endParaRPr>
                    </a:p>
                  </a:txBody>
                  <a:tcPr marL="73152" marR="73152" marT="36576" marB="36576"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r>
              <a:tr h="457200">
                <a:tc>
                  <a:txBody>
                    <a:bodyPr/>
                    <a:lstStyle/>
                    <a:p>
                      <a:pPr indent="0" marL="0">
                        <a:buNone/>
                      </a:pPr>
                      <a:r>
                        <a:rPr lang="en-US" sz="1300" dirty="0">
                          <a:solidFill>
                            <a:srgbClr val="14202E"/>
                          </a:solidFill>
                          <a:latin typeface="Calibri" pitchFamily="34" charset="0"/>
                          <a:ea typeface="Calibri" pitchFamily="34" charset="-122"/>
                          <a:cs typeface="Calibri" pitchFamily="34" charset="-120"/>
                        </a:rPr>
                        <a:t>12 m</a:t>
                      </a:r>
                      <a:endParaRPr lang="en-US" sz="1300" dirty="0">
                        <a:latin typeface="Calibri" charset="0"/>
                        <a:ea typeface="Calibri" charset="0"/>
                        <a:cs typeface="Calibri" charset="0"/>
                      </a:endParaRPr>
                    </a:p>
                  </a:txBody>
                  <a:tcPr marL="73152" marR="73152" marT="36576" marB="36576"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indent="0" marL="0">
                        <a:buNone/>
                      </a:pPr>
                      <a:r>
                        <a:rPr lang="en-US" sz="1300" dirty="0">
                          <a:solidFill>
                            <a:srgbClr val="14202E"/>
                          </a:solidFill>
                          <a:latin typeface="Calibri" pitchFamily="34" charset="0"/>
                          <a:ea typeface="Calibri" pitchFamily="34" charset="-122"/>
                          <a:cs typeface="Calibri" pitchFamily="34" charset="-120"/>
                        </a:rPr>
                        <a:t>RC box culvert</a:t>
                      </a:r>
                      <a:endParaRPr lang="en-US" sz="1300" dirty="0">
                        <a:latin typeface="Calibri" charset="0"/>
                        <a:ea typeface="Calibri" charset="0"/>
                        <a:cs typeface="Calibri" charset="0"/>
                      </a:endParaRPr>
                    </a:p>
                  </a:txBody>
                  <a:tcPr marL="73152" marR="73152" marT="36576" marB="36576"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indent="0" marL="0">
                        <a:buNone/>
                      </a:pPr>
                      <a:r>
                        <a:rPr lang="en-US" sz="1300" dirty="0">
                          <a:solidFill>
                            <a:srgbClr val="14202E"/>
                          </a:solidFill>
                          <a:latin typeface="Calibri" pitchFamily="34" charset="0"/>
                          <a:ea typeface="Calibri" pitchFamily="34" charset="-122"/>
                          <a:cs typeface="Calibri" pitchFamily="34" charset="-120"/>
                        </a:rPr>
                        <a:t>4 × 3.0 m</a:t>
                      </a:r>
                      <a:endParaRPr lang="en-US" sz="1300" dirty="0">
                        <a:latin typeface="Calibri" charset="0"/>
                        <a:ea typeface="Calibri" charset="0"/>
                        <a:cs typeface="Calibri" charset="0"/>
                      </a:endParaRPr>
                    </a:p>
                  </a:txBody>
                  <a:tcPr marL="73152" marR="73152" marT="36576" marB="36576"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r" indent="0" marL="0">
                        <a:buNone/>
                      </a:pPr>
                      <a:r>
                        <a:rPr lang="en-US" sz="1300" dirty="0">
                          <a:solidFill>
                            <a:srgbClr val="14202E"/>
                          </a:solidFill>
                          <a:latin typeface="Calibri" pitchFamily="34" charset="0"/>
                          <a:ea typeface="Calibri" pitchFamily="34" charset="-122"/>
                          <a:cs typeface="Calibri" pitchFamily="34" charset="-120"/>
                        </a:rPr>
                        <a:t>₱5.60M</a:t>
                      </a:r>
                      <a:endParaRPr lang="en-US" sz="1300" dirty="0">
                        <a:latin typeface="Calibri" charset="0"/>
                        <a:ea typeface="Calibri" charset="0"/>
                        <a:cs typeface="Calibri" charset="0"/>
                      </a:endParaRPr>
                    </a:p>
                  </a:txBody>
                  <a:tcPr marL="73152" marR="73152" marT="36576" marB="36576"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r" indent="0" marL="0">
                        <a:buNone/>
                      </a:pPr>
                      <a:r>
                        <a:rPr lang="en-US" sz="1300" dirty="0">
                          <a:solidFill>
                            <a:srgbClr val="14202E"/>
                          </a:solidFill>
                          <a:latin typeface="Calibri" pitchFamily="34" charset="0"/>
                          <a:ea typeface="Calibri" pitchFamily="34" charset="-122"/>
                          <a:cs typeface="Calibri" pitchFamily="34" charset="-120"/>
                        </a:rPr>
                        <a:t>₱467k</a:t>
                      </a:r>
                      <a:endParaRPr lang="en-US" sz="1300" dirty="0">
                        <a:latin typeface="Calibri" charset="0"/>
                        <a:ea typeface="Calibri" charset="0"/>
                        <a:cs typeface="Calibri" charset="0"/>
                      </a:endParaRPr>
                    </a:p>
                  </a:txBody>
                  <a:tcPr marL="73152" marR="73152" marT="36576" marB="36576"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r>
              <a:tr h="457200">
                <a:tc>
                  <a:txBody>
                    <a:bodyPr/>
                    <a:lstStyle/>
                    <a:p>
                      <a:pPr indent="0" marL="0">
                        <a:buNone/>
                      </a:pPr>
                      <a:r>
                        <a:rPr lang="en-US" sz="1300" dirty="0">
                          <a:solidFill>
                            <a:srgbClr val="14202E"/>
                          </a:solidFill>
                          <a:latin typeface="Calibri" pitchFamily="34" charset="0"/>
                          <a:ea typeface="Calibri" pitchFamily="34" charset="-122"/>
                          <a:cs typeface="Calibri" pitchFamily="34" charset="-120"/>
                        </a:rPr>
                        <a:t>20 m</a:t>
                      </a:r>
                      <a:endParaRPr lang="en-US" sz="1300" dirty="0">
                        <a:latin typeface="Calibri" charset="0"/>
                        <a:ea typeface="Calibri" charset="0"/>
                        <a:cs typeface="Calibri" charset="0"/>
                      </a:endParaRPr>
                    </a:p>
                  </a:txBody>
                  <a:tcPr marL="73152" marR="73152" marT="36576" marB="36576"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indent="0" marL="0">
                        <a:buNone/>
                      </a:pPr>
                      <a:r>
                        <a:rPr lang="en-US" sz="1300" dirty="0">
                          <a:solidFill>
                            <a:srgbClr val="14202E"/>
                          </a:solidFill>
                          <a:latin typeface="Calibri" pitchFamily="34" charset="0"/>
                          <a:ea typeface="Calibri" pitchFamily="34" charset="-122"/>
                          <a:cs typeface="Calibri" pitchFamily="34" charset="-120"/>
                        </a:rPr>
                        <a:t>RC deck girder (RCDG)</a:t>
                      </a:r>
                      <a:endParaRPr lang="en-US" sz="1300" dirty="0">
                        <a:latin typeface="Calibri" charset="0"/>
                        <a:ea typeface="Calibri" charset="0"/>
                        <a:cs typeface="Calibri" charset="0"/>
                      </a:endParaRPr>
                    </a:p>
                  </a:txBody>
                  <a:tcPr marL="73152" marR="73152" marT="36576" marB="36576"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indent="0" marL="0">
                        <a:buNone/>
                      </a:pPr>
                      <a:r>
                        <a:rPr lang="en-US" sz="1300" dirty="0">
                          <a:solidFill>
                            <a:srgbClr val="14202E"/>
                          </a:solidFill>
                          <a:latin typeface="Calibri" pitchFamily="34" charset="0"/>
                          <a:ea typeface="Calibri" pitchFamily="34" charset="-122"/>
                          <a:cs typeface="Calibri" pitchFamily="34" charset="-120"/>
                        </a:rPr>
                        <a:t>1 × 20.0 m</a:t>
                      </a:r>
                      <a:endParaRPr lang="en-US" sz="1300" dirty="0">
                        <a:latin typeface="Calibri" charset="0"/>
                        <a:ea typeface="Calibri" charset="0"/>
                        <a:cs typeface="Calibri" charset="0"/>
                      </a:endParaRPr>
                    </a:p>
                  </a:txBody>
                  <a:tcPr marL="73152" marR="73152" marT="36576" marB="36576"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r" indent="0" marL="0">
                        <a:buNone/>
                      </a:pPr>
                      <a:r>
                        <a:rPr lang="en-US" sz="1300" dirty="0">
                          <a:solidFill>
                            <a:srgbClr val="14202E"/>
                          </a:solidFill>
                          <a:latin typeface="Calibri" pitchFamily="34" charset="0"/>
                          <a:ea typeface="Calibri" pitchFamily="34" charset="-122"/>
                          <a:cs typeface="Calibri" pitchFamily="34" charset="-120"/>
                        </a:rPr>
                        <a:t>₱21.79M</a:t>
                      </a:r>
                      <a:endParaRPr lang="en-US" sz="1300" dirty="0">
                        <a:latin typeface="Calibri" charset="0"/>
                        <a:ea typeface="Calibri" charset="0"/>
                        <a:cs typeface="Calibri" charset="0"/>
                      </a:endParaRPr>
                    </a:p>
                  </a:txBody>
                  <a:tcPr marL="73152" marR="73152" marT="36576" marB="36576"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r" indent="0" marL="0">
                        <a:buNone/>
                      </a:pPr>
                      <a:r>
                        <a:rPr lang="en-US" sz="1300" dirty="0">
                          <a:solidFill>
                            <a:srgbClr val="14202E"/>
                          </a:solidFill>
                          <a:latin typeface="Calibri" pitchFamily="34" charset="0"/>
                          <a:ea typeface="Calibri" pitchFamily="34" charset="-122"/>
                          <a:cs typeface="Calibri" pitchFamily="34" charset="-120"/>
                        </a:rPr>
                        <a:t>₱1,089k</a:t>
                      </a:r>
                      <a:endParaRPr lang="en-US" sz="1300" dirty="0">
                        <a:latin typeface="Calibri" charset="0"/>
                        <a:ea typeface="Calibri" charset="0"/>
                        <a:cs typeface="Calibri" charset="0"/>
                      </a:endParaRPr>
                    </a:p>
                  </a:txBody>
                  <a:tcPr marL="73152" marR="73152" marT="36576" marB="36576"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r>
              <a:tr h="457200">
                <a:tc>
                  <a:txBody>
                    <a:bodyPr/>
                    <a:lstStyle/>
                    <a:p>
                      <a:pPr indent="0" marL="0">
                        <a:buNone/>
                      </a:pPr>
                      <a:r>
                        <a:rPr lang="en-US" sz="1300" dirty="0">
                          <a:solidFill>
                            <a:srgbClr val="14202E"/>
                          </a:solidFill>
                          <a:latin typeface="Calibri" pitchFamily="34" charset="0"/>
                          <a:ea typeface="Calibri" pitchFamily="34" charset="-122"/>
                          <a:cs typeface="Calibri" pitchFamily="34" charset="-120"/>
                        </a:rPr>
                        <a:t>30 m</a:t>
                      </a:r>
                      <a:endParaRPr lang="en-US" sz="1300" dirty="0">
                        <a:latin typeface="Calibri" charset="0"/>
                        <a:ea typeface="Calibri" charset="0"/>
                        <a:cs typeface="Calibri" charset="0"/>
                      </a:endParaRPr>
                    </a:p>
                  </a:txBody>
                  <a:tcPr marL="73152" marR="73152" marT="36576" marB="36576"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indent="0" marL="0">
                        <a:buNone/>
                      </a:pPr>
                      <a:r>
                        <a:rPr lang="en-US" sz="1300" dirty="0">
                          <a:solidFill>
                            <a:srgbClr val="14202E"/>
                          </a:solidFill>
                          <a:latin typeface="Calibri" pitchFamily="34" charset="0"/>
                          <a:ea typeface="Calibri" pitchFamily="34" charset="-122"/>
                          <a:cs typeface="Calibri" pitchFamily="34" charset="-120"/>
                        </a:rPr>
                        <a:t>RC deck girder (RCDG)</a:t>
                      </a:r>
                      <a:endParaRPr lang="en-US" sz="1300" dirty="0">
                        <a:latin typeface="Calibri" charset="0"/>
                        <a:ea typeface="Calibri" charset="0"/>
                        <a:cs typeface="Calibri" charset="0"/>
                      </a:endParaRPr>
                    </a:p>
                  </a:txBody>
                  <a:tcPr marL="73152" marR="73152" marT="36576" marB="36576"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indent="0" marL="0">
                        <a:buNone/>
                      </a:pPr>
                      <a:r>
                        <a:rPr lang="en-US" sz="1300" dirty="0">
                          <a:solidFill>
                            <a:srgbClr val="14202E"/>
                          </a:solidFill>
                          <a:latin typeface="Calibri" pitchFamily="34" charset="0"/>
                          <a:ea typeface="Calibri" pitchFamily="34" charset="-122"/>
                          <a:cs typeface="Calibri" pitchFamily="34" charset="-120"/>
                        </a:rPr>
                        <a:t>2 × 15.0 m</a:t>
                      </a:r>
                      <a:endParaRPr lang="en-US" sz="1300" dirty="0">
                        <a:latin typeface="Calibri" charset="0"/>
                        <a:ea typeface="Calibri" charset="0"/>
                        <a:cs typeface="Calibri" charset="0"/>
                      </a:endParaRPr>
                    </a:p>
                  </a:txBody>
                  <a:tcPr marL="73152" marR="73152" marT="36576" marB="36576"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r" indent="0" marL="0">
                        <a:buNone/>
                      </a:pPr>
                      <a:r>
                        <a:rPr lang="en-US" sz="1300" dirty="0">
                          <a:solidFill>
                            <a:srgbClr val="14202E"/>
                          </a:solidFill>
                          <a:latin typeface="Calibri" pitchFamily="34" charset="0"/>
                          <a:ea typeface="Calibri" pitchFamily="34" charset="-122"/>
                          <a:cs typeface="Calibri" pitchFamily="34" charset="-120"/>
                        </a:rPr>
                        <a:t>₱27.82M</a:t>
                      </a:r>
                      <a:endParaRPr lang="en-US" sz="1300" dirty="0">
                        <a:latin typeface="Calibri" charset="0"/>
                        <a:ea typeface="Calibri" charset="0"/>
                        <a:cs typeface="Calibri" charset="0"/>
                      </a:endParaRPr>
                    </a:p>
                  </a:txBody>
                  <a:tcPr marL="73152" marR="73152" marT="36576" marB="36576"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r" indent="0" marL="0">
                        <a:buNone/>
                      </a:pPr>
                      <a:r>
                        <a:rPr lang="en-US" sz="1300" dirty="0">
                          <a:solidFill>
                            <a:srgbClr val="14202E"/>
                          </a:solidFill>
                          <a:latin typeface="Calibri" pitchFamily="34" charset="0"/>
                          <a:ea typeface="Calibri" pitchFamily="34" charset="-122"/>
                          <a:cs typeface="Calibri" pitchFamily="34" charset="-120"/>
                        </a:rPr>
                        <a:t>₱927k</a:t>
                      </a:r>
                      <a:endParaRPr lang="en-US" sz="1300" dirty="0">
                        <a:latin typeface="Calibri" charset="0"/>
                        <a:ea typeface="Calibri" charset="0"/>
                        <a:cs typeface="Calibri" charset="0"/>
                      </a:endParaRPr>
                    </a:p>
                  </a:txBody>
                  <a:tcPr marL="73152" marR="73152" marT="36576" marB="36576"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r>
              <a:tr h="457200">
                <a:tc>
                  <a:txBody>
                    <a:bodyPr/>
                    <a:lstStyle/>
                    <a:p>
                      <a:pPr indent="0" marL="0">
                        <a:buNone/>
                      </a:pPr>
                      <a:r>
                        <a:rPr lang="en-US" sz="1300" dirty="0">
                          <a:solidFill>
                            <a:srgbClr val="14202E"/>
                          </a:solidFill>
                          <a:latin typeface="Calibri" pitchFamily="34" charset="0"/>
                          <a:ea typeface="Calibri" pitchFamily="34" charset="-122"/>
                          <a:cs typeface="Calibri" pitchFamily="34" charset="-120"/>
                        </a:rPr>
                        <a:t>45 m</a:t>
                      </a:r>
                      <a:endParaRPr lang="en-US" sz="1300" dirty="0">
                        <a:latin typeface="Calibri" charset="0"/>
                        <a:ea typeface="Calibri" charset="0"/>
                        <a:cs typeface="Calibri" charset="0"/>
                      </a:endParaRPr>
                    </a:p>
                  </a:txBody>
                  <a:tcPr marL="73152" marR="73152" marT="36576" marB="36576"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indent="0" marL="0">
                        <a:buNone/>
                      </a:pPr>
                      <a:r>
                        <a:rPr lang="en-US" sz="1300" dirty="0">
                          <a:solidFill>
                            <a:srgbClr val="14202E"/>
                          </a:solidFill>
                          <a:latin typeface="Calibri" pitchFamily="34" charset="0"/>
                          <a:ea typeface="Calibri" pitchFamily="34" charset="-122"/>
                          <a:cs typeface="Calibri" pitchFamily="34" charset="-120"/>
                        </a:rPr>
                        <a:t>RC deck girder (RCDG)</a:t>
                      </a:r>
                      <a:endParaRPr lang="en-US" sz="1300" dirty="0">
                        <a:latin typeface="Calibri" charset="0"/>
                        <a:ea typeface="Calibri" charset="0"/>
                        <a:cs typeface="Calibri" charset="0"/>
                      </a:endParaRPr>
                    </a:p>
                  </a:txBody>
                  <a:tcPr marL="73152" marR="73152" marT="36576" marB="36576"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indent="0" marL="0">
                        <a:buNone/>
                      </a:pPr>
                      <a:r>
                        <a:rPr lang="en-US" sz="1300" dirty="0">
                          <a:solidFill>
                            <a:srgbClr val="14202E"/>
                          </a:solidFill>
                          <a:latin typeface="Calibri" pitchFamily="34" charset="0"/>
                          <a:ea typeface="Calibri" pitchFamily="34" charset="-122"/>
                          <a:cs typeface="Calibri" pitchFamily="34" charset="-120"/>
                        </a:rPr>
                        <a:t>2 × 22.5 m</a:t>
                      </a:r>
                      <a:endParaRPr lang="en-US" sz="1300" dirty="0">
                        <a:latin typeface="Calibri" charset="0"/>
                        <a:ea typeface="Calibri" charset="0"/>
                        <a:cs typeface="Calibri" charset="0"/>
                      </a:endParaRPr>
                    </a:p>
                  </a:txBody>
                  <a:tcPr marL="73152" marR="73152" marT="36576" marB="36576"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r" indent="0" marL="0">
                        <a:buNone/>
                      </a:pPr>
                      <a:r>
                        <a:rPr lang="en-US" sz="1300" dirty="0">
                          <a:solidFill>
                            <a:srgbClr val="14202E"/>
                          </a:solidFill>
                          <a:latin typeface="Calibri" pitchFamily="34" charset="0"/>
                          <a:ea typeface="Calibri" pitchFamily="34" charset="-122"/>
                          <a:cs typeface="Calibri" pitchFamily="34" charset="-120"/>
                        </a:rPr>
                        <a:t>₱33.70M</a:t>
                      </a:r>
                      <a:endParaRPr lang="en-US" sz="1300" dirty="0">
                        <a:latin typeface="Calibri" charset="0"/>
                        <a:ea typeface="Calibri" charset="0"/>
                        <a:cs typeface="Calibri" charset="0"/>
                      </a:endParaRPr>
                    </a:p>
                  </a:txBody>
                  <a:tcPr marL="73152" marR="73152" marT="36576" marB="36576"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r" indent="0" marL="0">
                        <a:buNone/>
                      </a:pPr>
                      <a:r>
                        <a:rPr lang="en-US" sz="1300" dirty="0">
                          <a:solidFill>
                            <a:srgbClr val="14202E"/>
                          </a:solidFill>
                          <a:latin typeface="Calibri" pitchFamily="34" charset="0"/>
                          <a:ea typeface="Calibri" pitchFamily="34" charset="-122"/>
                          <a:cs typeface="Calibri" pitchFamily="34" charset="-120"/>
                        </a:rPr>
                        <a:t>₱749k</a:t>
                      </a:r>
                      <a:endParaRPr lang="en-US" sz="1300" dirty="0">
                        <a:latin typeface="Calibri" charset="0"/>
                        <a:ea typeface="Calibri" charset="0"/>
                        <a:cs typeface="Calibri" charset="0"/>
                      </a:endParaRPr>
                    </a:p>
                  </a:txBody>
                  <a:tcPr marL="73152" marR="73152" marT="36576" marB="36576"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r>
              <a:tr h="457200">
                <a:tc>
                  <a:txBody>
                    <a:bodyPr/>
                    <a:lstStyle/>
                    <a:p>
                      <a:pPr indent="0" marL="0">
                        <a:buNone/>
                      </a:pPr>
                      <a:r>
                        <a:rPr lang="en-US" sz="1300" dirty="0">
                          <a:solidFill>
                            <a:srgbClr val="14202E"/>
                          </a:solidFill>
                          <a:latin typeface="Calibri" pitchFamily="34" charset="0"/>
                          <a:ea typeface="Calibri" pitchFamily="34" charset="-122"/>
                          <a:cs typeface="Calibri" pitchFamily="34" charset="-120"/>
                        </a:rPr>
                        <a:t>60 m</a:t>
                      </a:r>
                      <a:endParaRPr lang="en-US" sz="1300" dirty="0">
                        <a:latin typeface="Calibri" charset="0"/>
                        <a:ea typeface="Calibri" charset="0"/>
                        <a:cs typeface="Calibri" charset="0"/>
                      </a:endParaRPr>
                    </a:p>
                  </a:txBody>
                  <a:tcPr marL="73152" marR="73152" marT="36576" marB="36576"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indent="0" marL="0">
                        <a:buNone/>
                      </a:pPr>
                      <a:r>
                        <a:rPr lang="en-US" sz="1300" dirty="0">
                          <a:solidFill>
                            <a:srgbClr val="14202E"/>
                          </a:solidFill>
                          <a:latin typeface="Calibri" pitchFamily="34" charset="0"/>
                          <a:ea typeface="Calibri" pitchFamily="34" charset="-122"/>
                          <a:cs typeface="Calibri" pitchFamily="34" charset="-120"/>
                        </a:rPr>
                        <a:t>RC deck girder (RCDG)</a:t>
                      </a:r>
                      <a:endParaRPr lang="en-US" sz="1300" dirty="0">
                        <a:latin typeface="Calibri" charset="0"/>
                        <a:ea typeface="Calibri" charset="0"/>
                        <a:cs typeface="Calibri" charset="0"/>
                      </a:endParaRPr>
                    </a:p>
                  </a:txBody>
                  <a:tcPr marL="73152" marR="73152" marT="36576" marB="36576"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indent="0" marL="0">
                        <a:buNone/>
                      </a:pPr>
                      <a:r>
                        <a:rPr lang="en-US" sz="1300" dirty="0">
                          <a:solidFill>
                            <a:srgbClr val="14202E"/>
                          </a:solidFill>
                          <a:latin typeface="Calibri" pitchFamily="34" charset="0"/>
                          <a:ea typeface="Calibri" pitchFamily="34" charset="-122"/>
                          <a:cs typeface="Calibri" pitchFamily="34" charset="-120"/>
                        </a:rPr>
                        <a:t>3 × 20.0 m</a:t>
                      </a:r>
                      <a:endParaRPr lang="en-US" sz="1300" dirty="0">
                        <a:latin typeface="Calibri" charset="0"/>
                        <a:ea typeface="Calibri" charset="0"/>
                        <a:cs typeface="Calibri" charset="0"/>
                      </a:endParaRPr>
                    </a:p>
                  </a:txBody>
                  <a:tcPr marL="73152" marR="73152" marT="36576" marB="36576"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r" indent="0" marL="0">
                        <a:buNone/>
                      </a:pPr>
                      <a:r>
                        <a:rPr lang="en-US" sz="1300" dirty="0">
                          <a:solidFill>
                            <a:srgbClr val="14202E"/>
                          </a:solidFill>
                          <a:latin typeface="Calibri" pitchFamily="34" charset="0"/>
                          <a:ea typeface="Calibri" pitchFamily="34" charset="-122"/>
                          <a:cs typeface="Calibri" pitchFamily="34" charset="-120"/>
                        </a:rPr>
                        <a:t>₱41.43M</a:t>
                      </a:r>
                      <a:endParaRPr lang="en-US" sz="1300" dirty="0">
                        <a:latin typeface="Calibri" charset="0"/>
                        <a:ea typeface="Calibri" charset="0"/>
                        <a:cs typeface="Calibri" charset="0"/>
                      </a:endParaRPr>
                    </a:p>
                  </a:txBody>
                  <a:tcPr marL="73152" marR="73152" marT="36576" marB="36576"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r" indent="0" marL="0">
                        <a:buNone/>
                      </a:pPr>
                      <a:r>
                        <a:rPr lang="en-US" sz="1300" dirty="0">
                          <a:solidFill>
                            <a:srgbClr val="14202E"/>
                          </a:solidFill>
                          <a:latin typeface="Calibri" pitchFamily="34" charset="0"/>
                          <a:ea typeface="Calibri" pitchFamily="34" charset="-122"/>
                          <a:cs typeface="Calibri" pitchFamily="34" charset="-120"/>
                        </a:rPr>
                        <a:t>₱690k</a:t>
                      </a:r>
                      <a:endParaRPr lang="en-US" sz="1300" dirty="0">
                        <a:latin typeface="Calibri" charset="0"/>
                        <a:ea typeface="Calibri" charset="0"/>
                        <a:cs typeface="Calibri" charset="0"/>
                      </a:endParaRPr>
                    </a:p>
                  </a:txBody>
                  <a:tcPr marL="73152" marR="73152" marT="36576" marB="36576"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r>
              <a:tr h="457200">
                <a:tc>
                  <a:txBody>
                    <a:bodyPr/>
                    <a:lstStyle/>
                    <a:p>
                      <a:pPr indent="0" marL="0">
                        <a:buNone/>
                      </a:pPr>
                      <a:r>
                        <a:rPr lang="en-US" sz="1300" dirty="0">
                          <a:solidFill>
                            <a:srgbClr val="14202E"/>
                          </a:solidFill>
                          <a:latin typeface="Calibri" pitchFamily="34" charset="0"/>
                          <a:ea typeface="Calibri" pitchFamily="34" charset="-122"/>
                          <a:cs typeface="Calibri" pitchFamily="34" charset="-120"/>
                        </a:rPr>
                        <a:t>90 m</a:t>
                      </a:r>
                      <a:endParaRPr lang="en-US" sz="1300" dirty="0">
                        <a:latin typeface="Calibri" charset="0"/>
                        <a:ea typeface="Calibri" charset="0"/>
                        <a:cs typeface="Calibri" charset="0"/>
                      </a:endParaRPr>
                    </a:p>
                  </a:txBody>
                  <a:tcPr marL="73152" marR="73152" marT="36576" marB="36576"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indent="0" marL="0">
                        <a:buNone/>
                      </a:pPr>
                      <a:r>
                        <a:rPr lang="en-US" sz="1300" dirty="0">
                          <a:solidFill>
                            <a:srgbClr val="14202E"/>
                          </a:solidFill>
                          <a:latin typeface="Calibri" pitchFamily="34" charset="0"/>
                          <a:ea typeface="Calibri" pitchFamily="34" charset="-122"/>
                          <a:cs typeface="Calibri" pitchFamily="34" charset="-120"/>
                        </a:rPr>
                        <a:t>RC deck girder (RCDG)</a:t>
                      </a:r>
                      <a:endParaRPr lang="en-US" sz="1300" dirty="0">
                        <a:latin typeface="Calibri" charset="0"/>
                        <a:ea typeface="Calibri" charset="0"/>
                        <a:cs typeface="Calibri" charset="0"/>
                      </a:endParaRPr>
                    </a:p>
                  </a:txBody>
                  <a:tcPr marL="73152" marR="73152" marT="36576" marB="36576"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indent="0" marL="0">
                        <a:buNone/>
                      </a:pPr>
                      <a:r>
                        <a:rPr lang="en-US" sz="1300" dirty="0">
                          <a:solidFill>
                            <a:srgbClr val="14202E"/>
                          </a:solidFill>
                          <a:latin typeface="Calibri" pitchFamily="34" charset="0"/>
                          <a:ea typeface="Calibri" pitchFamily="34" charset="-122"/>
                          <a:cs typeface="Calibri" pitchFamily="34" charset="-120"/>
                        </a:rPr>
                        <a:t>4 × 22.5 m</a:t>
                      </a:r>
                      <a:endParaRPr lang="en-US" sz="1300" dirty="0">
                        <a:latin typeface="Calibri" charset="0"/>
                        <a:ea typeface="Calibri" charset="0"/>
                        <a:cs typeface="Calibri" charset="0"/>
                      </a:endParaRPr>
                    </a:p>
                  </a:txBody>
                  <a:tcPr marL="73152" marR="73152" marT="36576" marB="36576"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r" indent="0" marL="0">
                        <a:buNone/>
                      </a:pPr>
                      <a:r>
                        <a:rPr lang="en-US" sz="1300" dirty="0">
                          <a:solidFill>
                            <a:srgbClr val="14202E"/>
                          </a:solidFill>
                          <a:latin typeface="Calibri" pitchFamily="34" charset="0"/>
                          <a:ea typeface="Calibri" pitchFamily="34" charset="-122"/>
                          <a:cs typeface="Calibri" pitchFamily="34" charset="-120"/>
                        </a:rPr>
                        <a:t>₱55.43M</a:t>
                      </a:r>
                      <a:endParaRPr lang="en-US" sz="1300" dirty="0">
                        <a:latin typeface="Calibri" charset="0"/>
                        <a:ea typeface="Calibri" charset="0"/>
                        <a:cs typeface="Calibri" charset="0"/>
                      </a:endParaRPr>
                    </a:p>
                  </a:txBody>
                  <a:tcPr marL="73152" marR="73152" marT="36576" marB="36576"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r" indent="0" marL="0">
                        <a:buNone/>
                      </a:pPr>
                      <a:r>
                        <a:rPr lang="en-US" sz="1300" dirty="0">
                          <a:solidFill>
                            <a:srgbClr val="14202E"/>
                          </a:solidFill>
                          <a:latin typeface="Calibri" pitchFamily="34" charset="0"/>
                          <a:ea typeface="Calibri" pitchFamily="34" charset="-122"/>
                          <a:cs typeface="Calibri" pitchFamily="34" charset="-120"/>
                        </a:rPr>
                        <a:t>₱616k</a:t>
                      </a:r>
                      <a:endParaRPr lang="en-US" sz="1300" dirty="0">
                        <a:latin typeface="Calibri" charset="0"/>
                        <a:ea typeface="Calibri" charset="0"/>
                        <a:cs typeface="Calibri" charset="0"/>
                      </a:endParaRPr>
                    </a:p>
                  </a:txBody>
                  <a:tcPr marL="73152" marR="73152" marT="36576" marB="36576"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r>
              <a:tr h="457200">
                <a:tc>
                  <a:txBody>
                    <a:bodyPr/>
                    <a:lstStyle/>
                    <a:p>
                      <a:pPr indent="0" marL="0">
                        <a:buNone/>
                      </a:pPr>
                      <a:r>
                        <a:rPr lang="en-US" sz="1300" dirty="0">
                          <a:solidFill>
                            <a:srgbClr val="14202E"/>
                          </a:solidFill>
                          <a:latin typeface="Calibri" pitchFamily="34" charset="0"/>
                          <a:ea typeface="Calibri" pitchFamily="34" charset="-122"/>
                          <a:cs typeface="Calibri" pitchFamily="34" charset="-120"/>
                        </a:rPr>
                        <a:t>120 m</a:t>
                      </a:r>
                      <a:endParaRPr lang="en-US" sz="1300" dirty="0">
                        <a:latin typeface="Calibri" charset="0"/>
                        <a:ea typeface="Calibri" charset="0"/>
                        <a:cs typeface="Calibri" charset="0"/>
                      </a:endParaRPr>
                    </a:p>
                  </a:txBody>
                  <a:tcPr marL="73152" marR="73152" marT="36576" marB="36576"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indent="0" marL="0">
                        <a:buNone/>
                      </a:pPr>
                      <a:r>
                        <a:rPr lang="en-US" sz="1300" dirty="0">
                          <a:solidFill>
                            <a:srgbClr val="14202E"/>
                          </a:solidFill>
                          <a:latin typeface="Calibri" pitchFamily="34" charset="0"/>
                          <a:ea typeface="Calibri" pitchFamily="34" charset="-122"/>
                          <a:cs typeface="Calibri" pitchFamily="34" charset="-120"/>
                        </a:rPr>
                        <a:t>RC deck girder (RCDG)</a:t>
                      </a:r>
                      <a:endParaRPr lang="en-US" sz="1300" dirty="0">
                        <a:latin typeface="Calibri" charset="0"/>
                        <a:ea typeface="Calibri" charset="0"/>
                        <a:cs typeface="Calibri" charset="0"/>
                      </a:endParaRPr>
                    </a:p>
                  </a:txBody>
                  <a:tcPr marL="73152" marR="73152" marT="36576" marB="36576"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indent="0" marL="0">
                        <a:buNone/>
                      </a:pPr>
                      <a:r>
                        <a:rPr lang="en-US" sz="1300" dirty="0">
                          <a:solidFill>
                            <a:srgbClr val="14202E"/>
                          </a:solidFill>
                          <a:latin typeface="Calibri" pitchFamily="34" charset="0"/>
                          <a:ea typeface="Calibri" pitchFamily="34" charset="-122"/>
                          <a:cs typeface="Calibri" pitchFamily="34" charset="-120"/>
                        </a:rPr>
                        <a:t>5 × 24.0 m</a:t>
                      </a:r>
                      <a:endParaRPr lang="en-US" sz="1300" dirty="0">
                        <a:latin typeface="Calibri" charset="0"/>
                        <a:ea typeface="Calibri" charset="0"/>
                        <a:cs typeface="Calibri" charset="0"/>
                      </a:endParaRPr>
                    </a:p>
                  </a:txBody>
                  <a:tcPr marL="73152" marR="73152" marT="36576" marB="36576"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r" indent="0" marL="0">
                        <a:buNone/>
                      </a:pPr>
                      <a:r>
                        <a:rPr lang="en-US" sz="1300" dirty="0">
                          <a:solidFill>
                            <a:srgbClr val="14202E"/>
                          </a:solidFill>
                          <a:latin typeface="Calibri" pitchFamily="34" charset="0"/>
                          <a:ea typeface="Calibri" pitchFamily="34" charset="-122"/>
                          <a:cs typeface="Calibri" pitchFamily="34" charset="-120"/>
                        </a:rPr>
                        <a:t>₱68.28M</a:t>
                      </a:r>
                      <a:endParaRPr lang="en-US" sz="1300" dirty="0">
                        <a:latin typeface="Calibri" charset="0"/>
                        <a:ea typeface="Calibri" charset="0"/>
                        <a:cs typeface="Calibri" charset="0"/>
                      </a:endParaRPr>
                    </a:p>
                  </a:txBody>
                  <a:tcPr marL="73152" marR="73152" marT="36576" marB="36576"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r" indent="0" marL="0">
                        <a:buNone/>
                      </a:pPr>
                      <a:r>
                        <a:rPr lang="en-US" sz="1300" dirty="0">
                          <a:solidFill>
                            <a:srgbClr val="14202E"/>
                          </a:solidFill>
                          <a:latin typeface="Calibri" pitchFamily="34" charset="0"/>
                          <a:ea typeface="Calibri" pitchFamily="34" charset="-122"/>
                          <a:cs typeface="Calibri" pitchFamily="34" charset="-120"/>
                        </a:rPr>
                        <a:t>₱569k</a:t>
                      </a:r>
                      <a:endParaRPr lang="en-US" sz="1300" dirty="0">
                        <a:latin typeface="Calibri" charset="0"/>
                        <a:ea typeface="Calibri" charset="0"/>
                        <a:cs typeface="Calibri" charset="0"/>
                      </a:endParaRPr>
                    </a:p>
                  </a:txBody>
                  <a:tcPr marL="73152" marR="73152" marT="36576" marB="36576"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r>
            </a:tbl>
          </a:graphicData>
        </a:graphic>
      </p:graphicFrame>
      <p:pic>
        <p:nvPicPr>
          <p:cNvPr id="6" name="elev_rcdg60.png" descr="Three-span RCDG elevation">    </p:cNvPr>
          <p:cNvPicPr>
            <a:picLocks noChangeAspect="1"/>
          </p:cNvPicPr>
          <p:nvPr/>
        </p:nvPicPr>
        <p:blipFill>
          <a:blip r:embed="rId1"/>
          <a:stretch>
            <a:fillRect/>
          </a:stretch>
        </p:blipFill>
        <p:spPr>
          <a:xfrm>
            <a:off x="6812280" y="1539062"/>
            <a:ext cx="4828032" cy="1310996"/>
          </a:xfrm>
          <a:prstGeom prst="rect">
            <a:avLst/>
          </a:prstGeom>
        </p:spPr>
      </p:pic>
      <p:pic>
        <p:nvPicPr>
          <p:cNvPr id="7" name="elev_truss45.png" descr="Steel truss elevation">    </p:cNvPr>
          <p:cNvPicPr>
            <a:picLocks noChangeAspect="1"/>
          </p:cNvPicPr>
          <p:nvPr/>
        </p:nvPicPr>
        <p:blipFill>
          <a:blip r:embed="rId2"/>
          <a:stretch>
            <a:fillRect/>
          </a:stretch>
        </p:blipFill>
        <p:spPr>
          <a:xfrm>
            <a:off x="6887379" y="3063240"/>
            <a:ext cx="4677833" cy="1554480"/>
          </a:xfrm>
          <a:prstGeom prst="rect">
            <a:avLst/>
          </a:prstGeom>
        </p:spPr>
      </p:pic>
      <p:pic>
        <p:nvPicPr>
          <p:cNvPr id="8" name="elev_bc3.png" descr="Box culvert elevation">    </p:cNvPr>
          <p:cNvPicPr>
            <a:picLocks noChangeAspect="1"/>
          </p:cNvPicPr>
          <p:nvPr/>
        </p:nvPicPr>
        <p:blipFill>
          <a:blip r:embed="rId3"/>
          <a:stretch>
            <a:fillRect/>
          </a:stretch>
        </p:blipFill>
        <p:spPr>
          <a:xfrm>
            <a:off x="7651832" y="4754880"/>
            <a:ext cx="3148927" cy="1463040"/>
          </a:xfrm>
          <a:prstGeom prst="rect">
            <a:avLst/>
          </a:prstGeom>
        </p:spPr>
      </p:pic>
      <p:sp>
        <p:nvSpPr>
          <p:cNvPr id="25" name="Slide Number Placeholder 0"/>
          <p:cNvSpPr>
            <a:spLocks noGrp="1"/>
          </p:cNvSpPr>
          <p:nvPr>
            <p:ph type="sldNum" sz="quarter" idx="4294967295"/>
          </p:nvPr>
        </p:nvSpPr>
        <p:spPr>
          <a:xfrm>
            <a:off x="11064240" y="642823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A8C"/>
                </a:solidFill>
              </a:defRPr>
            </a:lvl1pPr>
          </a:lstStyle>
          <a:p>
            <a:pPr algn="r"/>
            <a:fld id="{F7021451-1387-4CA6-816F-3879F97B5CBC}" type="slidenum">
              <a:rPr b="0"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ph idx="100" type="body" hasCustomPrompt="1"/>
          </p:nvPr>
        </p:nvSpPr>
        <p:spPr>
          <a:xfrm>
            <a:off x="548640" y="256032"/>
            <a:ext cx="8229600" cy="292608"/>
          </a:xfrm>
          <a:prstGeom prst="rect">
            <a:avLst/>
          </a:prstGeom>
          <a:noFill/>
          <a:ln/>
        </p:spPr>
        <p:txBody>
          <a:bodyPr wrap="square" lIns="0" tIns="0" rIns="0" bIns="0" rtlCol="0"/>
          <a:lstStyle/>
          <a:p>
            <a:pPr indent="0" marL="0">
              <a:buNone/>
            </a:pPr>
            <a:r>
              <a:rPr lang="en-US" sz="1200" b="1" spc="200" kern="0" dirty="0">
                <a:solidFill>
                  <a:schemeClr val="accent5"/>
                </a:solidFill>
              </a:rPr>
              <a:t>RQ3 · STANDARDS-BASED ENGINE</a:t>
            </a:r>
            <a:endParaRPr lang="en-US" sz="1200" dirty="0"/>
          </a:p>
        </p:txBody>
      </p:sp>
      <p:sp>
        <p:nvSpPr>
          <p:cNvPr id="3" name="Text 0"/>
          <p:cNvSpPr/>
          <p:nvPr>
            <p:ph idx="101" type="title" hasCustomPrompt="1"/>
          </p:nvPr>
        </p:nvSpPr>
        <p:spPr>
          <a:xfrm>
            <a:off x="548640" y="530352"/>
            <a:ext cx="11064240" cy="731520"/>
          </a:xfrm>
          <a:prstGeom prst="rect">
            <a:avLst/>
          </a:prstGeom>
          <a:noFill/>
          <a:ln/>
        </p:spPr>
        <p:txBody>
          <a:bodyPr wrap="square" lIns="0" tIns="0" rIns="0" bIns="0" rtlCol="0" anchor="ctr"/>
          <a:lstStyle/>
          <a:p>
            <a:pPr algn="l" indent="0" marL="0">
              <a:buNone/>
            </a:pPr>
            <a:r>
              <a:rPr lang="en-US" sz="3200" b="1" dirty="0">
                <a:solidFill>
                  <a:schemeClr val="tx2"/>
                </a:solidFill>
                <a:latin typeface="Cambria" pitchFamily="34" charset="0"/>
                <a:ea typeface="Cambria" pitchFamily="34" charset="-122"/>
                <a:cs typeface="Cambria" pitchFamily="34" charset="-120"/>
              </a:rPr>
              <a:t>Accuracy of the Quantity Take-Off</a:t>
            </a:r>
            <a:endParaRPr lang="en-US" sz="3200" dirty="0"/>
          </a:p>
        </p:txBody>
      </p:sp>
      <p:sp>
        <p:nvSpPr>
          <p:cNvPr id="5" name="card"/>
          <p:cNvSpPr/>
          <p:nvPr/>
        </p:nvSpPr>
        <p:spPr>
          <a:xfrm>
            <a:off x="548640" y="1463040"/>
            <a:ext cx="3291840" cy="1417320"/>
          </a:xfrm>
          <a:prstGeom prst="roundRect">
            <a:avLst>
              <a:gd name="adj" fmla="val 5161"/>
            </a:avLst>
          </a:prstGeom>
          <a:solidFill>
            <a:schemeClr val="bg2"/>
          </a:solidFill>
          <a:ln/>
        </p:spPr>
      </p:sp>
      <p:sp>
        <p:nvSpPr>
          <p:cNvPr id="6" name="Text 3"/>
          <p:cNvSpPr txBox="1"/>
          <p:nvPr/>
        </p:nvSpPr>
        <p:spPr>
          <a:xfrm>
            <a:off x="777240" y="1572768"/>
            <a:ext cx="2926080" cy="777240"/>
          </a:xfrm>
          <a:prstGeom prst="rect">
            <a:avLst/>
          </a:prstGeom>
          <a:noFill/>
          <a:ln/>
        </p:spPr>
        <p:txBody>
          <a:bodyPr wrap="square" lIns="0" tIns="0" rIns="0" bIns="0" rtlCol="0" anchor="t"/>
          <a:lstStyle/>
          <a:p>
            <a:pPr indent="0" marL="0">
              <a:buNone/>
            </a:pPr>
            <a:r>
              <a:rPr lang="en-US" sz="4000" b="1" dirty="0">
                <a:solidFill>
                  <a:schemeClr val="tx2"/>
                </a:solidFill>
                <a:latin typeface="Cambria" pitchFamily="34" charset="0"/>
                <a:ea typeface="Cambria" pitchFamily="34" charset="-122"/>
                <a:cs typeface="Cambria" pitchFamily="34" charset="-120"/>
              </a:rPr>
              <a:t>5.21%</a:t>
            </a:r>
            <a:endParaRPr lang="en-US" sz="4000" dirty="0"/>
          </a:p>
        </p:txBody>
      </p:sp>
      <p:sp>
        <p:nvSpPr>
          <p:cNvPr id="7" name="Text 4"/>
          <p:cNvSpPr txBox="1"/>
          <p:nvPr/>
        </p:nvSpPr>
        <p:spPr>
          <a:xfrm>
            <a:off x="777240" y="2359152"/>
            <a:ext cx="2926080" cy="411480"/>
          </a:xfrm>
          <a:prstGeom prst="rect">
            <a:avLst/>
          </a:prstGeom>
          <a:noFill/>
          <a:ln/>
        </p:spPr>
        <p:txBody>
          <a:bodyPr wrap="square" lIns="0" tIns="0" rIns="0" bIns="0" rtlCol="0" anchor="t"/>
          <a:lstStyle/>
          <a:p>
            <a:pPr indent="0" marL="0">
              <a:buNone/>
            </a:pPr>
            <a:r>
              <a:rPr lang="en-US" sz="1500" dirty="0">
                <a:solidFill>
                  <a:schemeClr val="tx1"/>
                </a:solidFill>
              </a:rPr>
              <a:t>MAPE, buildings</a:t>
            </a:r>
            <a:endParaRPr lang="en-US" sz="1500" dirty="0"/>
          </a:p>
        </p:txBody>
      </p:sp>
      <p:sp>
        <p:nvSpPr>
          <p:cNvPr id="8" name="card"/>
          <p:cNvSpPr/>
          <p:nvPr/>
        </p:nvSpPr>
        <p:spPr>
          <a:xfrm>
            <a:off x="548640" y="3063240"/>
            <a:ext cx="3291840" cy="1417320"/>
          </a:xfrm>
          <a:prstGeom prst="roundRect">
            <a:avLst>
              <a:gd name="adj" fmla="val 5161"/>
            </a:avLst>
          </a:prstGeom>
          <a:solidFill>
            <a:schemeClr val="bg2"/>
          </a:solidFill>
          <a:ln/>
        </p:spPr>
      </p:sp>
      <p:sp>
        <p:nvSpPr>
          <p:cNvPr id="9" name="Text 6"/>
          <p:cNvSpPr txBox="1"/>
          <p:nvPr/>
        </p:nvSpPr>
        <p:spPr>
          <a:xfrm>
            <a:off x="777240" y="3172968"/>
            <a:ext cx="2926080" cy="777240"/>
          </a:xfrm>
          <a:prstGeom prst="rect">
            <a:avLst/>
          </a:prstGeom>
          <a:noFill/>
          <a:ln/>
        </p:spPr>
        <p:txBody>
          <a:bodyPr wrap="square" lIns="0" tIns="0" rIns="0" bIns="0" rtlCol="0" anchor="t"/>
          <a:lstStyle/>
          <a:p>
            <a:pPr indent="0" marL="0">
              <a:buNone/>
            </a:pPr>
            <a:r>
              <a:rPr lang="en-US" sz="4000" b="1" dirty="0">
                <a:solidFill>
                  <a:schemeClr val="tx2"/>
                </a:solidFill>
                <a:latin typeface="Cambria" pitchFamily="34" charset="0"/>
                <a:ea typeface="Cambria" pitchFamily="34" charset="-122"/>
                <a:cs typeface="Cambria" pitchFamily="34" charset="-120"/>
              </a:rPr>
              <a:t>7.67%</a:t>
            </a:r>
            <a:endParaRPr lang="en-US" sz="4000" dirty="0"/>
          </a:p>
        </p:txBody>
      </p:sp>
      <p:sp>
        <p:nvSpPr>
          <p:cNvPr id="10" name="Text 7"/>
          <p:cNvSpPr txBox="1"/>
          <p:nvPr/>
        </p:nvSpPr>
        <p:spPr>
          <a:xfrm>
            <a:off x="777240" y="3959352"/>
            <a:ext cx="2926080" cy="411480"/>
          </a:xfrm>
          <a:prstGeom prst="rect">
            <a:avLst/>
          </a:prstGeom>
          <a:noFill/>
          <a:ln/>
        </p:spPr>
        <p:txBody>
          <a:bodyPr wrap="square" lIns="0" tIns="0" rIns="0" bIns="0" rtlCol="0" anchor="t"/>
          <a:lstStyle/>
          <a:p>
            <a:pPr indent="0" marL="0">
              <a:buNone/>
            </a:pPr>
            <a:r>
              <a:rPr lang="en-US" sz="1500" dirty="0">
                <a:solidFill>
                  <a:schemeClr val="tx1"/>
                </a:solidFill>
              </a:rPr>
              <a:t>MAPE, bridges</a:t>
            </a:r>
            <a:endParaRPr lang="en-US" sz="1500" dirty="0"/>
          </a:p>
        </p:txBody>
      </p:sp>
      <p:sp>
        <p:nvSpPr>
          <p:cNvPr id="11" name="card"/>
          <p:cNvSpPr/>
          <p:nvPr/>
        </p:nvSpPr>
        <p:spPr>
          <a:xfrm>
            <a:off x="548640" y="4663440"/>
            <a:ext cx="3291840" cy="1417320"/>
          </a:xfrm>
          <a:prstGeom prst="roundRect">
            <a:avLst>
              <a:gd name="adj" fmla="val 5161"/>
            </a:avLst>
          </a:prstGeom>
          <a:solidFill>
            <a:schemeClr val="bg2"/>
          </a:solidFill>
          <a:ln/>
        </p:spPr>
      </p:sp>
      <p:sp>
        <p:nvSpPr>
          <p:cNvPr id="12" name="Text 9"/>
          <p:cNvSpPr txBox="1"/>
          <p:nvPr/>
        </p:nvSpPr>
        <p:spPr>
          <a:xfrm>
            <a:off x="777240" y="4773168"/>
            <a:ext cx="2926080" cy="777240"/>
          </a:xfrm>
          <a:prstGeom prst="rect">
            <a:avLst/>
          </a:prstGeom>
          <a:noFill/>
          <a:ln/>
        </p:spPr>
        <p:txBody>
          <a:bodyPr wrap="square" lIns="0" tIns="0" rIns="0" bIns="0" rtlCol="0" anchor="t"/>
          <a:lstStyle/>
          <a:p>
            <a:pPr indent="0" marL="0">
              <a:buNone/>
            </a:pPr>
            <a:r>
              <a:rPr lang="en-US" sz="4000" b="1" dirty="0">
                <a:solidFill>
                  <a:schemeClr val="tx2"/>
                </a:solidFill>
                <a:latin typeface="Cambria" pitchFamily="34" charset="0"/>
                <a:ea typeface="Cambria" pitchFamily="34" charset="-122"/>
                <a:cs typeface="Cambria" pitchFamily="34" charset="-120"/>
              </a:rPr>
              <a:t>0.98</a:t>
            </a:r>
            <a:endParaRPr lang="en-US" sz="4000" dirty="0"/>
          </a:p>
        </p:txBody>
      </p:sp>
      <p:sp>
        <p:nvSpPr>
          <p:cNvPr id="13" name="Text 10"/>
          <p:cNvSpPr txBox="1"/>
          <p:nvPr/>
        </p:nvSpPr>
        <p:spPr>
          <a:xfrm>
            <a:off x="777240" y="5559552"/>
            <a:ext cx="2926080" cy="411480"/>
          </a:xfrm>
          <a:prstGeom prst="rect">
            <a:avLst/>
          </a:prstGeom>
          <a:noFill/>
          <a:ln/>
        </p:spPr>
        <p:txBody>
          <a:bodyPr wrap="square" lIns="0" tIns="0" rIns="0" bIns="0" rtlCol="0" anchor="t"/>
          <a:lstStyle/>
          <a:p>
            <a:pPr indent="0" marL="0">
              <a:buNone/>
            </a:pPr>
            <a:r>
              <a:rPr lang="en-US" sz="1500" dirty="0">
                <a:solidFill>
                  <a:schemeClr val="tx1"/>
                </a:solidFill>
              </a:rPr>
              <a:t>R², both asset classes</a:t>
            </a:r>
            <a:endParaRPr lang="en-US" sz="1500" dirty="0"/>
          </a:p>
        </p:txBody>
      </p:sp>
      <p:graphicFrame>
        <p:nvGraphicFramePr>
          <p:cNvPr id="14" name="tier accuracy chart" descr="Clustered column chart of tier coverage"/>
          <p:cNvGraphicFramePr/>
          <p:nvPr/>
        </p:nvGraphicFramePr>
        <p:xfrm>
          <a:off x="4114800" y="1463040"/>
          <a:ext cx="7525512" cy="4754880"/>
        </p:xfrm>
        <a:graphic xmlns:a="http://schemas.openxmlformats.org/drawingml/2006/main">
          <a:graphicData uri="http://schemas.openxmlformats.org/drawingml/2006/chart">
            <c:chart xmlns:c="http://schemas.openxmlformats.org/drawingml/2006/chart" r:id="rId1"/>
          </a:graphicData>
        </a:graphic>
      </p:graphicFrame>
      <p:sp>
        <p:nvSpPr>
          <p:cNvPr id="25" name="Slide Number Placeholder 0"/>
          <p:cNvSpPr>
            <a:spLocks noGrp="1"/>
          </p:cNvSpPr>
          <p:nvPr>
            <p:ph type="sldNum" sz="quarter" idx="4294967295"/>
          </p:nvPr>
        </p:nvSpPr>
        <p:spPr>
          <a:xfrm>
            <a:off x="11064240" y="642823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A8C"/>
                </a:solidFill>
              </a:defRPr>
            </a:lvl1pPr>
          </a:lstStyle>
          <a:p>
            <a:pPr algn="r"/>
            <a:fld id="{F7021451-1387-4CA6-816F-3879F97B5CBC}" type="slidenum">
              <a:rPr b="0"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ph idx="100" type="body" hasCustomPrompt="1"/>
          </p:nvPr>
        </p:nvSpPr>
        <p:spPr>
          <a:xfrm>
            <a:off x="548640" y="256032"/>
            <a:ext cx="8229600" cy="292608"/>
          </a:xfrm>
          <a:prstGeom prst="rect">
            <a:avLst/>
          </a:prstGeom>
          <a:noFill/>
          <a:ln/>
        </p:spPr>
        <p:txBody>
          <a:bodyPr wrap="square" lIns="0" tIns="0" rIns="0" bIns="0" rtlCol="0"/>
          <a:lstStyle/>
          <a:p>
            <a:pPr indent="0" marL="0">
              <a:buNone/>
            </a:pPr>
            <a:r>
              <a:rPr lang="en-US" sz="1200" b="1" spc="200" kern="0" dirty="0">
                <a:solidFill>
                  <a:schemeClr val="accent5"/>
                </a:solidFill>
              </a:rPr>
              <a:t>RQ3 · REFERENCE PLANS</a:t>
            </a:r>
            <a:endParaRPr lang="en-US" sz="1200" dirty="0"/>
          </a:p>
        </p:txBody>
      </p:sp>
      <p:sp>
        <p:nvSpPr>
          <p:cNvPr id="3" name="Text 0"/>
          <p:cNvSpPr/>
          <p:nvPr>
            <p:ph idx="101" type="title" hasCustomPrompt="1"/>
          </p:nvPr>
        </p:nvSpPr>
        <p:spPr>
          <a:xfrm>
            <a:off x="548640" y="530352"/>
            <a:ext cx="11064240" cy="731520"/>
          </a:xfrm>
          <a:prstGeom prst="rect">
            <a:avLst/>
          </a:prstGeom>
          <a:noFill/>
          <a:ln/>
        </p:spPr>
        <p:txBody>
          <a:bodyPr wrap="square" lIns="0" tIns="0" rIns="0" bIns="0" rtlCol="0" anchor="ctr"/>
          <a:lstStyle/>
          <a:p>
            <a:pPr algn="l" indent="0" marL="0">
              <a:buNone/>
            </a:pPr>
            <a:r>
              <a:rPr lang="en-US" sz="3200" b="1" dirty="0">
                <a:solidFill>
                  <a:schemeClr val="tx2"/>
                </a:solidFill>
                <a:latin typeface="Cambria" pitchFamily="34" charset="0"/>
                <a:ea typeface="Cambria" pitchFamily="34" charset="-122"/>
                <a:cs typeface="Cambria" pitchFamily="34" charset="-120"/>
              </a:rPr>
              <a:t>Quotations for the 19 Reference Plans</a:t>
            </a:r>
            <a:endParaRPr lang="en-US" sz="3200" dirty="0"/>
          </a:p>
        </p:txBody>
      </p:sp>
      <p:graphicFrame>
        <p:nvGraphicFramePr>
          <p:cNvPr id="37" name="reference quotations table"/>
          <p:cNvGraphicFramePr>
            <a:graphicFrameLocks noGrp="1"/>
          </p:cNvGraphicFramePr>
          <p:nvPr>
            <p:extLst>
              <p:ext uri="{D42A27DB-BD31-4B8C-83A1-F6EECF244321}">
                <p14:modId xmlns:p14="http://schemas.microsoft.com/office/powerpoint/2010/main" val="1579011935"/>
              </p:ext>
            </p:extLst>
          </p:nvPr>
        </p:nvGraphicFramePr>
        <p:xfrm>
          <a:off x="548640" y="1417320"/>
          <a:ext cx="11091672" cy="914400"/>
        </p:xfrm>
        <a:graphic>
          <a:graphicData uri="http://schemas.openxmlformats.org/drawingml/2006/table">
            <a:tbl>
              <a:tblPr/>
              <a:tblGrid>
                <a:gridCol w="5605272"/>
                <a:gridCol w="1463040"/>
                <a:gridCol w="1371600"/>
                <a:gridCol w="1371600"/>
                <a:gridCol w="1280160"/>
              </a:tblGrid>
              <a:tr h="338328">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Reference plan</a:t>
                      </a:r>
                      <a:endParaRPr lang="en-US" sz="1300" dirty="0">
                        <a:latin typeface="Calibri" charset="0"/>
                        <a:ea typeface="Calibri" charset="0"/>
                        <a:cs typeface="Calibri" charset="0"/>
                      </a:endParaRPr>
                    </a:p>
                  </a:txBody>
                  <a:tcPr marL="91440" marR="91440" marT="18288" marB="18288"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rgbClr val="12345A"/>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Lean (start)</a:t>
                      </a:r>
                      <a:endParaRPr lang="en-US" sz="1300" dirty="0">
                        <a:latin typeface="Calibri" charset="0"/>
                        <a:ea typeface="Calibri" charset="0"/>
                        <a:cs typeface="Calibri" charset="0"/>
                      </a:endParaRPr>
                    </a:p>
                  </a:txBody>
                  <a:tcPr marL="91440" marR="91440" marT="18288" marB="18288"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rgbClr val="12345A"/>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Standard</a:t>
                      </a:r>
                      <a:endParaRPr lang="en-US" sz="1300" dirty="0">
                        <a:latin typeface="Calibri" charset="0"/>
                        <a:ea typeface="Calibri" charset="0"/>
                        <a:cs typeface="Calibri" charset="0"/>
                      </a:endParaRPr>
                    </a:p>
                  </a:txBody>
                  <a:tcPr marL="91440" marR="91440" marT="18288" marB="18288"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rgbClr val="12345A"/>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Ceiling</a:t>
                      </a:r>
                      <a:endParaRPr lang="en-US" sz="1300" dirty="0">
                        <a:latin typeface="Calibri" charset="0"/>
                        <a:ea typeface="Calibri" charset="0"/>
                        <a:cs typeface="Calibri" charset="0"/>
                      </a:endParaRPr>
                    </a:p>
                  </a:txBody>
                  <a:tcPr marL="91440" marR="91440" marT="18288" marB="18288"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rgbClr val="12345A"/>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Saving</a:t>
                      </a:r>
                      <a:endParaRPr lang="en-US" sz="1300" dirty="0">
                        <a:latin typeface="Calibri" charset="0"/>
                        <a:ea typeface="Calibri" charset="0"/>
                        <a:cs typeface="Calibri" charset="0"/>
                      </a:endParaRPr>
                    </a:p>
                  </a:txBody>
                  <a:tcPr marL="91440" marR="91440" marT="18288" marB="18288"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rgbClr val="12345A"/>
                    </a:solidFill>
                  </a:tcPr>
                </a:tc>
              </a:tr>
              <a:tr h="338328">
                <a:tc>
                  <a:txBody>
                    <a:bodyPr/>
                    <a:lstStyle/>
                    <a:p>
                      <a:pPr indent="0" marL="0">
                        <a:buNone/>
                      </a:pPr>
                      <a:r>
                        <a:rPr lang="en-US" sz="1250" dirty="0">
                          <a:solidFill>
                            <a:srgbClr val="14202E"/>
                          </a:solidFill>
                          <a:latin typeface="Calibri" pitchFamily="34" charset="0"/>
                          <a:ea typeface="Calibri" pitchFamily="34" charset="-122"/>
                          <a:cs typeface="Calibri" pitchFamily="34" charset="-120"/>
                        </a:rPr>
                        <a:t>1-storey 2-classroom school building</a:t>
                      </a:r>
                      <a:endParaRPr lang="en-US" sz="1250" dirty="0">
                        <a:latin typeface="Calibri" charset="0"/>
                        <a:ea typeface="Calibri" charset="0"/>
                        <a:cs typeface="Calibri" charset="0"/>
                      </a:endParaRPr>
                    </a:p>
                  </a:txBody>
                  <a:tcPr marL="91440" marR="91440" marT="18288" marB="18288"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r" indent="0" marL="0">
                        <a:buNone/>
                      </a:pPr>
                      <a:r>
                        <a:rPr lang="en-US" sz="1250" b="1" dirty="0">
                          <a:solidFill>
                            <a:srgbClr val="12345A"/>
                          </a:solidFill>
                          <a:latin typeface="Calibri" pitchFamily="34" charset="0"/>
                          <a:ea typeface="Calibri" pitchFamily="34" charset="-122"/>
                          <a:cs typeface="Calibri" pitchFamily="34" charset="-120"/>
                        </a:rPr>
                        <a:t>₱4.63M</a:t>
                      </a:r>
                      <a:endParaRPr lang="en-US" sz="1250" dirty="0">
                        <a:latin typeface="Calibri" charset="0"/>
                        <a:ea typeface="Calibri" charset="0"/>
                        <a:cs typeface="Calibri" charset="0"/>
                      </a:endParaRPr>
                    </a:p>
                  </a:txBody>
                  <a:tcPr marL="91440" marR="91440" marT="18288" marB="18288"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r" indent="0" marL="0">
                        <a:buNone/>
                      </a:pPr>
                      <a:r>
                        <a:rPr lang="en-US" sz="1250" dirty="0">
                          <a:solidFill>
                            <a:srgbClr val="14202E"/>
                          </a:solidFill>
                          <a:latin typeface="Calibri" pitchFamily="34" charset="0"/>
                          <a:ea typeface="Calibri" pitchFamily="34" charset="-122"/>
                          <a:cs typeface="Calibri" pitchFamily="34" charset="-120"/>
                        </a:rPr>
                        <a:t>₱5.31M</a:t>
                      </a:r>
                      <a:endParaRPr lang="en-US" sz="1250" dirty="0">
                        <a:latin typeface="Calibri" charset="0"/>
                        <a:ea typeface="Calibri" charset="0"/>
                        <a:cs typeface="Calibri" charset="0"/>
                      </a:endParaRPr>
                    </a:p>
                  </a:txBody>
                  <a:tcPr marL="91440" marR="91440" marT="18288" marB="18288"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r" indent="0" marL="0">
                        <a:buNone/>
                      </a:pPr>
                      <a:r>
                        <a:rPr lang="en-US" sz="1250" dirty="0">
                          <a:solidFill>
                            <a:srgbClr val="14202E"/>
                          </a:solidFill>
                          <a:latin typeface="Calibri" pitchFamily="34" charset="0"/>
                          <a:ea typeface="Calibri" pitchFamily="34" charset="-122"/>
                          <a:cs typeface="Calibri" pitchFamily="34" charset="-120"/>
                        </a:rPr>
                        <a:t>₱6.41M</a:t>
                      </a:r>
                      <a:endParaRPr lang="en-US" sz="1250" dirty="0">
                        <a:latin typeface="Calibri" charset="0"/>
                        <a:ea typeface="Calibri" charset="0"/>
                        <a:cs typeface="Calibri" charset="0"/>
                      </a:endParaRPr>
                    </a:p>
                  </a:txBody>
                  <a:tcPr marL="91440" marR="91440" marT="18288" marB="18288"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r" indent="0" marL="0">
                        <a:buNone/>
                      </a:pPr>
                      <a:r>
                        <a:rPr lang="en-US" sz="1250" dirty="0">
                          <a:solidFill>
                            <a:srgbClr val="14202E"/>
                          </a:solidFill>
                          <a:latin typeface="Calibri" pitchFamily="34" charset="0"/>
                          <a:ea typeface="Calibri" pitchFamily="34" charset="-122"/>
                          <a:cs typeface="Calibri" pitchFamily="34" charset="-120"/>
                        </a:rPr>
                        <a:t>12.9%</a:t>
                      </a:r>
                      <a:endParaRPr lang="en-US" sz="1250" dirty="0">
                        <a:latin typeface="Calibri" charset="0"/>
                        <a:ea typeface="Calibri" charset="0"/>
                        <a:cs typeface="Calibri" charset="0"/>
                      </a:endParaRPr>
                    </a:p>
                  </a:txBody>
                  <a:tcPr marL="91440" marR="91440" marT="18288" marB="18288"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r>
              <a:tr h="338328">
                <a:tc>
                  <a:txBody>
                    <a:bodyPr/>
                    <a:lstStyle/>
                    <a:p>
                      <a:pPr indent="0" marL="0">
                        <a:buNone/>
                      </a:pPr>
                      <a:r>
                        <a:rPr lang="en-US" sz="1250" dirty="0">
                          <a:solidFill>
                            <a:srgbClr val="14202E"/>
                          </a:solidFill>
                          <a:latin typeface="Calibri" pitchFamily="34" charset="0"/>
                          <a:ea typeface="Calibri" pitchFamily="34" charset="-122"/>
                          <a:cs typeface="Calibri" pitchFamily="34" charset="-120"/>
                        </a:rPr>
                        <a:t>2-storey 4-classroom school building</a:t>
                      </a:r>
                      <a:endParaRPr lang="en-US" sz="1250" dirty="0">
                        <a:latin typeface="Calibri" charset="0"/>
                        <a:ea typeface="Calibri" charset="0"/>
                        <a:cs typeface="Calibri" charset="0"/>
                      </a:endParaRPr>
                    </a:p>
                  </a:txBody>
                  <a:tcPr marL="91440" marR="91440" marT="18288" marB="18288"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r" indent="0" marL="0">
                        <a:buNone/>
                      </a:pPr>
                      <a:r>
                        <a:rPr lang="en-US" sz="1250" b="1" dirty="0">
                          <a:solidFill>
                            <a:srgbClr val="12345A"/>
                          </a:solidFill>
                          <a:latin typeface="Calibri" pitchFamily="34" charset="0"/>
                          <a:ea typeface="Calibri" pitchFamily="34" charset="-122"/>
                          <a:cs typeface="Calibri" pitchFamily="34" charset="-120"/>
                        </a:rPr>
                        <a:t>₱7.88M</a:t>
                      </a:r>
                      <a:endParaRPr lang="en-US" sz="1250" dirty="0">
                        <a:latin typeface="Calibri" charset="0"/>
                        <a:ea typeface="Calibri" charset="0"/>
                        <a:cs typeface="Calibri" charset="0"/>
                      </a:endParaRPr>
                    </a:p>
                  </a:txBody>
                  <a:tcPr marL="91440" marR="91440" marT="18288" marB="18288"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r" indent="0" marL="0">
                        <a:buNone/>
                      </a:pPr>
                      <a:r>
                        <a:rPr lang="en-US" sz="1250" dirty="0">
                          <a:solidFill>
                            <a:srgbClr val="14202E"/>
                          </a:solidFill>
                          <a:latin typeface="Calibri" pitchFamily="34" charset="0"/>
                          <a:ea typeface="Calibri" pitchFamily="34" charset="-122"/>
                          <a:cs typeface="Calibri" pitchFamily="34" charset="-120"/>
                        </a:rPr>
                        <a:t>₱9.10M</a:t>
                      </a:r>
                      <a:endParaRPr lang="en-US" sz="1250" dirty="0">
                        <a:latin typeface="Calibri" charset="0"/>
                        <a:ea typeface="Calibri" charset="0"/>
                        <a:cs typeface="Calibri" charset="0"/>
                      </a:endParaRPr>
                    </a:p>
                  </a:txBody>
                  <a:tcPr marL="91440" marR="91440" marT="18288" marB="18288"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r" indent="0" marL="0">
                        <a:buNone/>
                      </a:pPr>
                      <a:r>
                        <a:rPr lang="en-US" sz="1250" dirty="0">
                          <a:solidFill>
                            <a:srgbClr val="14202E"/>
                          </a:solidFill>
                          <a:latin typeface="Calibri" pitchFamily="34" charset="0"/>
                          <a:ea typeface="Calibri" pitchFamily="34" charset="-122"/>
                          <a:cs typeface="Calibri" pitchFamily="34" charset="-120"/>
                        </a:rPr>
                        <a:t>₱11.49M</a:t>
                      </a:r>
                      <a:endParaRPr lang="en-US" sz="1250" dirty="0">
                        <a:latin typeface="Calibri" charset="0"/>
                        <a:ea typeface="Calibri" charset="0"/>
                        <a:cs typeface="Calibri" charset="0"/>
                      </a:endParaRPr>
                    </a:p>
                  </a:txBody>
                  <a:tcPr marL="91440" marR="91440" marT="18288" marB="18288"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r" indent="0" marL="0">
                        <a:buNone/>
                      </a:pPr>
                      <a:r>
                        <a:rPr lang="en-US" sz="1250" dirty="0">
                          <a:solidFill>
                            <a:srgbClr val="14202E"/>
                          </a:solidFill>
                          <a:latin typeface="Calibri" pitchFamily="34" charset="0"/>
                          <a:ea typeface="Calibri" pitchFamily="34" charset="-122"/>
                          <a:cs typeface="Calibri" pitchFamily="34" charset="-120"/>
                        </a:rPr>
                        <a:t>13.5%</a:t>
                      </a:r>
                      <a:endParaRPr lang="en-US" sz="1250" dirty="0">
                        <a:latin typeface="Calibri" charset="0"/>
                        <a:ea typeface="Calibri" charset="0"/>
                        <a:cs typeface="Calibri" charset="0"/>
                      </a:endParaRPr>
                    </a:p>
                  </a:txBody>
                  <a:tcPr marL="91440" marR="91440" marT="18288" marB="18288"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r>
              <a:tr h="338328">
                <a:tc>
                  <a:txBody>
                    <a:bodyPr/>
                    <a:lstStyle/>
                    <a:p>
                      <a:pPr indent="0" marL="0">
                        <a:buNone/>
                      </a:pPr>
                      <a:r>
                        <a:rPr lang="en-US" sz="1250" dirty="0">
                          <a:solidFill>
                            <a:srgbClr val="14202E"/>
                          </a:solidFill>
                          <a:latin typeface="Calibri" pitchFamily="34" charset="0"/>
                          <a:ea typeface="Calibri" pitchFamily="34" charset="-122"/>
                          <a:cs typeface="Calibri" pitchFamily="34" charset="-120"/>
                        </a:rPr>
                        <a:t>3-storey 9-classroom school building</a:t>
                      </a:r>
                      <a:endParaRPr lang="en-US" sz="1250" dirty="0">
                        <a:latin typeface="Calibri" charset="0"/>
                        <a:ea typeface="Calibri" charset="0"/>
                        <a:cs typeface="Calibri" charset="0"/>
                      </a:endParaRPr>
                    </a:p>
                  </a:txBody>
                  <a:tcPr marL="91440" marR="91440" marT="18288" marB="18288"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r" indent="0" marL="0">
                        <a:buNone/>
                      </a:pPr>
                      <a:r>
                        <a:rPr lang="en-US" sz="1250" b="1" dirty="0">
                          <a:solidFill>
                            <a:srgbClr val="12345A"/>
                          </a:solidFill>
                          <a:latin typeface="Calibri" pitchFamily="34" charset="0"/>
                          <a:ea typeface="Calibri" pitchFamily="34" charset="-122"/>
                          <a:cs typeface="Calibri" pitchFamily="34" charset="-120"/>
                        </a:rPr>
                        <a:t>₱17.28M</a:t>
                      </a:r>
                      <a:endParaRPr lang="en-US" sz="1250" dirty="0">
                        <a:latin typeface="Calibri" charset="0"/>
                        <a:ea typeface="Calibri" charset="0"/>
                        <a:cs typeface="Calibri" charset="0"/>
                      </a:endParaRPr>
                    </a:p>
                  </a:txBody>
                  <a:tcPr marL="91440" marR="91440" marT="18288" marB="18288"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r" indent="0" marL="0">
                        <a:buNone/>
                      </a:pPr>
                      <a:r>
                        <a:rPr lang="en-US" sz="1250" dirty="0">
                          <a:solidFill>
                            <a:srgbClr val="14202E"/>
                          </a:solidFill>
                          <a:latin typeface="Calibri" pitchFamily="34" charset="0"/>
                          <a:ea typeface="Calibri" pitchFamily="34" charset="-122"/>
                          <a:cs typeface="Calibri" pitchFamily="34" charset="-120"/>
                        </a:rPr>
                        <a:t>₱20.03M</a:t>
                      </a:r>
                      <a:endParaRPr lang="en-US" sz="1250" dirty="0">
                        <a:latin typeface="Calibri" charset="0"/>
                        <a:ea typeface="Calibri" charset="0"/>
                        <a:cs typeface="Calibri" charset="0"/>
                      </a:endParaRPr>
                    </a:p>
                  </a:txBody>
                  <a:tcPr marL="91440" marR="91440" marT="18288" marB="18288"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r" indent="0" marL="0">
                        <a:buNone/>
                      </a:pPr>
                      <a:r>
                        <a:rPr lang="en-US" sz="1250" dirty="0">
                          <a:solidFill>
                            <a:srgbClr val="14202E"/>
                          </a:solidFill>
                          <a:latin typeface="Calibri" pitchFamily="34" charset="0"/>
                          <a:ea typeface="Calibri" pitchFamily="34" charset="-122"/>
                          <a:cs typeface="Calibri" pitchFamily="34" charset="-120"/>
                        </a:rPr>
                        <a:t>₱25.37M</a:t>
                      </a:r>
                      <a:endParaRPr lang="en-US" sz="1250" dirty="0">
                        <a:latin typeface="Calibri" charset="0"/>
                        <a:ea typeface="Calibri" charset="0"/>
                        <a:cs typeface="Calibri" charset="0"/>
                      </a:endParaRPr>
                    </a:p>
                  </a:txBody>
                  <a:tcPr marL="91440" marR="91440" marT="18288" marB="18288"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r" indent="0" marL="0">
                        <a:buNone/>
                      </a:pPr>
                      <a:r>
                        <a:rPr lang="en-US" sz="1250" dirty="0">
                          <a:solidFill>
                            <a:srgbClr val="14202E"/>
                          </a:solidFill>
                          <a:latin typeface="Calibri" pitchFamily="34" charset="0"/>
                          <a:ea typeface="Calibri" pitchFamily="34" charset="-122"/>
                          <a:cs typeface="Calibri" pitchFamily="34" charset="-120"/>
                        </a:rPr>
                        <a:t>13.7%</a:t>
                      </a:r>
                      <a:endParaRPr lang="en-US" sz="1250" dirty="0">
                        <a:latin typeface="Calibri" charset="0"/>
                        <a:ea typeface="Calibri" charset="0"/>
                        <a:cs typeface="Calibri" charset="0"/>
                      </a:endParaRPr>
                    </a:p>
                  </a:txBody>
                  <a:tcPr marL="91440" marR="91440" marT="18288" marB="18288"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r>
              <a:tr h="338328">
                <a:tc>
                  <a:txBody>
                    <a:bodyPr/>
                    <a:lstStyle/>
                    <a:p>
                      <a:pPr indent="0" marL="0">
                        <a:buNone/>
                      </a:pPr>
                      <a:r>
                        <a:rPr lang="en-US" sz="1250" dirty="0">
                          <a:solidFill>
                            <a:srgbClr val="14202E"/>
                          </a:solidFill>
                          <a:latin typeface="Calibri" pitchFamily="34" charset="0"/>
                          <a:ea typeface="Calibri" pitchFamily="34" charset="-122"/>
                          <a:cs typeface="Calibri" pitchFamily="34" charset="-120"/>
                        </a:rPr>
                        <a:t>4-storey 12-classroom school building</a:t>
                      </a:r>
                      <a:endParaRPr lang="en-US" sz="1250" dirty="0">
                        <a:latin typeface="Calibri" charset="0"/>
                        <a:ea typeface="Calibri" charset="0"/>
                        <a:cs typeface="Calibri" charset="0"/>
                      </a:endParaRPr>
                    </a:p>
                  </a:txBody>
                  <a:tcPr marL="91440" marR="91440" marT="18288" marB="18288"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r" indent="0" marL="0">
                        <a:buNone/>
                      </a:pPr>
                      <a:r>
                        <a:rPr lang="en-US" sz="1250" b="1" dirty="0">
                          <a:solidFill>
                            <a:srgbClr val="12345A"/>
                          </a:solidFill>
                          <a:latin typeface="Calibri" pitchFamily="34" charset="0"/>
                          <a:ea typeface="Calibri" pitchFamily="34" charset="-122"/>
                          <a:cs typeface="Calibri" pitchFamily="34" charset="-120"/>
                        </a:rPr>
                        <a:t>₱29.08M</a:t>
                      </a:r>
                      <a:endParaRPr lang="en-US" sz="1250" dirty="0">
                        <a:latin typeface="Calibri" charset="0"/>
                        <a:ea typeface="Calibri" charset="0"/>
                        <a:cs typeface="Calibri" charset="0"/>
                      </a:endParaRPr>
                    </a:p>
                  </a:txBody>
                  <a:tcPr marL="91440" marR="91440" marT="18288" marB="18288"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r" indent="0" marL="0">
                        <a:buNone/>
                      </a:pPr>
                      <a:r>
                        <a:rPr lang="en-US" sz="1250" dirty="0">
                          <a:solidFill>
                            <a:srgbClr val="14202E"/>
                          </a:solidFill>
                          <a:latin typeface="Calibri" pitchFamily="34" charset="0"/>
                          <a:ea typeface="Calibri" pitchFamily="34" charset="-122"/>
                          <a:cs typeface="Calibri" pitchFamily="34" charset="-120"/>
                        </a:rPr>
                        <a:t>₱33.80M</a:t>
                      </a:r>
                      <a:endParaRPr lang="en-US" sz="1250" dirty="0">
                        <a:latin typeface="Calibri" charset="0"/>
                        <a:ea typeface="Calibri" charset="0"/>
                        <a:cs typeface="Calibri" charset="0"/>
                      </a:endParaRPr>
                    </a:p>
                  </a:txBody>
                  <a:tcPr marL="91440" marR="91440" marT="18288" marB="18288"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r" indent="0" marL="0">
                        <a:buNone/>
                      </a:pPr>
                      <a:r>
                        <a:rPr lang="en-US" sz="1250" dirty="0">
                          <a:solidFill>
                            <a:srgbClr val="14202E"/>
                          </a:solidFill>
                          <a:latin typeface="Calibri" pitchFamily="34" charset="0"/>
                          <a:ea typeface="Calibri" pitchFamily="34" charset="-122"/>
                          <a:cs typeface="Calibri" pitchFamily="34" charset="-120"/>
                        </a:rPr>
                        <a:t>₱42.89M</a:t>
                      </a:r>
                      <a:endParaRPr lang="en-US" sz="1250" dirty="0">
                        <a:latin typeface="Calibri" charset="0"/>
                        <a:ea typeface="Calibri" charset="0"/>
                        <a:cs typeface="Calibri" charset="0"/>
                      </a:endParaRPr>
                    </a:p>
                  </a:txBody>
                  <a:tcPr marL="91440" marR="91440" marT="18288" marB="18288"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r" indent="0" marL="0">
                        <a:buNone/>
                      </a:pPr>
                      <a:r>
                        <a:rPr lang="en-US" sz="1250" dirty="0">
                          <a:solidFill>
                            <a:srgbClr val="14202E"/>
                          </a:solidFill>
                          <a:latin typeface="Calibri" pitchFamily="34" charset="0"/>
                          <a:ea typeface="Calibri" pitchFamily="34" charset="-122"/>
                          <a:cs typeface="Calibri" pitchFamily="34" charset="-120"/>
                        </a:rPr>
                        <a:t>14.0%</a:t>
                      </a:r>
                      <a:endParaRPr lang="en-US" sz="1250" dirty="0">
                        <a:latin typeface="Calibri" charset="0"/>
                        <a:ea typeface="Calibri" charset="0"/>
                        <a:cs typeface="Calibri" charset="0"/>
                      </a:endParaRPr>
                    </a:p>
                  </a:txBody>
                  <a:tcPr marL="91440" marR="91440" marT="18288" marB="18288"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r>
              <a:tr h="338328">
                <a:tc>
                  <a:txBody>
                    <a:bodyPr/>
                    <a:lstStyle/>
                    <a:p>
                      <a:pPr indent="0" marL="0">
                        <a:buNone/>
                      </a:pPr>
                      <a:r>
                        <a:rPr lang="en-US" sz="1250" dirty="0">
                          <a:solidFill>
                            <a:srgbClr val="14202E"/>
                          </a:solidFill>
                          <a:latin typeface="Calibri" pitchFamily="34" charset="0"/>
                          <a:ea typeface="Calibri" pitchFamily="34" charset="-122"/>
                          <a:cs typeface="Calibri" pitchFamily="34" charset="-120"/>
                        </a:rPr>
                        <a:t>Barangay health station</a:t>
                      </a:r>
                      <a:endParaRPr lang="en-US" sz="1250" dirty="0">
                        <a:latin typeface="Calibri" charset="0"/>
                        <a:ea typeface="Calibri" charset="0"/>
                        <a:cs typeface="Calibri" charset="0"/>
                      </a:endParaRPr>
                    </a:p>
                  </a:txBody>
                  <a:tcPr marL="91440" marR="91440" marT="18288" marB="18288"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r" indent="0" marL="0">
                        <a:buNone/>
                      </a:pPr>
                      <a:r>
                        <a:rPr lang="en-US" sz="1250" b="1" dirty="0">
                          <a:solidFill>
                            <a:srgbClr val="12345A"/>
                          </a:solidFill>
                          <a:latin typeface="Calibri" pitchFamily="34" charset="0"/>
                          <a:ea typeface="Calibri" pitchFamily="34" charset="-122"/>
                          <a:cs typeface="Calibri" pitchFamily="34" charset="-120"/>
                        </a:rPr>
                        <a:t>₱3.07M</a:t>
                      </a:r>
                      <a:endParaRPr lang="en-US" sz="1250" dirty="0">
                        <a:latin typeface="Calibri" charset="0"/>
                        <a:ea typeface="Calibri" charset="0"/>
                        <a:cs typeface="Calibri" charset="0"/>
                      </a:endParaRPr>
                    </a:p>
                  </a:txBody>
                  <a:tcPr marL="91440" marR="91440" marT="18288" marB="18288"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r" indent="0" marL="0">
                        <a:buNone/>
                      </a:pPr>
                      <a:r>
                        <a:rPr lang="en-US" sz="1250" dirty="0">
                          <a:solidFill>
                            <a:srgbClr val="14202E"/>
                          </a:solidFill>
                          <a:latin typeface="Calibri" pitchFamily="34" charset="0"/>
                          <a:ea typeface="Calibri" pitchFamily="34" charset="-122"/>
                          <a:cs typeface="Calibri" pitchFamily="34" charset="-120"/>
                        </a:rPr>
                        <a:t>₱3.66M</a:t>
                      </a:r>
                      <a:endParaRPr lang="en-US" sz="1250" dirty="0">
                        <a:latin typeface="Calibri" charset="0"/>
                        <a:ea typeface="Calibri" charset="0"/>
                        <a:cs typeface="Calibri" charset="0"/>
                      </a:endParaRPr>
                    </a:p>
                  </a:txBody>
                  <a:tcPr marL="91440" marR="91440" marT="18288" marB="18288"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r" indent="0" marL="0">
                        <a:buNone/>
                      </a:pPr>
                      <a:r>
                        <a:rPr lang="en-US" sz="1250" dirty="0">
                          <a:solidFill>
                            <a:srgbClr val="14202E"/>
                          </a:solidFill>
                          <a:latin typeface="Calibri" pitchFamily="34" charset="0"/>
                          <a:ea typeface="Calibri" pitchFamily="34" charset="-122"/>
                          <a:cs typeface="Calibri" pitchFamily="34" charset="-120"/>
                        </a:rPr>
                        <a:t>₱4.63M</a:t>
                      </a:r>
                      <a:endParaRPr lang="en-US" sz="1250" dirty="0">
                        <a:latin typeface="Calibri" charset="0"/>
                        <a:ea typeface="Calibri" charset="0"/>
                        <a:cs typeface="Calibri" charset="0"/>
                      </a:endParaRPr>
                    </a:p>
                  </a:txBody>
                  <a:tcPr marL="91440" marR="91440" marT="18288" marB="18288"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r" indent="0" marL="0">
                        <a:buNone/>
                      </a:pPr>
                      <a:r>
                        <a:rPr lang="en-US" sz="1250" dirty="0">
                          <a:solidFill>
                            <a:srgbClr val="14202E"/>
                          </a:solidFill>
                          <a:latin typeface="Calibri" pitchFamily="34" charset="0"/>
                          <a:ea typeface="Calibri" pitchFamily="34" charset="-122"/>
                          <a:cs typeface="Calibri" pitchFamily="34" charset="-120"/>
                        </a:rPr>
                        <a:t>16.0%</a:t>
                      </a:r>
                      <a:endParaRPr lang="en-US" sz="1250" dirty="0">
                        <a:latin typeface="Calibri" charset="0"/>
                        <a:ea typeface="Calibri" charset="0"/>
                        <a:cs typeface="Calibri" charset="0"/>
                      </a:endParaRPr>
                    </a:p>
                  </a:txBody>
                  <a:tcPr marL="91440" marR="91440" marT="18288" marB="18288"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r>
              <a:tr h="338328">
                <a:tc>
                  <a:txBody>
                    <a:bodyPr/>
                    <a:lstStyle/>
                    <a:p>
                      <a:pPr indent="0" marL="0">
                        <a:buNone/>
                      </a:pPr>
                      <a:r>
                        <a:rPr lang="en-US" sz="1250" dirty="0">
                          <a:solidFill>
                            <a:srgbClr val="14202E"/>
                          </a:solidFill>
                          <a:latin typeface="Calibri" pitchFamily="34" charset="0"/>
                          <a:ea typeface="Calibri" pitchFamily="34" charset="-122"/>
                          <a:cs typeface="Calibri" pitchFamily="34" charset="-120"/>
                        </a:rPr>
                        <a:t>2-storey rural health unit / birthing facility</a:t>
                      </a:r>
                      <a:endParaRPr lang="en-US" sz="1250" dirty="0">
                        <a:latin typeface="Calibri" charset="0"/>
                        <a:ea typeface="Calibri" charset="0"/>
                        <a:cs typeface="Calibri" charset="0"/>
                      </a:endParaRPr>
                    </a:p>
                  </a:txBody>
                  <a:tcPr marL="91440" marR="91440" marT="18288" marB="18288"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r" indent="0" marL="0">
                        <a:buNone/>
                      </a:pPr>
                      <a:r>
                        <a:rPr lang="en-US" sz="1250" b="1" dirty="0">
                          <a:solidFill>
                            <a:srgbClr val="12345A"/>
                          </a:solidFill>
                          <a:latin typeface="Calibri" pitchFamily="34" charset="0"/>
                          <a:ea typeface="Calibri" pitchFamily="34" charset="-122"/>
                          <a:cs typeface="Calibri" pitchFamily="34" charset="-120"/>
                        </a:rPr>
                        <a:t>₱12.83M</a:t>
                      </a:r>
                      <a:endParaRPr lang="en-US" sz="1250" dirty="0">
                        <a:latin typeface="Calibri" charset="0"/>
                        <a:ea typeface="Calibri" charset="0"/>
                        <a:cs typeface="Calibri" charset="0"/>
                      </a:endParaRPr>
                    </a:p>
                  </a:txBody>
                  <a:tcPr marL="91440" marR="91440" marT="18288" marB="18288"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r" indent="0" marL="0">
                        <a:buNone/>
                      </a:pPr>
                      <a:r>
                        <a:rPr lang="en-US" sz="1250" dirty="0">
                          <a:solidFill>
                            <a:srgbClr val="14202E"/>
                          </a:solidFill>
                          <a:latin typeface="Calibri" pitchFamily="34" charset="0"/>
                          <a:ea typeface="Calibri" pitchFamily="34" charset="-122"/>
                          <a:cs typeface="Calibri" pitchFamily="34" charset="-120"/>
                        </a:rPr>
                        <a:t>₱15.66M</a:t>
                      </a:r>
                      <a:endParaRPr lang="en-US" sz="1250" dirty="0">
                        <a:latin typeface="Calibri" charset="0"/>
                        <a:ea typeface="Calibri" charset="0"/>
                        <a:cs typeface="Calibri" charset="0"/>
                      </a:endParaRPr>
                    </a:p>
                  </a:txBody>
                  <a:tcPr marL="91440" marR="91440" marT="18288" marB="18288"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r" indent="0" marL="0">
                        <a:buNone/>
                      </a:pPr>
                      <a:r>
                        <a:rPr lang="en-US" sz="1250" dirty="0">
                          <a:solidFill>
                            <a:srgbClr val="14202E"/>
                          </a:solidFill>
                          <a:latin typeface="Calibri" pitchFamily="34" charset="0"/>
                          <a:ea typeface="Calibri" pitchFamily="34" charset="-122"/>
                          <a:cs typeface="Calibri" pitchFamily="34" charset="-120"/>
                        </a:rPr>
                        <a:t>₱20.08M</a:t>
                      </a:r>
                      <a:endParaRPr lang="en-US" sz="1250" dirty="0">
                        <a:latin typeface="Calibri" charset="0"/>
                        <a:ea typeface="Calibri" charset="0"/>
                        <a:cs typeface="Calibri" charset="0"/>
                      </a:endParaRPr>
                    </a:p>
                  </a:txBody>
                  <a:tcPr marL="91440" marR="91440" marT="18288" marB="18288"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r" indent="0" marL="0">
                        <a:buNone/>
                      </a:pPr>
                      <a:r>
                        <a:rPr lang="en-US" sz="1250" dirty="0">
                          <a:solidFill>
                            <a:srgbClr val="14202E"/>
                          </a:solidFill>
                          <a:latin typeface="Calibri" pitchFamily="34" charset="0"/>
                          <a:ea typeface="Calibri" pitchFamily="34" charset="-122"/>
                          <a:cs typeface="Calibri" pitchFamily="34" charset="-120"/>
                        </a:rPr>
                        <a:t>18.1%</a:t>
                      </a:r>
                      <a:endParaRPr lang="en-US" sz="1250" dirty="0">
                        <a:latin typeface="Calibri" charset="0"/>
                        <a:ea typeface="Calibri" charset="0"/>
                        <a:cs typeface="Calibri" charset="0"/>
                      </a:endParaRPr>
                    </a:p>
                  </a:txBody>
                  <a:tcPr marL="91440" marR="91440" marT="18288" marB="18288"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r>
              <a:tr h="338328">
                <a:tc>
                  <a:txBody>
                    <a:bodyPr/>
                    <a:lstStyle/>
                    <a:p>
                      <a:pPr indent="0" marL="0">
                        <a:buNone/>
                      </a:pPr>
                      <a:r>
                        <a:rPr lang="en-US" sz="1250" dirty="0">
                          <a:solidFill>
                            <a:srgbClr val="14202E"/>
                          </a:solidFill>
                          <a:latin typeface="Calibri" pitchFamily="34" charset="0"/>
                          <a:ea typeface="Calibri" pitchFamily="34" charset="-122"/>
                          <a:cs typeface="Calibri" pitchFamily="34" charset="-120"/>
                        </a:rPr>
                        <a:t>Multi-purpose evacuation center, 600 m²</a:t>
                      </a:r>
                      <a:endParaRPr lang="en-US" sz="1250" dirty="0">
                        <a:latin typeface="Calibri" charset="0"/>
                        <a:ea typeface="Calibri" charset="0"/>
                        <a:cs typeface="Calibri" charset="0"/>
                      </a:endParaRPr>
                    </a:p>
                  </a:txBody>
                  <a:tcPr marL="91440" marR="91440" marT="18288" marB="18288"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r" indent="0" marL="0">
                        <a:buNone/>
                      </a:pPr>
                      <a:r>
                        <a:rPr lang="en-US" sz="1250" b="1" dirty="0">
                          <a:solidFill>
                            <a:srgbClr val="12345A"/>
                          </a:solidFill>
                          <a:latin typeface="Calibri" pitchFamily="34" charset="0"/>
                          <a:ea typeface="Calibri" pitchFamily="34" charset="-122"/>
                          <a:cs typeface="Calibri" pitchFamily="34" charset="-120"/>
                        </a:rPr>
                        <a:t>₱14.00M</a:t>
                      </a:r>
                      <a:endParaRPr lang="en-US" sz="1250" dirty="0">
                        <a:latin typeface="Calibri" charset="0"/>
                        <a:ea typeface="Calibri" charset="0"/>
                        <a:cs typeface="Calibri" charset="0"/>
                      </a:endParaRPr>
                    </a:p>
                  </a:txBody>
                  <a:tcPr marL="91440" marR="91440" marT="18288" marB="18288"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r" indent="0" marL="0">
                        <a:buNone/>
                      </a:pPr>
                      <a:r>
                        <a:rPr lang="en-US" sz="1250" dirty="0">
                          <a:solidFill>
                            <a:srgbClr val="14202E"/>
                          </a:solidFill>
                          <a:latin typeface="Calibri" pitchFamily="34" charset="0"/>
                          <a:ea typeface="Calibri" pitchFamily="34" charset="-122"/>
                          <a:cs typeface="Calibri" pitchFamily="34" charset="-120"/>
                        </a:rPr>
                        <a:t>₱16.13M</a:t>
                      </a:r>
                      <a:endParaRPr lang="en-US" sz="1250" dirty="0">
                        <a:latin typeface="Calibri" charset="0"/>
                        <a:ea typeface="Calibri" charset="0"/>
                        <a:cs typeface="Calibri" charset="0"/>
                      </a:endParaRPr>
                    </a:p>
                  </a:txBody>
                  <a:tcPr marL="91440" marR="91440" marT="18288" marB="18288"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r" indent="0" marL="0">
                        <a:buNone/>
                      </a:pPr>
                      <a:r>
                        <a:rPr lang="en-US" sz="1250" dirty="0">
                          <a:solidFill>
                            <a:srgbClr val="14202E"/>
                          </a:solidFill>
                          <a:latin typeface="Calibri" pitchFamily="34" charset="0"/>
                          <a:ea typeface="Calibri" pitchFamily="34" charset="-122"/>
                          <a:cs typeface="Calibri" pitchFamily="34" charset="-120"/>
                        </a:rPr>
                        <a:t>₱20.34M</a:t>
                      </a:r>
                      <a:endParaRPr lang="en-US" sz="1250" dirty="0">
                        <a:latin typeface="Calibri" charset="0"/>
                        <a:ea typeface="Calibri" charset="0"/>
                        <a:cs typeface="Calibri" charset="0"/>
                      </a:endParaRPr>
                    </a:p>
                  </a:txBody>
                  <a:tcPr marL="91440" marR="91440" marT="18288" marB="18288"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r" indent="0" marL="0">
                        <a:buNone/>
                      </a:pPr>
                      <a:r>
                        <a:rPr lang="en-US" sz="1250" dirty="0">
                          <a:solidFill>
                            <a:srgbClr val="14202E"/>
                          </a:solidFill>
                          <a:latin typeface="Calibri" pitchFamily="34" charset="0"/>
                          <a:ea typeface="Calibri" pitchFamily="34" charset="-122"/>
                          <a:cs typeface="Calibri" pitchFamily="34" charset="-120"/>
                        </a:rPr>
                        <a:t>13.2%</a:t>
                      </a:r>
                      <a:endParaRPr lang="en-US" sz="1250" dirty="0">
                        <a:latin typeface="Calibri" charset="0"/>
                        <a:ea typeface="Calibri" charset="0"/>
                        <a:cs typeface="Calibri" charset="0"/>
                      </a:endParaRPr>
                    </a:p>
                  </a:txBody>
                  <a:tcPr marL="91440" marR="91440" marT="18288" marB="18288"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r>
              <a:tr h="338328">
                <a:tc>
                  <a:txBody>
                    <a:bodyPr/>
                    <a:lstStyle/>
                    <a:p>
                      <a:pPr indent="0" marL="0">
                        <a:buNone/>
                      </a:pPr>
                      <a:r>
                        <a:rPr lang="en-US" sz="1250" dirty="0">
                          <a:solidFill>
                            <a:srgbClr val="14202E"/>
                          </a:solidFill>
                          <a:latin typeface="Calibri" pitchFamily="34" charset="0"/>
                          <a:ea typeface="Calibri" pitchFamily="34" charset="-122"/>
                          <a:cs typeface="Calibri" pitchFamily="34" charset="-120"/>
                        </a:rPr>
                        <a:t>2-storey municipal office building</a:t>
                      </a:r>
                      <a:endParaRPr lang="en-US" sz="1250" dirty="0">
                        <a:latin typeface="Calibri" charset="0"/>
                        <a:ea typeface="Calibri" charset="0"/>
                        <a:cs typeface="Calibri" charset="0"/>
                      </a:endParaRPr>
                    </a:p>
                  </a:txBody>
                  <a:tcPr marL="91440" marR="91440" marT="18288" marB="18288"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r" indent="0" marL="0">
                        <a:buNone/>
                      </a:pPr>
                      <a:r>
                        <a:rPr lang="en-US" sz="1250" b="1" dirty="0">
                          <a:solidFill>
                            <a:srgbClr val="12345A"/>
                          </a:solidFill>
                          <a:latin typeface="Calibri" pitchFamily="34" charset="0"/>
                          <a:ea typeface="Calibri" pitchFamily="34" charset="-122"/>
                          <a:cs typeface="Calibri" pitchFamily="34" charset="-120"/>
                        </a:rPr>
                        <a:t>₱15.03M</a:t>
                      </a:r>
                      <a:endParaRPr lang="en-US" sz="1250" dirty="0">
                        <a:latin typeface="Calibri" charset="0"/>
                        <a:ea typeface="Calibri" charset="0"/>
                        <a:cs typeface="Calibri" charset="0"/>
                      </a:endParaRPr>
                    </a:p>
                  </a:txBody>
                  <a:tcPr marL="91440" marR="91440" marT="18288" marB="18288"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r" indent="0" marL="0">
                        <a:buNone/>
                      </a:pPr>
                      <a:r>
                        <a:rPr lang="en-US" sz="1250" dirty="0">
                          <a:solidFill>
                            <a:srgbClr val="14202E"/>
                          </a:solidFill>
                          <a:latin typeface="Calibri" pitchFamily="34" charset="0"/>
                          <a:ea typeface="Calibri" pitchFamily="34" charset="-122"/>
                          <a:cs typeface="Calibri" pitchFamily="34" charset="-120"/>
                        </a:rPr>
                        <a:t>₱18.20M</a:t>
                      </a:r>
                      <a:endParaRPr lang="en-US" sz="1250" dirty="0">
                        <a:latin typeface="Calibri" charset="0"/>
                        <a:ea typeface="Calibri" charset="0"/>
                        <a:cs typeface="Calibri" charset="0"/>
                      </a:endParaRPr>
                    </a:p>
                  </a:txBody>
                  <a:tcPr marL="91440" marR="91440" marT="18288" marB="18288"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r" indent="0" marL="0">
                        <a:buNone/>
                      </a:pPr>
                      <a:r>
                        <a:rPr lang="en-US" sz="1250" dirty="0">
                          <a:solidFill>
                            <a:srgbClr val="14202E"/>
                          </a:solidFill>
                          <a:latin typeface="Calibri" pitchFamily="34" charset="0"/>
                          <a:ea typeface="Calibri" pitchFamily="34" charset="-122"/>
                          <a:cs typeface="Calibri" pitchFamily="34" charset="-120"/>
                        </a:rPr>
                        <a:t>₱23.21M</a:t>
                      </a:r>
                      <a:endParaRPr lang="en-US" sz="1250" dirty="0">
                        <a:latin typeface="Calibri" charset="0"/>
                        <a:ea typeface="Calibri" charset="0"/>
                        <a:cs typeface="Calibri" charset="0"/>
                      </a:endParaRPr>
                    </a:p>
                  </a:txBody>
                  <a:tcPr marL="91440" marR="91440" marT="18288" marB="18288"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r" indent="0" marL="0">
                        <a:buNone/>
                      </a:pPr>
                      <a:r>
                        <a:rPr lang="en-US" sz="1250" dirty="0">
                          <a:solidFill>
                            <a:srgbClr val="14202E"/>
                          </a:solidFill>
                          <a:latin typeface="Calibri" pitchFamily="34" charset="0"/>
                          <a:ea typeface="Calibri" pitchFamily="34" charset="-122"/>
                          <a:cs typeface="Calibri" pitchFamily="34" charset="-120"/>
                        </a:rPr>
                        <a:t>17.4%</a:t>
                      </a:r>
                      <a:endParaRPr lang="en-US" sz="1250" dirty="0">
                        <a:latin typeface="Calibri" charset="0"/>
                        <a:ea typeface="Calibri" charset="0"/>
                        <a:cs typeface="Calibri" charset="0"/>
                      </a:endParaRPr>
                    </a:p>
                  </a:txBody>
                  <a:tcPr marL="91440" marR="91440" marT="18288" marB="18288"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r>
              <a:tr h="338328">
                <a:tc>
                  <a:txBody>
                    <a:bodyPr/>
                    <a:lstStyle/>
                    <a:p>
                      <a:pPr indent="0" marL="0">
                        <a:buNone/>
                      </a:pPr>
                      <a:r>
                        <a:rPr lang="en-US" sz="1250" dirty="0">
                          <a:solidFill>
                            <a:srgbClr val="14202E"/>
                          </a:solidFill>
                          <a:latin typeface="Calibri" pitchFamily="34" charset="0"/>
                          <a:ea typeface="Calibri" pitchFamily="34" charset="-122"/>
                          <a:cs typeface="Calibri" pitchFamily="34" charset="-120"/>
                        </a:rPr>
                        <a:t>Public market, 1-storey</a:t>
                      </a:r>
                      <a:endParaRPr lang="en-US" sz="1250" dirty="0">
                        <a:latin typeface="Calibri" charset="0"/>
                        <a:ea typeface="Calibri" charset="0"/>
                        <a:cs typeface="Calibri" charset="0"/>
                      </a:endParaRPr>
                    </a:p>
                  </a:txBody>
                  <a:tcPr marL="91440" marR="91440" marT="18288" marB="18288"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r" indent="0" marL="0">
                        <a:buNone/>
                      </a:pPr>
                      <a:r>
                        <a:rPr lang="en-US" sz="1250" b="1" dirty="0">
                          <a:solidFill>
                            <a:srgbClr val="12345A"/>
                          </a:solidFill>
                          <a:latin typeface="Calibri" pitchFamily="34" charset="0"/>
                          <a:ea typeface="Calibri" pitchFamily="34" charset="-122"/>
                          <a:cs typeface="Calibri" pitchFamily="34" charset="-120"/>
                        </a:rPr>
                        <a:t>₱23.49M</a:t>
                      </a:r>
                      <a:endParaRPr lang="en-US" sz="1250" dirty="0">
                        <a:latin typeface="Calibri" charset="0"/>
                        <a:ea typeface="Calibri" charset="0"/>
                        <a:cs typeface="Calibri" charset="0"/>
                      </a:endParaRPr>
                    </a:p>
                  </a:txBody>
                  <a:tcPr marL="91440" marR="91440" marT="18288" marB="18288"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r" indent="0" marL="0">
                        <a:buNone/>
                      </a:pPr>
                      <a:r>
                        <a:rPr lang="en-US" sz="1250" dirty="0">
                          <a:solidFill>
                            <a:srgbClr val="14202E"/>
                          </a:solidFill>
                          <a:latin typeface="Calibri" pitchFamily="34" charset="0"/>
                          <a:ea typeface="Calibri" pitchFamily="34" charset="-122"/>
                          <a:cs typeface="Calibri" pitchFamily="34" charset="-120"/>
                        </a:rPr>
                        <a:t>₱27.13M</a:t>
                      </a:r>
                      <a:endParaRPr lang="en-US" sz="1250" dirty="0">
                        <a:latin typeface="Calibri" charset="0"/>
                        <a:ea typeface="Calibri" charset="0"/>
                        <a:cs typeface="Calibri" charset="0"/>
                      </a:endParaRPr>
                    </a:p>
                  </a:txBody>
                  <a:tcPr marL="91440" marR="91440" marT="18288" marB="18288"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r" indent="0" marL="0">
                        <a:buNone/>
                      </a:pPr>
                      <a:r>
                        <a:rPr lang="en-US" sz="1250" dirty="0">
                          <a:solidFill>
                            <a:srgbClr val="14202E"/>
                          </a:solidFill>
                          <a:latin typeface="Calibri" pitchFamily="34" charset="0"/>
                          <a:ea typeface="Calibri" pitchFamily="34" charset="-122"/>
                          <a:cs typeface="Calibri" pitchFamily="34" charset="-120"/>
                        </a:rPr>
                        <a:t>₱34.42M</a:t>
                      </a:r>
                      <a:endParaRPr lang="en-US" sz="1250" dirty="0">
                        <a:latin typeface="Calibri" charset="0"/>
                        <a:ea typeface="Calibri" charset="0"/>
                        <a:cs typeface="Calibri" charset="0"/>
                      </a:endParaRPr>
                    </a:p>
                  </a:txBody>
                  <a:tcPr marL="91440" marR="91440" marT="18288" marB="18288"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r" indent="0" marL="0">
                        <a:buNone/>
                      </a:pPr>
                      <a:r>
                        <a:rPr lang="en-US" sz="1250" dirty="0">
                          <a:solidFill>
                            <a:srgbClr val="14202E"/>
                          </a:solidFill>
                          <a:latin typeface="Calibri" pitchFamily="34" charset="0"/>
                          <a:ea typeface="Calibri" pitchFamily="34" charset="-122"/>
                          <a:cs typeface="Calibri" pitchFamily="34" charset="-120"/>
                        </a:rPr>
                        <a:t>13.4%</a:t>
                      </a:r>
                      <a:endParaRPr lang="en-US" sz="1250" dirty="0">
                        <a:latin typeface="Calibri" charset="0"/>
                        <a:ea typeface="Calibri" charset="0"/>
                        <a:cs typeface="Calibri" charset="0"/>
                      </a:endParaRPr>
                    </a:p>
                  </a:txBody>
                  <a:tcPr marL="91440" marR="91440" marT="18288" marB="18288"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r>
              <a:tr h="338328">
                <a:tc>
                  <a:txBody>
                    <a:bodyPr/>
                    <a:lstStyle/>
                    <a:p>
                      <a:pPr indent="0" marL="0">
                        <a:buNone/>
                      </a:pPr>
                      <a:r>
                        <a:rPr lang="en-US" sz="1250" dirty="0">
                          <a:solidFill>
                            <a:srgbClr val="14202E"/>
                          </a:solidFill>
                          <a:latin typeface="Calibri" pitchFamily="34" charset="0"/>
                          <a:ea typeface="Calibri" pitchFamily="34" charset="-122"/>
                          <a:cs typeface="Calibri" pitchFamily="34" charset="-120"/>
                        </a:rPr>
                        <a:t>Single-lane farm-to-market RCDG bridge 1 × 12 m</a:t>
                      </a:r>
                      <a:endParaRPr lang="en-US" sz="1250" dirty="0">
                        <a:latin typeface="Calibri" charset="0"/>
                        <a:ea typeface="Calibri" charset="0"/>
                        <a:cs typeface="Calibri" charset="0"/>
                      </a:endParaRPr>
                    </a:p>
                  </a:txBody>
                  <a:tcPr marL="91440" marR="91440" marT="18288" marB="18288"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r" indent="0" marL="0">
                        <a:buNone/>
                      </a:pPr>
                      <a:r>
                        <a:rPr lang="en-US" sz="1250" b="1" dirty="0">
                          <a:solidFill>
                            <a:srgbClr val="12345A"/>
                          </a:solidFill>
                          <a:latin typeface="Calibri" pitchFamily="34" charset="0"/>
                          <a:ea typeface="Calibri" pitchFamily="34" charset="-122"/>
                          <a:cs typeface="Calibri" pitchFamily="34" charset="-120"/>
                        </a:rPr>
                        <a:t>₱5.78M</a:t>
                      </a:r>
                      <a:endParaRPr lang="en-US" sz="1250" dirty="0">
                        <a:latin typeface="Calibri" charset="0"/>
                        <a:ea typeface="Calibri" charset="0"/>
                        <a:cs typeface="Calibri" charset="0"/>
                      </a:endParaRPr>
                    </a:p>
                  </a:txBody>
                  <a:tcPr marL="91440" marR="91440" marT="18288" marB="18288"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r" indent="0" marL="0">
                        <a:buNone/>
                      </a:pPr>
                      <a:r>
                        <a:rPr lang="en-US" sz="1250" dirty="0">
                          <a:solidFill>
                            <a:srgbClr val="14202E"/>
                          </a:solidFill>
                          <a:latin typeface="Calibri" pitchFamily="34" charset="0"/>
                          <a:ea typeface="Calibri" pitchFamily="34" charset="-122"/>
                          <a:cs typeface="Calibri" pitchFamily="34" charset="-120"/>
                        </a:rPr>
                        <a:t>₱6.22M</a:t>
                      </a:r>
                      <a:endParaRPr lang="en-US" sz="1250" dirty="0">
                        <a:latin typeface="Calibri" charset="0"/>
                        <a:ea typeface="Calibri" charset="0"/>
                        <a:cs typeface="Calibri" charset="0"/>
                      </a:endParaRPr>
                    </a:p>
                  </a:txBody>
                  <a:tcPr marL="91440" marR="91440" marT="18288" marB="18288"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r" indent="0" marL="0">
                        <a:buNone/>
                      </a:pPr>
                      <a:r>
                        <a:rPr lang="en-US" sz="1250" dirty="0">
                          <a:solidFill>
                            <a:srgbClr val="14202E"/>
                          </a:solidFill>
                          <a:latin typeface="Calibri" pitchFamily="34" charset="0"/>
                          <a:ea typeface="Calibri" pitchFamily="34" charset="-122"/>
                          <a:cs typeface="Calibri" pitchFamily="34" charset="-120"/>
                        </a:rPr>
                        <a:t>₱7.19M</a:t>
                      </a:r>
                      <a:endParaRPr lang="en-US" sz="1250" dirty="0">
                        <a:latin typeface="Calibri" charset="0"/>
                        <a:ea typeface="Calibri" charset="0"/>
                        <a:cs typeface="Calibri" charset="0"/>
                      </a:endParaRPr>
                    </a:p>
                  </a:txBody>
                  <a:tcPr marL="91440" marR="91440" marT="18288" marB="18288"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r" indent="0" marL="0">
                        <a:buNone/>
                      </a:pPr>
                      <a:r>
                        <a:rPr lang="en-US" sz="1250" dirty="0">
                          <a:solidFill>
                            <a:srgbClr val="14202E"/>
                          </a:solidFill>
                          <a:latin typeface="Calibri" pitchFamily="34" charset="0"/>
                          <a:ea typeface="Calibri" pitchFamily="34" charset="-122"/>
                          <a:cs typeface="Calibri" pitchFamily="34" charset="-120"/>
                        </a:rPr>
                        <a:t>7.1%</a:t>
                      </a:r>
                      <a:endParaRPr lang="en-US" sz="1250" dirty="0">
                        <a:latin typeface="Calibri" charset="0"/>
                        <a:ea typeface="Calibri" charset="0"/>
                        <a:cs typeface="Calibri" charset="0"/>
                      </a:endParaRPr>
                    </a:p>
                  </a:txBody>
                  <a:tcPr marL="91440" marR="91440" marT="18288" marB="18288"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r>
              <a:tr h="338328">
                <a:tc>
                  <a:txBody>
                    <a:bodyPr/>
                    <a:lstStyle/>
                    <a:p>
                      <a:pPr indent="0" marL="0">
                        <a:buNone/>
                      </a:pPr>
                      <a:r>
                        <a:rPr lang="en-US" sz="1250" dirty="0">
                          <a:solidFill>
                            <a:srgbClr val="14202E"/>
                          </a:solidFill>
                          <a:latin typeface="Calibri" pitchFamily="34" charset="0"/>
                          <a:ea typeface="Calibri" pitchFamily="34" charset="-122"/>
                          <a:cs typeface="Calibri" pitchFamily="34" charset="-120"/>
                        </a:rPr>
                        <a:t>Two-lane RCDG bridge 3 × 20 m</a:t>
                      </a:r>
                      <a:endParaRPr lang="en-US" sz="1250" dirty="0">
                        <a:latin typeface="Calibri" charset="0"/>
                        <a:ea typeface="Calibri" charset="0"/>
                        <a:cs typeface="Calibri" charset="0"/>
                      </a:endParaRPr>
                    </a:p>
                  </a:txBody>
                  <a:tcPr marL="91440" marR="91440" marT="18288" marB="18288"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r" indent="0" marL="0">
                        <a:buNone/>
                      </a:pPr>
                      <a:r>
                        <a:rPr lang="en-US" sz="1250" b="1" dirty="0">
                          <a:solidFill>
                            <a:srgbClr val="12345A"/>
                          </a:solidFill>
                          <a:latin typeface="Calibri" pitchFamily="34" charset="0"/>
                          <a:ea typeface="Calibri" pitchFamily="34" charset="-122"/>
                          <a:cs typeface="Calibri" pitchFamily="34" charset="-120"/>
                        </a:rPr>
                        <a:t>₱39.07M</a:t>
                      </a:r>
                      <a:endParaRPr lang="en-US" sz="1250" dirty="0">
                        <a:latin typeface="Calibri" charset="0"/>
                        <a:ea typeface="Calibri" charset="0"/>
                        <a:cs typeface="Calibri" charset="0"/>
                      </a:endParaRPr>
                    </a:p>
                  </a:txBody>
                  <a:tcPr marL="91440" marR="91440" marT="18288" marB="18288"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r" indent="0" marL="0">
                        <a:buNone/>
                      </a:pPr>
                      <a:r>
                        <a:rPr lang="en-US" sz="1250" dirty="0">
                          <a:solidFill>
                            <a:srgbClr val="14202E"/>
                          </a:solidFill>
                          <a:latin typeface="Calibri" pitchFamily="34" charset="0"/>
                          <a:ea typeface="Calibri" pitchFamily="34" charset="-122"/>
                          <a:cs typeface="Calibri" pitchFamily="34" charset="-120"/>
                        </a:rPr>
                        <a:t>₱42.04M</a:t>
                      </a:r>
                      <a:endParaRPr lang="en-US" sz="1250" dirty="0">
                        <a:latin typeface="Calibri" charset="0"/>
                        <a:ea typeface="Calibri" charset="0"/>
                        <a:cs typeface="Calibri" charset="0"/>
                      </a:endParaRPr>
                    </a:p>
                  </a:txBody>
                  <a:tcPr marL="91440" marR="91440" marT="18288" marB="18288"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r" indent="0" marL="0">
                        <a:buNone/>
                      </a:pPr>
                      <a:r>
                        <a:rPr lang="en-US" sz="1250" dirty="0">
                          <a:solidFill>
                            <a:srgbClr val="14202E"/>
                          </a:solidFill>
                          <a:latin typeface="Calibri" pitchFamily="34" charset="0"/>
                          <a:ea typeface="Calibri" pitchFamily="34" charset="-122"/>
                          <a:cs typeface="Calibri" pitchFamily="34" charset="-120"/>
                        </a:rPr>
                        <a:t>₱50.12M</a:t>
                      </a:r>
                      <a:endParaRPr lang="en-US" sz="1250" dirty="0">
                        <a:latin typeface="Calibri" charset="0"/>
                        <a:ea typeface="Calibri" charset="0"/>
                        <a:cs typeface="Calibri" charset="0"/>
                      </a:endParaRPr>
                    </a:p>
                  </a:txBody>
                  <a:tcPr marL="91440" marR="91440" marT="18288" marB="18288"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r" indent="0" marL="0">
                        <a:buNone/>
                      </a:pPr>
                      <a:r>
                        <a:rPr lang="en-US" sz="1250" dirty="0">
                          <a:solidFill>
                            <a:srgbClr val="14202E"/>
                          </a:solidFill>
                          <a:latin typeface="Calibri" pitchFamily="34" charset="0"/>
                          <a:ea typeface="Calibri" pitchFamily="34" charset="-122"/>
                          <a:cs typeface="Calibri" pitchFamily="34" charset="-120"/>
                        </a:rPr>
                        <a:t>7.1%</a:t>
                      </a:r>
                      <a:endParaRPr lang="en-US" sz="1250" dirty="0">
                        <a:latin typeface="Calibri" charset="0"/>
                        <a:ea typeface="Calibri" charset="0"/>
                        <a:cs typeface="Calibri" charset="0"/>
                      </a:endParaRPr>
                    </a:p>
                  </a:txBody>
                  <a:tcPr marL="91440" marR="91440" marT="18288" marB="18288"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r>
              <a:tr h="338328">
                <a:tc>
                  <a:txBody>
                    <a:bodyPr/>
                    <a:lstStyle/>
                    <a:p>
                      <a:pPr indent="0" marL="0">
                        <a:buNone/>
                      </a:pPr>
                      <a:r>
                        <a:rPr lang="en-US" sz="1250" dirty="0">
                          <a:solidFill>
                            <a:srgbClr val="14202E"/>
                          </a:solidFill>
                          <a:latin typeface="Calibri" pitchFamily="34" charset="0"/>
                          <a:ea typeface="Calibri" pitchFamily="34" charset="-122"/>
                          <a:cs typeface="Calibri" pitchFamily="34" charset="-120"/>
                        </a:rPr>
                        <a:t>Two-lane PSCG bridge 2 × 30 m (AASHTO Type IV)</a:t>
                      </a:r>
                      <a:endParaRPr lang="en-US" sz="1250" dirty="0">
                        <a:latin typeface="Calibri" charset="0"/>
                        <a:ea typeface="Calibri" charset="0"/>
                        <a:cs typeface="Calibri" charset="0"/>
                      </a:endParaRPr>
                    </a:p>
                  </a:txBody>
                  <a:tcPr marL="91440" marR="91440" marT="18288" marB="18288"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r" indent="0" marL="0">
                        <a:buNone/>
                      </a:pPr>
                      <a:r>
                        <a:rPr lang="en-US" sz="1250" b="1" dirty="0">
                          <a:solidFill>
                            <a:srgbClr val="12345A"/>
                          </a:solidFill>
                          <a:latin typeface="Calibri" pitchFamily="34" charset="0"/>
                          <a:ea typeface="Calibri" pitchFamily="34" charset="-122"/>
                          <a:cs typeface="Calibri" pitchFamily="34" charset="-120"/>
                        </a:rPr>
                        <a:t>₱56.28M</a:t>
                      </a:r>
                      <a:endParaRPr lang="en-US" sz="1250" dirty="0">
                        <a:latin typeface="Calibri" charset="0"/>
                        <a:ea typeface="Calibri" charset="0"/>
                        <a:cs typeface="Calibri" charset="0"/>
                      </a:endParaRPr>
                    </a:p>
                  </a:txBody>
                  <a:tcPr marL="91440" marR="91440" marT="18288" marB="18288"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r" indent="0" marL="0">
                        <a:buNone/>
                      </a:pPr>
                      <a:r>
                        <a:rPr lang="en-US" sz="1250" dirty="0">
                          <a:solidFill>
                            <a:srgbClr val="14202E"/>
                          </a:solidFill>
                          <a:latin typeface="Calibri" pitchFamily="34" charset="0"/>
                          <a:ea typeface="Calibri" pitchFamily="34" charset="-122"/>
                          <a:cs typeface="Calibri" pitchFamily="34" charset="-120"/>
                        </a:rPr>
                        <a:t>₱59.00M</a:t>
                      </a:r>
                      <a:endParaRPr lang="en-US" sz="1250" dirty="0">
                        <a:latin typeface="Calibri" charset="0"/>
                        <a:ea typeface="Calibri" charset="0"/>
                        <a:cs typeface="Calibri" charset="0"/>
                      </a:endParaRPr>
                    </a:p>
                  </a:txBody>
                  <a:tcPr marL="91440" marR="91440" marT="18288" marB="18288"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r" indent="0" marL="0">
                        <a:buNone/>
                      </a:pPr>
                      <a:r>
                        <a:rPr lang="en-US" sz="1250" dirty="0">
                          <a:solidFill>
                            <a:srgbClr val="14202E"/>
                          </a:solidFill>
                          <a:latin typeface="Calibri" pitchFamily="34" charset="0"/>
                          <a:ea typeface="Calibri" pitchFamily="34" charset="-122"/>
                          <a:cs typeface="Calibri" pitchFamily="34" charset="-120"/>
                        </a:rPr>
                        <a:t>₱67.09M</a:t>
                      </a:r>
                      <a:endParaRPr lang="en-US" sz="1250" dirty="0">
                        <a:latin typeface="Calibri" charset="0"/>
                        <a:ea typeface="Calibri" charset="0"/>
                        <a:cs typeface="Calibri" charset="0"/>
                      </a:endParaRPr>
                    </a:p>
                  </a:txBody>
                  <a:tcPr marL="91440" marR="91440" marT="18288" marB="18288"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r" indent="0" marL="0">
                        <a:buNone/>
                      </a:pPr>
                      <a:r>
                        <a:rPr lang="en-US" sz="1250" dirty="0">
                          <a:solidFill>
                            <a:srgbClr val="14202E"/>
                          </a:solidFill>
                          <a:latin typeface="Calibri" pitchFamily="34" charset="0"/>
                          <a:ea typeface="Calibri" pitchFamily="34" charset="-122"/>
                          <a:cs typeface="Calibri" pitchFamily="34" charset="-120"/>
                        </a:rPr>
                        <a:t>4.6%</a:t>
                      </a:r>
                      <a:endParaRPr lang="en-US" sz="1250" dirty="0">
                        <a:latin typeface="Calibri" charset="0"/>
                        <a:ea typeface="Calibri" charset="0"/>
                        <a:cs typeface="Calibri" charset="0"/>
                      </a:endParaRPr>
                    </a:p>
                  </a:txBody>
                  <a:tcPr marL="91440" marR="91440" marT="18288" marB="18288"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r>
              <a:tr h="338328">
                <a:tc>
                  <a:txBody>
                    <a:bodyPr/>
                    <a:lstStyle/>
                    <a:p>
                      <a:pPr indent="0" marL="0">
                        <a:buNone/>
                      </a:pPr>
                      <a:r>
                        <a:rPr lang="en-US" sz="1250" dirty="0">
                          <a:solidFill>
                            <a:srgbClr val="14202E"/>
                          </a:solidFill>
                          <a:latin typeface="Calibri" pitchFamily="34" charset="0"/>
                          <a:ea typeface="Calibri" pitchFamily="34" charset="-122"/>
                          <a:cs typeface="Calibri" pitchFamily="34" charset="-120"/>
                        </a:rPr>
                        <a:t>Two-lane steel truss bridge 1 × 50 m</a:t>
                      </a:r>
                      <a:endParaRPr lang="en-US" sz="1250" dirty="0">
                        <a:latin typeface="Calibri" charset="0"/>
                        <a:ea typeface="Calibri" charset="0"/>
                        <a:cs typeface="Calibri" charset="0"/>
                      </a:endParaRPr>
                    </a:p>
                  </a:txBody>
                  <a:tcPr marL="91440" marR="91440" marT="18288" marB="18288"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r" indent="0" marL="0">
                        <a:buNone/>
                      </a:pPr>
                      <a:r>
                        <a:rPr lang="en-US" sz="1250" b="1" dirty="0">
                          <a:solidFill>
                            <a:srgbClr val="12345A"/>
                          </a:solidFill>
                          <a:latin typeface="Calibri" pitchFamily="34" charset="0"/>
                          <a:ea typeface="Calibri" pitchFamily="34" charset="-122"/>
                          <a:cs typeface="Calibri" pitchFamily="34" charset="-120"/>
                        </a:rPr>
                        <a:t>₱62.19M</a:t>
                      </a:r>
                      <a:endParaRPr lang="en-US" sz="1250" dirty="0">
                        <a:latin typeface="Calibri" charset="0"/>
                        <a:ea typeface="Calibri" charset="0"/>
                        <a:cs typeface="Calibri" charset="0"/>
                      </a:endParaRPr>
                    </a:p>
                  </a:txBody>
                  <a:tcPr marL="91440" marR="91440" marT="18288" marB="18288"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r" indent="0" marL="0">
                        <a:buNone/>
                      </a:pPr>
                      <a:r>
                        <a:rPr lang="en-US" sz="1250" dirty="0">
                          <a:solidFill>
                            <a:srgbClr val="14202E"/>
                          </a:solidFill>
                          <a:latin typeface="Calibri" pitchFamily="34" charset="0"/>
                          <a:ea typeface="Calibri" pitchFamily="34" charset="-122"/>
                          <a:cs typeface="Calibri" pitchFamily="34" charset="-120"/>
                        </a:rPr>
                        <a:t>₱65.79M</a:t>
                      </a:r>
                      <a:endParaRPr lang="en-US" sz="1250" dirty="0">
                        <a:latin typeface="Calibri" charset="0"/>
                        <a:ea typeface="Calibri" charset="0"/>
                        <a:cs typeface="Calibri" charset="0"/>
                      </a:endParaRPr>
                    </a:p>
                  </a:txBody>
                  <a:tcPr marL="91440" marR="91440" marT="18288" marB="18288"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r" indent="0" marL="0">
                        <a:buNone/>
                      </a:pPr>
                      <a:r>
                        <a:rPr lang="en-US" sz="1250" dirty="0">
                          <a:solidFill>
                            <a:srgbClr val="14202E"/>
                          </a:solidFill>
                          <a:latin typeface="Calibri" pitchFamily="34" charset="0"/>
                          <a:ea typeface="Calibri" pitchFamily="34" charset="-122"/>
                          <a:cs typeface="Calibri" pitchFamily="34" charset="-120"/>
                        </a:rPr>
                        <a:t>₱79.88M</a:t>
                      </a:r>
                      <a:endParaRPr lang="en-US" sz="1250" dirty="0">
                        <a:latin typeface="Calibri" charset="0"/>
                        <a:ea typeface="Calibri" charset="0"/>
                        <a:cs typeface="Calibri" charset="0"/>
                      </a:endParaRPr>
                    </a:p>
                  </a:txBody>
                  <a:tcPr marL="91440" marR="91440" marT="18288" marB="18288"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r" indent="0" marL="0">
                        <a:buNone/>
                      </a:pPr>
                      <a:r>
                        <a:rPr lang="en-US" sz="1250" dirty="0">
                          <a:solidFill>
                            <a:srgbClr val="14202E"/>
                          </a:solidFill>
                          <a:latin typeface="Calibri" pitchFamily="34" charset="0"/>
                          <a:ea typeface="Calibri" pitchFamily="34" charset="-122"/>
                          <a:cs typeface="Calibri" pitchFamily="34" charset="-120"/>
                        </a:rPr>
                        <a:t>5.5%</a:t>
                      </a:r>
                      <a:endParaRPr lang="en-US" sz="1250" dirty="0">
                        <a:latin typeface="Calibri" charset="0"/>
                        <a:ea typeface="Calibri" charset="0"/>
                        <a:cs typeface="Calibri" charset="0"/>
                      </a:endParaRPr>
                    </a:p>
                  </a:txBody>
                  <a:tcPr marL="91440" marR="91440" marT="18288" marB="18288"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1064240" y="642823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A8C"/>
                </a:solidFill>
              </a:defRPr>
            </a:lvl1pPr>
          </a:lstStyle>
          <a:p>
            <a:pPr algn="r"/>
            <a:fld id="{F7021451-1387-4CA6-816F-3879F97B5CBC}" type="slidenum">
              <a:rPr b="0"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ph idx="100" type="body" hasCustomPrompt="1"/>
          </p:nvPr>
        </p:nvSpPr>
        <p:spPr>
          <a:xfrm>
            <a:off x="548640" y="256032"/>
            <a:ext cx="8229600" cy="292608"/>
          </a:xfrm>
          <a:prstGeom prst="rect">
            <a:avLst/>
          </a:prstGeom>
          <a:noFill/>
          <a:ln/>
        </p:spPr>
        <p:txBody>
          <a:bodyPr wrap="square" lIns="0" tIns="0" rIns="0" bIns="0" rtlCol="0"/>
          <a:lstStyle/>
          <a:p>
            <a:pPr indent="0" marL="0">
              <a:buNone/>
            </a:pPr>
            <a:r>
              <a:rPr lang="en-US" sz="1200" b="1" spc="200" kern="0" dirty="0">
                <a:solidFill>
                  <a:schemeClr val="accent5"/>
                </a:solidFill>
              </a:rPr>
              <a:t>RQ4 · MACHINE-LEARNING MODELS</a:t>
            </a:r>
            <a:endParaRPr lang="en-US" sz="1200" dirty="0"/>
          </a:p>
        </p:txBody>
      </p:sp>
      <p:sp>
        <p:nvSpPr>
          <p:cNvPr id="3" name="Text 0"/>
          <p:cNvSpPr/>
          <p:nvPr>
            <p:ph idx="101" type="title" hasCustomPrompt="1"/>
          </p:nvPr>
        </p:nvSpPr>
        <p:spPr>
          <a:xfrm>
            <a:off x="548640" y="530352"/>
            <a:ext cx="11064240" cy="731520"/>
          </a:xfrm>
          <a:prstGeom prst="rect">
            <a:avLst/>
          </a:prstGeom>
          <a:noFill/>
          <a:ln/>
        </p:spPr>
        <p:txBody>
          <a:bodyPr wrap="square" lIns="0" tIns="0" rIns="0" bIns="0" rtlCol="0" anchor="ctr"/>
          <a:lstStyle/>
          <a:p>
            <a:pPr algn="l" indent="0" marL="0">
              <a:buNone/>
            </a:pPr>
            <a:r>
              <a:rPr lang="en-US" sz="3200" b="1" dirty="0">
                <a:solidFill>
                  <a:schemeClr val="tx2"/>
                </a:solidFill>
                <a:latin typeface="Cambria" pitchFamily="34" charset="0"/>
                <a:ea typeface="Cambria" pitchFamily="34" charset="-122"/>
                <a:cs typeface="Cambria" pitchFamily="34" charset="-120"/>
              </a:rPr>
              <a:t>Regression and XGBoost under LOOCV</a:t>
            </a:r>
            <a:endParaRPr lang="en-US" sz="3200" dirty="0"/>
          </a:p>
        </p:txBody>
      </p:sp>
      <p:graphicFrame>
        <p:nvGraphicFramePr>
          <p:cNvPr id="5" name="MAPE chart" descr="MAPE of MLR and XGBoost by asset class"/>
          <p:cNvGraphicFramePr/>
          <p:nvPr/>
        </p:nvGraphicFramePr>
        <p:xfrm>
          <a:off x="548640" y="1463040"/>
          <a:ext cx="6035040" cy="4754880"/>
        </p:xfrm>
        <a:graphic xmlns:a="http://schemas.openxmlformats.org/drawingml/2006/main">
          <a:graphicData uri="http://schemas.openxmlformats.org/drawingml/2006/chart">
            <c:chart xmlns:c="http://schemas.openxmlformats.org/drawingml/2006/chart" r:id="rId1"/>
          </a:graphicData>
        </a:graphic>
      </p:graphicFrame>
      <p:graphicFrame>
        <p:nvGraphicFramePr>
          <p:cNvPr id="38" name="LOOCV table"/>
          <p:cNvGraphicFramePr>
            <a:graphicFrameLocks noGrp="1"/>
          </p:cNvGraphicFramePr>
          <p:nvPr>
            <p:extLst>
              <p:ext uri="{D42A27DB-BD31-4B8C-83A1-F6EECF244321}">
                <p14:modId xmlns:p14="http://schemas.microsoft.com/office/powerpoint/2010/main" val="1579011935"/>
              </p:ext>
            </p:extLst>
          </p:nvPr>
        </p:nvGraphicFramePr>
        <p:xfrm>
          <a:off x="6812280" y="1463040"/>
          <a:ext cx="4828032" cy="914400"/>
        </p:xfrm>
        <a:graphic>
          <a:graphicData uri="http://schemas.openxmlformats.org/drawingml/2006/table">
            <a:tbl>
              <a:tblPr/>
              <a:tblGrid>
                <a:gridCol w="1920240"/>
                <a:gridCol w="1453896"/>
                <a:gridCol w="1453896"/>
              </a:tblGrid>
              <a:tr h="438912">
                <a:tc>
                  <a:txBody>
                    <a:bodyPr/>
                    <a:lstStyle/>
                    <a:p>
                      <a:pPr algn="ctr" indent="0" marL="0">
                        <a:buNone/>
                      </a:pPr>
                      <a:r>
                        <a:rPr lang="en-US" sz="1300" b="1" dirty="0">
                          <a:solidFill>
                            <a:srgbClr val="FFFFFF"/>
                          </a:solidFill>
                          <a:latin typeface="Calibri" pitchFamily="34" charset="0"/>
                          <a:ea typeface="Calibri" pitchFamily="34" charset="-122"/>
                          <a:cs typeface="Calibri" pitchFamily="34" charset="-120"/>
                        </a:rPr>
                        <a:t>LOOCV</a:t>
                      </a:r>
                      <a:endParaRPr lang="en-US" sz="1300" dirty="0">
                        <a:latin typeface="Calibri" charset="0"/>
                        <a:ea typeface="Calibri" charset="0"/>
                        <a:cs typeface="Calibri" charset="0"/>
                      </a:endParaRPr>
                    </a:p>
                  </a:txBody>
                  <a:tcPr marL="91440" marR="91440" marT="45720" marB="4572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rgbClr val="12345A"/>
                    </a:solidFill>
                  </a:tcPr>
                </a:tc>
                <a:tc>
                  <a:txBody>
                    <a:bodyPr/>
                    <a:lstStyle/>
                    <a:p>
                      <a:pPr algn="ctr" indent="0" marL="0">
                        <a:buNone/>
                      </a:pPr>
                      <a:r>
                        <a:rPr lang="en-US" sz="1300" b="1" dirty="0">
                          <a:solidFill>
                            <a:srgbClr val="FFFFFF"/>
                          </a:solidFill>
                          <a:latin typeface="Calibri" pitchFamily="34" charset="0"/>
                          <a:ea typeface="Calibri" pitchFamily="34" charset="-122"/>
                          <a:cs typeface="Calibri" pitchFamily="34" charset="-120"/>
                        </a:rPr>
                        <a:t>Buildings</a:t>
                      </a:r>
                      <a:endParaRPr lang="en-US" sz="1300" dirty="0">
                        <a:latin typeface="Calibri" charset="0"/>
                        <a:ea typeface="Calibri" charset="0"/>
                        <a:cs typeface="Calibri" charset="0"/>
                      </a:endParaRPr>
                    </a:p>
                  </a:txBody>
                  <a:tcPr marL="91440" marR="91440" marT="45720" marB="4572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rgbClr val="12345A"/>
                    </a:solidFill>
                  </a:tcPr>
                </a:tc>
                <a:tc>
                  <a:txBody>
                    <a:bodyPr/>
                    <a:lstStyle/>
                    <a:p>
                      <a:pPr algn="ctr" indent="0" marL="0">
                        <a:buNone/>
                      </a:pPr>
                      <a:r>
                        <a:rPr lang="en-US" sz="1300" b="1" dirty="0">
                          <a:solidFill>
                            <a:srgbClr val="FFFFFF"/>
                          </a:solidFill>
                          <a:latin typeface="Calibri" pitchFamily="34" charset="0"/>
                          <a:ea typeface="Calibri" pitchFamily="34" charset="-122"/>
                          <a:cs typeface="Calibri" pitchFamily="34" charset="-120"/>
                        </a:rPr>
                        <a:t>Bridges</a:t>
                      </a:r>
                      <a:endParaRPr lang="en-US" sz="1300" dirty="0">
                        <a:latin typeface="Calibri" charset="0"/>
                        <a:ea typeface="Calibri" charset="0"/>
                        <a:cs typeface="Calibri" charset="0"/>
                      </a:endParaRPr>
                    </a:p>
                  </a:txBody>
                  <a:tcPr marL="91440" marR="91440" marT="45720" marB="4572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rgbClr val="12345A"/>
                    </a:solidFill>
                  </a:tcPr>
                </a:tc>
              </a:tr>
              <a:tr h="438912">
                <a:tc>
                  <a:txBody>
                    <a:bodyPr/>
                    <a:lstStyle/>
                    <a:p>
                      <a:pPr algn="ctr" indent="0" marL="0">
                        <a:buNone/>
                      </a:pPr>
                      <a:r>
                        <a:rPr lang="en-US" sz="1400" b="1" dirty="0">
                          <a:solidFill>
                            <a:srgbClr val="14202E"/>
                          </a:solidFill>
                          <a:latin typeface="Calibri" pitchFamily="34" charset="0"/>
                          <a:ea typeface="Calibri" pitchFamily="34" charset="-122"/>
                          <a:cs typeface="Calibri" pitchFamily="34" charset="-120"/>
                        </a:rPr>
                        <a:t>MLR R²</a:t>
                      </a:r>
                      <a:endParaRPr lang="en-US" sz="1400" dirty="0">
                        <a:latin typeface="Calibri" charset="0"/>
                        <a:ea typeface="Calibri" charset="0"/>
                        <a:cs typeface="Calibri" charset="0"/>
                      </a:endParaRPr>
                    </a:p>
                  </a:txBody>
                  <a:tcPr marL="91440" marR="91440" marT="45720" marB="4572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ctr" indent="0" marL="0">
                        <a:buNone/>
                      </a:pPr>
                      <a:r>
                        <a:rPr lang="en-US" sz="1400" dirty="0">
                          <a:solidFill>
                            <a:srgbClr val="14202E"/>
                          </a:solidFill>
                          <a:latin typeface="Calibri" pitchFamily="34" charset="0"/>
                          <a:ea typeface="Calibri" pitchFamily="34" charset="-122"/>
                          <a:cs typeface="Calibri" pitchFamily="34" charset="-120"/>
                        </a:rPr>
                        <a:t>0.8112</a:t>
                      </a:r>
                      <a:endParaRPr lang="en-US" sz="1400" dirty="0">
                        <a:latin typeface="Calibri" charset="0"/>
                        <a:ea typeface="Calibri" charset="0"/>
                        <a:cs typeface="Calibri" charset="0"/>
                      </a:endParaRPr>
                    </a:p>
                  </a:txBody>
                  <a:tcPr marL="91440" marR="91440" marT="45720" marB="4572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ctr" indent="0" marL="0">
                        <a:buNone/>
                      </a:pPr>
                      <a:r>
                        <a:rPr lang="en-US" sz="1400" dirty="0">
                          <a:solidFill>
                            <a:srgbClr val="14202E"/>
                          </a:solidFill>
                          <a:latin typeface="Calibri" pitchFamily="34" charset="0"/>
                          <a:ea typeface="Calibri" pitchFamily="34" charset="-122"/>
                          <a:cs typeface="Calibri" pitchFamily="34" charset="-120"/>
                        </a:rPr>
                        <a:t>0.8640</a:t>
                      </a:r>
                      <a:endParaRPr lang="en-US" sz="1400" dirty="0">
                        <a:latin typeface="Calibri" charset="0"/>
                        <a:ea typeface="Calibri" charset="0"/>
                        <a:cs typeface="Calibri" charset="0"/>
                      </a:endParaRPr>
                    </a:p>
                  </a:txBody>
                  <a:tcPr marL="91440" marR="91440" marT="45720" marB="4572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r>
              <a:tr h="438912">
                <a:tc>
                  <a:txBody>
                    <a:bodyPr/>
                    <a:lstStyle/>
                    <a:p>
                      <a:pPr algn="ctr" indent="0" marL="0">
                        <a:buNone/>
                      </a:pPr>
                      <a:r>
                        <a:rPr lang="en-US" sz="1400" b="1" dirty="0">
                          <a:solidFill>
                            <a:srgbClr val="14202E"/>
                          </a:solidFill>
                          <a:latin typeface="Calibri" pitchFamily="34" charset="0"/>
                          <a:ea typeface="Calibri" pitchFamily="34" charset="-122"/>
                          <a:cs typeface="Calibri" pitchFamily="34" charset="-120"/>
                        </a:rPr>
                        <a:t>MLR MAPE</a:t>
                      </a:r>
                      <a:endParaRPr lang="en-US" sz="1400" dirty="0">
                        <a:latin typeface="Calibri" charset="0"/>
                        <a:ea typeface="Calibri" charset="0"/>
                        <a:cs typeface="Calibri" charset="0"/>
                      </a:endParaRPr>
                    </a:p>
                  </a:txBody>
                  <a:tcPr marL="91440" marR="91440" marT="45720" marB="4572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ctr" indent="0" marL="0">
                        <a:buNone/>
                      </a:pPr>
                      <a:r>
                        <a:rPr lang="en-US" sz="1400" dirty="0">
                          <a:solidFill>
                            <a:srgbClr val="14202E"/>
                          </a:solidFill>
                          <a:latin typeface="Calibri" pitchFamily="34" charset="0"/>
                          <a:ea typeface="Calibri" pitchFamily="34" charset="-122"/>
                          <a:cs typeface="Calibri" pitchFamily="34" charset="-120"/>
                        </a:rPr>
                        <a:t>13.43%</a:t>
                      </a:r>
                      <a:endParaRPr lang="en-US" sz="1400" dirty="0">
                        <a:latin typeface="Calibri" charset="0"/>
                        <a:ea typeface="Calibri" charset="0"/>
                        <a:cs typeface="Calibri" charset="0"/>
                      </a:endParaRPr>
                    </a:p>
                  </a:txBody>
                  <a:tcPr marL="91440" marR="91440" marT="45720" marB="4572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ctr" indent="0" marL="0">
                        <a:buNone/>
                      </a:pPr>
                      <a:r>
                        <a:rPr lang="en-US" sz="1400" dirty="0">
                          <a:solidFill>
                            <a:srgbClr val="14202E"/>
                          </a:solidFill>
                          <a:latin typeface="Calibri" pitchFamily="34" charset="0"/>
                          <a:ea typeface="Calibri" pitchFamily="34" charset="-122"/>
                          <a:cs typeface="Calibri" pitchFamily="34" charset="-120"/>
                        </a:rPr>
                        <a:t>65.65%</a:t>
                      </a:r>
                      <a:endParaRPr lang="en-US" sz="1400" dirty="0">
                        <a:latin typeface="Calibri" charset="0"/>
                        <a:ea typeface="Calibri" charset="0"/>
                        <a:cs typeface="Calibri" charset="0"/>
                      </a:endParaRPr>
                    </a:p>
                  </a:txBody>
                  <a:tcPr marL="91440" marR="91440" marT="45720" marB="4572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r>
              <a:tr h="438912">
                <a:tc>
                  <a:txBody>
                    <a:bodyPr/>
                    <a:lstStyle/>
                    <a:p>
                      <a:pPr algn="ctr" indent="0" marL="0">
                        <a:buNone/>
                      </a:pPr>
                      <a:r>
                        <a:rPr lang="en-US" sz="1400" b="1" dirty="0">
                          <a:solidFill>
                            <a:srgbClr val="14202E"/>
                          </a:solidFill>
                          <a:latin typeface="Calibri" pitchFamily="34" charset="0"/>
                          <a:ea typeface="Calibri" pitchFamily="34" charset="-122"/>
                          <a:cs typeface="Calibri" pitchFamily="34" charset="-120"/>
                        </a:rPr>
                        <a:t>XGBoost R²</a:t>
                      </a:r>
                      <a:endParaRPr lang="en-US" sz="1400" dirty="0">
                        <a:latin typeface="Calibri" charset="0"/>
                        <a:ea typeface="Calibri" charset="0"/>
                        <a:cs typeface="Calibri" charset="0"/>
                      </a:endParaRPr>
                    </a:p>
                  </a:txBody>
                  <a:tcPr marL="91440" marR="91440" marT="45720" marB="4572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ctr" indent="0" marL="0">
                        <a:buNone/>
                      </a:pPr>
                      <a:r>
                        <a:rPr lang="en-US" sz="1400" dirty="0">
                          <a:solidFill>
                            <a:srgbClr val="14202E"/>
                          </a:solidFill>
                          <a:latin typeface="Calibri" pitchFamily="34" charset="0"/>
                          <a:ea typeface="Calibri" pitchFamily="34" charset="-122"/>
                          <a:cs typeface="Calibri" pitchFamily="34" charset="-120"/>
                        </a:rPr>
                        <a:t>0.7874</a:t>
                      </a:r>
                      <a:endParaRPr lang="en-US" sz="1400" dirty="0">
                        <a:latin typeface="Calibri" charset="0"/>
                        <a:ea typeface="Calibri" charset="0"/>
                        <a:cs typeface="Calibri" charset="0"/>
                      </a:endParaRPr>
                    </a:p>
                  </a:txBody>
                  <a:tcPr marL="91440" marR="91440" marT="45720" marB="4572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ctr" indent="0" marL="0">
                        <a:buNone/>
                      </a:pPr>
                      <a:r>
                        <a:rPr lang="en-US" sz="1400" dirty="0">
                          <a:solidFill>
                            <a:srgbClr val="14202E"/>
                          </a:solidFill>
                          <a:latin typeface="Calibri" pitchFamily="34" charset="0"/>
                          <a:ea typeface="Calibri" pitchFamily="34" charset="-122"/>
                          <a:cs typeface="Calibri" pitchFamily="34" charset="-120"/>
                        </a:rPr>
                        <a:t>0.8630</a:t>
                      </a:r>
                      <a:endParaRPr lang="en-US" sz="1400" dirty="0">
                        <a:latin typeface="Calibri" charset="0"/>
                        <a:ea typeface="Calibri" charset="0"/>
                        <a:cs typeface="Calibri" charset="0"/>
                      </a:endParaRPr>
                    </a:p>
                  </a:txBody>
                  <a:tcPr marL="91440" marR="91440" marT="45720" marB="4572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r>
              <a:tr h="438912">
                <a:tc>
                  <a:txBody>
                    <a:bodyPr/>
                    <a:lstStyle/>
                    <a:p>
                      <a:pPr algn="ctr" indent="0" marL="0">
                        <a:buNone/>
                      </a:pPr>
                      <a:r>
                        <a:rPr lang="en-US" sz="1400" b="1" dirty="0">
                          <a:solidFill>
                            <a:srgbClr val="14202E"/>
                          </a:solidFill>
                          <a:latin typeface="Calibri" pitchFamily="34" charset="0"/>
                          <a:ea typeface="Calibri" pitchFamily="34" charset="-122"/>
                          <a:cs typeface="Calibri" pitchFamily="34" charset="-120"/>
                        </a:rPr>
                        <a:t>XGBoost MAPE</a:t>
                      </a:r>
                      <a:endParaRPr lang="en-US" sz="1400" dirty="0">
                        <a:latin typeface="Calibri" charset="0"/>
                        <a:ea typeface="Calibri" charset="0"/>
                        <a:cs typeface="Calibri" charset="0"/>
                      </a:endParaRPr>
                    </a:p>
                  </a:txBody>
                  <a:tcPr marL="91440" marR="91440" marT="45720" marB="4572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ctr" indent="0" marL="0">
                        <a:buNone/>
                      </a:pPr>
                      <a:r>
                        <a:rPr lang="en-US" sz="1400" dirty="0">
                          <a:solidFill>
                            <a:srgbClr val="14202E"/>
                          </a:solidFill>
                          <a:latin typeface="Calibri" pitchFamily="34" charset="0"/>
                          <a:ea typeface="Calibri" pitchFamily="34" charset="-122"/>
                          <a:cs typeface="Calibri" pitchFamily="34" charset="-120"/>
                        </a:rPr>
                        <a:t>13.94%</a:t>
                      </a:r>
                      <a:endParaRPr lang="en-US" sz="1400" dirty="0">
                        <a:latin typeface="Calibri" charset="0"/>
                        <a:ea typeface="Calibri" charset="0"/>
                        <a:cs typeface="Calibri" charset="0"/>
                      </a:endParaRPr>
                    </a:p>
                  </a:txBody>
                  <a:tcPr marL="91440" marR="91440" marT="45720" marB="4572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ctr" indent="0" marL="0">
                        <a:buNone/>
                      </a:pPr>
                      <a:r>
                        <a:rPr lang="en-US" sz="1400" b="1" dirty="0">
                          <a:solidFill>
                            <a:srgbClr val="1F7A5A"/>
                          </a:solidFill>
                          <a:latin typeface="Calibri" pitchFamily="34" charset="0"/>
                          <a:ea typeface="Calibri" pitchFamily="34" charset="-122"/>
                          <a:cs typeface="Calibri" pitchFamily="34" charset="-120"/>
                        </a:rPr>
                        <a:t>19.18%</a:t>
                      </a:r>
                      <a:endParaRPr lang="en-US" sz="1400" dirty="0">
                        <a:latin typeface="Calibri" charset="0"/>
                        <a:ea typeface="Calibri" charset="0"/>
                        <a:cs typeface="Calibri" charset="0"/>
                      </a:endParaRPr>
                    </a:p>
                  </a:txBody>
                  <a:tcPr marL="91440" marR="91440" marT="45720" marB="4572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r>
            </a:tbl>
          </a:graphicData>
        </a:graphic>
      </p:graphicFrame>
      <p:sp>
        <p:nvSpPr>
          <p:cNvPr id="7" name="card"/>
          <p:cNvSpPr/>
          <p:nvPr/>
        </p:nvSpPr>
        <p:spPr>
          <a:xfrm>
            <a:off x="6812280" y="3886200"/>
            <a:ext cx="4828032" cy="2331720"/>
          </a:xfrm>
          <a:prstGeom prst="roundRect">
            <a:avLst>
              <a:gd name="adj" fmla="val 3137"/>
            </a:avLst>
          </a:prstGeom>
          <a:solidFill>
            <a:schemeClr val="bg2"/>
          </a:solidFill>
          <a:ln/>
        </p:spPr>
      </p:sp>
      <p:sp>
        <p:nvSpPr>
          <p:cNvPr id="8" name="Text 3"/>
          <p:cNvSpPr txBox="1"/>
          <p:nvPr/>
        </p:nvSpPr>
        <p:spPr>
          <a:xfrm>
            <a:off x="7040880" y="4023360"/>
            <a:ext cx="4434840" cy="2103120"/>
          </a:xfrm>
          <a:prstGeom prst="rect">
            <a:avLst/>
          </a:prstGeom>
          <a:noFill/>
          <a:ln/>
        </p:spPr>
        <p:txBody>
          <a:bodyPr wrap="square" lIns="0" tIns="0" rIns="0" bIns="0" rtlCol="0" anchor="t"/>
          <a:lstStyle/>
          <a:p>
            <a:pPr marL="342900" indent="-342900">
              <a:spcAft>
                <a:spcPts val="800"/>
              </a:spcAft>
              <a:buSzPct val="100000"/>
              <a:buChar char="•"/>
            </a:pPr>
            <a:r>
              <a:rPr lang="en-US" sz="1400" b="1" dirty="0">
                <a:solidFill>
                  <a:schemeClr val="tx1"/>
                </a:solidFill>
              </a:rPr>
              <a:t>Buildings: </a:t>
            </a:r>
            <a:pPr indent="0" marL="0">
              <a:buNone/>
            </a:pPr>
            <a:r>
              <a:rPr lang="en-US" sz="1400" dirty="0">
                <a:solidFill>
                  <a:schemeClr val="tx1"/>
                </a:solidFill>
              </a:rPr>
              <a:t>each m² of GFA adds about ₱20,379 (t = 8.68); regression as good as XGBoost</a:t>
            </a:r>
            <a:endParaRPr lang="en-US" sz="1400" dirty="0"/>
          </a:p>
          <a:p>
            <a:pPr marL="342900" indent="-342900">
              <a:spcAft>
                <a:spcPts val="800"/>
              </a:spcAft>
              <a:buSzPct val="100000"/>
              <a:buChar char="•"/>
            </a:pPr>
            <a:r>
              <a:rPr lang="en-US" sz="1400" b="1" dirty="0">
                <a:solidFill>
                  <a:schemeClr val="tx1"/>
                </a:solidFill>
              </a:rPr>
              <a:t>Bridges: </a:t>
            </a:r>
            <a:pPr indent="0" marL="0">
              <a:buNone/>
            </a:pPr>
            <a:r>
              <a:rPr lang="en-US" sz="1400" dirty="0">
                <a:solidFill>
                  <a:schemeClr val="tx1"/>
                </a:solidFill>
              </a:rPr>
              <a:t>deck area (VIF 44.40) removed; XGBoost cuts MAPE from 65.65% to 19.18%</a:t>
            </a:r>
            <a:endParaRPr lang="en-US" sz="1400" dirty="0"/>
          </a:p>
        </p:txBody>
      </p:sp>
      <p:sp>
        <p:nvSpPr>
          <p:cNvPr id="25" name="Slide Number Placeholder 0"/>
          <p:cNvSpPr>
            <a:spLocks noGrp="1"/>
          </p:cNvSpPr>
          <p:nvPr>
            <p:ph type="sldNum" sz="quarter" idx="4294967295"/>
          </p:nvPr>
        </p:nvSpPr>
        <p:spPr>
          <a:xfrm>
            <a:off x="11064240" y="642823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A8C"/>
                </a:solidFill>
              </a:defRPr>
            </a:lvl1pPr>
          </a:lstStyle>
          <a:p>
            <a:pPr algn="r"/>
            <a:fld id="{F7021451-1387-4CA6-816F-3879F97B5CBC}" type="slidenum">
              <a:rPr b="0"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ph idx="100" type="body" hasCustomPrompt="1"/>
          </p:nvPr>
        </p:nvSpPr>
        <p:spPr>
          <a:xfrm>
            <a:off x="548640" y="256032"/>
            <a:ext cx="8229600" cy="292608"/>
          </a:xfrm>
          <a:prstGeom prst="rect">
            <a:avLst/>
          </a:prstGeom>
          <a:noFill/>
          <a:ln/>
        </p:spPr>
        <p:txBody>
          <a:bodyPr wrap="square" lIns="0" tIns="0" rIns="0" bIns="0" rtlCol="0"/>
          <a:lstStyle/>
          <a:p>
            <a:pPr indent="0" marL="0">
              <a:buNone/>
            </a:pPr>
            <a:r>
              <a:rPr lang="en-US" sz="1200" b="1" spc="200" kern="0" dirty="0">
                <a:solidFill>
                  <a:schemeClr val="accent5"/>
                </a:solidFill>
              </a:rPr>
              <a:t>RQ4 · EXPLANATIONS</a:t>
            </a:r>
            <a:endParaRPr lang="en-US" sz="1200" dirty="0"/>
          </a:p>
        </p:txBody>
      </p:sp>
      <p:sp>
        <p:nvSpPr>
          <p:cNvPr id="3" name="Text 0"/>
          <p:cNvSpPr/>
          <p:nvPr>
            <p:ph idx="101" type="title" hasCustomPrompt="1"/>
          </p:nvPr>
        </p:nvSpPr>
        <p:spPr>
          <a:xfrm>
            <a:off x="548640" y="530352"/>
            <a:ext cx="11064240" cy="731520"/>
          </a:xfrm>
          <a:prstGeom prst="rect">
            <a:avLst/>
          </a:prstGeom>
          <a:noFill/>
          <a:ln/>
        </p:spPr>
        <p:txBody>
          <a:bodyPr wrap="square" lIns="0" tIns="0" rIns="0" bIns="0" rtlCol="0" anchor="ctr"/>
          <a:lstStyle/>
          <a:p>
            <a:pPr algn="l" indent="0" marL="0">
              <a:buNone/>
            </a:pPr>
            <a:r>
              <a:rPr lang="en-US" sz="3200" b="1" dirty="0">
                <a:solidFill>
                  <a:schemeClr val="tx2"/>
                </a:solidFill>
                <a:latin typeface="Cambria" pitchFamily="34" charset="0"/>
                <a:ea typeface="Cambria" pitchFamily="34" charset="-122"/>
                <a:cs typeface="Cambria" pitchFamily="34" charset="-120"/>
              </a:rPr>
              <a:t>What Drives Cost: SHAP</a:t>
            </a:r>
            <a:endParaRPr lang="en-US" sz="3200" dirty="0"/>
          </a:p>
        </p:txBody>
      </p:sp>
      <p:pic>
        <p:nvPicPr>
          <p:cNvPr id="5" name="shap_building.png" descr="SHAP values, buildings">    </p:cNvPr>
          <p:cNvPicPr>
            <a:picLocks noChangeAspect="1"/>
          </p:cNvPicPr>
          <p:nvPr/>
        </p:nvPicPr>
        <p:blipFill>
          <a:blip r:embed="rId1"/>
          <a:stretch>
            <a:fillRect/>
          </a:stretch>
        </p:blipFill>
        <p:spPr>
          <a:xfrm>
            <a:off x="548640" y="1813560"/>
            <a:ext cx="5486400" cy="3505200"/>
          </a:xfrm>
          <a:prstGeom prst="rect">
            <a:avLst/>
          </a:prstGeom>
        </p:spPr>
      </p:pic>
      <p:pic>
        <p:nvPicPr>
          <p:cNvPr id="6" name="shap_bridge.png" descr="SHAP values, bridges">    </p:cNvPr>
          <p:cNvPicPr>
            <a:picLocks noChangeAspect="1"/>
          </p:cNvPicPr>
          <p:nvPr/>
        </p:nvPicPr>
        <p:blipFill>
          <a:blip r:embed="rId2"/>
          <a:stretch>
            <a:fillRect/>
          </a:stretch>
        </p:blipFill>
        <p:spPr>
          <a:xfrm>
            <a:off x="6153912" y="1813560"/>
            <a:ext cx="5486400" cy="3505200"/>
          </a:xfrm>
          <a:prstGeom prst="rect">
            <a:avLst/>
          </a:prstGeom>
        </p:spPr>
      </p:pic>
      <p:sp>
        <p:nvSpPr>
          <p:cNvPr id="7" name="Text 2"/>
          <p:cNvSpPr txBox="1"/>
          <p:nvPr/>
        </p:nvSpPr>
        <p:spPr>
          <a:xfrm>
            <a:off x="548640" y="5760720"/>
            <a:ext cx="5486400" cy="411480"/>
          </a:xfrm>
          <a:prstGeom prst="rect">
            <a:avLst/>
          </a:prstGeom>
          <a:noFill/>
          <a:ln/>
        </p:spPr>
        <p:txBody>
          <a:bodyPr wrap="square" lIns="0" tIns="0" rIns="0" bIns="0" rtlCol="0" anchor="t"/>
          <a:lstStyle/>
          <a:p>
            <a:pPr algn="ctr" indent="0" marL="0">
              <a:buNone/>
            </a:pPr>
            <a:r>
              <a:rPr lang="en-US" sz="1400" dirty="0">
                <a:solidFill>
                  <a:srgbClr val="44505E"/>
                </a:solidFill>
              </a:rPr>
              <a:t>Buildings: GFA dominates (mean |SHAP| = 0.343)</a:t>
            </a:r>
            <a:endParaRPr lang="en-US" sz="1400" dirty="0"/>
          </a:p>
        </p:txBody>
      </p:sp>
      <p:sp>
        <p:nvSpPr>
          <p:cNvPr id="8" name="Text 3"/>
          <p:cNvSpPr txBox="1"/>
          <p:nvPr/>
        </p:nvSpPr>
        <p:spPr>
          <a:xfrm>
            <a:off x="6153912" y="5760720"/>
            <a:ext cx="5486400" cy="411480"/>
          </a:xfrm>
          <a:prstGeom prst="rect">
            <a:avLst/>
          </a:prstGeom>
          <a:noFill/>
          <a:ln/>
        </p:spPr>
        <p:txBody>
          <a:bodyPr wrap="square" lIns="0" tIns="0" rIns="0" bIns="0" rtlCol="0" anchor="t"/>
          <a:lstStyle/>
          <a:p>
            <a:pPr algn="ctr" indent="0" marL="0">
              <a:buNone/>
            </a:pPr>
            <a:r>
              <a:rPr lang="en-US" sz="1400" dirty="0">
                <a:solidFill>
                  <a:srgbClr val="44505E"/>
                </a:solidFill>
              </a:rPr>
              <a:t>Bridges: deck area, pile length, total length, foundation</a:t>
            </a:r>
            <a:endParaRPr lang="en-US" sz="1400" dirty="0"/>
          </a:p>
        </p:txBody>
      </p:sp>
      <p:sp>
        <p:nvSpPr>
          <p:cNvPr id="25" name="Slide Number Placeholder 0"/>
          <p:cNvSpPr>
            <a:spLocks noGrp="1"/>
          </p:cNvSpPr>
          <p:nvPr>
            <p:ph type="sldNum" sz="quarter" idx="4294967295"/>
          </p:nvPr>
        </p:nvSpPr>
        <p:spPr>
          <a:xfrm>
            <a:off x="11064240" y="642823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A8C"/>
                </a:solidFill>
              </a:defRPr>
            </a:lvl1pPr>
          </a:lstStyle>
          <a:p>
            <a:pPr algn="r"/>
            <a:fld id="{F7021451-1387-4CA6-816F-3879F97B5CBC}" type="slidenum">
              <a:rPr b="0"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ph idx="100" type="body" hasCustomPrompt="1"/>
          </p:nvPr>
        </p:nvSpPr>
        <p:spPr>
          <a:xfrm>
            <a:off x="548640" y="256032"/>
            <a:ext cx="8229600" cy="292608"/>
          </a:xfrm>
          <a:prstGeom prst="rect">
            <a:avLst/>
          </a:prstGeom>
          <a:noFill/>
          <a:ln/>
        </p:spPr>
        <p:txBody>
          <a:bodyPr wrap="square" lIns="0" tIns="0" rIns="0" bIns="0" rtlCol="0"/>
          <a:lstStyle/>
          <a:p>
            <a:pPr indent="0" marL="0">
              <a:buNone/>
            </a:pPr>
            <a:r>
              <a:rPr lang="en-US" sz="1200" b="1" spc="200" kern="0" dirty="0">
                <a:solidFill>
                  <a:schemeClr val="accent5"/>
                </a:solidFill>
              </a:rPr>
              <a:t>RQ5 · DETECTION</a:t>
            </a:r>
            <a:endParaRPr lang="en-US" sz="1200" dirty="0"/>
          </a:p>
        </p:txBody>
      </p:sp>
      <p:sp>
        <p:nvSpPr>
          <p:cNvPr id="3" name="Text 0"/>
          <p:cNvSpPr/>
          <p:nvPr>
            <p:ph idx="101" type="title" hasCustomPrompt="1"/>
          </p:nvPr>
        </p:nvSpPr>
        <p:spPr>
          <a:xfrm>
            <a:off x="548640" y="530352"/>
            <a:ext cx="11064240" cy="731520"/>
          </a:xfrm>
          <a:prstGeom prst="rect">
            <a:avLst/>
          </a:prstGeom>
          <a:noFill/>
          <a:ln/>
        </p:spPr>
        <p:txBody>
          <a:bodyPr wrap="square" lIns="0" tIns="0" rIns="0" bIns="0" rtlCol="0" anchor="ctr"/>
          <a:lstStyle/>
          <a:p>
            <a:pPr algn="l" indent="0" marL="0">
              <a:buNone/>
            </a:pPr>
            <a:r>
              <a:rPr lang="en-US" sz="3200" b="1" dirty="0">
                <a:solidFill>
                  <a:schemeClr val="tx2"/>
                </a:solidFill>
                <a:latin typeface="Cambria" pitchFamily="34" charset="0"/>
                <a:ea typeface="Cambria" pitchFamily="34" charset="-122"/>
                <a:cs typeface="Cambria" pitchFamily="34" charset="-120"/>
              </a:rPr>
              <a:t>Catching Over-Budgeted Contracts</a:t>
            </a:r>
            <a:endParaRPr lang="en-US" sz="3200" dirty="0"/>
          </a:p>
        </p:txBody>
      </p:sp>
      <p:graphicFrame>
        <p:nvGraphicFramePr>
          <p:cNvPr id="5" name="detection chart" descr="Recall, F1 and AUC by detection signal"/>
          <p:cNvGraphicFramePr/>
          <p:nvPr/>
        </p:nvGraphicFramePr>
        <p:xfrm>
          <a:off x="548640" y="1463040"/>
          <a:ext cx="6949440" cy="4754880"/>
        </p:xfrm>
        <a:graphic xmlns:a="http://schemas.openxmlformats.org/drawingml/2006/main">
          <a:graphicData uri="http://schemas.openxmlformats.org/drawingml/2006/chart">
            <c:chart xmlns:c="http://schemas.openxmlformats.org/drawingml/2006/chart" r:id="rId1"/>
          </a:graphicData>
        </a:graphic>
      </p:graphicFrame>
      <p:sp>
        <p:nvSpPr>
          <p:cNvPr id="6" name="card"/>
          <p:cNvSpPr/>
          <p:nvPr/>
        </p:nvSpPr>
        <p:spPr>
          <a:xfrm>
            <a:off x="7726680" y="1463040"/>
            <a:ext cx="3913632" cy="1417320"/>
          </a:xfrm>
          <a:prstGeom prst="roundRect">
            <a:avLst>
              <a:gd name="adj" fmla="val 5161"/>
            </a:avLst>
          </a:prstGeom>
          <a:solidFill>
            <a:schemeClr val="tx2"/>
          </a:solidFill>
          <a:ln/>
        </p:spPr>
      </p:sp>
      <p:sp>
        <p:nvSpPr>
          <p:cNvPr id="7" name="Text 3"/>
          <p:cNvSpPr txBox="1"/>
          <p:nvPr/>
        </p:nvSpPr>
        <p:spPr>
          <a:xfrm>
            <a:off x="7955280" y="1572768"/>
            <a:ext cx="3474720" cy="731520"/>
          </a:xfrm>
          <a:prstGeom prst="rect">
            <a:avLst/>
          </a:prstGeom>
          <a:noFill/>
          <a:ln/>
        </p:spPr>
        <p:txBody>
          <a:bodyPr wrap="square" lIns="0" tIns="0" rIns="0" bIns="0" rtlCol="0" anchor="t"/>
          <a:lstStyle/>
          <a:p>
            <a:pPr indent="0" marL="0">
              <a:buNone/>
            </a:pPr>
            <a:r>
              <a:rPr lang="en-US" sz="3400" b="1" dirty="0">
                <a:solidFill>
                  <a:schemeClr val="accent1"/>
                </a:solidFill>
                <a:latin typeface="Cambria" pitchFamily="34" charset="0"/>
                <a:ea typeface="Cambria" pitchFamily="34" charset="-122"/>
                <a:cs typeface="Cambria" pitchFamily="34" charset="-120"/>
              </a:rPr>
              <a:t>34 / 36</a:t>
            </a:r>
            <a:endParaRPr lang="en-US" sz="3400" dirty="0"/>
          </a:p>
        </p:txBody>
      </p:sp>
      <p:sp>
        <p:nvSpPr>
          <p:cNvPr id="8" name="Text 4"/>
          <p:cNvSpPr txBox="1"/>
          <p:nvPr/>
        </p:nvSpPr>
        <p:spPr>
          <a:xfrm>
            <a:off x="7955280" y="2331720"/>
            <a:ext cx="3474720" cy="457200"/>
          </a:xfrm>
          <a:prstGeom prst="rect">
            <a:avLst/>
          </a:prstGeom>
          <a:noFill/>
          <a:ln/>
        </p:spPr>
        <p:txBody>
          <a:bodyPr wrap="square" lIns="0" tIns="0" rIns="0" bIns="0" rtlCol="0" anchor="t"/>
          <a:lstStyle/>
          <a:p>
            <a:pPr indent="0" marL="0">
              <a:buNone/>
            </a:pPr>
            <a:r>
              <a:rPr lang="en-US" sz="1400" dirty="0">
                <a:solidFill>
                  <a:schemeClr val="bg1"/>
                </a:solidFill>
              </a:rPr>
              <a:t>padded contracts caught by the Risk Index</a:t>
            </a:r>
            <a:endParaRPr lang="en-US" sz="1400" dirty="0"/>
          </a:p>
        </p:txBody>
      </p:sp>
      <p:sp>
        <p:nvSpPr>
          <p:cNvPr id="9" name="card"/>
          <p:cNvSpPr/>
          <p:nvPr/>
        </p:nvSpPr>
        <p:spPr>
          <a:xfrm>
            <a:off x="7726680" y="3063240"/>
            <a:ext cx="3913632" cy="1417320"/>
          </a:xfrm>
          <a:prstGeom prst="roundRect">
            <a:avLst>
              <a:gd name="adj" fmla="val 5161"/>
            </a:avLst>
          </a:prstGeom>
          <a:solidFill>
            <a:schemeClr val="bg2"/>
          </a:solidFill>
          <a:ln/>
        </p:spPr>
      </p:sp>
      <p:sp>
        <p:nvSpPr>
          <p:cNvPr id="10" name="Text 6"/>
          <p:cNvSpPr txBox="1"/>
          <p:nvPr/>
        </p:nvSpPr>
        <p:spPr>
          <a:xfrm>
            <a:off x="7955280" y="3172968"/>
            <a:ext cx="3474720" cy="731520"/>
          </a:xfrm>
          <a:prstGeom prst="rect">
            <a:avLst/>
          </a:prstGeom>
          <a:noFill/>
          <a:ln/>
        </p:spPr>
        <p:txBody>
          <a:bodyPr wrap="square" lIns="0" tIns="0" rIns="0" bIns="0" rtlCol="0" anchor="t"/>
          <a:lstStyle/>
          <a:p>
            <a:pPr indent="0" marL="0">
              <a:buNone/>
            </a:pPr>
            <a:r>
              <a:rPr lang="en-US" sz="3400" b="1" dirty="0">
                <a:solidFill>
                  <a:schemeClr val="tx2"/>
                </a:solidFill>
                <a:latin typeface="Cambria" pitchFamily="34" charset="0"/>
                <a:ea typeface="Cambria" pitchFamily="34" charset="-122"/>
                <a:cs typeface="Cambria" pitchFamily="34" charset="-120"/>
              </a:rPr>
              <a:t>0.927</a:t>
            </a:r>
            <a:endParaRPr lang="en-US" sz="3400" dirty="0"/>
          </a:p>
        </p:txBody>
      </p:sp>
      <p:sp>
        <p:nvSpPr>
          <p:cNvPr id="11" name="Text 7"/>
          <p:cNvSpPr txBox="1"/>
          <p:nvPr/>
        </p:nvSpPr>
        <p:spPr>
          <a:xfrm>
            <a:off x="7955280" y="3931920"/>
            <a:ext cx="3474720" cy="457200"/>
          </a:xfrm>
          <a:prstGeom prst="rect">
            <a:avLst/>
          </a:prstGeom>
          <a:noFill/>
          <a:ln/>
        </p:spPr>
        <p:txBody>
          <a:bodyPr wrap="square" lIns="0" tIns="0" rIns="0" bIns="0" rtlCol="0" anchor="t"/>
          <a:lstStyle/>
          <a:p>
            <a:pPr indent="0" marL="0">
              <a:buNone/>
            </a:pPr>
            <a:r>
              <a:rPr lang="en-US" sz="1400" dirty="0">
                <a:solidFill>
                  <a:schemeClr val="tx1"/>
                </a:solidFill>
              </a:rPr>
              <a:t>F1-score for buildings</a:t>
            </a:r>
            <a:endParaRPr lang="en-US" sz="1400" dirty="0"/>
          </a:p>
        </p:txBody>
      </p:sp>
      <p:sp>
        <p:nvSpPr>
          <p:cNvPr id="12" name="card"/>
          <p:cNvSpPr/>
          <p:nvPr/>
        </p:nvSpPr>
        <p:spPr>
          <a:xfrm>
            <a:off x="7726680" y="4663440"/>
            <a:ext cx="3913632" cy="1417320"/>
          </a:xfrm>
          <a:prstGeom prst="roundRect">
            <a:avLst>
              <a:gd name="adj" fmla="val 5161"/>
            </a:avLst>
          </a:prstGeom>
          <a:solidFill>
            <a:schemeClr val="bg2"/>
          </a:solidFill>
          <a:ln/>
        </p:spPr>
      </p:sp>
      <p:sp>
        <p:nvSpPr>
          <p:cNvPr id="13" name="Text 9"/>
          <p:cNvSpPr txBox="1"/>
          <p:nvPr/>
        </p:nvSpPr>
        <p:spPr>
          <a:xfrm>
            <a:off x="7955280" y="4773168"/>
            <a:ext cx="3474720" cy="731520"/>
          </a:xfrm>
          <a:prstGeom prst="rect">
            <a:avLst/>
          </a:prstGeom>
          <a:noFill/>
          <a:ln/>
        </p:spPr>
        <p:txBody>
          <a:bodyPr wrap="square" lIns="0" tIns="0" rIns="0" bIns="0" rtlCol="0" anchor="t"/>
          <a:lstStyle/>
          <a:p>
            <a:pPr indent="0" marL="0">
              <a:buNone/>
            </a:pPr>
            <a:r>
              <a:rPr lang="en-US" sz="3400" b="1" dirty="0">
                <a:solidFill>
                  <a:schemeClr val="accent2"/>
                </a:solidFill>
                <a:latin typeface="Cambria" pitchFamily="34" charset="0"/>
                <a:ea typeface="Cambria" pitchFamily="34" charset="-122"/>
                <a:cs typeface="Cambria" pitchFamily="34" charset="-120"/>
              </a:rPr>
              <a:t>27.8%</a:t>
            </a:r>
            <a:endParaRPr lang="en-US" sz="3400" dirty="0"/>
          </a:p>
        </p:txBody>
      </p:sp>
      <p:sp>
        <p:nvSpPr>
          <p:cNvPr id="14" name="Text 10"/>
          <p:cNvSpPr txBox="1"/>
          <p:nvPr/>
        </p:nvSpPr>
        <p:spPr>
          <a:xfrm>
            <a:off x="7955280" y="5532120"/>
            <a:ext cx="3474720" cy="457200"/>
          </a:xfrm>
          <a:prstGeom prst="rect">
            <a:avLst/>
          </a:prstGeom>
          <a:noFill/>
          <a:ln/>
        </p:spPr>
        <p:txBody>
          <a:bodyPr wrap="square" lIns="0" tIns="0" rIns="0" bIns="0" rtlCol="0" anchor="t"/>
          <a:lstStyle/>
          <a:p>
            <a:pPr indent="0" marL="0">
              <a:buNone/>
            </a:pPr>
            <a:r>
              <a:rPr lang="en-US" sz="1400" dirty="0">
                <a:solidFill>
                  <a:schemeClr val="tx1"/>
                </a:solidFill>
              </a:rPr>
              <a:t>recall of Isolation Forest alone</a:t>
            </a:r>
            <a:endParaRPr lang="en-US" sz="1400" dirty="0"/>
          </a:p>
        </p:txBody>
      </p:sp>
      <p:sp>
        <p:nvSpPr>
          <p:cNvPr id="25" name="Slide Number Placeholder 0"/>
          <p:cNvSpPr>
            <a:spLocks noGrp="1"/>
          </p:cNvSpPr>
          <p:nvPr>
            <p:ph type="sldNum" sz="quarter" idx="4294967295"/>
          </p:nvPr>
        </p:nvSpPr>
        <p:spPr>
          <a:xfrm>
            <a:off x="11064240" y="642823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A8C"/>
                </a:solidFill>
              </a:defRPr>
            </a:lvl1pPr>
          </a:lstStyle>
          <a:p>
            <a:pPr algn="r"/>
            <a:fld id="{F7021451-1387-4CA6-816F-3879F97B5CBC}" type="slidenum">
              <a:rPr b="0"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ph idx="100" type="body" hasCustomPrompt="1"/>
          </p:nvPr>
        </p:nvSpPr>
        <p:spPr>
          <a:xfrm>
            <a:off x="548640" y="256032"/>
            <a:ext cx="8229600" cy="292608"/>
          </a:xfrm>
          <a:prstGeom prst="rect">
            <a:avLst/>
          </a:prstGeom>
          <a:noFill/>
          <a:ln/>
        </p:spPr>
        <p:txBody>
          <a:bodyPr wrap="square" lIns="0" tIns="0" rIns="0" bIns="0" rtlCol="0"/>
          <a:lstStyle/>
          <a:p>
            <a:pPr indent="0" marL="0">
              <a:buNone/>
            </a:pPr>
            <a:r>
              <a:rPr lang="en-US" sz="1200" b="1" spc="200" kern="0" dirty="0">
                <a:solidFill>
                  <a:schemeClr val="accent5"/>
                </a:solidFill>
              </a:rPr>
              <a:t>RQ5 · DETECTION</a:t>
            </a:r>
            <a:endParaRPr lang="en-US" sz="1200" dirty="0"/>
          </a:p>
        </p:txBody>
      </p:sp>
      <p:sp>
        <p:nvSpPr>
          <p:cNvPr id="3" name="Text 0"/>
          <p:cNvSpPr/>
          <p:nvPr>
            <p:ph idx="101" type="title" hasCustomPrompt="1"/>
          </p:nvPr>
        </p:nvSpPr>
        <p:spPr>
          <a:xfrm>
            <a:off x="548640" y="530352"/>
            <a:ext cx="11064240" cy="731520"/>
          </a:xfrm>
          <a:prstGeom prst="rect">
            <a:avLst/>
          </a:prstGeom>
          <a:noFill/>
          <a:ln/>
        </p:spPr>
        <p:txBody>
          <a:bodyPr wrap="square" lIns="0" tIns="0" rIns="0" bIns="0" rtlCol="0" anchor="ctr"/>
          <a:lstStyle/>
          <a:p>
            <a:pPr algn="l" indent="0" marL="0">
              <a:buNone/>
            </a:pPr>
            <a:r>
              <a:rPr lang="en-US" sz="3200" b="1" dirty="0">
                <a:solidFill>
                  <a:schemeClr val="tx2"/>
                </a:solidFill>
                <a:latin typeface="Cambria" pitchFamily="34" charset="0"/>
                <a:ea typeface="Cambria" pitchFamily="34" charset="-122"/>
                <a:cs typeface="Cambria" pitchFamily="34" charset="-120"/>
              </a:rPr>
              <a:t>Why a Reference Price Matters</a:t>
            </a:r>
            <a:endParaRPr lang="en-US" sz="3200" dirty="0"/>
          </a:p>
        </p:txBody>
      </p:sp>
      <p:pic>
        <p:nvPicPr>
          <p:cNvPr id="5" name="obr_hist.png" descr="Distribution of the over-budget ratio">    </p:cNvPr>
          <p:cNvPicPr>
            <a:picLocks noChangeAspect="1"/>
          </p:cNvPicPr>
          <p:nvPr/>
        </p:nvPicPr>
        <p:blipFill>
          <a:blip r:embed="rId1"/>
          <a:stretch>
            <a:fillRect/>
          </a:stretch>
        </p:blipFill>
        <p:spPr>
          <a:xfrm>
            <a:off x="548640" y="1796354"/>
            <a:ext cx="5486400" cy="3539613"/>
          </a:xfrm>
          <a:prstGeom prst="rect">
            <a:avLst/>
          </a:prstGeom>
        </p:spPr>
      </p:pic>
      <p:pic>
        <p:nvPicPr>
          <p:cNvPr id="6" name="roc_pooled.png" descr="ROC curves of the screening signals">    </p:cNvPr>
          <p:cNvPicPr>
            <a:picLocks noChangeAspect="1"/>
          </p:cNvPicPr>
          <p:nvPr/>
        </p:nvPicPr>
        <p:blipFill>
          <a:blip r:embed="rId2"/>
          <a:stretch>
            <a:fillRect/>
          </a:stretch>
        </p:blipFill>
        <p:spPr>
          <a:xfrm>
            <a:off x="6355842" y="1463040"/>
            <a:ext cx="5082540" cy="4206240"/>
          </a:xfrm>
          <a:prstGeom prst="rect">
            <a:avLst/>
          </a:prstGeom>
        </p:spPr>
      </p:pic>
      <p:sp>
        <p:nvSpPr>
          <p:cNvPr id="7" name="Text 2"/>
          <p:cNvSpPr txBox="1"/>
          <p:nvPr/>
        </p:nvSpPr>
        <p:spPr>
          <a:xfrm>
            <a:off x="548640" y="5760720"/>
            <a:ext cx="5486400" cy="411480"/>
          </a:xfrm>
          <a:prstGeom prst="rect">
            <a:avLst/>
          </a:prstGeom>
          <a:noFill/>
          <a:ln/>
        </p:spPr>
        <p:txBody>
          <a:bodyPr wrap="square" lIns="0" tIns="0" rIns="0" bIns="0" rtlCol="0" anchor="t"/>
          <a:lstStyle/>
          <a:p>
            <a:pPr algn="ctr" indent="0" marL="0">
              <a:buNone/>
            </a:pPr>
            <a:r>
              <a:rPr lang="en-US" sz="1400" dirty="0">
                <a:solidFill>
                  <a:srgbClr val="44505E"/>
                </a:solidFill>
              </a:rPr>
              <a:t>Over-budget ratio: injected vs. non-injected</a:t>
            </a:r>
            <a:endParaRPr lang="en-US" sz="1400" dirty="0"/>
          </a:p>
        </p:txBody>
      </p:sp>
      <p:sp>
        <p:nvSpPr>
          <p:cNvPr id="8" name="Text 3"/>
          <p:cNvSpPr txBox="1"/>
          <p:nvPr/>
        </p:nvSpPr>
        <p:spPr>
          <a:xfrm>
            <a:off x="6153912" y="5760720"/>
            <a:ext cx="5486400" cy="411480"/>
          </a:xfrm>
          <a:prstGeom prst="rect">
            <a:avLst/>
          </a:prstGeom>
          <a:noFill/>
          <a:ln/>
        </p:spPr>
        <p:txBody>
          <a:bodyPr wrap="square" lIns="0" tIns="0" rIns="0" bIns="0" rtlCol="0" anchor="t"/>
          <a:lstStyle/>
          <a:p>
            <a:pPr algn="ctr" indent="0" marL="0">
              <a:buNone/>
            </a:pPr>
            <a:r>
              <a:rPr lang="en-US" sz="1400" dirty="0">
                <a:solidFill>
                  <a:srgbClr val="44505E"/>
                </a:solidFill>
              </a:rPr>
              <a:t>ROC curves: Risk Index AUC 0.987 vs. Isolation Forest 0.731</a:t>
            </a:r>
            <a:endParaRPr lang="en-US" sz="1400" dirty="0"/>
          </a:p>
        </p:txBody>
      </p:sp>
      <p:sp>
        <p:nvSpPr>
          <p:cNvPr id="25" name="Slide Number Placeholder 0"/>
          <p:cNvSpPr>
            <a:spLocks noGrp="1"/>
          </p:cNvSpPr>
          <p:nvPr>
            <p:ph type="sldNum" sz="quarter" idx="4294967295"/>
          </p:nvPr>
        </p:nvSpPr>
        <p:spPr>
          <a:xfrm>
            <a:off x="11064240" y="642823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A8C"/>
                </a:solidFill>
              </a:defRPr>
            </a:lvl1pPr>
          </a:lstStyle>
          <a:p>
            <a:pPr algn="r"/>
            <a:fld id="{F7021451-1387-4CA6-816F-3879F97B5CBC}" type="slidenum">
              <a:rPr b="0"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ph idx="100" type="body" hasCustomPrompt="1"/>
          </p:nvPr>
        </p:nvSpPr>
        <p:spPr>
          <a:xfrm>
            <a:off x="548640" y="256032"/>
            <a:ext cx="8229600" cy="292608"/>
          </a:xfrm>
          <a:prstGeom prst="rect">
            <a:avLst/>
          </a:prstGeom>
          <a:noFill/>
          <a:ln/>
        </p:spPr>
        <p:txBody>
          <a:bodyPr wrap="square" lIns="0" tIns="0" rIns="0" bIns="0" rtlCol="0"/>
          <a:lstStyle/>
          <a:p>
            <a:pPr indent="0" marL="0">
              <a:buNone/>
            </a:pPr>
            <a:r>
              <a:rPr lang="en-US" sz="1200" b="1" spc="200" kern="0" dirty="0">
                <a:solidFill>
                  <a:schemeClr val="accent5"/>
                </a:solidFill>
              </a:rPr>
              <a:t>RQ6 · DEPLOYMENT</a:t>
            </a:r>
            <a:endParaRPr lang="en-US" sz="1200" dirty="0"/>
          </a:p>
        </p:txBody>
      </p:sp>
      <p:sp>
        <p:nvSpPr>
          <p:cNvPr id="3" name="Text 0"/>
          <p:cNvSpPr/>
          <p:nvPr>
            <p:ph idx="101" type="title" hasCustomPrompt="1"/>
          </p:nvPr>
        </p:nvSpPr>
        <p:spPr>
          <a:xfrm>
            <a:off x="548640" y="530352"/>
            <a:ext cx="11064240" cy="731520"/>
          </a:xfrm>
          <a:prstGeom prst="rect">
            <a:avLst/>
          </a:prstGeom>
          <a:noFill/>
          <a:ln/>
        </p:spPr>
        <p:txBody>
          <a:bodyPr wrap="square" lIns="0" tIns="0" rIns="0" bIns="0" rtlCol="0" anchor="ctr"/>
          <a:lstStyle/>
          <a:p>
            <a:pPr algn="l" indent="0" marL="0">
              <a:buNone/>
            </a:pPr>
            <a:r>
              <a:rPr lang="en-US" sz="3200" b="1" dirty="0">
                <a:solidFill>
                  <a:schemeClr val="tx2"/>
                </a:solidFill>
                <a:latin typeface="Cambria" pitchFamily="34" charset="0"/>
                <a:ea typeface="Cambria" pitchFamily="34" charset="-122"/>
                <a:cs typeface="Cambria" pitchFamily="34" charset="-120"/>
              </a:rPr>
              <a:t>BUHAY-AH as an App and Website</a:t>
            </a:r>
            <a:endParaRPr lang="en-US" sz="3200" dirty="0"/>
          </a:p>
        </p:txBody>
      </p:sp>
      <p:pic>
        <p:nvPicPr>
          <p:cNvPr id="5" name="app_design_budget.png" descr="Design from a budget">    </p:cNvPr>
          <p:cNvPicPr>
            <a:picLocks noChangeAspect="1"/>
          </p:cNvPicPr>
          <p:nvPr/>
        </p:nvPicPr>
        <p:blipFill>
          <a:blip r:embed="rId1"/>
          <a:stretch>
            <a:fillRect/>
          </a:stretch>
        </p:blipFill>
        <p:spPr>
          <a:xfrm>
            <a:off x="1662188" y="1417320"/>
            <a:ext cx="3195296" cy="2011680"/>
          </a:xfrm>
          <a:prstGeom prst="rect">
            <a:avLst/>
          </a:prstGeom>
        </p:spPr>
      </p:pic>
      <p:sp>
        <p:nvSpPr>
          <p:cNvPr id="6" name="Text 2"/>
          <p:cNvSpPr txBox="1"/>
          <p:nvPr/>
        </p:nvSpPr>
        <p:spPr>
          <a:xfrm>
            <a:off x="548640" y="3429000"/>
            <a:ext cx="5422392" cy="320040"/>
          </a:xfrm>
          <a:prstGeom prst="rect">
            <a:avLst/>
          </a:prstGeom>
          <a:noFill/>
          <a:ln/>
        </p:spPr>
        <p:txBody>
          <a:bodyPr wrap="square" lIns="0" tIns="0" rIns="0" bIns="0" rtlCol="0" anchor="t"/>
          <a:lstStyle/>
          <a:p>
            <a:pPr algn="ctr" indent="0" marL="0">
              <a:buNone/>
            </a:pPr>
            <a:r>
              <a:rPr lang="en-US" sz="1300" dirty="0">
                <a:solidFill>
                  <a:srgbClr val="44505E"/>
                </a:solidFill>
              </a:rPr>
              <a:t>Design from a budget</a:t>
            </a:r>
            <a:endParaRPr lang="en-US" sz="1300" dirty="0"/>
          </a:p>
        </p:txBody>
      </p:sp>
      <p:pic>
        <p:nvPicPr>
          <p:cNvPr id="7" name="app_quote.png" descr="Quote: three tiers and ABC">    </p:cNvPr>
          <p:cNvPicPr>
            <a:picLocks noChangeAspect="1"/>
          </p:cNvPicPr>
          <p:nvPr/>
        </p:nvPicPr>
        <p:blipFill>
          <a:blip r:embed="rId2"/>
          <a:stretch>
            <a:fillRect/>
          </a:stretch>
        </p:blipFill>
        <p:spPr>
          <a:xfrm>
            <a:off x="7331468" y="1417320"/>
            <a:ext cx="3195296" cy="2011680"/>
          </a:xfrm>
          <a:prstGeom prst="rect">
            <a:avLst/>
          </a:prstGeom>
        </p:spPr>
      </p:pic>
      <p:sp>
        <p:nvSpPr>
          <p:cNvPr id="8" name="Text 3"/>
          <p:cNvSpPr txBox="1"/>
          <p:nvPr/>
        </p:nvSpPr>
        <p:spPr>
          <a:xfrm>
            <a:off x="6217920" y="3429000"/>
            <a:ext cx="5422392" cy="320040"/>
          </a:xfrm>
          <a:prstGeom prst="rect">
            <a:avLst/>
          </a:prstGeom>
          <a:noFill/>
          <a:ln/>
        </p:spPr>
        <p:txBody>
          <a:bodyPr wrap="square" lIns="0" tIns="0" rIns="0" bIns="0" rtlCol="0" anchor="t"/>
          <a:lstStyle/>
          <a:p>
            <a:pPr algn="ctr" indent="0" marL="0">
              <a:buNone/>
            </a:pPr>
            <a:r>
              <a:rPr lang="en-US" sz="1300" dirty="0">
                <a:solidFill>
                  <a:srgbClr val="44505E"/>
                </a:solidFill>
              </a:rPr>
              <a:t>Quote: three tiers and ABC</a:t>
            </a:r>
            <a:endParaRPr lang="en-US" sz="1300" dirty="0"/>
          </a:p>
        </p:txBody>
      </p:sp>
      <p:pic>
        <p:nvPicPr>
          <p:cNvPr id="9" name="app_check.png" descr="Check: risk index and SHAP">    </p:cNvPr>
          <p:cNvPicPr>
            <a:picLocks noChangeAspect="1"/>
          </p:cNvPicPr>
          <p:nvPr/>
        </p:nvPicPr>
        <p:blipFill>
          <a:blip r:embed="rId3"/>
          <a:stretch>
            <a:fillRect/>
          </a:stretch>
        </p:blipFill>
        <p:spPr>
          <a:xfrm>
            <a:off x="1662188" y="3867912"/>
            <a:ext cx="3195296" cy="2011680"/>
          </a:xfrm>
          <a:prstGeom prst="rect">
            <a:avLst/>
          </a:prstGeom>
        </p:spPr>
      </p:pic>
      <p:sp>
        <p:nvSpPr>
          <p:cNvPr id="10" name="Text 4"/>
          <p:cNvSpPr txBox="1"/>
          <p:nvPr/>
        </p:nvSpPr>
        <p:spPr>
          <a:xfrm>
            <a:off x="548640" y="5879592"/>
            <a:ext cx="5422392" cy="320040"/>
          </a:xfrm>
          <a:prstGeom prst="rect">
            <a:avLst/>
          </a:prstGeom>
          <a:noFill/>
          <a:ln/>
        </p:spPr>
        <p:txBody>
          <a:bodyPr wrap="square" lIns="0" tIns="0" rIns="0" bIns="0" rtlCol="0" anchor="t"/>
          <a:lstStyle/>
          <a:p>
            <a:pPr algn="ctr" indent="0" marL="0">
              <a:buNone/>
            </a:pPr>
            <a:r>
              <a:rPr lang="en-US" sz="1300" dirty="0">
                <a:solidFill>
                  <a:srgbClr val="44505E"/>
                </a:solidFill>
              </a:rPr>
              <a:t>Check: risk index and SHAP</a:t>
            </a:r>
            <a:endParaRPr lang="en-US" sz="1300" dirty="0"/>
          </a:p>
        </p:txBody>
      </p:sp>
      <p:pic>
        <p:nvPicPr>
          <p:cNvPr id="11" name="site_home.png" descr="Download website">    </p:cNvPr>
          <p:cNvPicPr>
            <a:picLocks noChangeAspect="1"/>
          </p:cNvPicPr>
          <p:nvPr/>
        </p:nvPicPr>
        <p:blipFill>
          <a:blip r:embed="rId4"/>
          <a:stretch>
            <a:fillRect/>
          </a:stretch>
        </p:blipFill>
        <p:spPr>
          <a:xfrm>
            <a:off x="7331468" y="3867912"/>
            <a:ext cx="3195296" cy="2011680"/>
          </a:xfrm>
          <a:prstGeom prst="rect">
            <a:avLst/>
          </a:prstGeom>
        </p:spPr>
      </p:pic>
      <p:sp>
        <p:nvSpPr>
          <p:cNvPr id="12" name="Text 5"/>
          <p:cNvSpPr txBox="1"/>
          <p:nvPr/>
        </p:nvSpPr>
        <p:spPr>
          <a:xfrm>
            <a:off x="6217920" y="5879592"/>
            <a:ext cx="5422392" cy="320040"/>
          </a:xfrm>
          <a:prstGeom prst="rect">
            <a:avLst/>
          </a:prstGeom>
          <a:noFill/>
          <a:ln/>
        </p:spPr>
        <p:txBody>
          <a:bodyPr wrap="square" lIns="0" tIns="0" rIns="0" bIns="0" rtlCol="0" anchor="t"/>
          <a:lstStyle/>
          <a:p>
            <a:pPr algn="ctr" indent="0" marL="0">
              <a:buNone/>
            </a:pPr>
            <a:r>
              <a:rPr lang="en-US" sz="1300" dirty="0">
                <a:solidFill>
                  <a:srgbClr val="44505E"/>
                </a:solidFill>
              </a:rPr>
              <a:t>Download website</a:t>
            </a:r>
            <a:endParaRPr lang="en-US" sz="1300" dirty="0"/>
          </a:p>
        </p:txBody>
      </p:sp>
      <p:sp>
        <p:nvSpPr>
          <p:cNvPr id="25" name="Slide Number Placeholder 0"/>
          <p:cNvSpPr>
            <a:spLocks noGrp="1"/>
          </p:cNvSpPr>
          <p:nvPr>
            <p:ph type="sldNum" sz="quarter" idx="4294967295"/>
          </p:nvPr>
        </p:nvSpPr>
        <p:spPr>
          <a:xfrm>
            <a:off x="11064240" y="642823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A8C"/>
                </a:solidFill>
              </a:defRPr>
            </a:lvl1pPr>
          </a:lstStyle>
          <a:p>
            <a:pPr algn="r"/>
            <a:fld id="{F7021451-1387-4CA6-816F-3879F97B5CBC}" type="slidenum">
              <a:rPr b="0"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ph idx="100" type="body" hasCustomPrompt="1"/>
          </p:nvPr>
        </p:nvSpPr>
        <p:spPr>
          <a:xfrm>
            <a:off x="640080" y="1463040"/>
            <a:ext cx="3657600" cy="1188720"/>
          </a:xfrm>
          <a:prstGeom prst="rect">
            <a:avLst/>
          </a:prstGeom>
          <a:noFill/>
          <a:ln/>
        </p:spPr>
        <p:txBody>
          <a:bodyPr wrap="square" rtlCol="0"/>
          <a:lstStyle/>
          <a:p>
            <a:pPr indent="0" marL="0">
              <a:buNone/>
            </a:pPr>
            <a:r>
              <a:rPr lang="en-US" sz="8000" b="1" dirty="0">
                <a:solidFill>
                  <a:schemeClr val="accent1"/>
                </a:solidFill>
                <a:latin typeface="Cambria" pitchFamily="34" charset="0"/>
                <a:ea typeface="Cambria" pitchFamily="34" charset="-122"/>
                <a:cs typeface="Cambria" pitchFamily="34" charset="-120"/>
              </a:rPr>
              <a:t>05</a:t>
            </a:r>
            <a:endParaRPr lang="en-US" sz="8000" dirty="0"/>
          </a:p>
        </p:txBody>
      </p:sp>
      <p:sp>
        <p:nvSpPr>
          <p:cNvPr id="3" name="Text 0"/>
          <p:cNvSpPr/>
          <p:nvPr>
            <p:ph idx="101" type="title" hasCustomPrompt="1"/>
          </p:nvPr>
        </p:nvSpPr>
        <p:spPr>
          <a:xfrm>
            <a:off x="640080" y="2743200"/>
            <a:ext cx="10515600" cy="1005840"/>
          </a:xfrm>
          <a:prstGeom prst="rect">
            <a:avLst/>
          </a:prstGeom>
          <a:noFill/>
          <a:ln/>
        </p:spPr>
        <p:txBody>
          <a:bodyPr wrap="square" rtlCol="0"/>
          <a:lstStyle/>
          <a:p>
            <a:pPr algn="l" indent="0" marL="0">
              <a:buNone/>
            </a:pPr>
            <a:r>
              <a:rPr lang="en-US" sz="4400" b="1" dirty="0">
                <a:solidFill>
                  <a:schemeClr val="bg1"/>
                </a:solidFill>
                <a:latin typeface="Cambria" pitchFamily="34" charset="0"/>
                <a:ea typeface="Cambria" pitchFamily="34" charset="-122"/>
                <a:cs typeface="Cambria" pitchFamily="34" charset="-120"/>
              </a:rPr>
              <a:t>Conclusion</a:t>
            </a:r>
            <a:endParaRPr lang="en-US" sz="4400" dirty="0"/>
          </a:p>
        </p:txBody>
      </p:sp>
      <p:sp>
        <p:nvSpPr>
          <p:cNvPr id="4" name="Text 0"/>
          <p:cNvSpPr/>
          <p:nvPr>
            <p:ph idx="102" type="body" hasCustomPrompt="1"/>
          </p:nvPr>
        </p:nvSpPr>
        <p:spPr>
          <a:xfrm>
            <a:off x="640080" y="3840480"/>
            <a:ext cx="9601200" cy="1097280"/>
          </a:xfrm>
          <a:prstGeom prst="rect">
            <a:avLst/>
          </a:prstGeom>
          <a:noFill/>
          <a:ln/>
        </p:spPr>
        <p:txBody>
          <a:bodyPr wrap="square" rtlCol="0" anchor="t"/>
          <a:lstStyle/>
          <a:p>
            <a:pPr indent="0" marL="0">
              <a:buNone/>
            </a:pPr>
            <a:r>
              <a:rPr lang="en-US" sz="1800" dirty="0">
                <a:solidFill>
                  <a:schemeClr val="bg2"/>
                </a:solidFill>
              </a:rPr>
              <a:t>What the study found</a:t>
            </a:r>
            <a:endParaRPr lang="en-US" sz="180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ph idx="100" type="body" hasCustomPrompt="1"/>
          </p:nvPr>
        </p:nvSpPr>
        <p:spPr>
          <a:xfrm>
            <a:off x="548640" y="256032"/>
            <a:ext cx="8229600" cy="292608"/>
          </a:xfrm>
          <a:prstGeom prst="rect">
            <a:avLst/>
          </a:prstGeom>
          <a:noFill/>
          <a:ln/>
        </p:spPr>
        <p:txBody>
          <a:bodyPr wrap="square" lIns="0" tIns="0" rIns="0" bIns="0" rtlCol="0"/>
          <a:lstStyle/>
          <a:p>
            <a:pPr indent="0" marL="0">
              <a:buNone/>
            </a:pPr>
            <a:r>
              <a:rPr lang="en-US" sz="1200" b="1" spc="200" kern="0" dirty="0">
                <a:solidFill>
                  <a:schemeClr val="accent5"/>
                </a:solidFill>
              </a:rPr>
              <a:t>CONCLUSION</a:t>
            </a:r>
            <a:endParaRPr lang="en-US" sz="1200" dirty="0"/>
          </a:p>
        </p:txBody>
      </p:sp>
      <p:sp>
        <p:nvSpPr>
          <p:cNvPr id="3" name="Text 0"/>
          <p:cNvSpPr/>
          <p:nvPr>
            <p:ph idx="101" type="title" hasCustomPrompt="1"/>
          </p:nvPr>
        </p:nvSpPr>
        <p:spPr>
          <a:xfrm>
            <a:off x="548640" y="530352"/>
            <a:ext cx="11064240" cy="731520"/>
          </a:xfrm>
          <a:prstGeom prst="rect">
            <a:avLst/>
          </a:prstGeom>
          <a:noFill/>
          <a:ln/>
        </p:spPr>
        <p:txBody>
          <a:bodyPr wrap="square" lIns="0" tIns="0" rIns="0" bIns="0" rtlCol="0" anchor="ctr"/>
          <a:lstStyle/>
          <a:p>
            <a:pPr algn="l" indent="0" marL="0">
              <a:buNone/>
            </a:pPr>
            <a:r>
              <a:rPr lang="en-US" sz="3200" b="1" dirty="0">
                <a:solidFill>
                  <a:schemeClr val="tx2"/>
                </a:solidFill>
                <a:latin typeface="Cambria" pitchFamily="34" charset="0"/>
                <a:ea typeface="Cambria" pitchFamily="34" charset="-122"/>
                <a:cs typeface="Cambria" pitchFamily="34" charset="-120"/>
              </a:rPr>
              <a:t>What the Study Found</a:t>
            </a:r>
            <a:endParaRPr lang="en-US" sz="3200" dirty="0"/>
          </a:p>
        </p:txBody>
      </p:sp>
      <p:sp>
        <p:nvSpPr>
          <p:cNvPr id="5" name="card"/>
          <p:cNvSpPr/>
          <p:nvPr/>
        </p:nvSpPr>
        <p:spPr>
          <a:xfrm>
            <a:off x="548640" y="1554480"/>
            <a:ext cx="3520440" cy="2148840"/>
          </a:xfrm>
          <a:prstGeom prst="roundRect">
            <a:avLst>
              <a:gd name="adj" fmla="val 3404"/>
            </a:avLst>
          </a:prstGeom>
          <a:solidFill>
            <a:schemeClr val="bg2"/>
          </a:solidFill>
          <a:ln/>
        </p:spPr>
      </p:sp>
      <p:sp>
        <p:nvSpPr>
          <p:cNvPr id="6" name="icon circle"/>
          <p:cNvSpPr/>
          <p:nvPr/>
        </p:nvSpPr>
        <p:spPr>
          <a:xfrm>
            <a:off x="777240" y="1783080"/>
            <a:ext cx="640080" cy="640080"/>
          </a:xfrm>
          <a:prstGeom prst="ellipse">
            <a:avLst/>
          </a:prstGeom>
          <a:solidFill>
            <a:schemeClr val="tx2"/>
          </a:solidFill>
          <a:ln/>
        </p:spPr>
      </p:sp>
      <p:pic>
        <p:nvPicPr>
          <p:cNvPr id="7" name="icon FaRulerCombined" descr="RulerCombined icon">    </p:cNvPr>
          <p:cNvPicPr>
            <a:picLocks noChangeAspect="1"/>
          </p:cNvPicPr>
          <p:nvPr/>
        </p:nvPicPr>
        <p:blipFill>
          <a:blip r:embed="rId1"/>
          <a:stretch>
            <a:fillRect/>
          </a:stretch>
        </p:blipFill>
        <p:spPr>
          <a:xfrm>
            <a:off x="930859" y="1936699"/>
            <a:ext cx="332842" cy="332842"/>
          </a:xfrm>
          <a:prstGeom prst="rect">
            <a:avLst/>
          </a:prstGeom>
        </p:spPr>
      </p:pic>
      <p:sp>
        <p:nvSpPr>
          <p:cNvPr id="8" name="Text 4"/>
          <p:cNvSpPr txBox="1"/>
          <p:nvPr/>
        </p:nvSpPr>
        <p:spPr>
          <a:xfrm>
            <a:off x="1554480" y="1783080"/>
            <a:ext cx="2377440" cy="640080"/>
          </a:xfrm>
          <a:prstGeom prst="rect">
            <a:avLst/>
          </a:prstGeom>
          <a:noFill/>
          <a:ln/>
        </p:spPr>
        <p:txBody>
          <a:bodyPr wrap="square" lIns="0" tIns="0" rIns="0" bIns="0" rtlCol="0" anchor="ctr"/>
          <a:lstStyle/>
          <a:p>
            <a:pPr indent="0" marL="0">
              <a:buNone/>
            </a:pPr>
            <a:r>
              <a:rPr lang="en-US" sz="1700" b="1" dirty="0">
                <a:solidFill>
                  <a:schemeClr val="tx2"/>
                </a:solidFill>
              </a:rPr>
              <a:t>1. Plan variables</a:t>
            </a:r>
            <a:endParaRPr lang="en-US" sz="1700" dirty="0"/>
          </a:p>
        </p:txBody>
      </p:sp>
      <p:sp>
        <p:nvSpPr>
          <p:cNvPr id="9" name="Text 5"/>
          <p:cNvSpPr txBox="1"/>
          <p:nvPr/>
        </p:nvSpPr>
        <p:spPr>
          <a:xfrm>
            <a:off x="777240" y="2560320"/>
            <a:ext cx="3108960" cy="1051560"/>
          </a:xfrm>
          <a:prstGeom prst="rect">
            <a:avLst/>
          </a:prstGeom>
          <a:noFill/>
          <a:ln/>
        </p:spPr>
        <p:txBody>
          <a:bodyPr wrap="square" lIns="0" tIns="0" rIns="0" bIns="0" rtlCol="0" anchor="t"/>
          <a:lstStyle/>
          <a:p>
            <a:pPr indent="0" marL="0">
              <a:buNone/>
            </a:pPr>
            <a:r>
              <a:rPr lang="en-US" sz="1400" dirty="0">
                <a:solidFill>
                  <a:schemeClr val="tx1"/>
                </a:solidFill>
              </a:rPr>
              <a:t>9 building and 11 bridge variables from plans and standards are enough to estimate cost.</a:t>
            </a:r>
            <a:endParaRPr lang="en-US" sz="1400" dirty="0"/>
          </a:p>
        </p:txBody>
      </p:sp>
      <p:sp>
        <p:nvSpPr>
          <p:cNvPr id="10" name="card"/>
          <p:cNvSpPr/>
          <p:nvPr/>
        </p:nvSpPr>
        <p:spPr>
          <a:xfrm>
            <a:off x="4297680" y="1554480"/>
            <a:ext cx="3520440" cy="2148840"/>
          </a:xfrm>
          <a:prstGeom prst="roundRect">
            <a:avLst>
              <a:gd name="adj" fmla="val 3404"/>
            </a:avLst>
          </a:prstGeom>
          <a:solidFill>
            <a:schemeClr val="bg2"/>
          </a:solidFill>
          <a:ln/>
        </p:spPr>
      </p:sp>
      <p:sp>
        <p:nvSpPr>
          <p:cNvPr id="11" name="icon circle"/>
          <p:cNvSpPr/>
          <p:nvPr/>
        </p:nvSpPr>
        <p:spPr>
          <a:xfrm>
            <a:off x="4526280" y="1783080"/>
            <a:ext cx="640080" cy="640080"/>
          </a:xfrm>
          <a:prstGeom prst="ellipse">
            <a:avLst/>
          </a:prstGeom>
          <a:solidFill>
            <a:schemeClr val="tx2"/>
          </a:solidFill>
          <a:ln/>
        </p:spPr>
      </p:sp>
      <p:pic>
        <p:nvPicPr>
          <p:cNvPr id="12" name="icon FaCompassDrafting" descr="CompassDrafting icon">    </p:cNvPr>
          <p:cNvPicPr>
            <a:picLocks noChangeAspect="1"/>
          </p:cNvPicPr>
          <p:nvPr/>
        </p:nvPicPr>
        <p:blipFill>
          <a:blip r:embed="rId2"/>
          <a:stretch>
            <a:fillRect/>
          </a:stretch>
        </p:blipFill>
        <p:spPr>
          <a:xfrm>
            <a:off x="4679899" y="1936699"/>
            <a:ext cx="332842" cy="332842"/>
          </a:xfrm>
          <a:prstGeom prst="rect">
            <a:avLst/>
          </a:prstGeom>
        </p:spPr>
      </p:pic>
      <p:sp>
        <p:nvSpPr>
          <p:cNvPr id="13" name="Text 8"/>
          <p:cNvSpPr txBox="1"/>
          <p:nvPr/>
        </p:nvSpPr>
        <p:spPr>
          <a:xfrm>
            <a:off x="5303520" y="1783080"/>
            <a:ext cx="2377440" cy="640080"/>
          </a:xfrm>
          <a:prstGeom prst="rect">
            <a:avLst/>
          </a:prstGeom>
          <a:noFill/>
          <a:ln/>
        </p:spPr>
        <p:txBody>
          <a:bodyPr wrap="square" lIns="0" tIns="0" rIns="0" bIns="0" rtlCol="0" anchor="ctr"/>
          <a:lstStyle/>
          <a:p>
            <a:pPr indent="0" marL="0">
              <a:buNone/>
            </a:pPr>
            <a:r>
              <a:rPr lang="en-US" sz="1700" b="1" dirty="0">
                <a:solidFill>
                  <a:schemeClr val="tx2"/>
                </a:solidFill>
              </a:rPr>
              <a:t>2. Design generation</a:t>
            </a:r>
            <a:endParaRPr lang="en-US" sz="1700" dirty="0"/>
          </a:p>
        </p:txBody>
      </p:sp>
      <p:sp>
        <p:nvSpPr>
          <p:cNvPr id="14" name="Text 9"/>
          <p:cNvSpPr txBox="1"/>
          <p:nvPr/>
        </p:nvSpPr>
        <p:spPr>
          <a:xfrm>
            <a:off x="4526280" y="2560320"/>
            <a:ext cx="3108960" cy="1051560"/>
          </a:xfrm>
          <a:prstGeom prst="rect">
            <a:avLst/>
          </a:prstGeom>
          <a:noFill/>
          <a:ln/>
        </p:spPr>
        <p:txBody>
          <a:bodyPr wrap="square" lIns="0" tIns="0" rIns="0" bIns="0" rtlCol="0" anchor="t"/>
          <a:lstStyle/>
          <a:p>
            <a:pPr indent="0" marL="0">
              <a:buNone/>
            </a:pPr>
            <a:r>
              <a:rPr lang="en-US" sz="1400" dirty="0">
                <a:solidFill>
                  <a:schemeClr val="tx1"/>
                </a:solidFill>
              </a:rPr>
              <a:t>55 modules → 54 templates; 152/152 checks; up to 10 more classrooms per budget with multi-storey.</a:t>
            </a:r>
            <a:endParaRPr lang="en-US" sz="1400" dirty="0"/>
          </a:p>
        </p:txBody>
      </p:sp>
      <p:sp>
        <p:nvSpPr>
          <p:cNvPr id="15" name="card"/>
          <p:cNvSpPr/>
          <p:nvPr/>
        </p:nvSpPr>
        <p:spPr>
          <a:xfrm>
            <a:off x="8046720" y="1554480"/>
            <a:ext cx="3520440" cy="2148840"/>
          </a:xfrm>
          <a:prstGeom prst="roundRect">
            <a:avLst>
              <a:gd name="adj" fmla="val 3404"/>
            </a:avLst>
          </a:prstGeom>
          <a:solidFill>
            <a:schemeClr val="bg2"/>
          </a:solidFill>
          <a:ln/>
        </p:spPr>
      </p:sp>
      <p:sp>
        <p:nvSpPr>
          <p:cNvPr id="16" name="icon circle"/>
          <p:cNvSpPr/>
          <p:nvPr/>
        </p:nvSpPr>
        <p:spPr>
          <a:xfrm>
            <a:off x="8275320" y="1783080"/>
            <a:ext cx="640080" cy="640080"/>
          </a:xfrm>
          <a:prstGeom prst="ellipse">
            <a:avLst/>
          </a:prstGeom>
          <a:solidFill>
            <a:schemeClr val="tx2"/>
          </a:solidFill>
          <a:ln/>
        </p:spPr>
      </p:sp>
      <p:pic>
        <p:nvPicPr>
          <p:cNvPr id="17" name="icon FaCalculator" descr="Calculator icon">    </p:cNvPr>
          <p:cNvPicPr>
            <a:picLocks noChangeAspect="1"/>
          </p:cNvPicPr>
          <p:nvPr/>
        </p:nvPicPr>
        <p:blipFill>
          <a:blip r:embed="rId3"/>
          <a:stretch>
            <a:fillRect/>
          </a:stretch>
        </p:blipFill>
        <p:spPr>
          <a:xfrm>
            <a:off x="8428939" y="1936699"/>
            <a:ext cx="332842" cy="332842"/>
          </a:xfrm>
          <a:prstGeom prst="rect">
            <a:avLst/>
          </a:prstGeom>
        </p:spPr>
      </p:pic>
      <p:sp>
        <p:nvSpPr>
          <p:cNvPr id="18" name="Text 12"/>
          <p:cNvSpPr txBox="1"/>
          <p:nvPr/>
        </p:nvSpPr>
        <p:spPr>
          <a:xfrm>
            <a:off x="9052560" y="1783080"/>
            <a:ext cx="2377440" cy="640080"/>
          </a:xfrm>
          <a:prstGeom prst="rect">
            <a:avLst/>
          </a:prstGeom>
          <a:noFill/>
          <a:ln/>
        </p:spPr>
        <p:txBody>
          <a:bodyPr wrap="square" lIns="0" tIns="0" rIns="0" bIns="0" rtlCol="0" anchor="ctr"/>
          <a:lstStyle/>
          <a:p>
            <a:pPr indent="0" marL="0">
              <a:buNone/>
            </a:pPr>
            <a:r>
              <a:rPr lang="en-US" sz="1700" b="1" dirty="0">
                <a:solidFill>
                  <a:schemeClr val="tx2"/>
                </a:solidFill>
              </a:rPr>
              <a:t>3. Standards engine</a:t>
            </a:r>
            <a:endParaRPr lang="en-US" sz="1700" dirty="0"/>
          </a:p>
        </p:txBody>
      </p:sp>
      <p:sp>
        <p:nvSpPr>
          <p:cNvPr id="19" name="Text 13"/>
          <p:cNvSpPr txBox="1"/>
          <p:nvPr/>
        </p:nvSpPr>
        <p:spPr>
          <a:xfrm>
            <a:off x="8275320" y="2560320"/>
            <a:ext cx="3108960" cy="1051560"/>
          </a:xfrm>
          <a:prstGeom prst="rect">
            <a:avLst/>
          </a:prstGeom>
          <a:noFill/>
          <a:ln/>
        </p:spPr>
        <p:txBody>
          <a:bodyPr wrap="square" lIns="0" tIns="0" rIns="0" bIns="0" rtlCol="0" anchor="t"/>
          <a:lstStyle/>
          <a:p>
            <a:pPr indent="0" marL="0">
              <a:buNone/>
            </a:pPr>
            <a:r>
              <a:rPr lang="en-US" sz="1400" dirty="0">
                <a:solidFill>
                  <a:schemeClr val="tx1"/>
                </a:solidFill>
              </a:rPr>
              <a:t>MAPE 5.21% (buildings) and 7.67% (bridges): less than half the ML error.</a:t>
            </a:r>
            <a:endParaRPr lang="en-US" sz="1400" dirty="0"/>
          </a:p>
        </p:txBody>
      </p:sp>
      <p:sp>
        <p:nvSpPr>
          <p:cNvPr id="20" name="card"/>
          <p:cNvSpPr/>
          <p:nvPr/>
        </p:nvSpPr>
        <p:spPr>
          <a:xfrm>
            <a:off x="548640" y="3931920"/>
            <a:ext cx="3520440" cy="2148840"/>
          </a:xfrm>
          <a:prstGeom prst="roundRect">
            <a:avLst>
              <a:gd name="adj" fmla="val 3404"/>
            </a:avLst>
          </a:prstGeom>
          <a:solidFill>
            <a:schemeClr val="bg2"/>
          </a:solidFill>
          <a:ln/>
        </p:spPr>
      </p:sp>
      <p:sp>
        <p:nvSpPr>
          <p:cNvPr id="21" name="icon circle"/>
          <p:cNvSpPr/>
          <p:nvPr/>
        </p:nvSpPr>
        <p:spPr>
          <a:xfrm>
            <a:off x="777240" y="4160520"/>
            <a:ext cx="640080" cy="640080"/>
          </a:xfrm>
          <a:prstGeom prst="ellipse">
            <a:avLst/>
          </a:prstGeom>
          <a:solidFill>
            <a:schemeClr val="tx2"/>
          </a:solidFill>
          <a:ln/>
        </p:spPr>
      </p:sp>
      <p:pic>
        <p:nvPicPr>
          <p:cNvPr id="22" name="icon FaChartLine" descr="ChartLine icon">    </p:cNvPr>
          <p:cNvPicPr>
            <a:picLocks noChangeAspect="1"/>
          </p:cNvPicPr>
          <p:nvPr/>
        </p:nvPicPr>
        <p:blipFill>
          <a:blip r:embed="rId4"/>
          <a:stretch>
            <a:fillRect/>
          </a:stretch>
        </p:blipFill>
        <p:spPr>
          <a:xfrm>
            <a:off x="930859" y="4314139"/>
            <a:ext cx="332842" cy="332842"/>
          </a:xfrm>
          <a:prstGeom prst="rect">
            <a:avLst/>
          </a:prstGeom>
        </p:spPr>
      </p:pic>
      <p:sp>
        <p:nvSpPr>
          <p:cNvPr id="23" name="Text 16"/>
          <p:cNvSpPr txBox="1"/>
          <p:nvPr/>
        </p:nvSpPr>
        <p:spPr>
          <a:xfrm>
            <a:off x="1554480" y="4160520"/>
            <a:ext cx="2377440" cy="640080"/>
          </a:xfrm>
          <a:prstGeom prst="rect">
            <a:avLst/>
          </a:prstGeom>
          <a:noFill/>
          <a:ln/>
        </p:spPr>
        <p:txBody>
          <a:bodyPr wrap="square" lIns="0" tIns="0" rIns="0" bIns="0" rtlCol="0" anchor="ctr"/>
          <a:lstStyle/>
          <a:p>
            <a:pPr indent="0" marL="0">
              <a:buNone/>
            </a:pPr>
            <a:r>
              <a:rPr lang="en-US" sz="1700" b="1" dirty="0">
                <a:solidFill>
                  <a:schemeClr val="tx2"/>
                </a:solidFill>
              </a:rPr>
              <a:t>4. ML models</a:t>
            </a:r>
            <a:endParaRPr lang="en-US" sz="1700" dirty="0"/>
          </a:p>
        </p:txBody>
      </p:sp>
      <p:sp>
        <p:nvSpPr>
          <p:cNvPr id="24" name="Text 17"/>
          <p:cNvSpPr txBox="1"/>
          <p:nvPr/>
        </p:nvSpPr>
        <p:spPr>
          <a:xfrm>
            <a:off x="777240" y="4937760"/>
            <a:ext cx="3108960" cy="1051560"/>
          </a:xfrm>
          <a:prstGeom prst="rect">
            <a:avLst/>
          </a:prstGeom>
          <a:noFill/>
          <a:ln/>
        </p:spPr>
        <p:txBody>
          <a:bodyPr wrap="square" lIns="0" tIns="0" rIns="0" bIns="0" rtlCol="0" anchor="t"/>
          <a:lstStyle/>
          <a:p>
            <a:pPr indent="0" marL="0">
              <a:buNone/>
            </a:pPr>
            <a:r>
              <a:rPr lang="en-US" sz="1400" dirty="0">
                <a:solidFill>
                  <a:schemeClr val="tx1"/>
                </a:solidFill>
              </a:rPr>
              <a:t>MLR suffices for buildings (13.43%); XGBoost needed for bridges (19.18% vs. 65.65%).</a:t>
            </a:r>
            <a:endParaRPr lang="en-US" sz="1400" dirty="0"/>
          </a:p>
        </p:txBody>
      </p:sp>
      <p:sp>
        <p:nvSpPr>
          <p:cNvPr id="25" name="card"/>
          <p:cNvSpPr/>
          <p:nvPr/>
        </p:nvSpPr>
        <p:spPr>
          <a:xfrm>
            <a:off x="4297680" y="3931920"/>
            <a:ext cx="3520440" cy="2148840"/>
          </a:xfrm>
          <a:prstGeom prst="roundRect">
            <a:avLst>
              <a:gd name="adj" fmla="val 3404"/>
            </a:avLst>
          </a:prstGeom>
          <a:solidFill>
            <a:schemeClr val="bg2"/>
          </a:solidFill>
          <a:ln/>
        </p:spPr>
      </p:sp>
      <p:sp>
        <p:nvSpPr>
          <p:cNvPr id="26" name="icon circle"/>
          <p:cNvSpPr/>
          <p:nvPr/>
        </p:nvSpPr>
        <p:spPr>
          <a:xfrm>
            <a:off x="4526280" y="4160520"/>
            <a:ext cx="640080" cy="640080"/>
          </a:xfrm>
          <a:prstGeom prst="ellipse">
            <a:avLst/>
          </a:prstGeom>
          <a:solidFill>
            <a:schemeClr val="tx2"/>
          </a:solidFill>
          <a:ln/>
        </p:spPr>
      </p:sp>
      <p:pic>
        <p:nvPicPr>
          <p:cNvPr id="27" name="icon FaMagnifyingGlassDollar" descr="MagnifyingGlassDollar icon">    </p:cNvPr>
          <p:cNvPicPr>
            <a:picLocks noChangeAspect="1"/>
          </p:cNvPicPr>
          <p:nvPr/>
        </p:nvPicPr>
        <p:blipFill>
          <a:blip r:embed="rId5"/>
          <a:stretch>
            <a:fillRect/>
          </a:stretch>
        </p:blipFill>
        <p:spPr>
          <a:xfrm>
            <a:off x="4679899" y="4314139"/>
            <a:ext cx="332842" cy="332842"/>
          </a:xfrm>
          <a:prstGeom prst="rect">
            <a:avLst/>
          </a:prstGeom>
        </p:spPr>
      </p:pic>
      <p:sp>
        <p:nvSpPr>
          <p:cNvPr id="28" name="Text 20"/>
          <p:cNvSpPr txBox="1"/>
          <p:nvPr/>
        </p:nvSpPr>
        <p:spPr>
          <a:xfrm>
            <a:off x="5303520" y="4160520"/>
            <a:ext cx="2377440" cy="640080"/>
          </a:xfrm>
          <a:prstGeom prst="rect">
            <a:avLst/>
          </a:prstGeom>
          <a:noFill/>
          <a:ln/>
        </p:spPr>
        <p:txBody>
          <a:bodyPr wrap="square" lIns="0" tIns="0" rIns="0" bIns="0" rtlCol="0" anchor="ctr"/>
          <a:lstStyle/>
          <a:p>
            <a:pPr indent="0" marL="0">
              <a:buNone/>
            </a:pPr>
            <a:r>
              <a:rPr lang="en-US" sz="1700" b="1" dirty="0">
                <a:solidFill>
                  <a:schemeClr val="tx2"/>
                </a:solidFill>
              </a:rPr>
              <a:t>5. Detection</a:t>
            </a:r>
            <a:endParaRPr lang="en-US" sz="1700" dirty="0"/>
          </a:p>
        </p:txBody>
      </p:sp>
      <p:sp>
        <p:nvSpPr>
          <p:cNvPr id="29" name="Text 21"/>
          <p:cNvSpPr txBox="1"/>
          <p:nvPr/>
        </p:nvSpPr>
        <p:spPr>
          <a:xfrm>
            <a:off x="4526280" y="4937760"/>
            <a:ext cx="3108960" cy="1051560"/>
          </a:xfrm>
          <a:prstGeom prst="rect">
            <a:avLst/>
          </a:prstGeom>
          <a:noFill/>
          <a:ln/>
        </p:spPr>
        <p:txBody>
          <a:bodyPr wrap="square" lIns="0" tIns="0" rIns="0" bIns="0" rtlCol="0" anchor="t"/>
          <a:lstStyle/>
          <a:p>
            <a:pPr indent="0" marL="0">
              <a:buNone/>
            </a:pPr>
            <a:r>
              <a:rPr lang="en-US" sz="1400" dirty="0">
                <a:solidFill>
                  <a:schemeClr val="tx1"/>
                </a:solidFill>
              </a:rPr>
              <a:t>Risk Index recall 94.4%, AUC 0.987 vs. 27.8% for Isolation Forest alone.</a:t>
            </a:r>
            <a:endParaRPr lang="en-US" sz="1400" dirty="0"/>
          </a:p>
        </p:txBody>
      </p:sp>
      <p:sp>
        <p:nvSpPr>
          <p:cNvPr id="30" name="card"/>
          <p:cNvSpPr/>
          <p:nvPr/>
        </p:nvSpPr>
        <p:spPr>
          <a:xfrm>
            <a:off x="8046720" y="3931920"/>
            <a:ext cx="3520440" cy="2148840"/>
          </a:xfrm>
          <a:prstGeom prst="roundRect">
            <a:avLst>
              <a:gd name="adj" fmla="val 3404"/>
            </a:avLst>
          </a:prstGeom>
          <a:solidFill>
            <a:schemeClr val="bg2"/>
          </a:solidFill>
          <a:ln/>
        </p:spPr>
      </p:sp>
      <p:sp>
        <p:nvSpPr>
          <p:cNvPr id="31" name="icon circle"/>
          <p:cNvSpPr/>
          <p:nvPr/>
        </p:nvSpPr>
        <p:spPr>
          <a:xfrm>
            <a:off x="8275320" y="4160520"/>
            <a:ext cx="640080" cy="640080"/>
          </a:xfrm>
          <a:prstGeom prst="ellipse">
            <a:avLst/>
          </a:prstGeom>
          <a:solidFill>
            <a:schemeClr val="tx2"/>
          </a:solidFill>
          <a:ln/>
        </p:spPr>
      </p:sp>
      <p:pic>
        <p:nvPicPr>
          <p:cNvPr id="32" name="icon FaMobileScreen" descr="MobileScreen icon">    </p:cNvPr>
          <p:cNvPicPr>
            <a:picLocks noChangeAspect="1"/>
          </p:cNvPicPr>
          <p:nvPr/>
        </p:nvPicPr>
        <p:blipFill>
          <a:blip r:embed="rId6"/>
          <a:stretch>
            <a:fillRect/>
          </a:stretch>
        </p:blipFill>
        <p:spPr>
          <a:xfrm>
            <a:off x="8428939" y="4314139"/>
            <a:ext cx="332842" cy="332842"/>
          </a:xfrm>
          <a:prstGeom prst="rect">
            <a:avLst/>
          </a:prstGeom>
        </p:spPr>
      </p:pic>
      <p:sp>
        <p:nvSpPr>
          <p:cNvPr id="33" name="Text 24"/>
          <p:cNvSpPr txBox="1"/>
          <p:nvPr/>
        </p:nvSpPr>
        <p:spPr>
          <a:xfrm>
            <a:off x="9052560" y="4160520"/>
            <a:ext cx="2377440" cy="640080"/>
          </a:xfrm>
          <a:prstGeom prst="rect">
            <a:avLst/>
          </a:prstGeom>
          <a:noFill/>
          <a:ln/>
        </p:spPr>
        <p:txBody>
          <a:bodyPr wrap="square" lIns="0" tIns="0" rIns="0" bIns="0" rtlCol="0" anchor="ctr"/>
          <a:lstStyle/>
          <a:p>
            <a:pPr indent="0" marL="0">
              <a:buNone/>
            </a:pPr>
            <a:r>
              <a:rPr lang="en-US" sz="1700" b="1" dirty="0">
                <a:solidFill>
                  <a:schemeClr val="tx2"/>
                </a:solidFill>
              </a:rPr>
              <a:t>6. Deployment</a:t>
            </a:r>
            <a:endParaRPr lang="en-US" sz="1700" dirty="0"/>
          </a:p>
        </p:txBody>
      </p:sp>
      <p:sp>
        <p:nvSpPr>
          <p:cNvPr id="34" name="Text 25"/>
          <p:cNvSpPr txBox="1"/>
          <p:nvPr/>
        </p:nvSpPr>
        <p:spPr>
          <a:xfrm>
            <a:off x="8275320" y="4937760"/>
            <a:ext cx="3108960" cy="1051560"/>
          </a:xfrm>
          <a:prstGeom prst="rect">
            <a:avLst/>
          </a:prstGeom>
          <a:noFill/>
          <a:ln/>
        </p:spPr>
        <p:txBody>
          <a:bodyPr wrap="square" lIns="0" tIns="0" rIns="0" bIns="0" rtlCol="0" anchor="t"/>
          <a:lstStyle/>
          <a:p>
            <a:pPr indent="0" marL="0">
              <a:buNone/>
            </a:pPr>
            <a:r>
              <a:rPr lang="en-US" sz="1400" dirty="0">
                <a:solidFill>
                  <a:schemeClr val="tx1"/>
                </a:solidFill>
              </a:rPr>
              <a:t>Offline app with design studio, Android package and download website.</a:t>
            </a:r>
            <a:endParaRPr lang="en-US" sz="1400" dirty="0"/>
          </a:p>
        </p:txBody>
      </p:sp>
      <p:sp>
        <p:nvSpPr>
          <p:cNvPr id="25" name="Slide Number Placeholder 0"/>
          <p:cNvSpPr>
            <a:spLocks noGrp="1"/>
          </p:cNvSpPr>
          <p:nvPr>
            <p:ph type="sldNum" sz="quarter" idx="4294967295"/>
          </p:nvPr>
        </p:nvSpPr>
        <p:spPr>
          <a:xfrm>
            <a:off x="11064240" y="642823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A8C"/>
                </a:solidFill>
              </a:defRPr>
            </a:lvl1pPr>
          </a:lstStyle>
          <a:p>
            <a:pPr algn="r"/>
            <a:fld id="{F7021451-1387-4CA6-816F-3879F97B5CBC}" type="slidenum">
              <a:rPr b="0"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ph idx="100" type="body" hasCustomPrompt="1"/>
          </p:nvPr>
        </p:nvSpPr>
        <p:spPr>
          <a:xfrm>
            <a:off x="548640" y="256032"/>
            <a:ext cx="8229600" cy="292608"/>
          </a:xfrm>
          <a:prstGeom prst="rect">
            <a:avLst/>
          </a:prstGeom>
          <a:noFill/>
          <a:ln/>
        </p:spPr>
        <p:txBody>
          <a:bodyPr wrap="square" lIns="0" tIns="0" rIns="0" bIns="0" rtlCol="0"/>
          <a:lstStyle/>
          <a:p>
            <a:pPr indent="0" marL="0">
              <a:buNone/>
            </a:pPr>
            <a:r>
              <a:rPr lang="en-US" sz="1200" b="1" spc="200" kern="0" dirty="0">
                <a:solidFill>
                  <a:schemeClr val="accent5"/>
                </a:solidFill>
              </a:rPr>
              <a:t>RECOMMENDATIONS</a:t>
            </a:r>
            <a:endParaRPr lang="en-US" sz="1200" dirty="0"/>
          </a:p>
        </p:txBody>
      </p:sp>
      <p:sp>
        <p:nvSpPr>
          <p:cNvPr id="3" name="Text 0"/>
          <p:cNvSpPr/>
          <p:nvPr>
            <p:ph idx="101" type="title" hasCustomPrompt="1"/>
          </p:nvPr>
        </p:nvSpPr>
        <p:spPr>
          <a:xfrm>
            <a:off x="548640" y="530352"/>
            <a:ext cx="11064240" cy="731520"/>
          </a:xfrm>
          <a:prstGeom prst="rect">
            <a:avLst/>
          </a:prstGeom>
          <a:noFill/>
          <a:ln/>
        </p:spPr>
        <p:txBody>
          <a:bodyPr wrap="square" lIns="0" tIns="0" rIns="0" bIns="0" rtlCol="0" anchor="ctr"/>
          <a:lstStyle/>
          <a:p>
            <a:pPr algn="l" indent="0" marL="0">
              <a:buNone/>
            </a:pPr>
            <a:r>
              <a:rPr lang="en-US" sz="3200" b="1" dirty="0">
                <a:solidFill>
                  <a:schemeClr val="tx2"/>
                </a:solidFill>
                <a:latin typeface="Cambria" pitchFamily="34" charset="0"/>
                <a:ea typeface="Cambria" pitchFamily="34" charset="-122"/>
                <a:cs typeface="Cambria" pitchFamily="34" charset="-120"/>
              </a:rPr>
              <a:t>What to Do Next</a:t>
            </a:r>
            <a:endParaRPr lang="en-US" sz="3200" dirty="0"/>
          </a:p>
        </p:txBody>
      </p:sp>
      <p:sp>
        <p:nvSpPr>
          <p:cNvPr id="5" name="card"/>
          <p:cNvSpPr/>
          <p:nvPr/>
        </p:nvSpPr>
        <p:spPr>
          <a:xfrm>
            <a:off x="548640" y="1508760"/>
            <a:ext cx="5422392" cy="1051560"/>
          </a:xfrm>
          <a:prstGeom prst="roundRect">
            <a:avLst>
              <a:gd name="adj" fmla="val 6957"/>
            </a:avLst>
          </a:prstGeom>
          <a:solidFill>
            <a:schemeClr val="bg2"/>
          </a:solidFill>
          <a:ln/>
        </p:spPr>
      </p:sp>
      <p:sp>
        <p:nvSpPr>
          <p:cNvPr id="6" name="Text 3"/>
          <p:cNvSpPr txBox="1"/>
          <p:nvPr/>
        </p:nvSpPr>
        <p:spPr>
          <a:xfrm>
            <a:off x="731520" y="1600200"/>
            <a:ext cx="548640" cy="868680"/>
          </a:xfrm>
          <a:prstGeom prst="rect">
            <a:avLst/>
          </a:prstGeom>
          <a:noFill/>
          <a:ln/>
        </p:spPr>
        <p:txBody>
          <a:bodyPr wrap="square" lIns="0" tIns="0" rIns="0" bIns="0" rtlCol="0" anchor="ctr"/>
          <a:lstStyle/>
          <a:p>
            <a:pPr indent="0" marL="0">
              <a:buNone/>
            </a:pPr>
            <a:r>
              <a:rPr lang="en-US" sz="3000" b="1" dirty="0">
                <a:solidFill>
                  <a:schemeClr val="accent1"/>
                </a:solidFill>
                <a:latin typeface="Cambria" pitchFamily="34" charset="0"/>
                <a:ea typeface="Cambria" pitchFamily="34" charset="-122"/>
                <a:cs typeface="Cambria" pitchFamily="34" charset="-120"/>
              </a:rPr>
              <a:t>1</a:t>
            </a:r>
            <a:endParaRPr lang="en-US" sz="3000" dirty="0"/>
          </a:p>
        </p:txBody>
      </p:sp>
      <p:sp>
        <p:nvSpPr>
          <p:cNvPr id="7" name="Text 4"/>
          <p:cNvSpPr txBox="1"/>
          <p:nvPr/>
        </p:nvSpPr>
        <p:spPr>
          <a:xfrm>
            <a:off x="1371600" y="1618488"/>
            <a:ext cx="4434840" cy="411480"/>
          </a:xfrm>
          <a:prstGeom prst="rect">
            <a:avLst/>
          </a:prstGeom>
          <a:noFill/>
          <a:ln/>
        </p:spPr>
        <p:txBody>
          <a:bodyPr wrap="square" lIns="0" tIns="0" rIns="0" bIns="0" rtlCol="0" anchor="t"/>
          <a:lstStyle/>
          <a:p>
            <a:pPr indent="0" marL="0">
              <a:buNone/>
            </a:pPr>
            <a:r>
              <a:rPr lang="en-US" sz="1600" b="1" dirty="0">
                <a:solidFill>
                  <a:schemeClr val="tx2"/>
                </a:solidFill>
              </a:rPr>
              <a:t>Validate on actual contracts</a:t>
            </a:r>
            <a:endParaRPr lang="en-US" sz="1600" dirty="0"/>
          </a:p>
        </p:txBody>
      </p:sp>
      <p:sp>
        <p:nvSpPr>
          <p:cNvPr id="8" name="Text 5"/>
          <p:cNvSpPr txBox="1"/>
          <p:nvPr/>
        </p:nvSpPr>
        <p:spPr>
          <a:xfrm>
            <a:off x="1371600" y="2029968"/>
            <a:ext cx="4434840" cy="411480"/>
          </a:xfrm>
          <a:prstGeom prst="rect">
            <a:avLst/>
          </a:prstGeom>
          <a:noFill/>
          <a:ln/>
        </p:spPr>
        <p:txBody>
          <a:bodyPr wrap="square" lIns="0" tIns="0" rIns="0" bIns="0" rtlCol="0" anchor="t"/>
          <a:lstStyle/>
          <a:p>
            <a:pPr indent="0" marL="0">
              <a:buNone/>
            </a:pPr>
            <a:r>
              <a:rPr lang="en-US" sz="1400" dirty="0">
                <a:solidFill>
                  <a:schemeClr val="tx1"/>
                </a:solidFill>
              </a:rPr>
              <a:t>Itemized DPWH, PhilGEPS and COA records</a:t>
            </a:r>
            <a:endParaRPr lang="en-US" sz="1400" dirty="0"/>
          </a:p>
        </p:txBody>
      </p:sp>
      <p:sp>
        <p:nvSpPr>
          <p:cNvPr id="9" name="card"/>
          <p:cNvSpPr/>
          <p:nvPr/>
        </p:nvSpPr>
        <p:spPr>
          <a:xfrm>
            <a:off x="6217920" y="1508760"/>
            <a:ext cx="5422392" cy="1051560"/>
          </a:xfrm>
          <a:prstGeom prst="roundRect">
            <a:avLst>
              <a:gd name="adj" fmla="val 6957"/>
            </a:avLst>
          </a:prstGeom>
          <a:solidFill>
            <a:schemeClr val="bg2"/>
          </a:solidFill>
          <a:ln/>
        </p:spPr>
      </p:sp>
      <p:sp>
        <p:nvSpPr>
          <p:cNvPr id="10" name="Text 7"/>
          <p:cNvSpPr txBox="1"/>
          <p:nvPr/>
        </p:nvSpPr>
        <p:spPr>
          <a:xfrm>
            <a:off x="6400800" y="1600200"/>
            <a:ext cx="548640" cy="868680"/>
          </a:xfrm>
          <a:prstGeom prst="rect">
            <a:avLst/>
          </a:prstGeom>
          <a:noFill/>
          <a:ln/>
        </p:spPr>
        <p:txBody>
          <a:bodyPr wrap="square" lIns="0" tIns="0" rIns="0" bIns="0" rtlCol="0" anchor="ctr"/>
          <a:lstStyle/>
          <a:p>
            <a:pPr indent="0" marL="0">
              <a:buNone/>
            </a:pPr>
            <a:r>
              <a:rPr lang="en-US" sz="3000" b="1" dirty="0">
                <a:solidFill>
                  <a:schemeClr val="accent1"/>
                </a:solidFill>
                <a:latin typeface="Cambria" pitchFamily="34" charset="0"/>
                <a:ea typeface="Cambria" pitchFamily="34" charset="-122"/>
                <a:cs typeface="Cambria" pitchFamily="34" charset="-120"/>
              </a:rPr>
              <a:t>2</a:t>
            </a:r>
            <a:endParaRPr lang="en-US" sz="3000" dirty="0"/>
          </a:p>
        </p:txBody>
      </p:sp>
      <p:sp>
        <p:nvSpPr>
          <p:cNvPr id="11" name="Text 8"/>
          <p:cNvSpPr txBox="1"/>
          <p:nvPr/>
        </p:nvSpPr>
        <p:spPr>
          <a:xfrm>
            <a:off x="7040880" y="1618488"/>
            <a:ext cx="4434840" cy="411480"/>
          </a:xfrm>
          <a:prstGeom prst="rect">
            <a:avLst/>
          </a:prstGeom>
          <a:noFill/>
          <a:ln/>
        </p:spPr>
        <p:txBody>
          <a:bodyPr wrap="square" lIns="0" tIns="0" rIns="0" bIns="0" rtlCol="0" anchor="t"/>
          <a:lstStyle/>
          <a:p>
            <a:pPr indent="0" marL="0">
              <a:buNone/>
            </a:pPr>
            <a:r>
              <a:rPr lang="en-US" sz="1600" b="1" dirty="0">
                <a:solidFill>
                  <a:schemeClr val="tx2"/>
                </a:solidFill>
              </a:rPr>
              <a:t>Review templates with licensed professionals</a:t>
            </a:r>
            <a:endParaRPr lang="en-US" sz="1600" dirty="0"/>
          </a:p>
        </p:txBody>
      </p:sp>
      <p:sp>
        <p:nvSpPr>
          <p:cNvPr id="12" name="Text 9"/>
          <p:cNvSpPr txBox="1"/>
          <p:nvPr/>
        </p:nvSpPr>
        <p:spPr>
          <a:xfrm>
            <a:off x="7040880" y="2029968"/>
            <a:ext cx="4434840" cy="411480"/>
          </a:xfrm>
          <a:prstGeom prst="rect">
            <a:avLst/>
          </a:prstGeom>
          <a:noFill/>
          <a:ln/>
        </p:spPr>
        <p:txBody>
          <a:bodyPr wrap="square" lIns="0" tIns="0" rIns="0" bIns="0" rtlCol="0" anchor="t"/>
          <a:lstStyle/>
          <a:p>
            <a:pPr indent="0" marL="0">
              <a:buNone/>
            </a:pPr>
            <a:r>
              <a:rPr lang="en-US" sz="1400" dirty="0">
                <a:solidFill>
                  <a:schemeClr val="tx1"/>
                </a:solidFill>
              </a:rPr>
              <a:t>Architects and engineers refine modules and add site inputs</a:t>
            </a:r>
            <a:endParaRPr lang="en-US" sz="1400" dirty="0"/>
          </a:p>
        </p:txBody>
      </p:sp>
      <p:sp>
        <p:nvSpPr>
          <p:cNvPr id="13" name="card"/>
          <p:cNvSpPr/>
          <p:nvPr/>
        </p:nvSpPr>
        <p:spPr>
          <a:xfrm>
            <a:off x="548640" y="2697480"/>
            <a:ext cx="5422392" cy="1051560"/>
          </a:xfrm>
          <a:prstGeom prst="roundRect">
            <a:avLst>
              <a:gd name="adj" fmla="val 6957"/>
            </a:avLst>
          </a:prstGeom>
          <a:solidFill>
            <a:schemeClr val="bg2"/>
          </a:solidFill>
          <a:ln/>
        </p:spPr>
      </p:sp>
      <p:sp>
        <p:nvSpPr>
          <p:cNvPr id="14" name="Text 11"/>
          <p:cNvSpPr txBox="1"/>
          <p:nvPr/>
        </p:nvSpPr>
        <p:spPr>
          <a:xfrm>
            <a:off x="731520" y="2788920"/>
            <a:ext cx="548640" cy="868680"/>
          </a:xfrm>
          <a:prstGeom prst="rect">
            <a:avLst/>
          </a:prstGeom>
          <a:noFill/>
          <a:ln/>
        </p:spPr>
        <p:txBody>
          <a:bodyPr wrap="square" lIns="0" tIns="0" rIns="0" bIns="0" rtlCol="0" anchor="ctr"/>
          <a:lstStyle/>
          <a:p>
            <a:pPr indent="0" marL="0">
              <a:buNone/>
            </a:pPr>
            <a:r>
              <a:rPr lang="en-US" sz="3000" b="1" dirty="0">
                <a:solidFill>
                  <a:schemeClr val="accent1"/>
                </a:solidFill>
                <a:latin typeface="Cambria" pitchFamily="34" charset="0"/>
                <a:ea typeface="Cambria" pitchFamily="34" charset="-122"/>
                <a:cs typeface="Cambria" pitchFamily="34" charset="-120"/>
              </a:rPr>
              <a:t>3</a:t>
            </a:r>
            <a:endParaRPr lang="en-US" sz="3000" dirty="0"/>
          </a:p>
        </p:txBody>
      </p:sp>
      <p:sp>
        <p:nvSpPr>
          <p:cNvPr id="15" name="Text 12"/>
          <p:cNvSpPr txBox="1"/>
          <p:nvPr/>
        </p:nvSpPr>
        <p:spPr>
          <a:xfrm>
            <a:off x="1371600" y="2807208"/>
            <a:ext cx="4434840" cy="411480"/>
          </a:xfrm>
          <a:prstGeom prst="rect">
            <a:avLst/>
          </a:prstGeom>
          <a:noFill/>
          <a:ln/>
        </p:spPr>
        <p:txBody>
          <a:bodyPr wrap="square" lIns="0" tIns="0" rIns="0" bIns="0" rtlCol="0" anchor="t"/>
          <a:lstStyle/>
          <a:p>
            <a:pPr indent="0" marL="0">
              <a:buNone/>
            </a:pPr>
            <a:r>
              <a:rPr lang="en-US" sz="1600" b="1" dirty="0">
                <a:solidFill>
                  <a:schemeClr val="tx2"/>
                </a:solidFill>
              </a:rPr>
              <a:t>Add geotechnical data for bridges</a:t>
            </a:r>
            <a:endParaRPr lang="en-US" sz="1600" dirty="0"/>
          </a:p>
        </p:txBody>
      </p:sp>
      <p:sp>
        <p:nvSpPr>
          <p:cNvPr id="16" name="Text 13"/>
          <p:cNvSpPr txBox="1"/>
          <p:nvPr/>
        </p:nvSpPr>
        <p:spPr>
          <a:xfrm>
            <a:off x="1371600" y="3218688"/>
            <a:ext cx="4434840" cy="411480"/>
          </a:xfrm>
          <a:prstGeom prst="rect">
            <a:avLst/>
          </a:prstGeom>
          <a:noFill/>
          <a:ln/>
        </p:spPr>
        <p:txBody>
          <a:bodyPr wrap="square" lIns="0" tIns="0" rIns="0" bIns="0" rtlCol="0" anchor="t"/>
          <a:lstStyle/>
          <a:p>
            <a:pPr indent="0" marL="0">
              <a:buNone/>
            </a:pPr>
            <a:r>
              <a:rPr lang="en-US" sz="1400" dirty="0">
                <a:solidFill>
                  <a:schemeClr val="tx1"/>
                </a:solidFill>
              </a:rPr>
              <a:t>Boring logs to cut false alarms from pile lengths</a:t>
            </a:r>
            <a:endParaRPr lang="en-US" sz="1400" dirty="0"/>
          </a:p>
        </p:txBody>
      </p:sp>
      <p:sp>
        <p:nvSpPr>
          <p:cNvPr id="17" name="card"/>
          <p:cNvSpPr/>
          <p:nvPr/>
        </p:nvSpPr>
        <p:spPr>
          <a:xfrm>
            <a:off x="6217920" y="2697480"/>
            <a:ext cx="5422392" cy="1051560"/>
          </a:xfrm>
          <a:prstGeom prst="roundRect">
            <a:avLst>
              <a:gd name="adj" fmla="val 6957"/>
            </a:avLst>
          </a:prstGeom>
          <a:solidFill>
            <a:schemeClr val="bg2"/>
          </a:solidFill>
          <a:ln/>
        </p:spPr>
      </p:sp>
      <p:sp>
        <p:nvSpPr>
          <p:cNvPr id="18" name="Text 15"/>
          <p:cNvSpPr txBox="1"/>
          <p:nvPr/>
        </p:nvSpPr>
        <p:spPr>
          <a:xfrm>
            <a:off x="6400800" y="2788920"/>
            <a:ext cx="548640" cy="868680"/>
          </a:xfrm>
          <a:prstGeom prst="rect">
            <a:avLst/>
          </a:prstGeom>
          <a:noFill/>
          <a:ln/>
        </p:spPr>
        <p:txBody>
          <a:bodyPr wrap="square" lIns="0" tIns="0" rIns="0" bIns="0" rtlCol="0" anchor="ctr"/>
          <a:lstStyle/>
          <a:p>
            <a:pPr indent="0" marL="0">
              <a:buNone/>
            </a:pPr>
            <a:r>
              <a:rPr lang="en-US" sz="3000" b="1" dirty="0">
                <a:solidFill>
                  <a:schemeClr val="accent1"/>
                </a:solidFill>
                <a:latin typeface="Cambria" pitchFamily="34" charset="0"/>
                <a:ea typeface="Cambria" pitchFamily="34" charset="-122"/>
                <a:cs typeface="Cambria" pitchFamily="34" charset="-120"/>
              </a:rPr>
              <a:t>4</a:t>
            </a:r>
            <a:endParaRPr lang="en-US" sz="3000" dirty="0"/>
          </a:p>
        </p:txBody>
      </p:sp>
      <p:sp>
        <p:nvSpPr>
          <p:cNvPr id="19" name="Text 16"/>
          <p:cNvSpPr txBox="1"/>
          <p:nvPr/>
        </p:nvSpPr>
        <p:spPr>
          <a:xfrm>
            <a:off x="7040880" y="2807208"/>
            <a:ext cx="4434840" cy="411480"/>
          </a:xfrm>
          <a:prstGeom prst="rect">
            <a:avLst/>
          </a:prstGeom>
          <a:noFill/>
          <a:ln/>
        </p:spPr>
        <p:txBody>
          <a:bodyPr wrap="square" lIns="0" tIns="0" rIns="0" bIns="0" rtlCol="0" anchor="t"/>
          <a:lstStyle/>
          <a:p>
            <a:pPr indent="0" marL="0">
              <a:buNone/>
            </a:pPr>
            <a:r>
              <a:rPr lang="en-US" sz="1600" b="1" dirty="0">
                <a:solidFill>
                  <a:schemeClr val="tx2"/>
                </a:solidFill>
              </a:rPr>
              <a:t>Connect current price data</a:t>
            </a:r>
            <a:endParaRPr lang="en-US" sz="1600" dirty="0"/>
          </a:p>
        </p:txBody>
      </p:sp>
      <p:sp>
        <p:nvSpPr>
          <p:cNvPr id="20" name="Text 17"/>
          <p:cNvSpPr txBox="1"/>
          <p:nvPr/>
        </p:nvSpPr>
        <p:spPr>
          <a:xfrm>
            <a:off x="7040880" y="3218688"/>
            <a:ext cx="4434840" cy="411480"/>
          </a:xfrm>
          <a:prstGeom prst="rect">
            <a:avLst/>
          </a:prstGeom>
          <a:noFill/>
          <a:ln/>
        </p:spPr>
        <p:txBody>
          <a:bodyPr wrap="square" lIns="0" tIns="0" rIns="0" bIns="0" rtlCol="0" anchor="t"/>
          <a:lstStyle/>
          <a:p>
            <a:pPr indent="0" marL="0">
              <a:buNone/>
            </a:pPr>
            <a:r>
              <a:rPr lang="en-US" sz="1400" dirty="0">
                <a:solidFill>
                  <a:schemeClr val="tx1"/>
                </a:solidFill>
              </a:rPr>
              <a:t>DPWH unit costs and PSA construction indices</a:t>
            </a:r>
            <a:endParaRPr lang="en-US" sz="1400" dirty="0"/>
          </a:p>
        </p:txBody>
      </p:sp>
      <p:sp>
        <p:nvSpPr>
          <p:cNvPr id="21" name="card"/>
          <p:cNvSpPr/>
          <p:nvPr/>
        </p:nvSpPr>
        <p:spPr>
          <a:xfrm>
            <a:off x="548640" y="3886200"/>
            <a:ext cx="5422392" cy="1051560"/>
          </a:xfrm>
          <a:prstGeom prst="roundRect">
            <a:avLst>
              <a:gd name="adj" fmla="val 6957"/>
            </a:avLst>
          </a:prstGeom>
          <a:solidFill>
            <a:schemeClr val="bg2"/>
          </a:solidFill>
          <a:ln/>
        </p:spPr>
      </p:sp>
      <p:sp>
        <p:nvSpPr>
          <p:cNvPr id="22" name="Text 19"/>
          <p:cNvSpPr txBox="1"/>
          <p:nvPr/>
        </p:nvSpPr>
        <p:spPr>
          <a:xfrm>
            <a:off x="731520" y="3977640"/>
            <a:ext cx="548640" cy="868680"/>
          </a:xfrm>
          <a:prstGeom prst="rect">
            <a:avLst/>
          </a:prstGeom>
          <a:noFill/>
          <a:ln/>
        </p:spPr>
        <p:txBody>
          <a:bodyPr wrap="square" lIns="0" tIns="0" rIns="0" bIns="0" rtlCol="0" anchor="ctr"/>
          <a:lstStyle/>
          <a:p>
            <a:pPr indent="0" marL="0">
              <a:buNone/>
            </a:pPr>
            <a:r>
              <a:rPr lang="en-US" sz="3000" b="1" dirty="0">
                <a:solidFill>
                  <a:schemeClr val="accent1"/>
                </a:solidFill>
                <a:latin typeface="Cambria" pitchFamily="34" charset="0"/>
                <a:ea typeface="Cambria" pitchFamily="34" charset="-122"/>
                <a:cs typeface="Cambria" pitchFamily="34" charset="-120"/>
              </a:rPr>
              <a:t>5</a:t>
            </a:r>
            <a:endParaRPr lang="en-US" sz="3000" dirty="0"/>
          </a:p>
        </p:txBody>
      </p:sp>
      <p:sp>
        <p:nvSpPr>
          <p:cNvPr id="23" name="Text 20"/>
          <p:cNvSpPr txBox="1"/>
          <p:nvPr/>
        </p:nvSpPr>
        <p:spPr>
          <a:xfrm>
            <a:off x="1371600" y="3995928"/>
            <a:ext cx="4434840" cy="411480"/>
          </a:xfrm>
          <a:prstGeom prst="rect">
            <a:avLst/>
          </a:prstGeom>
          <a:noFill/>
          <a:ln/>
        </p:spPr>
        <p:txBody>
          <a:bodyPr wrap="square" lIns="0" tIns="0" rIns="0" bIns="0" rtlCol="0" anchor="t"/>
          <a:lstStyle/>
          <a:p>
            <a:pPr indent="0" marL="0">
              <a:buNone/>
            </a:pPr>
            <a:r>
              <a:rPr lang="en-US" sz="1600" b="1" dirty="0">
                <a:solidFill>
                  <a:schemeClr val="tx2"/>
                </a:solidFill>
              </a:rPr>
              <a:t>Calibrate thresholds by asset class</a:t>
            </a:r>
            <a:endParaRPr lang="en-US" sz="1600" dirty="0"/>
          </a:p>
        </p:txBody>
      </p:sp>
      <p:sp>
        <p:nvSpPr>
          <p:cNvPr id="24" name="Text 21"/>
          <p:cNvSpPr txBox="1"/>
          <p:nvPr/>
        </p:nvSpPr>
        <p:spPr>
          <a:xfrm>
            <a:off x="1371600" y="4407408"/>
            <a:ext cx="4434840" cy="411480"/>
          </a:xfrm>
          <a:prstGeom prst="rect">
            <a:avLst/>
          </a:prstGeom>
          <a:noFill/>
          <a:ln/>
        </p:spPr>
        <p:txBody>
          <a:bodyPr wrap="square" lIns="0" tIns="0" rIns="0" bIns="0" rtlCol="0" anchor="t"/>
          <a:lstStyle/>
          <a:p>
            <a:pPr indent="0" marL="0">
              <a:buNone/>
            </a:pPr>
            <a:r>
              <a:rPr lang="en-US" sz="1400" dirty="0">
                <a:solidFill>
                  <a:schemeClr val="tx1"/>
                </a:solidFill>
              </a:rPr>
              <a:t>Separate BRI cut-offs for buildings and bridges</a:t>
            </a:r>
            <a:endParaRPr lang="en-US" sz="1400" dirty="0"/>
          </a:p>
        </p:txBody>
      </p:sp>
      <p:sp>
        <p:nvSpPr>
          <p:cNvPr id="25" name="card"/>
          <p:cNvSpPr/>
          <p:nvPr/>
        </p:nvSpPr>
        <p:spPr>
          <a:xfrm>
            <a:off x="6217920" y="3886200"/>
            <a:ext cx="5422392" cy="1051560"/>
          </a:xfrm>
          <a:prstGeom prst="roundRect">
            <a:avLst>
              <a:gd name="adj" fmla="val 6957"/>
            </a:avLst>
          </a:prstGeom>
          <a:solidFill>
            <a:schemeClr val="bg2"/>
          </a:solidFill>
          <a:ln/>
        </p:spPr>
      </p:sp>
      <p:sp>
        <p:nvSpPr>
          <p:cNvPr id="26" name="Text 23"/>
          <p:cNvSpPr txBox="1"/>
          <p:nvPr/>
        </p:nvSpPr>
        <p:spPr>
          <a:xfrm>
            <a:off x="6400800" y="3977640"/>
            <a:ext cx="548640" cy="868680"/>
          </a:xfrm>
          <a:prstGeom prst="rect">
            <a:avLst/>
          </a:prstGeom>
          <a:noFill/>
          <a:ln/>
        </p:spPr>
        <p:txBody>
          <a:bodyPr wrap="square" lIns="0" tIns="0" rIns="0" bIns="0" rtlCol="0" anchor="ctr"/>
          <a:lstStyle/>
          <a:p>
            <a:pPr indent="0" marL="0">
              <a:buNone/>
            </a:pPr>
            <a:r>
              <a:rPr lang="en-US" sz="3000" b="1" dirty="0">
                <a:solidFill>
                  <a:schemeClr val="accent1"/>
                </a:solidFill>
                <a:latin typeface="Cambria" pitchFamily="34" charset="0"/>
                <a:ea typeface="Cambria" pitchFamily="34" charset="-122"/>
                <a:cs typeface="Cambria" pitchFamily="34" charset="-120"/>
              </a:rPr>
              <a:t>6</a:t>
            </a:r>
            <a:endParaRPr lang="en-US" sz="3000" dirty="0"/>
          </a:p>
        </p:txBody>
      </p:sp>
      <p:sp>
        <p:nvSpPr>
          <p:cNvPr id="27" name="Text 24"/>
          <p:cNvSpPr txBox="1"/>
          <p:nvPr/>
        </p:nvSpPr>
        <p:spPr>
          <a:xfrm>
            <a:off x="7040880" y="3995928"/>
            <a:ext cx="4434840" cy="411480"/>
          </a:xfrm>
          <a:prstGeom prst="rect">
            <a:avLst/>
          </a:prstGeom>
          <a:noFill/>
          <a:ln/>
        </p:spPr>
        <p:txBody>
          <a:bodyPr wrap="square" lIns="0" tIns="0" rIns="0" bIns="0" rtlCol="0" anchor="t"/>
          <a:lstStyle/>
          <a:p>
            <a:pPr indent="0" marL="0">
              <a:buNone/>
            </a:pPr>
            <a:r>
              <a:rPr lang="en-US" sz="1600" b="1" dirty="0">
                <a:solidFill>
                  <a:schemeClr val="tx2"/>
                </a:solidFill>
              </a:rPr>
              <a:t>Extend plan import and design</a:t>
            </a:r>
            <a:endParaRPr lang="en-US" sz="1600" dirty="0"/>
          </a:p>
        </p:txBody>
      </p:sp>
      <p:sp>
        <p:nvSpPr>
          <p:cNvPr id="28" name="Text 25"/>
          <p:cNvSpPr txBox="1"/>
          <p:nvPr/>
        </p:nvSpPr>
        <p:spPr>
          <a:xfrm>
            <a:off x="7040880" y="4407408"/>
            <a:ext cx="4434840" cy="411480"/>
          </a:xfrm>
          <a:prstGeom prst="rect">
            <a:avLst/>
          </a:prstGeom>
          <a:noFill/>
          <a:ln/>
        </p:spPr>
        <p:txBody>
          <a:bodyPr wrap="square" lIns="0" tIns="0" rIns="0" bIns="0" rtlCol="0" anchor="t"/>
          <a:lstStyle/>
          <a:p>
            <a:pPr indent="0" marL="0">
              <a:buNone/>
            </a:pPr>
            <a:r>
              <a:rPr lang="en-US" sz="1400" dirty="0">
                <a:solidFill>
                  <a:schemeClr val="tx1"/>
                </a:solidFill>
              </a:rPr>
              <a:t>IFC models, scanned PDFs, hydraulic checks</a:t>
            </a:r>
            <a:endParaRPr lang="en-US" sz="1400" dirty="0"/>
          </a:p>
        </p:txBody>
      </p:sp>
      <p:sp>
        <p:nvSpPr>
          <p:cNvPr id="29" name="card"/>
          <p:cNvSpPr/>
          <p:nvPr/>
        </p:nvSpPr>
        <p:spPr>
          <a:xfrm>
            <a:off x="548640" y="5074920"/>
            <a:ext cx="5422392" cy="1051560"/>
          </a:xfrm>
          <a:prstGeom prst="roundRect">
            <a:avLst>
              <a:gd name="adj" fmla="val 6957"/>
            </a:avLst>
          </a:prstGeom>
          <a:solidFill>
            <a:schemeClr val="bg2"/>
          </a:solidFill>
          <a:ln/>
        </p:spPr>
      </p:sp>
      <p:sp>
        <p:nvSpPr>
          <p:cNvPr id="30" name="Text 27"/>
          <p:cNvSpPr txBox="1"/>
          <p:nvPr/>
        </p:nvSpPr>
        <p:spPr>
          <a:xfrm>
            <a:off x="731520" y="5166360"/>
            <a:ext cx="548640" cy="868680"/>
          </a:xfrm>
          <a:prstGeom prst="rect">
            <a:avLst/>
          </a:prstGeom>
          <a:noFill/>
          <a:ln/>
        </p:spPr>
        <p:txBody>
          <a:bodyPr wrap="square" lIns="0" tIns="0" rIns="0" bIns="0" rtlCol="0" anchor="ctr"/>
          <a:lstStyle/>
          <a:p>
            <a:pPr indent="0" marL="0">
              <a:buNone/>
            </a:pPr>
            <a:r>
              <a:rPr lang="en-US" sz="3000" b="1" dirty="0">
                <a:solidFill>
                  <a:schemeClr val="accent1"/>
                </a:solidFill>
                <a:latin typeface="Cambria" pitchFamily="34" charset="0"/>
                <a:ea typeface="Cambria" pitchFamily="34" charset="-122"/>
                <a:cs typeface="Cambria" pitchFamily="34" charset="-120"/>
              </a:rPr>
              <a:t>7</a:t>
            </a:r>
            <a:endParaRPr lang="en-US" sz="3000" dirty="0"/>
          </a:p>
        </p:txBody>
      </p:sp>
      <p:sp>
        <p:nvSpPr>
          <p:cNvPr id="31" name="Text 28"/>
          <p:cNvSpPr txBox="1"/>
          <p:nvPr/>
        </p:nvSpPr>
        <p:spPr>
          <a:xfrm>
            <a:off x="1371600" y="5184648"/>
            <a:ext cx="4434840" cy="411480"/>
          </a:xfrm>
          <a:prstGeom prst="rect">
            <a:avLst/>
          </a:prstGeom>
          <a:noFill/>
          <a:ln/>
        </p:spPr>
        <p:txBody>
          <a:bodyPr wrap="square" lIns="0" tIns="0" rIns="0" bIns="0" rtlCol="0" anchor="t"/>
          <a:lstStyle/>
          <a:p>
            <a:pPr indent="0" marL="0">
              <a:buNone/>
            </a:pPr>
            <a:r>
              <a:rPr lang="en-US" sz="1600" b="1" dirty="0">
                <a:solidFill>
                  <a:schemeClr val="tx2"/>
                </a:solidFill>
              </a:rPr>
              <a:t>Extend to other project types</a:t>
            </a:r>
            <a:endParaRPr lang="en-US" sz="1600" dirty="0"/>
          </a:p>
        </p:txBody>
      </p:sp>
      <p:sp>
        <p:nvSpPr>
          <p:cNvPr id="32" name="Text 29"/>
          <p:cNvSpPr txBox="1"/>
          <p:nvPr/>
        </p:nvSpPr>
        <p:spPr>
          <a:xfrm>
            <a:off x="1371600" y="5596128"/>
            <a:ext cx="4434840" cy="411480"/>
          </a:xfrm>
          <a:prstGeom prst="rect">
            <a:avLst/>
          </a:prstGeom>
          <a:noFill/>
          <a:ln/>
        </p:spPr>
        <p:txBody>
          <a:bodyPr wrap="square" lIns="0" tIns="0" rIns="0" bIns="0" rtlCol="0" anchor="t"/>
          <a:lstStyle/>
          <a:p>
            <a:pPr indent="0" marL="0">
              <a:buNone/>
            </a:pPr>
            <a:r>
              <a:rPr lang="en-US" sz="1400" dirty="0">
                <a:solidFill>
                  <a:schemeClr val="tx1"/>
                </a:solidFill>
              </a:rPr>
              <a:t>Flood control, water systems and roads with CORA</a:t>
            </a:r>
            <a:endParaRPr lang="en-US" sz="1400" dirty="0"/>
          </a:p>
        </p:txBody>
      </p:sp>
      <p:sp>
        <p:nvSpPr>
          <p:cNvPr id="33" name="card"/>
          <p:cNvSpPr/>
          <p:nvPr/>
        </p:nvSpPr>
        <p:spPr>
          <a:xfrm>
            <a:off x="6217920" y="5074920"/>
            <a:ext cx="5422392" cy="1051560"/>
          </a:xfrm>
          <a:prstGeom prst="roundRect">
            <a:avLst>
              <a:gd name="adj" fmla="val 6957"/>
            </a:avLst>
          </a:prstGeom>
          <a:solidFill>
            <a:schemeClr val="bg2"/>
          </a:solidFill>
          <a:ln/>
        </p:spPr>
      </p:sp>
      <p:sp>
        <p:nvSpPr>
          <p:cNvPr id="34" name="Text 31"/>
          <p:cNvSpPr txBox="1"/>
          <p:nvPr/>
        </p:nvSpPr>
        <p:spPr>
          <a:xfrm>
            <a:off x="6400800" y="5166360"/>
            <a:ext cx="548640" cy="868680"/>
          </a:xfrm>
          <a:prstGeom prst="rect">
            <a:avLst/>
          </a:prstGeom>
          <a:noFill/>
          <a:ln/>
        </p:spPr>
        <p:txBody>
          <a:bodyPr wrap="square" lIns="0" tIns="0" rIns="0" bIns="0" rtlCol="0" anchor="ctr"/>
          <a:lstStyle/>
          <a:p>
            <a:pPr indent="0" marL="0">
              <a:buNone/>
            </a:pPr>
            <a:r>
              <a:rPr lang="en-US" sz="3000" b="1" dirty="0">
                <a:solidFill>
                  <a:schemeClr val="accent1"/>
                </a:solidFill>
                <a:latin typeface="Cambria" pitchFamily="34" charset="0"/>
                <a:ea typeface="Cambria" pitchFamily="34" charset="-122"/>
                <a:cs typeface="Cambria" pitchFamily="34" charset="-120"/>
              </a:rPr>
              <a:t>8</a:t>
            </a:r>
            <a:endParaRPr lang="en-US" sz="3000" dirty="0"/>
          </a:p>
        </p:txBody>
      </p:sp>
      <p:sp>
        <p:nvSpPr>
          <p:cNvPr id="35" name="Text 32"/>
          <p:cNvSpPr txBox="1"/>
          <p:nvPr/>
        </p:nvSpPr>
        <p:spPr>
          <a:xfrm>
            <a:off x="7040880" y="5184648"/>
            <a:ext cx="4434840" cy="411480"/>
          </a:xfrm>
          <a:prstGeom prst="rect">
            <a:avLst/>
          </a:prstGeom>
          <a:noFill/>
          <a:ln/>
        </p:spPr>
        <p:txBody>
          <a:bodyPr wrap="square" lIns="0" tIns="0" rIns="0" bIns="0" rtlCol="0" anchor="t"/>
          <a:lstStyle/>
          <a:p>
            <a:pPr indent="0" marL="0">
              <a:buNone/>
            </a:pPr>
            <a:r>
              <a:rPr lang="en-US" sz="1600" b="1" dirty="0">
                <a:solidFill>
                  <a:schemeClr val="tx2"/>
                </a:solidFill>
              </a:rPr>
              <a:t>Pilot with oversight bodies</a:t>
            </a:r>
            <a:endParaRPr lang="en-US" sz="1600" dirty="0"/>
          </a:p>
        </p:txBody>
      </p:sp>
      <p:sp>
        <p:nvSpPr>
          <p:cNvPr id="36" name="Text 33"/>
          <p:cNvSpPr txBox="1"/>
          <p:nvPr/>
        </p:nvSpPr>
        <p:spPr>
          <a:xfrm>
            <a:off x="7040880" y="5596128"/>
            <a:ext cx="4434840" cy="411480"/>
          </a:xfrm>
          <a:prstGeom prst="rect">
            <a:avLst/>
          </a:prstGeom>
          <a:noFill/>
          <a:ln/>
        </p:spPr>
        <p:txBody>
          <a:bodyPr wrap="square" lIns="0" tIns="0" rIns="0" bIns="0" rtlCol="0" anchor="t"/>
          <a:lstStyle/>
          <a:p>
            <a:pPr indent="0" marL="0">
              <a:buNone/>
            </a:pPr>
            <a:r>
              <a:rPr lang="en-US" sz="1400" dirty="0">
                <a:solidFill>
                  <a:schemeClr val="tx1"/>
                </a:solidFill>
              </a:rPr>
              <a:t>District office, COA auditors and a local government</a:t>
            </a:r>
            <a:endParaRPr lang="en-US" sz="1400" dirty="0"/>
          </a:p>
        </p:txBody>
      </p:sp>
      <p:sp>
        <p:nvSpPr>
          <p:cNvPr id="25" name="Slide Number Placeholder 0"/>
          <p:cNvSpPr>
            <a:spLocks noGrp="1"/>
          </p:cNvSpPr>
          <p:nvPr>
            <p:ph type="sldNum" sz="quarter" idx="4294967295"/>
          </p:nvPr>
        </p:nvSpPr>
        <p:spPr>
          <a:xfrm>
            <a:off x="11064240" y="642823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A8C"/>
                </a:solidFill>
              </a:defRPr>
            </a:lvl1pPr>
          </a:lstStyle>
          <a:p>
            <a:pPr algn="r"/>
            <a:fld id="{F7021451-1387-4CA6-816F-3879F97B5CBC}" type="slidenum">
              <a:rPr b="0"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ph idx="100" type="body" hasCustomPrompt="1"/>
          </p:nvPr>
        </p:nvSpPr>
        <p:spPr>
          <a:xfrm>
            <a:off x="548640" y="256032"/>
            <a:ext cx="8229600" cy="292608"/>
          </a:xfrm>
          <a:prstGeom prst="rect">
            <a:avLst/>
          </a:prstGeom>
          <a:noFill/>
          <a:ln/>
        </p:spPr>
        <p:txBody>
          <a:bodyPr wrap="square" lIns="0" tIns="0" rIns="0" bIns="0" rtlCol="0"/>
          <a:lstStyle/>
          <a:p>
            <a:pPr indent="0" marL="0">
              <a:buNone/>
            </a:pPr>
            <a:r>
              <a:rPr lang="en-US" sz="1200" b="1" spc="200" kern="0" dirty="0">
                <a:solidFill>
                  <a:schemeClr val="accent5"/>
                </a:solidFill>
              </a:rPr>
              <a:t>REFERENCES</a:t>
            </a:r>
            <a:endParaRPr lang="en-US" sz="1200" dirty="0"/>
          </a:p>
        </p:txBody>
      </p:sp>
      <p:sp>
        <p:nvSpPr>
          <p:cNvPr id="3" name="Text 0"/>
          <p:cNvSpPr/>
          <p:nvPr>
            <p:ph idx="101" type="title" hasCustomPrompt="1"/>
          </p:nvPr>
        </p:nvSpPr>
        <p:spPr>
          <a:xfrm>
            <a:off x="548640" y="530352"/>
            <a:ext cx="11064240" cy="731520"/>
          </a:xfrm>
          <a:prstGeom prst="rect">
            <a:avLst/>
          </a:prstGeom>
          <a:noFill/>
          <a:ln/>
        </p:spPr>
        <p:txBody>
          <a:bodyPr wrap="square" lIns="0" tIns="0" rIns="0" bIns="0" rtlCol="0" anchor="ctr"/>
          <a:lstStyle/>
          <a:p>
            <a:pPr algn="l" indent="0" marL="0">
              <a:buNone/>
            </a:pPr>
            <a:r>
              <a:rPr lang="en-US" sz="3200" b="1" dirty="0">
                <a:solidFill>
                  <a:schemeClr val="tx2"/>
                </a:solidFill>
                <a:latin typeface="Cambria" pitchFamily="34" charset="0"/>
                <a:ea typeface="Cambria" pitchFamily="34" charset="-122"/>
                <a:cs typeface="Cambria" pitchFamily="34" charset="-120"/>
              </a:rPr>
              <a:t>References (1 of 3)</a:t>
            </a:r>
            <a:endParaRPr lang="en-US" sz="3200" dirty="0"/>
          </a:p>
        </p:txBody>
      </p:sp>
      <p:sp>
        <p:nvSpPr>
          <p:cNvPr id="5" name="references column 1"/>
          <p:cNvSpPr txBox="1"/>
          <p:nvPr/>
        </p:nvSpPr>
        <p:spPr>
          <a:xfrm>
            <a:off x="548640" y="1417320"/>
            <a:ext cx="5422392" cy="4846320"/>
          </a:xfrm>
          <a:prstGeom prst="rect">
            <a:avLst/>
          </a:prstGeom>
          <a:noFill/>
          <a:ln/>
        </p:spPr>
        <p:txBody>
          <a:bodyPr wrap="square" lIns="0" tIns="0" rIns="0" bIns="0" rtlCol="0" anchor="t"/>
          <a:lstStyle/>
          <a:p>
            <a:pPr indent="0" marL="0">
              <a:spcAft>
                <a:spcPts val="500"/>
              </a:spcAft>
              <a:buNone/>
            </a:pPr>
            <a:r>
              <a:rPr lang="en-US" sz="1050" dirty="0">
                <a:solidFill>
                  <a:srgbClr val="14202E"/>
                </a:solidFill>
              </a:rPr>
              <a:t>American Association of State Highway and Transportation Officials. (2020). </a:t>
            </a:r>
            <a:pPr indent="0" marL="0">
              <a:buNone/>
            </a:pPr>
            <a:r>
              <a:rPr lang="en-US" sz="1050" i="1" dirty="0">
                <a:solidFill>
                  <a:srgbClr val="14202E"/>
                </a:solidFill>
              </a:rPr>
              <a:t>AASHTO LRFD bridge design specifications</a:t>
            </a:r>
            <a:pPr indent="0" marL="0">
              <a:buNone/>
            </a:pPr>
            <a:r>
              <a:rPr lang="en-US" sz="1050" dirty="0">
                <a:solidFill>
                  <a:srgbClr val="14202E"/>
                </a:solidFill>
              </a:rPr>
              <a:t> (9th ed.).</a:t>
            </a:r>
            <a:endParaRPr lang="en-US" sz="1050" dirty="0"/>
          </a:p>
          <a:p>
            <a:pPr indent="0" marL="0">
              <a:spcAft>
                <a:spcPts val="500"/>
              </a:spcAft>
              <a:buNone/>
            </a:pPr>
            <a:r>
              <a:rPr lang="en-US" sz="1050" dirty="0">
                <a:solidFill>
                  <a:srgbClr val="14202E"/>
                </a:solidFill>
              </a:rPr>
              <a:t>Association of Structural Engineers of the Philippines. (2016). </a:t>
            </a:r>
            <a:pPr indent="0" marL="0">
              <a:buNone/>
            </a:pPr>
            <a:r>
              <a:rPr lang="en-US" sz="1050" i="1" dirty="0">
                <a:solidFill>
                  <a:srgbClr val="14202E"/>
                </a:solidFill>
              </a:rPr>
              <a:t>National structural code of the Philippines 2015: Volume I, buildings, towers and other vertical structures</a:t>
            </a:r>
            <a:pPr indent="0" marL="0">
              <a:buNone/>
            </a:pPr>
            <a:r>
              <a:rPr lang="en-US" sz="1050" dirty="0">
                <a:solidFill>
                  <a:srgbClr val="14202E"/>
                </a:solidFill>
              </a:rPr>
              <a:t> (7th ed.).</a:t>
            </a:r>
            <a:endParaRPr lang="en-US" sz="1050" dirty="0"/>
          </a:p>
          <a:p>
            <a:pPr indent="0" marL="0">
              <a:spcAft>
                <a:spcPts val="500"/>
              </a:spcAft>
              <a:buNone/>
            </a:pPr>
            <a:r>
              <a:rPr lang="en-US" sz="1050" dirty="0">
                <a:solidFill>
                  <a:srgbClr val="14202E"/>
                </a:solidFill>
              </a:rPr>
              <a:t>Batas Pambansa Blg. 344. (1983). </a:t>
            </a:r>
            <a:pPr indent="0" marL="0">
              <a:buNone/>
            </a:pPr>
            <a:r>
              <a:rPr lang="en-US" sz="1050" i="1" dirty="0">
                <a:solidFill>
                  <a:srgbClr val="14202E"/>
                </a:solidFill>
              </a:rPr>
              <a:t>Accessibility law</a:t>
            </a:r>
            <a:pPr indent="0" marL="0">
              <a:buNone/>
            </a:pPr>
            <a:r>
              <a:rPr lang="en-US" sz="1050" dirty="0">
                <a:solidFill>
                  <a:srgbClr val="14202E"/>
                </a:solidFill>
              </a:rPr>
              <a:t>.</a:t>
            </a:r>
            <a:endParaRPr lang="en-US" sz="1050" dirty="0"/>
          </a:p>
          <a:p>
            <a:pPr indent="0" marL="0">
              <a:spcAft>
                <a:spcPts val="500"/>
              </a:spcAft>
              <a:buNone/>
            </a:pPr>
            <a:r>
              <a:rPr lang="en-US" sz="1050" dirty="0">
                <a:solidFill>
                  <a:srgbClr val="14202E"/>
                </a:solidFill>
              </a:rPr>
              <a:t>Buban, E. M. C. (2026). </a:t>
            </a:r>
            <a:pPr indent="0" marL="0">
              <a:buNone/>
            </a:pPr>
            <a:r>
              <a:rPr lang="en-US" sz="1050" i="1" dirty="0">
                <a:solidFill>
                  <a:srgbClr val="14202E"/>
                </a:solidFill>
              </a:rPr>
              <a:t>CORA: Computational outlier recognition and analytics for road construction cost prediction and potential anomaly detection via a hybrid machine learning system</a:t>
            </a:r>
            <a:pPr indent="0" marL="0">
              <a:buNone/>
            </a:pPr>
            <a:r>
              <a:rPr lang="en-US" sz="1050" dirty="0">
                <a:solidFill>
                  <a:srgbClr val="14202E"/>
                </a:solidFill>
              </a:rPr>
              <a:t> [Unpublished research paper].</a:t>
            </a:r>
            <a:endParaRPr lang="en-US" sz="1050" dirty="0"/>
          </a:p>
          <a:p>
            <a:pPr indent="0" marL="0">
              <a:spcAft>
                <a:spcPts val="500"/>
              </a:spcAft>
              <a:buNone/>
            </a:pPr>
            <a:r>
              <a:rPr lang="en-US" sz="1050" dirty="0">
                <a:solidFill>
                  <a:srgbClr val="14202E"/>
                </a:solidFill>
              </a:rPr>
              <a:t>Cebu Daily News. (2023, July 21). </a:t>
            </a:r>
            <a:pPr indent="0" marL="0">
              <a:buNone/>
            </a:pPr>
            <a:r>
              <a:rPr lang="en-US" sz="1050" i="1" dirty="0">
                <a:solidFill>
                  <a:srgbClr val="14202E"/>
                </a:solidFill>
              </a:rPr>
              <a:t>COA: CCMC project contract price was bloated by P62M</a:t>
            </a:r>
            <a:pPr indent="0" marL="0">
              <a:buNone/>
            </a:pPr>
            <a:r>
              <a:rPr lang="en-US" sz="1050" dirty="0">
                <a:solidFill>
                  <a:srgbClr val="14202E"/>
                </a:solidFill>
              </a:rPr>
              <a:t>. https://cebudailynews.inquirer.net/517377/coa-ccmc-project-contract-price-was-bloated-by-p62m</a:t>
            </a:r>
            <a:endParaRPr lang="en-US" sz="1050" dirty="0"/>
          </a:p>
          <a:p>
            <a:pPr indent="0" marL="0">
              <a:spcAft>
                <a:spcPts val="500"/>
              </a:spcAft>
              <a:buNone/>
            </a:pPr>
            <a:r>
              <a:rPr lang="en-US" sz="1050" dirty="0">
                <a:solidFill>
                  <a:srgbClr val="14202E"/>
                </a:solidFill>
              </a:rPr>
              <a:t>Chen, T., &amp; Guestrin, C. (2016). XGBoost: A scalable tree boosting system. In </a:t>
            </a:r>
            <a:pPr indent="0" marL="0">
              <a:buNone/>
            </a:pPr>
            <a:r>
              <a:rPr lang="en-US" sz="1050" i="1" dirty="0">
                <a:solidFill>
                  <a:srgbClr val="14202E"/>
                </a:solidFill>
              </a:rPr>
              <a:t>Proceedings of the 22nd ACM SIGKDD International Conference on Knowledge Discovery and Data Mining</a:t>
            </a:r>
            <a:pPr indent="0" marL="0">
              <a:buNone/>
            </a:pPr>
            <a:r>
              <a:rPr lang="en-US" sz="1050" dirty="0">
                <a:solidFill>
                  <a:srgbClr val="14202E"/>
                </a:solidFill>
              </a:rPr>
              <a:t> (pp. 785–794). https://doi.org/10.1145/2939672.2939785</a:t>
            </a:r>
            <a:endParaRPr lang="en-US" sz="1050" dirty="0"/>
          </a:p>
          <a:p>
            <a:pPr indent="0" marL="0">
              <a:spcAft>
                <a:spcPts val="500"/>
              </a:spcAft>
              <a:buNone/>
            </a:pPr>
            <a:r>
              <a:rPr lang="en-US" sz="1050" dirty="0">
                <a:solidFill>
                  <a:srgbClr val="14202E"/>
                </a:solidFill>
              </a:rPr>
              <a:t>Coffie, G. H., &amp; Cudjoe, S. K. F. (2024). Using extreme gradient boosting (XGBoost) machine learning to predict construction cost overruns. </a:t>
            </a:r>
            <a:pPr indent="0" marL="0">
              <a:buNone/>
            </a:pPr>
            <a:r>
              <a:rPr lang="en-US" sz="1050" i="1" dirty="0">
                <a:solidFill>
                  <a:srgbClr val="14202E"/>
                </a:solidFill>
              </a:rPr>
              <a:t>International Journal of Construction Management, 24</a:t>
            </a:r>
            <a:pPr indent="0" marL="0">
              <a:buNone/>
            </a:pPr>
            <a:r>
              <a:rPr lang="en-US" sz="1050" dirty="0">
                <a:solidFill>
                  <a:srgbClr val="14202E"/>
                </a:solidFill>
              </a:rPr>
              <a:t>(16), 1742–1750. https://doi.org/10.1080/15623599.2023.2289754</a:t>
            </a:r>
            <a:endParaRPr lang="en-US" sz="1050" dirty="0"/>
          </a:p>
          <a:p>
            <a:pPr indent="0" marL="0">
              <a:spcAft>
                <a:spcPts val="500"/>
              </a:spcAft>
              <a:buNone/>
            </a:pPr>
            <a:r>
              <a:rPr lang="en-US" sz="1050" dirty="0">
                <a:solidFill>
                  <a:srgbClr val="14202E"/>
                </a:solidFill>
              </a:rPr>
              <a:t>CoST – The Infrastructure Transparency Initiative. (n.d.). </a:t>
            </a:r>
            <a:pPr indent="0" marL="0">
              <a:buNone/>
            </a:pPr>
            <a:r>
              <a:rPr lang="en-US" sz="1050" i="1" dirty="0">
                <a:solidFill>
                  <a:srgbClr val="14202E"/>
                </a:solidFill>
              </a:rPr>
              <a:t>Why infrastructure transparency matters</a:t>
            </a:r>
            <a:pPr indent="0" marL="0">
              <a:buNone/>
            </a:pPr>
            <a:r>
              <a:rPr lang="en-US" sz="1050" dirty="0">
                <a:solidFill>
                  <a:srgbClr val="14202E"/>
                </a:solidFill>
              </a:rPr>
              <a:t>. https://infrastructuretransparency.org/</a:t>
            </a:r>
            <a:endParaRPr lang="en-US" sz="1050" dirty="0"/>
          </a:p>
        </p:txBody>
      </p:sp>
      <p:sp>
        <p:nvSpPr>
          <p:cNvPr id="6" name="references column 2"/>
          <p:cNvSpPr txBox="1"/>
          <p:nvPr/>
        </p:nvSpPr>
        <p:spPr>
          <a:xfrm>
            <a:off x="6217920" y="1417320"/>
            <a:ext cx="5422392" cy="4846320"/>
          </a:xfrm>
          <a:prstGeom prst="rect">
            <a:avLst/>
          </a:prstGeom>
          <a:noFill/>
          <a:ln/>
        </p:spPr>
        <p:txBody>
          <a:bodyPr wrap="square" lIns="0" tIns="0" rIns="0" bIns="0" rtlCol="0" anchor="t"/>
          <a:lstStyle/>
          <a:p>
            <a:pPr indent="0" marL="0">
              <a:spcAft>
                <a:spcPts val="500"/>
              </a:spcAft>
              <a:buNone/>
            </a:pPr>
            <a:r>
              <a:rPr lang="en-US" sz="1050" dirty="0">
                <a:solidFill>
                  <a:srgbClr val="14202E"/>
                </a:solidFill>
              </a:rPr>
              <a:t>Department of Education. (2010). </a:t>
            </a:r>
            <a:pPr indent="0" marL="0">
              <a:buNone/>
            </a:pPr>
            <a:r>
              <a:rPr lang="en-US" sz="1050" i="1" dirty="0">
                <a:solidFill>
                  <a:srgbClr val="14202E"/>
                </a:solidFill>
              </a:rPr>
              <a:t>Educational facilities manual</a:t>
            </a:r>
            <a:pPr indent="0" marL="0">
              <a:buNone/>
            </a:pPr>
            <a:r>
              <a:rPr lang="en-US" sz="1050" dirty="0">
                <a:solidFill>
                  <a:srgbClr val="14202E"/>
                </a:solidFill>
              </a:rPr>
              <a:t> (Rev. ed.).</a:t>
            </a:r>
            <a:endParaRPr lang="en-US" sz="1050" dirty="0"/>
          </a:p>
          <a:p>
            <a:pPr indent="0" marL="0">
              <a:spcAft>
                <a:spcPts val="500"/>
              </a:spcAft>
              <a:buNone/>
            </a:pPr>
            <a:r>
              <a:rPr lang="en-US" sz="1050" dirty="0">
                <a:solidFill>
                  <a:srgbClr val="14202E"/>
                </a:solidFill>
              </a:rPr>
              <a:t>Department of Health. (2016). </a:t>
            </a:r>
            <a:pPr indent="0" marL="0">
              <a:buNone/>
            </a:pPr>
            <a:r>
              <a:rPr lang="en-US" sz="1050" i="1" dirty="0">
                <a:solidFill>
                  <a:srgbClr val="14202E"/>
                </a:solidFill>
              </a:rPr>
              <a:t>Guidelines in the planning and design of hospitals and other health facilities</a:t>
            </a:r>
            <a:pPr indent="0" marL="0">
              <a:buNone/>
            </a:pPr>
            <a:r>
              <a:rPr lang="en-US" sz="1050" dirty="0">
                <a:solidFill>
                  <a:srgbClr val="14202E"/>
                </a:solidFill>
              </a:rPr>
              <a:t> (Administrative Order No. 2016-0042).</a:t>
            </a:r>
            <a:endParaRPr lang="en-US" sz="1050" dirty="0"/>
          </a:p>
          <a:p>
            <a:pPr indent="0" marL="0">
              <a:spcAft>
                <a:spcPts val="500"/>
              </a:spcAft>
              <a:buNone/>
            </a:pPr>
            <a:r>
              <a:rPr lang="en-US" sz="1050" dirty="0">
                <a:solidFill>
                  <a:srgbClr val="14202E"/>
                </a:solidFill>
              </a:rPr>
              <a:t>Department of Public Works and Highways. (2013). </a:t>
            </a:r>
            <a:pPr indent="0" marL="0">
              <a:buNone/>
            </a:pPr>
            <a:r>
              <a:rPr lang="en-US" sz="1050" i="1" dirty="0">
                <a:solidFill>
                  <a:srgbClr val="14202E"/>
                </a:solidFill>
              </a:rPr>
              <a:t>DPWH standard specifications for highways, bridges and airports</a:t>
            </a:r>
            <a:pPr indent="0" marL="0">
              <a:buNone/>
            </a:pPr>
            <a:r>
              <a:rPr lang="en-US" sz="1050" dirty="0">
                <a:solidFill>
                  <a:srgbClr val="14202E"/>
                </a:solidFill>
              </a:rPr>
              <a:t> (Vol. II).</a:t>
            </a:r>
            <a:endParaRPr lang="en-US" sz="1050" dirty="0"/>
          </a:p>
          <a:p>
            <a:pPr indent="0" marL="0">
              <a:spcAft>
                <a:spcPts val="500"/>
              </a:spcAft>
              <a:buNone/>
            </a:pPr>
            <a:r>
              <a:rPr lang="en-US" sz="1050" dirty="0">
                <a:solidFill>
                  <a:srgbClr val="14202E"/>
                </a:solidFill>
              </a:rPr>
              <a:t>Department of Public Works and Highways. (2016). </a:t>
            </a:r>
            <a:pPr indent="0" marL="0">
              <a:buNone/>
            </a:pPr>
            <a:r>
              <a:rPr lang="en-US" sz="1050" i="1" dirty="0">
                <a:solidFill>
                  <a:srgbClr val="14202E"/>
                </a:solidFill>
              </a:rPr>
              <a:t>Department Order No. 197, series of 2016: Guidelines on the preparation of the approved budget for the contract</a:t>
            </a:r>
            <a:pPr indent="0" marL="0">
              <a:buNone/>
            </a:pPr>
            <a:r>
              <a:rPr lang="en-US" sz="1050" dirty="0">
                <a:solidFill>
                  <a:srgbClr val="14202E"/>
                </a:solidFill>
              </a:rPr>
              <a:t>.</a:t>
            </a:r>
            <a:endParaRPr lang="en-US" sz="1050" dirty="0"/>
          </a:p>
          <a:p>
            <a:pPr indent="0" marL="0">
              <a:spcAft>
                <a:spcPts val="500"/>
              </a:spcAft>
              <a:buNone/>
            </a:pPr>
            <a:r>
              <a:rPr lang="en-US" sz="1050" dirty="0">
                <a:solidFill>
                  <a:srgbClr val="14202E"/>
                </a:solidFill>
              </a:rPr>
              <a:t>Department of Public Works and Highways. (2021). </a:t>
            </a:r>
            <a:pPr indent="0" marL="0">
              <a:buNone/>
            </a:pPr>
            <a:r>
              <a:rPr lang="en-US" sz="1050" i="1" dirty="0">
                <a:solidFill>
                  <a:srgbClr val="14202E"/>
                </a:solidFill>
              </a:rPr>
              <a:t>Department Order No. 42, series of 2021: Adoption of the DPWH standard specifications for public works structures, Volume III, 2019 edition</a:t>
            </a:r>
            <a:pPr indent="0" marL="0">
              <a:buNone/>
            </a:pPr>
            <a:r>
              <a:rPr lang="en-US" sz="1050" dirty="0">
                <a:solidFill>
                  <a:srgbClr val="14202E"/>
                </a:solidFill>
              </a:rPr>
              <a:t>.</a:t>
            </a:r>
            <a:endParaRPr lang="en-US" sz="1050" dirty="0"/>
          </a:p>
          <a:p>
            <a:pPr indent="0" marL="0">
              <a:spcAft>
                <a:spcPts val="500"/>
              </a:spcAft>
              <a:buNone/>
            </a:pPr>
            <a:r>
              <a:rPr lang="en-US" sz="1050" dirty="0">
                <a:solidFill>
                  <a:srgbClr val="14202E"/>
                </a:solidFill>
              </a:rPr>
              <a:t>Department of Public Works and Highways. (2025). </a:t>
            </a:r>
            <a:pPr indent="0" marL="0">
              <a:buNone/>
            </a:pPr>
            <a:r>
              <a:rPr lang="en-US" sz="1050" i="1" dirty="0">
                <a:solidFill>
                  <a:srgbClr val="14202E"/>
                </a:solidFill>
              </a:rPr>
              <a:t>Department Order No. 30, series of 2025</a:t>
            </a:r>
            <a:pPr indent="0" marL="0">
              <a:buNone/>
            </a:pPr>
            <a:r>
              <a:rPr lang="en-US" sz="1050" dirty="0">
                <a:solidFill>
                  <a:srgbClr val="14202E"/>
                </a:solidFill>
              </a:rPr>
              <a:t>.</a:t>
            </a:r>
            <a:endParaRPr lang="en-US" sz="1050" dirty="0"/>
          </a:p>
          <a:p>
            <a:pPr indent="0" marL="0">
              <a:spcAft>
                <a:spcPts val="500"/>
              </a:spcAft>
              <a:buNone/>
            </a:pPr>
            <a:r>
              <a:rPr lang="en-US" sz="1050" dirty="0">
                <a:solidFill>
                  <a:srgbClr val="14202E"/>
                </a:solidFill>
              </a:rPr>
              <a:t>DZRH News. (2025, August 11). </a:t>
            </a:r>
            <a:pPr indent="0" marL="0">
              <a:buNone/>
            </a:pPr>
            <a:r>
              <a:rPr lang="en-US" sz="1050" i="1" dirty="0">
                <a:solidFill>
                  <a:srgbClr val="14202E"/>
                </a:solidFill>
              </a:rPr>
              <a:t>20 percent of the entire P545-B flood control project went to 15 contractors — Pres. Marcos</a:t>
            </a:r>
            <a:pPr indent="0" marL="0">
              <a:buNone/>
            </a:pPr>
            <a:r>
              <a:rPr lang="en-US" sz="1050" dirty="0">
                <a:solidFill>
                  <a:srgbClr val="14202E"/>
                </a:solidFill>
              </a:rPr>
              <a:t>. https://dzrh.com.ph/</a:t>
            </a:r>
            <a:endParaRPr lang="en-US" sz="1050" dirty="0"/>
          </a:p>
          <a:p>
            <a:pPr indent="0" marL="0">
              <a:spcAft>
                <a:spcPts val="500"/>
              </a:spcAft>
              <a:buNone/>
            </a:pPr>
            <a:r>
              <a:rPr lang="en-US" sz="1050" dirty="0">
                <a:solidFill>
                  <a:srgbClr val="14202E"/>
                </a:solidFill>
              </a:rPr>
              <a:t>Elmousalami, H. H. (2020). Artificial intelligence and parametric construction cost estimate modeling: State-of-the-art review. </a:t>
            </a:r>
            <a:pPr indent="0" marL="0">
              <a:buNone/>
            </a:pPr>
            <a:r>
              <a:rPr lang="en-US" sz="1050" i="1" dirty="0">
                <a:solidFill>
                  <a:srgbClr val="14202E"/>
                </a:solidFill>
              </a:rPr>
              <a:t>Journal of Construction Engineering and Management, 146</a:t>
            </a:r>
            <a:pPr indent="0" marL="0">
              <a:buNone/>
            </a:pPr>
            <a:r>
              <a:rPr lang="en-US" sz="1050" dirty="0">
                <a:solidFill>
                  <a:srgbClr val="14202E"/>
                </a:solidFill>
              </a:rPr>
              <a:t>(1), 03119008. https://doi.org/10.1061/(ASCE)CO.1943-7862.0001678</a:t>
            </a:r>
            <a:endParaRPr lang="en-US" sz="1050" dirty="0"/>
          </a:p>
        </p:txBody>
      </p:sp>
      <p:sp>
        <p:nvSpPr>
          <p:cNvPr id="25" name="Slide Number Placeholder 0"/>
          <p:cNvSpPr>
            <a:spLocks noGrp="1"/>
          </p:cNvSpPr>
          <p:nvPr>
            <p:ph type="sldNum" sz="quarter" idx="4294967295"/>
          </p:nvPr>
        </p:nvSpPr>
        <p:spPr>
          <a:xfrm>
            <a:off x="11064240" y="642823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A8C"/>
                </a:solidFill>
              </a:defRPr>
            </a:lvl1pPr>
          </a:lstStyle>
          <a:p>
            <a:pPr algn="r"/>
            <a:fld id="{F7021451-1387-4CA6-816F-3879F97B5CBC}" type="slidenum">
              <a:rPr b="0"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ph idx="100" type="body" hasCustomPrompt="1"/>
          </p:nvPr>
        </p:nvSpPr>
        <p:spPr>
          <a:xfrm>
            <a:off x="548640" y="256032"/>
            <a:ext cx="8229600" cy="292608"/>
          </a:xfrm>
          <a:prstGeom prst="rect">
            <a:avLst/>
          </a:prstGeom>
          <a:noFill/>
          <a:ln/>
        </p:spPr>
        <p:txBody>
          <a:bodyPr wrap="square" lIns="0" tIns="0" rIns="0" bIns="0" rtlCol="0"/>
          <a:lstStyle/>
          <a:p>
            <a:pPr indent="0" marL="0">
              <a:buNone/>
            </a:pPr>
            <a:r>
              <a:rPr lang="en-US" sz="1200" b="1" spc="200" kern="0" dirty="0">
                <a:solidFill>
                  <a:schemeClr val="accent5"/>
                </a:solidFill>
              </a:rPr>
              <a:t>REFERENCES</a:t>
            </a:r>
            <a:endParaRPr lang="en-US" sz="1200" dirty="0"/>
          </a:p>
        </p:txBody>
      </p:sp>
      <p:sp>
        <p:nvSpPr>
          <p:cNvPr id="3" name="Text 0"/>
          <p:cNvSpPr/>
          <p:nvPr>
            <p:ph idx="101" type="title" hasCustomPrompt="1"/>
          </p:nvPr>
        </p:nvSpPr>
        <p:spPr>
          <a:xfrm>
            <a:off x="548640" y="530352"/>
            <a:ext cx="11064240" cy="731520"/>
          </a:xfrm>
          <a:prstGeom prst="rect">
            <a:avLst/>
          </a:prstGeom>
          <a:noFill/>
          <a:ln/>
        </p:spPr>
        <p:txBody>
          <a:bodyPr wrap="square" lIns="0" tIns="0" rIns="0" bIns="0" rtlCol="0" anchor="ctr"/>
          <a:lstStyle/>
          <a:p>
            <a:pPr algn="l" indent="0" marL="0">
              <a:buNone/>
            </a:pPr>
            <a:r>
              <a:rPr lang="en-US" sz="3200" b="1" dirty="0">
                <a:solidFill>
                  <a:schemeClr val="tx2"/>
                </a:solidFill>
                <a:latin typeface="Cambria" pitchFamily="34" charset="0"/>
                <a:ea typeface="Cambria" pitchFamily="34" charset="-122"/>
                <a:cs typeface="Cambria" pitchFamily="34" charset="-120"/>
              </a:rPr>
              <a:t>References (2 of 3)</a:t>
            </a:r>
            <a:endParaRPr lang="en-US" sz="3200" dirty="0"/>
          </a:p>
        </p:txBody>
      </p:sp>
      <p:sp>
        <p:nvSpPr>
          <p:cNvPr id="4" name="references column 1"/>
          <p:cNvSpPr txBox="1"/>
          <p:nvPr/>
        </p:nvSpPr>
        <p:spPr>
          <a:xfrm>
            <a:off x="548640" y="1417320"/>
            <a:ext cx="5422392" cy="4846320"/>
          </a:xfrm>
          <a:prstGeom prst="rect">
            <a:avLst/>
          </a:prstGeom>
          <a:noFill/>
          <a:ln/>
        </p:spPr>
        <p:txBody>
          <a:bodyPr wrap="square" lIns="0" tIns="0" rIns="0" bIns="0" rtlCol="0" anchor="t"/>
          <a:lstStyle/>
          <a:p>
            <a:pPr indent="0" marL="0">
              <a:spcAft>
                <a:spcPts val="500"/>
              </a:spcAft>
              <a:buNone/>
            </a:pPr>
            <a:r>
              <a:rPr lang="en-US" sz="1050" dirty="0">
                <a:solidFill>
                  <a:srgbClr val="14202E"/>
                </a:solidFill>
              </a:rPr>
              <a:t>Fazekas, M., &amp; Tóth, I. J. (2016). From corruption to state capture: A new analytical framework with empirical applications from Hungary. </a:t>
            </a:r>
            <a:pPr indent="0" marL="0">
              <a:buNone/>
            </a:pPr>
            <a:r>
              <a:rPr lang="en-US" sz="1050" i="1" dirty="0">
                <a:solidFill>
                  <a:srgbClr val="14202E"/>
                </a:solidFill>
              </a:rPr>
              <a:t>Political Research Quarterly, 69</a:t>
            </a:r>
            <a:pPr indent="0" marL="0">
              <a:buNone/>
            </a:pPr>
            <a:r>
              <a:rPr lang="en-US" sz="1050" dirty="0">
                <a:solidFill>
                  <a:srgbClr val="14202E"/>
                </a:solidFill>
              </a:rPr>
              <a:t>(2), 320–334. https://doi.org/10.1177/1065912916639137</a:t>
            </a:r>
            <a:endParaRPr lang="en-US" sz="1050" dirty="0"/>
          </a:p>
          <a:p>
            <a:pPr indent="0" marL="0">
              <a:spcAft>
                <a:spcPts val="500"/>
              </a:spcAft>
              <a:buNone/>
            </a:pPr>
            <a:r>
              <a:rPr lang="en-US" sz="1050" dirty="0">
                <a:solidFill>
                  <a:srgbClr val="14202E"/>
                </a:solidFill>
              </a:rPr>
              <a:t>Flyvbjerg, B., Holm, M. S., &amp; Buhl, S. (2002). Underestimating costs in public works projects: Error or lie? </a:t>
            </a:r>
            <a:pPr indent="0" marL="0">
              <a:buNone/>
            </a:pPr>
            <a:r>
              <a:rPr lang="en-US" sz="1050" i="1" dirty="0">
                <a:solidFill>
                  <a:srgbClr val="14202E"/>
                </a:solidFill>
              </a:rPr>
              <a:t>Journal of the American Planning Association, 68</a:t>
            </a:r>
            <a:pPr indent="0" marL="0">
              <a:buNone/>
            </a:pPr>
            <a:r>
              <a:rPr lang="en-US" sz="1050" dirty="0">
                <a:solidFill>
                  <a:srgbClr val="14202E"/>
                </a:solidFill>
              </a:rPr>
              <a:t>(3), 279–295. https://doi.org/10.1080/01944360208976273</a:t>
            </a:r>
            <a:endParaRPr lang="en-US" sz="1050" dirty="0"/>
          </a:p>
          <a:p>
            <a:pPr indent="0" marL="0">
              <a:spcAft>
                <a:spcPts val="500"/>
              </a:spcAft>
              <a:buNone/>
            </a:pPr>
            <a:r>
              <a:rPr lang="en-US" sz="1050" dirty="0">
                <a:solidFill>
                  <a:srgbClr val="14202E"/>
                </a:solidFill>
              </a:rPr>
              <a:t>Interaksyon. (2025, September 11). </a:t>
            </a:r>
            <a:pPr indent="0" marL="0">
              <a:buNone/>
            </a:pPr>
            <a:r>
              <a:rPr lang="en-US" sz="1050" i="1" dirty="0">
                <a:solidFill>
                  <a:srgbClr val="14202E"/>
                </a:solidFill>
              </a:rPr>
              <a:t>Philippines forms independent body to probe anomalies in infrastructure projects</a:t>
            </a:r>
            <a:pPr indent="0" marL="0">
              <a:buNone/>
            </a:pPr>
            <a:r>
              <a:rPr lang="en-US" sz="1050" dirty="0">
                <a:solidFill>
                  <a:srgbClr val="14202E"/>
                </a:solidFill>
              </a:rPr>
              <a:t>. https://interaksyon.philstar.com/politics-issues/2025/09/11/302050/</a:t>
            </a:r>
            <a:endParaRPr lang="en-US" sz="1050" dirty="0"/>
          </a:p>
          <a:p>
            <a:pPr indent="0" marL="0">
              <a:spcAft>
                <a:spcPts val="500"/>
              </a:spcAft>
              <a:buNone/>
            </a:pPr>
            <a:r>
              <a:rPr lang="en-US" sz="1050" dirty="0">
                <a:solidFill>
                  <a:srgbClr val="14202E"/>
                </a:solidFill>
              </a:rPr>
              <a:t>Jensen, M. C., &amp; Meckling, W. H. (1976). Theory of the firm: Managerial behavior, agency costs and ownership structure. </a:t>
            </a:r>
            <a:pPr indent="0" marL="0">
              <a:buNone/>
            </a:pPr>
            <a:r>
              <a:rPr lang="en-US" sz="1050" i="1" dirty="0">
                <a:solidFill>
                  <a:srgbClr val="14202E"/>
                </a:solidFill>
              </a:rPr>
              <a:t>Journal of Financial Economics, 3</a:t>
            </a:r>
            <a:pPr indent="0" marL="0">
              <a:buNone/>
            </a:pPr>
            <a:r>
              <a:rPr lang="en-US" sz="1050" dirty="0">
                <a:solidFill>
                  <a:srgbClr val="14202E"/>
                </a:solidFill>
              </a:rPr>
              <a:t>(4), 305–360. https://doi.org/10.1016/0304-405X(76)90026-X</a:t>
            </a:r>
            <a:endParaRPr lang="en-US" sz="1050" dirty="0"/>
          </a:p>
          <a:p>
            <a:pPr indent="0" marL="0">
              <a:spcAft>
                <a:spcPts val="500"/>
              </a:spcAft>
              <a:buNone/>
            </a:pPr>
            <a:r>
              <a:rPr lang="en-US" sz="1050" dirty="0">
                <a:solidFill>
                  <a:srgbClr val="14202E"/>
                </a:solidFill>
              </a:rPr>
              <a:t>Kenny, C. (2007). </a:t>
            </a:r>
            <a:pPr indent="0" marL="0">
              <a:buNone/>
            </a:pPr>
            <a:r>
              <a:rPr lang="en-US" sz="1050" i="1" dirty="0">
                <a:solidFill>
                  <a:srgbClr val="14202E"/>
                </a:solidFill>
              </a:rPr>
              <a:t>Construction, corruption, and developing countries</a:t>
            </a:r>
            <a:pPr indent="0" marL="0">
              <a:buNone/>
            </a:pPr>
            <a:r>
              <a:rPr lang="en-US" sz="1050" dirty="0">
                <a:solidFill>
                  <a:srgbClr val="14202E"/>
                </a:solidFill>
              </a:rPr>
              <a:t> (Policy Research Working Paper No. 4271). World Bank.</a:t>
            </a:r>
            <a:endParaRPr lang="en-US" sz="1050" dirty="0"/>
          </a:p>
          <a:p>
            <a:pPr indent="0" marL="0">
              <a:spcAft>
                <a:spcPts val="500"/>
              </a:spcAft>
              <a:buNone/>
            </a:pPr>
            <a:r>
              <a:rPr lang="en-US" sz="1050" dirty="0">
                <a:solidFill>
                  <a:srgbClr val="14202E"/>
                </a:solidFill>
              </a:rPr>
              <a:t>Kutner, M. H., Nachtsheim, C. J., &amp; Neter, J. (2004). </a:t>
            </a:r>
            <a:pPr indent="0" marL="0">
              <a:buNone/>
            </a:pPr>
            <a:r>
              <a:rPr lang="en-US" sz="1050" i="1" dirty="0">
                <a:solidFill>
                  <a:srgbClr val="14202E"/>
                </a:solidFill>
              </a:rPr>
              <a:t>Applied linear regression models</a:t>
            </a:r>
            <a:pPr indent="0" marL="0">
              <a:buNone/>
            </a:pPr>
            <a:r>
              <a:rPr lang="en-US" sz="1050" dirty="0">
                <a:solidFill>
                  <a:srgbClr val="14202E"/>
                </a:solidFill>
              </a:rPr>
              <a:t> (4th ed.). McGraw-Hill/Irwin.</a:t>
            </a:r>
            <a:endParaRPr lang="en-US" sz="1050" dirty="0"/>
          </a:p>
          <a:p>
            <a:pPr indent="0" marL="0">
              <a:spcAft>
                <a:spcPts val="500"/>
              </a:spcAft>
              <a:buNone/>
            </a:pPr>
            <a:r>
              <a:rPr lang="en-US" sz="1050" dirty="0">
                <a:solidFill>
                  <a:srgbClr val="14202E"/>
                </a:solidFill>
              </a:rPr>
              <a:t>Larocque, R., Boulé, A.-M., &amp; Cappart, Q. (2025). Estimating road construction costs with explainable machine learning. </a:t>
            </a:r>
            <a:pPr indent="0" marL="0">
              <a:buNone/>
            </a:pPr>
            <a:r>
              <a:rPr lang="en-US" sz="1050" i="1" dirty="0">
                <a:solidFill>
                  <a:srgbClr val="14202E"/>
                </a:solidFill>
              </a:rPr>
              <a:t>INFORMS Journal on Applied Analytics, 55</a:t>
            </a:r>
            <a:pPr indent="0" marL="0">
              <a:buNone/>
            </a:pPr>
            <a:r>
              <a:rPr lang="en-US" sz="1050" dirty="0">
                <a:solidFill>
                  <a:srgbClr val="14202E"/>
                </a:solidFill>
              </a:rPr>
              <a:t>(2), 137–153. https://doi.org/10.1287/inte.2023.0027</a:t>
            </a:r>
            <a:endParaRPr lang="en-US" sz="1050" dirty="0"/>
          </a:p>
          <a:p>
            <a:pPr indent="0" marL="0">
              <a:spcAft>
                <a:spcPts val="500"/>
              </a:spcAft>
              <a:buNone/>
            </a:pPr>
            <a:r>
              <a:rPr lang="en-US" sz="1050" dirty="0">
                <a:solidFill>
                  <a:srgbClr val="14202E"/>
                </a:solidFill>
              </a:rPr>
              <a:t>Liu, F. T., Ting, K. M., &amp; Zhou, Z.-H. (2008). Isolation forest. In </a:t>
            </a:r>
            <a:pPr indent="0" marL="0">
              <a:buNone/>
            </a:pPr>
            <a:r>
              <a:rPr lang="en-US" sz="1050" i="1" dirty="0">
                <a:solidFill>
                  <a:srgbClr val="14202E"/>
                </a:solidFill>
              </a:rPr>
              <a:t>2008 Eighth IEEE International Conference on Data Mining</a:t>
            </a:r>
            <a:pPr indent="0" marL="0">
              <a:buNone/>
            </a:pPr>
            <a:r>
              <a:rPr lang="en-US" sz="1050" dirty="0">
                <a:solidFill>
                  <a:srgbClr val="14202E"/>
                </a:solidFill>
              </a:rPr>
              <a:t> (pp. 413–422). IEEE. https://doi.org/10.1109/ICDM.2008.17</a:t>
            </a:r>
            <a:endParaRPr lang="en-US" sz="1050" dirty="0"/>
          </a:p>
        </p:txBody>
      </p:sp>
      <p:sp>
        <p:nvSpPr>
          <p:cNvPr id="5" name="references column 2"/>
          <p:cNvSpPr txBox="1"/>
          <p:nvPr/>
        </p:nvSpPr>
        <p:spPr>
          <a:xfrm>
            <a:off x="6217920" y="1417320"/>
            <a:ext cx="5422392" cy="4846320"/>
          </a:xfrm>
          <a:prstGeom prst="rect">
            <a:avLst/>
          </a:prstGeom>
          <a:noFill/>
          <a:ln/>
        </p:spPr>
        <p:txBody>
          <a:bodyPr wrap="square" lIns="0" tIns="0" rIns="0" bIns="0" rtlCol="0" anchor="t"/>
          <a:lstStyle/>
          <a:p>
            <a:pPr indent="0" marL="0">
              <a:spcAft>
                <a:spcPts val="500"/>
              </a:spcAft>
              <a:buNone/>
            </a:pPr>
            <a:r>
              <a:rPr lang="en-US" sz="1050" dirty="0">
                <a:solidFill>
                  <a:srgbClr val="14202E"/>
                </a:solidFill>
              </a:rPr>
              <a:t>Locatelli, G., Mariani, G., Sainati, T., &amp; Greco, M. (2017). Corruption in public projects and megaprojects: There is an elephant in the room! </a:t>
            </a:r>
            <a:pPr indent="0" marL="0">
              <a:buNone/>
            </a:pPr>
            <a:r>
              <a:rPr lang="en-US" sz="1050" i="1" dirty="0">
                <a:solidFill>
                  <a:srgbClr val="14202E"/>
                </a:solidFill>
              </a:rPr>
              <a:t>International Journal of Project Management, 35</a:t>
            </a:r>
            <a:pPr indent="0" marL="0">
              <a:buNone/>
            </a:pPr>
            <a:r>
              <a:rPr lang="en-US" sz="1050" dirty="0">
                <a:solidFill>
                  <a:srgbClr val="14202E"/>
                </a:solidFill>
              </a:rPr>
              <a:t>(3), 252–268. https://doi.org/10.1016/j.ijproman.2016.09.010</a:t>
            </a:r>
            <a:endParaRPr lang="en-US" sz="1050" dirty="0"/>
          </a:p>
          <a:p>
            <a:pPr indent="0" marL="0">
              <a:spcAft>
                <a:spcPts val="500"/>
              </a:spcAft>
              <a:buNone/>
            </a:pPr>
            <a:r>
              <a:rPr lang="en-US" sz="1050" dirty="0">
                <a:solidFill>
                  <a:srgbClr val="14202E"/>
                </a:solidFill>
              </a:rPr>
              <a:t>Lundberg, S. M., Erion, G. G., &amp; Lee, S.-I. (2018). </a:t>
            </a:r>
            <a:pPr indent="0" marL="0">
              <a:buNone/>
            </a:pPr>
            <a:r>
              <a:rPr lang="en-US" sz="1050" i="1" dirty="0">
                <a:solidFill>
                  <a:srgbClr val="14202E"/>
                </a:solidFill>
              </a:rPr>
              <a:t>Consistent individualized feature attribution for tree ensembles</a:t>
            </a:r>
            <a:pPr indent="0" marL="0">
              <a:buNone/>
            </a:pPr>
            <a:r>
              <a:rPr lang="en-US" sz="1050" dirty="0">
                <a:solidFill>
                  <a:srgbClr val="14202E"/>
                </a:solidFill>
              </a:rPr>
              <a:t> (arXiv:1802.03888). https://arxiv.org/abs/1802.03888</a:t>
            </a:r>
            <a:endParaRPr lang="en-US" sz="1050" dirty="0"/>
          </a:p>
          <a:p>
            <a:pPr indent="0" marL="0">
              <a:spcAft>
                <a:spcPts val="500"/>
              </a:spcAft>
              <a:buNone/>
            </a:pPr>
            <a:r>
              <a:rPr lang="en-US" sz="1050" dirty="0">
                <a:solidFill>
                  <a:srgbClr val="14202E"/>
                </a:solidFill>
              </a:rPr>
              <a:t>Lundberg, S. M., &amp; Lee, S.-I. (2017). A unified approach to interpreting model predictions. </a:t>
            </a:r>
            <a:pPr indent="0" marL="0">
              <a:buNone/>
            </a:pPr>
            <a:r>
              <a:rPr lang="en-US" sz="1050" i="1" dirty="0">
                <a:solidFill>
                  <a:srgbClr val="14202E"/>
                </a:solidFill>
              </a:rPr>
              <a:t>Advances in Neural Information Processing Systems, 30</a:t>
            </a:r>
            <a:pPr indent="0" marL="0">
              <a:buNone/>
            </a:pPr>
            <a:r>
              <a:rPr lang="en-US" sz="1050" dirty="0">
                <a:solidFill>
                  <a:srgbClr val="14202E"/>
                </a:solidFill>
              </a:rPr>
              <a:t>. https://arxiv.org/abs/1705.07874</a:t>
            </a:r>
            <a:endParaRPr lang="en-US" sz="1050" dirty="0"/>
          </a:p>
          <a:p>
            <a:pPr indent="0" marL="0">
              <a:spcAft>
                <a:spcPts val="500"/>
              </a:spcAft>
              <a:buNone/>
            </a:pPr>
            <a:r>
              <a:rPr lang="en-US" sz="1050" dirty="0">
                <a:solidFill>
                  <a:srgbClr val="14202E"/>
                </a:solidFill>
              </a:rPr>
              <a:t>Mahamid, I. (2011). Early cost estimating for road construction projects using multiple regression techniques. </a:t>
            </a:r>
            <a:pPr indent="0" marL="0">
              <a:buNone/>
            </a:pPr>
            <a:r>
              <a:rPr lang="en-US" sz="1050" i="1" dirty="0">
                <a:solidFill>
                  <a:srgbClr val="14202E"/>
                </a:solidFill>
              </a:rPr>
              <a:t>Australasian Journal of Construction Economics and Building, 11</a:t>
            </a:r>
            <a:pPr indent="0" marL="0">
              <a:buNone/>
            </a:pPr>
            <a:r>
              <a:rPr lang="en-US" sz="1050" dirty="0">
                <a:solidFill>
                  <a:srgbClr val="14202E"/>
                </a:solidFill>
              </a:rPr>
              <a:t>(4), 87–101. https://doi.org/10.5130/AJCEB.v11i4.2195</a:t>
            </a:r>
            <a:endParaRPr lang="en-US" sz="1050" dirty="0"/>
          </a:p>
          <a:p>
            <a:pPr indent="0" marL="0">
              <a:spcAft>
                <a:spcPts val="500"/>
              </a:spcAft>
              <a:buNone/>
            </a:pPr>
            <a:r>
              <a:rPr lang="en-US" sz="1050" dirty="0">
                <a:solidFill>
                  <a:srgbClr val="14202E"/>
                </a:solidFill>
              </a:rPr>
              <a:t>Molinaro, A. M., Simon, R., &amp; Pfeiffer, R. M. (2005). Prediction error estimation: A comparison of resampling methods. </a:t>
            </a:r>
            <a:pPr indent="0" marL="0">
              <a:buNone/>
            </a:pPr>
            <a:r>
              <a:rPr lang="en-US" sz="1050" i="1" dirty="0">
                <a:solidFill>
                  <a:srgbClr val="14202E"/>
                </a:solidFill>
              </a:rPr>
              <a:t>Bioinformatics, 21</a:t>
            </a:r>
            <a:pPr indent="0" marL="0">
              <a:buNone/>
            </a:pPr>
            <a:r>
              <a:rPr lang="en-US" sz="1050" dirty="0">
                <a:solidFill>
                  <a:srgbClr val="14202E"/>
                </a:solidFill>
              </a:rPr>
              <a:t>(15), 3301–3307. https://doi.org/10.1093/bioinformatics/bti499</a:t>
            </a:r>
            <a:endParaRPr lang="en-US" sz="1050" dirty="0"/>
          </a:p>
          <a:p>
            <a:pPr indent="0" marL="0">
              <a:spcAft>
                <a:spcPts val="500"/>
              </a:spcAft>
              <a:buNone/>
            </a:pPr>
            <a:r>
              <a:rPr lang="en-US" sz="1050" dirty="0">
                <a:solidFill>
                  <a:srgbClr val="14202E"/>
                </a:solidFill>
              </a:rPr>
              <a:t>Nemhauser, G. L., &amp; Wolsey, L. A. (1988). </a:t>
            </a:r>
            <a:pPr indent="0" marL="0">
              <a:buNone/>
            </a:pPr>
            <a:r>
              <a:rPr lang="en-US" sz="1050" i="1" dirty="0">
                <a:solidFill>
                  <a:srgbClr val="14202E"/>
                </a:solidFill>
              </a:rPr>
              <a:t>Integer and combinatorial optimization</a:t>
            </a:r>
            <a:pPr indent="0" marL="0">
              <a:buNone/>
            </a:pPr>
            <a:r>
              <a:rPr lang="en-US" sz="1050" dirty="0">
                <a:solidFill>
                  <a:srgbClr val="14202E"/>
                </a:solidFill>
              </a:rPr>
              <a:t>. Wiley.</a:t>
            </a:r>
            <a:endParaRPr lang="en-US" sz="1050" dirty="0"/>
          </a:p>
          <a:p>
            <a:pPr indent="0" marL="0">
              <a:spcAft>
                <a:spcPts val="500"/>
              </a:spcAft>
              <a:buNone/>
            </a:pPr>
            <a:r>
              <a:rPr lang="en-US" sz="1050" dirty="0">
                <a:solidFill>
                  <a:srgbClr val="14202E"/>
                </a:solidFill>
              </a:rPr>
              <a:t>O'Brien, R. M. (2007). A caution regarding rules of thumb for variance inflation factors. </a:t>
            </a:r>
            <a:pPr indent="0" marL="0">
              <a:buNone/>
            </a:pPr>
            <a:r>
              <a:rPr lang="en-US" sz="1050" i="1" dirty="0">
                <a:solidFill>
                  <a:srgbClr val="14202E"/>
                </a:solidFill>
              </a:rPr>
              <a:t>Quality &amp; Quantity, 41</a:t>
            </a:r>
            <a:pPr indent="0" marL="0">
              <a:buNone/>
            </a:pPr>
            <a:r>
              <a:rPr lang="en-US" sz="1050" dirty="0">
                <a:solidFill>
                  <a:srgbClr val="14202E"/>
                </a:solidFill>
              </a:rPr>
              <a:t>(5), 673–690. https://doi.org/10.1007/s11135-006-9018-6</a:t>
            </a:r>
            <a:endParaRPr lang="en-US" sz="1050" dirty="0"/>
          </a:p>
          <a:p>
            <a:pPr indent="0" marL="0">
              <a:spcAft>
                <a:spcPts val="500"/>
              </a:spcAft>
              <a:buNone/>
            </a:pPr>
            <a:r>
              <a:rPr lang="en-US" sz="1050" dirty="0">
                <a:solidFill>
                  <a:srgbClr val="14202E"/>
                </a:solidFill>
              </a:rPr>
              <a:t>OECD. (2016). </a:t>
            </a:r>
            <a:pPr indent="0" marL="0">
              <a:buNone/>
            </a:pPr>
            <a:r>
              <a:rPr lang="en-US" sz="1050" i="1" dirty="0">
                <a:solidFill>
                  <a:srgbClr val="14202E"/>
                </a:solidFill>
              </a:rPr>
              <a:t>Preventing corruption in public procurement</a:t>
            </a:r>
            <a:pPr indent="0" marL="0">
              <a:buNone/>
            </a:pPr>
            <a:r>
              <a:rPr lang="en-US" sz="1050" dirty="0">
                <a:solidFill>
                  <a:srgbClr val="14202E"/>
                </a:solidFill>
              </a:rPr>
              <a:t>. OECD Publishing.</a:t>
            </a:r>
            <a:endParaRPr lang="en-US" sz="1050" dirty="0"/>
          </a:p>
        </p:txBody>
      </p:sp>
      <p:sp>
        <p:nvSpPr>
          <p:cNvPr id="25" name="Slide Number Placeholder 0"/>
          <p:cNvSpPr>
            <a:spLocks noGrp="1"/>
          </p:cNvSpPr>
          <p:nvPr>
            <p:ph type="sldNum" sz="quarter" idx="4294967295"/>
          </p:nvPr>
        </p:nvSpPr>
        <p:spPr>
          <a:xfrm>
            <a:off x="11064240" y="642823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A8C"/>
                </a:solidFill>
              </a:defRPr>
            </a:lvl1pPr>
          </a:lstStyle>
          <a:p>
            <a:pPr algn="r"/>
            <a:fld id="{F7021451-1387-4CA6-816F-3879F97B5CBC}" type="slidenum">
              <a:rPr b="0"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ph idx="100" type="body" hasCustomPrompt="1"/>
          </p:nvPr>
        </p:nvSpPr>
        <p:spPr>
          <a:xfrm>
            <a:off x="548640" y="256032"/>
            <a:ext cx="8229600" cy="292608"/>
          </a:xfrm>
          <a:prstGeom prst="rect">
            <a:avLst/>
          </a:prstGeom>
          <a:noFill/>
          <a:ln/>
        </p:spPr>
        <p:txBody>
          <a:bodyPr wrap="square" lIns="0" tIns="0" rIns="0" bIns="0" rtlCol="0"/>
          <a:lstStyle/>
          <a:p>
            <a:pPr indent="0" marL="0">
              <a:buNone/>
            </a:pPr>
            <a:r>
              <a:rPr lang="en-US" sz="1200" b="1" spc="200" kern="0" dirty="0">
                <a:solidFill>
                  <a:schemeClr val="accent5"/>
                </a:solidFill>
              </a:rPr>
              <a:t>REFERENCES</a:t>
            </a:r>
            <a:endParaRPr lang="en-US" sz="1200" dirty="0"/>
          </a:p>
        </p:txBody>
      </p:sp>
      <p:sp>
        <p:nvSpPr>
          <p:cNvPr id="3" name="Text 0"/>
          <p:cNvSpPr/>
          <p:nvPr>
            <p:ph idx="101" type="title" hasCustomPrompt="1"/>
          </p:nvPr>
        </p:nvSpPr>
        <p:spPr>
          <a:xfrm>
            <a:off x="548640" y="530352"/>
            <a:ext cx="11064240" cy="731520"/>
          </a:xfrm>
          <a:prstGeom prst="rect">
            <a:avLst/>
          </a:prstGeom>
          <a:noFill/>
          <a:ln/>
        </p:spPr>
        <p:txBody>
          <a:bodyPr wrap="square" lIns="0" tIns="0" rIns="0" bIns="0" rtlCol="0" anchor="ctr"/>
          <a:lstStyle/>
          <a:p>
            <a:pPr algn="l" indent="0" marL="0">
              <a:buNone/>
            </a:pPr>
            <a:r>
              <a:rPr lang="en-US" sz="3200" b="1" dirty="0">
                <a:solidFill>
                  <a:schemeClr val="tx2"/>
                </a:solidFill>
                <a:latin typeface="Cambria" pitchFamily="34" charset="0"/>
                <a:ea typeface="Cambria" pitchFamily="34" charset="-122"/>
                <a:cs typeface="Cambria" pitchFamily="34" charset="-120"/>
              </a:rPr>
              <a:t>References (3 of 3)</a:t>
            </a:r>
            <a:endParaRPr lang="en-US" sz="3200" dirty="0"/>
          </a:p>
        </p:txBody>
      </p:sp>
      <p:sp>
        <p:nvSpPr>
          <p:cNvPr id="4" name="references column 1"/>
          <p:cNvSpPr txBox="1"/>
          <p:nvPr/>
        </p:nvSpPr>
        <p:spPr>
          <a:xfrm>
            <a:off x="548640" y="1417320"/>
            <a:ext cx="5422392" cy="4846320"/>
          </a:xfrm>
          <a:prstGeom prst="rect">
            <a:avLst/>
          </a:prstGeom>
          <a:noFill/>
          <a:ln/>
        </p:spPr>
        <p:txBody>
          <a:bodyPr wrap="square" lIns="0" tIns="0" rIns="0" bIns="0" rtlCol="0" anchor="t"/>
          <a:lstStyle/>
          <a:p>
            <a:pPr indent="0" marL="0">
              <a:spcAft>
                <a:spcPts val="500"/>
              </a:spcAft>
              <a:buNone/>
            </a:pPr>
            <a:r>
              <a:rPr lang="en-US" sz="1050" dirty="0">
                <a:solidFill>
                  <a:srgbClr val="14202E"/>
                </a:solidFill>
              </a:rPr>
              <a:t>Pareto, V. (1906). </a:t>
            </a:r>
            <a:pPr indent="0" marL="0">
              <a:buNone/>
            </a:pPr>
            <a:r>
              <a:rPr lang="en-US" sz="1050" i="1" dirty="0">
                <a:solidFill>
                  <a:srgbClr val="14202E"/>
                </a:solidFill>
              </a:rPr>
              <a:t>Manuale di economia politica</a:t>
            </a:r>
            <a:pPr indent="0" marL="0">
              <a:buNone/>
            </a:pPr>
            <a:r>
              <a:rPr lang="en-US" sz="1050" dirty="0">
                <a:solidFill>
                  <a:srgbClr val="14202E"/>
                </a:solidFill>
              </a:rPr>
              <a:t>. Società Editrice Libraria.</a:t>
            </a:r>
            <a:endParaRPr lang="en-US" sz="1050" dirty="0"/>
          </a:p>
          <a:p>
            <a:pPr indent="0" marL="0">
              <a:spcAft>
                <a:spcPts val="500"/>
              </a:spcAft>
              <a:buNone/>
            </a:pPr>
            <a:r>
              <a:rPr lang="en-US" sz="1050" dirty="0">
                <a:solidFill>
                  <a:srgbClr val="14202E"/>
                </a:solidFill>
              </a:rPr>
              <a:t>Pedregosa, F., Varoquaux, G., Gramfort, A., Michel, V., Thirion, B., Grisel, O., Blondel, M., Prettenhofer, P., Weiss, R., Dubourg, V., Vanderplas, J., Passos, A., Cournapeau, D., Brucher, M., Perrot, M., &amp; Duchesnay, É. (2011). Scikit-learn: Machine learning in Python. </a:t>
            </a:r>
            <a:pPr indent="0" marL="0">
              <a:buNone/>
            </a:pPr>
            <a:r>
              <a:rPr lang="en-US" sz="1050" i="1" dirty="0">
                <a:solidFill>
                  <a:srgbClr val="14202E"/>
                </a:solidFill>
              </a:rPr>
              <a:t>Journal of Machine Learning Research, 12</a:t>
            </a:r>
            <a:pPr indent="0" marL="0">
              <a:buNone/>
            </a:pPr>
            <a:r>
              <a:rPr lang="en-US" sz="1050" dirty="0">
                <a:solidFill>
                  <a:srgbClr val="14202E"/>
                </a:solidFill>
              </a:rPr>
              <a:t>, 2825–2830.</a:t>
            </a:r>
            <a:endParaRPr lang="en-US" sz="1050" dirty="0"/>
          </a:p>
          <a:p>
            <a:pPr indent="0" marL="0">
              <a:spcAft>
                <a:spcPts val="500"/>
              </a:spcAft>
              <a:buNone/>
            </a:pPr>
            <a:r>
              <a:rPr lang="en-US" sz="1050" dirty="0">
                <a:solidFill>
                  <a:srgbClr val="14202E"/>
                </a:solidFill>
              </a:rPr>
              <a:t>Philippine Center for Investigative Journalism. (2025, August 31). </a:t>
            </a:r>
            <a:pPr indent="0" marL="0">
              <a:buNone/>
            </a:pPr>
            <a:r>
              <a:rPr lang="en-US" sz="1050" i="1" dirty="0">
                <a:solidFill>
                  <a:srgbClr val="14202E"/>
                </a:solidFill>
              </a:rPr>
              <a:t>5 reveals from the flood control data</a:t>
            </a:r>
            <a:pPr indent="0" marL="0">
              <a:buNone/>
            </a:pPr>
            <a:r>
              <a:rPr lang="en-US" sz="1050" dirty="0">
                <a:solidFill>
                  <a:srgbClr val="14202E"/>
                </a:solidFill>
              </a:rPr>
              <a:t>. https://pcij.org/2025/08/31/5-reveals-from-the-flood-control-data/</a:t>
            </a:r>
            <a:endParaRPr lang="en-US" sz="1050" dirty="0"/>
          </a:p>
          <a:p>
            <a:pPr indent="0" marL="0">
              <a:spcAft>
                <a:spcPts val="500"/>
              </a:spcAft>
              <a:buNone/>
            </a:pPr>
            <a:r>
              <a:rPr lang="en-US" sz="1050" dirty="0">
                <a:solidFill>
                  <a:srgbClr val="14202E"/>
                </a:solidFill>
              </a:rPr>
              <a:t>Philstar. (2025, March 1). </a:t>
            </a:r>
            <a:pPr indent="0" marL="0">
              <a:buNone/>
            </a:pPr>
            <a:r>
              <a:rPr lang="en-US" sz="1050" i="1" dirty="0">
                <a:solidFill>
                  <a:srgbClr val="14202E"/>
                </a:solidFill>
              </a:rPr>
              <a:t>Newly opened P1.2 billion Isabela bridge collapses</a:t>
            </a:r>
            <a:pPr indent="0" marL="0">
              <a:buNone/>
            </a:pPr>
            <a:r>
              <a:rPr lang="en-US" sz="1050" dirty="0">
                <a:solidFill>
                  <a:srgbClr val="14202E"/>
                </a:solidFill>
              </a:rPr>
              <a:t>. https://www.philstar.com/headlines/2025/03/01/2425019/newly-opened-p12-billion-isabela-bridge-collapses</a:t>
            </a:r>
            <a:endParaRPr lang="en-US" sz="1050" dirty="0"/>
          </a:p>
          <a:p>
            <a:pPr indent="0" marL="0">
              <a:spcAft>
                <a:spcPts val="500"/>
              </a:spcAft>
              <a:buNone/>
            </a:pPr>
            <a:r>
              <a:rPr lang="en-US" sz="1050" dirty="0">
                <a:solidFill>
                  <a:srgbClr val="14202E"/>
                </a:solidFill>
              </a:rPr>
              <a:t>Philstar. (2026, February 12). </a:t>
            </a:r>
            <a:pPr indent="0" marL="0">
              <a:buNone/>
            </a:pPr>
            <a:r>
              <a:rPr lang="en-US" sz="1050" i="1" dirty="0">
                <a:solidFill>
                  <a:srgbClr val="14202E"/>
                </a:solidFill>
              </a:rPr>
              <a:t>Philippines falls in corruption index, among worst in SEA</a:t>
            </a:r>
            <a:pPr indent="0" marL="0">
              <a:buNone/>
            </a:pPr>
            <a:r>
              <a:rPr lang="en-US" sz="1050" dirty="0">
                <a:solidFill>
                  <a:srgbClr val="14202E"/>
                </a:solidFill>
              </a:rPr>
              <a:t>. https://www.philstar.com/headlines/2026/02/12/2507429/philippines-falls-corruption-index-among-worst-sea</a:t>
            </a:r>
            <a:endParaRPr lang="en-US" sz="1050" dirty="0"/>
          </a:p>
          <a:p>
            <a:pPr indent="0" marL="0">
              <a:spcAft>
                <a:spcPts val="500"/>
              </a:spcAft>
              <a:buNone/>
            </a:pPr>
            <a:r>
              <a:rPr lang="en-US" sz="1050" dirty="0">
                <a:solidFill>
                  <a:srgbClr val="14202E"/>
                </a:solidFill>
              </a:rPr>
              <a:t>Presidential Decree No. 1096. (1977). </a:t>
            </a:r>
            <a:pPr indent="0" marL="0">
              <a:buNone/>
            </a:pPr>
            <a:r>
              <a:rPr lang="en-US" sz="1050" i="1" dirty="0">
                <a:solidFill>
                  <a:srgbClr val="14202E"/>
                </a:solidFill>
              </a:rPr>
              <a:t>National building code of the Philippines</a:t>
            </a:r>
            <a:pPr indent="0" marL="0">
              <a:buNone/>
            </a:pPr>
            <a:r>
              <a:rPr lang="en-US" sz="1050" dirty="0">
                <a:solidFill>
                  <a:srgbClr val="14202E"/>
                </a:solidFill>
              </a:rPr>
              <a:t>.</a:t>
            </a:r>
            <a:endParaRPr lang="en-US" sz="1050" dirty="0"/>
          </a:p>
          <a:p>
            <a:pPr indent="0" marL="0">
              <a:spcAft>
                <a:spcPts val="500"/>
              </a:spcAft>
              <a:buNone/>
            </a:pPr>
            <a:r>
              <a:rPr lang="en-US" sz="1050" dirty="0">
                <a:solidFill>
                  <a:srgbClr val="14202E"/>
                </a:solidFill>
              </a:rPr>
              <a:t>Republic Act No. 9514. (2008). </a:t>
            </a:r>
            <a:pPr indent="0" marL="0">
              <a:buNone/>
            </a:pPr>
            <a:r>
              <a:rPr lang="en-US" sz="1050" i="1" dirty="0">
                <a:solidFill>
                  <a:srgbClr val="14202E"/>
                </a:solidFill>
              </a:rPr>
              <a:t>Fire code of the Philippines of 2008</a:t>
            </a:r>
            <a:pPr indent="0" marL="0">
              <a:buNone/>
            </a:pPr>
            <a:r>
              <a:rPr lang="en-US" sz="1050" dirty="0">
                <a:solidFill>
                  <a:srgbClr val="14202E"/>
                </a:solidFill>
              </a:rPr>
              <a:t>.</a:t>
            </a:r>
            <a:endParaRPr lang="en-US" sz="1050" dirty="0"/>
          </a:p>
          <a:p>
            <a:pPr indent="0" marL="0">
              <a:spcAft>
                <a:spcPts val="500"/>
              </a:spcAft>
              <a:buNone/>
            </a:pPr>
            <a:r>
              <a:rPr lang="en-US" sz="1050" dirty="0">
                <a:solidFill>
                  <a:srgbClr val="14202E"/>
                </a:solidFill>
              </a:rPr>
              <a:t>Republic Act No. 12009. (2024). </a:t>
            </a:r>
            <a:pPr indent="0" marL="0">
              <a:buNone/>
            </a:pPr>
            <a:r>
              <a:rPr lang="en-US" sz="1050" i="1" dirty="0">
                <a:solidFill>
                  <a:srgbClr val="14202E"/>
                </a:solidFill>
              </a:rPr>
              <a:t>New government procurement act</a:t>
            </a:r>
            <a:pPr indent="0" marL="0">
              <a:buNone/>
            </a:pPr>
            <a:r>
              <a:rPr lang="en-US" sz="1050" dirty="0">
                <a:solidFill>
                  <a:srgbClr val="14202E"/>
                </a:solidFill>
              </a:rPr>
              <a:t>.</a:t>
            </a:r>
            <a:endParaRPr lang="en-US" sz="1050" dirty="0"/>
          </a:p>
        </p:txBody>
      </p:sp>
      <p:sp>
        <p:nvSpPr>
          <p:cNvPr id="5" name="references column 2"/>
          <p:cNvSpPr txBox="1"/>
          <p:nvPr/>
        </p:nvSpPr>
        <p:spPr>
          <a:xfrm>
            <a:off x="6217920" y="1417320"/>
            <a:ext cx="5422392" cy="4846320"/>
          </a:xfrm>
          <a:prstGeom prst="rect">
            <a:avLst/>
          </a:prstGeom>
          <a:noFill/>
          <a:ln/>
        </p:spPr>
        <p:txBody>
          <a:bodyPr wrap="square" lIns="0" tIns="0" rIns="0" bIns="0" rtlCol="0" anchor="t"/>
          <a:lstStyle/>
          <a:p>
            <a:pPr indent="0" marL="0">
              <a:spcAft>
                <a:spcPts val="500"/>
              </a:spcAft>
              <a:buNone/>
            </a:pPr>
            <a:r>
              <a:rPr lang="en-US" sz="1050" dirty="0">
                <a:solidFill>
                  <a:srgbClr val="14202E"/>
                </a:solidFill>
              </a:rPr>
              <a:t>Seabold, S., &amp; Perktold, J. (2010). Statsmodels: Econometric and statistical modeling with Python. In </a:t>
            </a:r>
            <a:pPr indent="0" marL="0">
              <a:buNone/>
            </a:pPr>
            <a:r>
              <a:rPr lang="en-US" sz="1050" i="1" dirty="0">
                <a:solidFill>
                  <a:srgbClr val="14202E"/>
                </a:solidFill>
              </a:rPr>
              <a:t>Proceedings of the 9th Python in Science Conference</a:t>
            </a:r>
            <a:pPr indent="0" marL="0">
              <a:buNone/>
            </a:pPr>
            <a:r>
              <a:rPr lang="en-US" sz="1050" dirty="0">
                <a:solidFill>
                  <a:srgbClr val="14202E"/>
                </a:solidFill>
              </a:rPr>
              <a:t> (pp. 92–96).</a:t>
            </a:r>
            <a:endParaRPr lang="en-US" sz="1050" dirty="0"/>
          </a:p>
          <a:p>
            <a:pPr indent="0" marL="0">
              <a:spcAft>
                <a:spcPts val="500"/>
              </a:spcAft>
              <a:buNone/>
            </a:pPr>
            <a:r>
              <a:rPr lang="en-US" sz="1050" dirty="0">
                <a:solidFill>
                  <a:srgbClr val="14202E"/>
                </a:solidFill>
              </a:rPr>
              <a:t>Shapley, L. S. (1953). A value for n-person games. In H. W. Kuhn &amp; A. W. Tucker (Eds.), </a:t>
            </a:r>
            <a:pPr indent="0" marL="0">
              <a:buNone/>
            </a:pPr>
            <a:r>
              <a:rPr lang="en-US" sz="1050" i="1" dirty="0">
                <a:solidFill>
                  <a:srgbClr val="14202E"/>
                </a:solidFill>
              </a:rPr>
              <a:t>Contributions to the theory of games</a:t>
            </a:r>
            <a:pPr indent="0" marL="0">
              <a:buNone/>
            </a:pPr>
            <a:r>
              <a:rPr lang="en-US" sz="1050" dirty="0">
                <a:solidFill>
                  <a:srgbClr val="14202E"/>
                </a:solidFill>
              </a:rPr>
              <a:t> (Vol. 2, pp. 307–317). Princeton University Press.</a:t>
            </a:r>
            <a:endParaRPr lang="en-US" sz="1050" dirty="0"/>
          </a:p>
          <a:p>
            <a:pPr indent="0" marL="0">
              <a:spcAft>
                <a:spcPts val="500"/>
              </a:spcAft>
              <a:buNone/>
            </a:pPr>
            <a:r>
              <a:rPr lang="en-US" sz="1050" dirty="0">
                <a:solidFill>
                  <a:srgbClr val="14202E"/>
                </a:solidFill>
              </a:rPr>
              <a:t>Sphere Association. (2018). </a:t>
            </a:r>
            <a:pPr indent="0" marL="0">
              <a:buNone/>
            </a:pPr>
            <a:r>
              <a:rPr lang="en-US" sz="1050" i="1" dirty="0">
                <a:solidFill>
                  <a:srgbClr val="14202E"/>
                </a:solidFill>
              </a:rPr>
              <a:t>The Sphere handbook: Humanitarian charter and minimum standards in humanitarian response</a:t>
            </a:r>
            <a:pPr indent="0" marL="0">
              <a:buNone/>
            </a:pPr>
            <a:r>
              <a:rPr lang="en-US" sz="1050" dirty="0">
                <a:solidFill>
                  <a:srgbClr val="14202E"/>
                </a:solidFill>
              </a:rPr>
              <a:t> (4th ed.).</a:t>
            </a:r>
            <a:endParaRPr lang="en-US" sz="1050" dirty="0"/>
          </a:p>
          <a:p>
            <a:pPr indent="0" marL="0">
              <a:spcAft>
                <a:spcPts val="500"/>
              </a:spcAft>
              <a:buNone/>
            </a:pPr>
            <a:r>
              <a:rPr lang="en-US" sz="1050" dirty="0">
                <a:solidFill>
                  <a:srgbClr val="14202E"/>
                </a:solidFill>
              </a:rPr>
              <a:t>Transparency International. (2026). </a:t>
            </a:r>
            <a:pPr indent="0" marL="0">
              <a:buNone/>
            </a:pPr>
            <a:r>
              <a:rPr lang="en-US" sz="1050" i="1" dirty="0">
                <a:solidFill>
                  <a:srgbClr val="14202E"/>
                </a:solidFill>
              </a:rPr>
              <a:t>Corruption perceptions index 2025</a:t>
            </a:r>
            <a:pPr indent="0" marL="0">
              <a:buNone/>
            </a:pPr>
            <a:r>
              <a:rPr lang="en-US" sz="1050" dirty="0">
                <a:solidFill>
                  <a:srgbClr val="14202E"/>
                </a:solidFill>
              </a:rPr>
              <a:t>. https://www.transparency.org/en/cpi/2025</a:t>
            </a:r>
            <a:endParaRPr lang="en-US" sz="1050" dirty="0"/>
          </a:p>
          <a:p>
            <a:pPr indent="0" marL="0">
              <a:spcAft>
                <a:spcPts val="500"/>
              </a:spcAft>
              <a:buNone/>
            </a:pPr>
            <a:r>
              <a:rPr lang="en-US" sz="1050" dirty="0">
                <a:solidFill>
                  <a:srgbClr val="14202E"/>
                </a:solidFill>
              </a:rPr>
              <a:t>United Nations. (2015). </a:t>
            </a:r>
            <a:pPr indent="0" marL="0">
              <a:buNone/>
            </a:pPr>
            <a:r>
              <a:rPr lang="en-US" sz="1050" i="1" dirty="0">
                <a:solidFill>
                  <a:srgbClr val="14202E"/>
                </a:solidFill>
              </a:rPr>
              <a:t>Transforming our world: The 2030 agenda for sustainable development</a:t>
            </a:r>
            <a:pPr indent="0" marL="0">
              <a:buNone/>
            </a:pPr>
            <a:r>
              <a:rPr lang="en-US" sz="1050" dirty="0">
                <a:solidFill>
                  <a:srgbClr val="14202E"/>
                </a:solidFill>
              </a:rPr>
              <a:t> (A/RES/70/1).</a:t>
            </a:r>
            <a:endParaRPr lang="en-US" sz="1050" dirty="0"/>
          </a:p>
          <a:p>
            <a:pPr indent="0" marL="0">
              <a:spcAft>
                <a:spcPts val="500"/>
              </a:spcAft>
              <a:buNone/>
            </a:pPr>
            <a:r>
              <a:rPr lang="en-US" sz="1050" dirty="0">
                <a:solidFill>
                  <a:srgbClr val="14202E"/>
                </a:solidFill>
              </a:rPr>
              <a:t>U.S. Government Accountability Office. (2020). </a:t>
            </a:r>
            <a:pPr indent="0" marL="0">
              <a:buNone/>
            </a:pPr>
            <a:r>
              <a:rPr lang="en-US" sz="1050" i="1" dirty="0">
                <a:solidFill>
                  <a:srgbClr val="14202E"/>
                </a:solidFill>
              </a:rPr>
              <a:t>Cost estimating and assessment guide: Best practices for developing and managing program costs</a:t>
            </a:r>
            <a:pPr indent="0" marL="0">
              <a:buNone/>
            </a:pPr>
            <a:r>
              <a:rPr lang="en-US" sz="1050" dirty="0">
                <a:solidFill>
                  <a:srgbClr val="14202E"/>
                </a:solidFill>
              </a:rPr>
              <a:t> (GAO-20-195G).</a:t>
            </a:r>
            <a:endParaRPr lang="en-US" sz="1050" dirty="0"/>
          </a:p>
          <a:p>
            <a:pPr indent="0" marL="0">
              <a:spcAft>
                <a:spcPts val="500"/>
              </a:spcAft>
              <a:buNone/>
            </a:pPr>
            <a:r>
              <a:rPr lang="en-US" sz="1050" dirty="0">
                <a:solidFill>
                  <a:srgbClr val="14202E"/>
                </a:solidFill>
              </a:rPr>
              <a:t>Vapnik, V. N. (1998). </a:t>
            </a:r>
            <a:pPr indent="0" marL="0">
              <a:buNone/>
            </a:pPr>
            <a:r>
              <a:rPr lang="en-US" sz="1050" i="1" dirty="0">
                <a:solidFill>
                  <a:srgbClr val="14202E"/>
                </a:solidFill>
              </a:rPr>
              <a:t>Statistical learning theory</a:t>
            </a:r>
            <a:pPr indent="0" marL="0">
              <a:buNone/>
            </a:pPr>
            <a:r>
              <a:rPr lang="en-US" sz="1050" dirty="0">
                <a:solidFill>
                  <a:srgbClr val="14202E"/>
                </a:solidFill>
              </a:rPr>
              <a:t>. Wiley.</a:t>
            </a:r>
            <a:endParaRPr lang="en-US" sz="1050" dirty="0"/>
          </a:p>
        </p:txBody>
      </p:sp>
      <p:sp>
        <p:nvSpPr>
          <p:cNvPr id="25" name="Slide Number Placeholder 0"/>
          <p:cNvSpPr>
            <a:spLocks noGrp="1"/>
          </p:cNvSpPr>
          <p:nvPr>
            <p:ph type="sldNum" sz="quarter" idx="4294967295"/>
          </p:nvPr>
        </p:nvSpPr>
        <p:spPr>
          <a:xfrm>
            <a:off x="11064240" y="642823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A8C"/>
                </a:solidFill>
              </a:defRPr>
            </a:lvl1pPr>
          </a:lstStyle>
          <a:p>
            <a:pPr algn="r"/>
            <a:fld id="{F7021451-1387-4CA6-816F-3879F97B5CBC}" type="slidenum">
              <a:rPr b="0"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ph idx="100" type="body" hasCustomPrompt="1"/>
          </p:nvPr>
        </p:nvSpPr>
        <p:spPr>
          <a:xfrm>
            <a:off x="640080" y="822960"/>
            <a:ext cx="6949440" cy="365760"/>
          </a:xfrm>
          <a:prstGeom prst="rect">
            <a:avLst/>
          </a:prstGeom>
          <a:noFill/>
          <a:ln/>
        </p:spPr>
        <p:txBody>
          <a:bodyPr wrap="square" rtlCol="0"/>
          <a:lstStyle/>
          <a:p>
            <a:pPr indent="0" marL="0">
              <a:buNone/>
            </a:pPr>
            <a:r>
              <a:rPr lang="en-US" sz="1400" b="1" spc="300" kern="0" dirty="0">
                <a:solidFill>
                  <a:schemeClr val="accent1"/>
                </a:solidFill>
              </a:rPr>
              <a:t>BUHAY-AH</a:t>
            </a:r>
            <a:endParaRPr lang="en-US" sz="1400" dirty="0"/>
          </a:p>
        </p:txBody>
      </p:sp>
      <p:sp>
        <p:nvSpPr>
          <p:cNvPr id="3" name="Text 0"/>
          <p:cNvSpPr/>
          <p:nvPr>
            <p:ph idx="101" type="title" hasCustomPrompt="1"/>
          </p:nvPr>
        </p:nvSpPr>
        <p:spPr>
          <a:xfrm>
            <a:off x="640080" y="1234440"/>
            <a:ext cx="6949440" cy="1188720"/>
          </a:xfrm>
          <a:prstGeom prst="rect">
            <a:avLst/>
          </a:prstGeom>
          <a:noFill/>
          <a:ln/>
        </p:spPr>
        <p:txBody>
          <a:bodyPr wrap="square" rtlCol="0"/>
          <a:lstStyle/>
          <a:p>
            <a:pPr algn="l" indent="0" marL="0">
              <a:buNone/>
            </a:pPr>
            <a:r>
              <a:rPr lang="en-US" sz="6000" b="1" dirty="0">
                <a:solidFill>
                  <a:schemeClr val="bg1"/>
                </a:solidFill>
                <a:latin typeface="Cambria" pitchFamily="34" charset="0"/>
                <a:ea typeface="Cambria" pitchFamily="34" charset="-122"/>
                <a:cs typeface="Cambria" pitchFamily="34" charset="-120"/>
              </a:rPr>
              <a:t>Thank You</a:t>
            </a:r>
            <a:endParaRPr lang="en-US" sz="6000" dirty="0"/>
          </a:p>
        </p:txBody>
      </p:sp>
      <p:sp>
        <p:nvSpPr>
          <p:cNvPr id="4" name="Text 0"/>
          <p:cNvSpPr/>
          <p:nvPr>
            <p:ph idx="102" type="body" hasCustomPrompt="1"/>
          </p:nvPr>
        </p:nvSpPr>
        <p:spPr>
          <a:xfrm>
            <a:off x="640080" y="2514600"/>
            <a:ext cx="6766560" cy="1920240"/>
          </a:xfrm>
          <a:prstGeom prst="rect">
            <a:avLst/>
          </a:prstGeom>
          <a:noFill/>
          <a:ln/>
        </p:spPr>
        <p:txBody>
          <a:bodyPr wrap="square" rtlCol="0" anchor="t"/>
          <a:lstStyle/>
          <a:p>
            <a:pPr indent="0" marL="0">
              <a:buNone/>
            </a:pPr>
            <a:r>
              <a:rPr lang="en-US" sz="1700" dirty="0">
                <a:solidFill>
                  <a:schemeClr val="bg2"/>
                </a:solidFill>
              </a:rPr>
              <a:t>Design it. Price it. Keep it honest. A building should be priced by what it needs, not by who builds it.</a:t>
            </a:r>
            <a:endParaRPr lang="en-US" sz="1700" dirty="0"/>
          </a:p>
        </p:txBody>
      </p:sp>
      <p:sp>
        <p:nvSpPr>
          <p:cNvPr id="5" name="Text 0"/>
          <p:cNvSpPr/>
          <p:nvPr>
            <p:ph idx="103" type="body" hasCustomPrompt="1"/>
          </p:nvPr>
        </p:nvSpPr>
        <p:spPr>
          <a:xfrm>
            <a:off x="640080" y="4846320"/>
            <a:ext cx="6766560" cy="1097280"/>
          </a:xfrm>
          <a:prstGeom prst="rect">
            <a:avLst/>
          </a:prstGeom>
          <a:noFill/>
          <a:ln/>
        </p:spPr>
        <p:txBody>
          <a:bodyPr wrap="square" rtlCol="0" anchor="t"/>
          <a:lstStyle/>
          <a:p>
            <a:pPr indent="0" marL="0">
              <a:buNone/>
            </a:pPr>
            <a:r>
              <a:rPr lang="en-US" sz="1600" b="1" dirty="0">
                <a:solidFill>
                  <a:schemeClr val="bg1"/>
                </a:solidFill>
              </a:rPr>
              <a:t>Enrique Miguel C. Buban</a:t>
            </a:r>
            <a:endParaRPr lang="en-US" sz="1600" dirty="0"/>
          </a:p>
          <a:p>
            <a:pPr indent="0" marL="0">
              <a:buNone/>
            </a:pPr>
            <a:r>
              <a:rPr lang="en-US" sz="1600" dirty="0">
                <a:solidFill>
                  <a:schemeClr val="bg1"/>
                </a:solidFill>
              </a:rPr>
              <a:t>Lead Researcher</a:t>
            </a:r>
            <a:endParaRPr lang="en-US" sz="1600" dirty="0"/>
          </a:p>
          <a:p>
            <a:pPr indent="0" marL="0">
              <a:buNone/>
            </a:pPr>
            <a:r>
              <a:rPr lang="en-US" sz="1200" dirty="0">
                <a:solidFill>
                  <a:schemeClr val="accent1"/>
                </a:solidFill>
              </a:rPr>
              <a:t>Results are from the simulated benchmark SBD-300; a flag calls for review, not proof of wrongdoing.</a:t>
            </a:r>
            <a:endParaRPr lang="en-US" sz="1600" dirty="0"/>
          </a:p>
        </p:txBody>
      </p:sp>
      <p:sp>
        <p:nvSpPr>
          <p:cNvPr id="6" name="closing frame"/>
          <p:cNvSpPr/>
          <p:nvPr/>
        </p:nvSpPr>
        <p:spPr>
          <a:xfrm>
            <a:off x="8001000" y="822960"/>
            <a:ext cx="3657600" cy="5212080"/>
          </a:xfrm>
          <a:prstGeom prst="roundRect">
            <a:avLst>
              <a:gd name="adj" fmla="val 3000"/>
            </a:avLst>
          </a:prstGeom>
          <a:solidFill>
            <a:schemeClr val="bg1"/>
          </a:solidFill>
          <a:ln/>
        </p:spPr>
      </p:sp>
      <p:pic>
        <p:nvPicPr>
          <p:cNvPr id="7" name="viz_bridge_truss.png" descr="3D steel truss bridge">    </p:cNvPr>
          <p:cNvPicPr>
            <a:picLocks noChangeAspect="1"/>
          </p:cNvPicPr>
          <p:nvPr/>
        </p:nvPicPr>
        <p:blipFill>
          <a:blip r:embed="rId1"/>
          <a:stretch>
            <a:fillRect/>
          </a:stretch>
        </p:blipFill>
        <p:spPr>
          <a:xfrm>
            <a:off x="8276225" y="960120"/>
            <a:ext cx="3107149" cy="2377440"/>
          </a:xfrm>
          <a:prstGeom prst="rect">
            <a:avLst/>
          </a:prstGeom>
        </p:spPr>
      </p:pic>
      <p:pic>
        <p:nvPicPr>
          <p:cNvPr id="8" name="viz_bridge_pscg.png" descr="3D PSCG bridge">    </p:cNvPr>
          <p:cNvPicPr>
            <a:picLocks noChangeAspect="1"/>
          </p:cNvPicPr>
          <p:nvPr/>
        </p:nvPicPr>
        <p:blipFill>
          <a:blip r:embed="rId2"/>
          <a:stretch>
            <a:fillRect/>
          </a:stretch>
        </p:blipFill>
        <p:spPr>
          <a:xfrm>
            <a:off x="8216472" y="3429000"/>
            <a:ext cx="3226655" cy="2468880"/>
          </a:xfrm>
          <a:prstGeom prst="rect">
            <a:avLst/>
          </a:prstGeom>
        </p:spPr>
      </p:pic>
    </p:spTree>
  </p:cSld>
  <p:clrMapOvr>
    <a:masterClrMapping/>
  </p:clrMapOvr>
</p:sld>
</file>

<file path=ppt/theme/theme1.xml><?xml version="1.0" encoding="utf-8"?>
<a:theme xmlns:a="http://schemas.openxmlformats.org/drawingml/2006/main" name="BUHAY-AH">
  <a:themeElements>
    <a:clrScheme name="BUHAY-AH">
      <a:dk1>
        <a:srgbClr val="14202E"/>
      </a:dk1>
      <a:lt1>
        <a:srgbClr val="FFFFFF"/>
      </a:lt1>
      <a:dk2>
        <a:srgbClr val="12345A"/>
      </a:dk2>
      <a:lt2>
        <a:srgbClr val="EEF2F7"/>
      </a:lt2>
      <a:accent1>
        <a:srgbClr val="E3A51A"/>
      </a:accent1>
      <a:accent2>
        <a:srgbClr val="B8322A"/>
      </a:accent2>
      <a:accent3>
        <a:srgbClr val="1F7A5A"/>
      </a:accent3>
      <a:accent4>
        <a:srgbClr val="4F7CAC"/>
      </a:accent4>
      <a:accent5>
        <a:srgbClr val="8A5A00"/>
      </a:accent5>
      <a:accent6>
        <a:srgbClr val="6B7A8C"/>
      </a:accent6>
      <a:hlink>
        <a:srgbClr val="12345A"/>
      </a:hlink>
      <a:folHlink>
        <a:srgbClr val="4F7CAC"/>
      </a:folHlink>
    </a:clrScheme>
    <a:fontScheme name="BUHAY-AH">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48</Slides>
  <Notes>48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48</vt:i4>
      </vt:variant>
    </vt:vector>
  </HeadingPairs>
  <TitlesOfParts>
    <vt:vector size="5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BUHAY-AH — Full Research (PR2)</dc:title>
  <dc:subject>BUHAY-AH: A Budget-to-Blueprint Design Generator, Standards-Based Quantity Take-Off, and Hybrid Machine Learning System for Start Quotations and Over-Budget Detection in Public Buildings and Bridges</dc:subject>
  <dc:creator>Enrique Miguel C. Buban</dc:creator>
  <cp:lastModifiedBy>Enrique Miguel C. Buban</cp:lastModifiedBy>
  <cp:revision>1</cp:revision>
  <dcterms:created xsi:type="dcterms:W3CDTF">2026-10-25T22:42:40Z</dcterms:created>
  <dcterms:modified xsi:type="dcterms:W3CDTF">2026-10-25T22:42:40Z</dcterms:modified>
</cp:coreProperties>
</file>